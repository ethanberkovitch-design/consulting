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4"/>
  </p:sldMasterIdLst>
  <p:sldIdLst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1C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2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20" y="6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1.xml"/><Relationship Id="rId90" Type="http://schemas.openxmlformats.org/officeDocument/2006/relationships/slide" Target="slides/slide82.xml"/><Relationship Id="rId91" Type="http://schemas.openxmlformats.org/officeDocument/2006/relationships/slide" Target="slides/slide83.xml"/><Relationship Id="rId92" Type="http://schemas.openxmlformats.org/officeDocument/2006/relationships/slide" Target="slides/slide84.xml"/><Relationship Id="rId93" Type="http://schemas.openxmlformats.org/officeDocument/2006/relationships/slide" Target="slides/slide85.xml"/><Relationship Id="rId94" Type="http://schemas.openxmlformats.org/officeDocument/2006/relationships/slide" Target="slides/slide86.xml"/><Relationship Id="rId95" Type="http://schemas.openxmlformats.org/officeDocument/2006/relationships/slide" Target="slides/slide87.xml"/><Relationship Id="rId96" Type="http://schemas.openxmlformats.org/officeDocument/2006/relationships/slide" Target="slides/slide88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נפח</c:v>
                </c:pt>
              </c:strCache>
            </c:strRef>
          </c:tx>
          <c:dPt>
            <c:idx val="0"/>
            <c:spPr>
              <a:solidFill>
                <a:srgbClr val="003973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7FC3EA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A3B1BA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C4D82E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אגרגט גס</c:v>
                </c:pt>
                <c:pt idx="1">
                  <c:v>אגרגט דק</c:v>
                </c:pt>
                <c:pt idx="2">
                  <c:v>מים</c:v>
                </c:pt>
                <c:pt idx="3">
                  <c:v>צמנט</c:v>
                </c:pt>
                <c:pt idx="4">
                  <c:v>אוויר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28</c:v>
                </c:pt>
                <c:pt idx="2">
                  <c:v>17</c:v>
                </c:pt>
                <c:pt idx="3">
                  <c:v>11</c:v>
                </c:pt>
                <c:pt idx="4">
                  <c:v>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300">
          <a:solidFill>
            <a:srgbClr val="333F4A"/>
          </a:solidFill>
          <a:latin typeface="Arial Unicode MS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CEM I 52.5R</c:v>
                </c:pt>
              </c:strCache>
            </c:strRef>
          </c:tx>
          <c:spPr>
            <a:ln w="34925">
              <a:solidFill>
                <a:srgbClr val="003973"/>
              </a:solidFill>
            </a:ln>
          </c:spPr>
          <c:marker>
            <c:symbol val="circle"/>
            <c:size val="7"/>
            <c:spPr>
              <a:solidFill>
                <a:srgbClr val="00397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28</c:v>
                </c:pt>
                <c:pt idx="4">
                  <c:v>90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65</c:v>
                </c:pt>
                <c:pt idx="2">
                  <c:v>80</c:v>
                </c:pt>
                <c:pt idx="3">
                  <c:v>100</c:v>
                </c:pt>
                <c:pt idx="4">
                  <c:v>105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CEM I 42.5</c:v>
                </c:pt>
              </c:strCache>
            </c:strRef>
          </c:tx>
          <c:spPr>
            <a:ln w="34925">
              <a:solidFill>
                <a:srgbClr val="0081C8"/>
              </a:solidFill>
            </a:ln>
          </c:spPr>
          <c:marker>
            <c:symbol val="circle"/>
            <c:size val="7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28</c:v>
                </c:pt>
                <c:pt idx="4">
                  <c:v>90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52</c:v>
                </c:pt>
                <c:pt idx="2">
                  <c:v>70</c:v>
                </c:pt>
                <c:pt idx="3">
                  <c:v>100</c:v>
                </c:pt>
                <c:pt idx="4">
                  <c:v>110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CEM II/A</c:v>
                </c:pt>
              </c:strCache>
            </c:strRef>
          </c:tx>
          <c:spPr>
            <a:ln w="34925">
              <a:solidFill>
                <a:srgbClr val="A3B1BA"/>
              </a:solidFill>
            </a:ln>
          </c:spPr>
          <c:marker>
            <c:symbol val="circle"/>
            <c:size val="7"/>
            <c:spPr>
              <a:solidFill>
                <a:srgbClr val="A3B1B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28</c:v>
                </c:pt>
                <c:pt idx="4">
                  <c:v>90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</c:v>
                </c:pt>
                <c:pt idx="1">
                  <c:v>42</c:v>
                </c:pt>
                <c:pt idx="2">
                  <c:v>62</c:v>
                </c:pt>
                <c:pt idx="3">
                  <c:v>100</c:v>
                </c:pt>
                <c:pt idx="4">
                  <c:v>115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CEM III/A</c:v>
                </c:pt>
              </c:strCache>
            </c:strRef>
          </c:tx>
          <c:spPr>
            <a:ln w="34925">
              <a:solidFill>
                <a:srgbClr val="7E8F12"/>
              </a:solidFill>
            </a:ln>
          </c:spPr>
          <c:marker>
            <c:symbol val="circle"/>
            <c:size val="7"/>
            <c:spPr>
              <a:solidFill>
                <a:srgbClr val="7E8F1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28</c:v>
                </c:pt>
                <c:pt idx="4">
                  <c:v>90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100</c:v>
                </c:pt>
                <c:pt idx="4">
                  <c:v>122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‏גיל (ימים)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30.0"/>
          <c:min val="0.0"/>
        </c:scaling>
        <c:delete val="0"/>
        <c:axPos val="l"/>
        <c:majorGridlines>
          <c:spPr>
            <a:ln w="9525">
              <a:solidFill>
                <a:srgbClr val="DDE3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‏% מחוזק 28 יום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18791784"/>
        <c:crosses val="autoZero"/>
        <c:majorUnit val="20.0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‏חוזק יחסי בגיל 28 יום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חוזק יחסי</c:v>
                </c:pt>
              </c:strCache>
            </c:strRef>
          </c:tx>
          <c:spPr>
            <a:solidFill>
              <a:srgbClr val="0081C8"/>
            </a:solidFill>
          </c:spPr>
          <c:dPt>
            <c:idx val="0"/>
            <c:spPr>
              <a:solidFill>
                <a:srgbClr val="A3B1BA"/>
              </a:solidFill>
            </c:spPr>
          </c:dPt>
          <c:cat>
            <c:strRef>
              <c:f>Sheet1!$A$2:$A$5</c:f>
              <c:strCache>
                <c:ptCount val="4"/>
                <c:pt idx="0">
                  <c:v>‏ללא אשפרה</c:v>
                </c:pt>
                <c:pt idx="1">
                  <c:v>‏אשפרה קצרה</c:v>
                </c:pt>
                <c:pt idx="2">
                  <c:v>‏שבוע אשפרה</c:v>
                </c:pt>
                <c:pt idx="3">
                  <c:v>‏אשפרה רציפה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80</c:v>
                </c:pt>
                <c:pt idx="2">
                  <c:v>90</c:v>
                </c:pt>
                <c:pt idx="3">
                  <c:v>100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‏חוזק קובייה 28 יום</c:v>
                </c:pt>
              </c:strCache>
            </c:strRef>
          </c:tx>
          <c:spPr>
            <a:ln w="44450">
              <a:solidFill>
                <a:srgbClr val="0081C8"/>
              </a:solidFill>
            </a:ln>
          </c:spPr>
          <c:marker>
            <c:symbol val="circle"/>
            <c:size val="7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0.38</c:v>
                </c:pt>
                <c:pt idx="1">
                  <c:v>0.42</c:v>
                </c:pt>
                <c:pt idx="2">
                  <c:v>0.47</c:v>
                </c:pt>
                <c:pt idx="3">
                  <c:v>0.54</c:v>
                </c:pt>
                <c:pt idx="4">
                  <c:v>0.61</c:v>
                </c:pt>
                <c:pt idx="5">
                  <c:v>0.69</c:v>
                </c:pt>
                <c:pt idx="6">
                  <c:v>0.79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37</c:v>
                </c:pt>
                <c:pt idx="4">
                  <c:v>31</c:v>
                </c:pt>
                <c:pt idx="5">
                  <c:v>25</c:v>
                </c:pt>
                <c:pt idx="6">
                  <c:v>19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0.8"/>
          <c:min val="0.35"/>
        </c:scaling>
        <c:delete val="0"/>
        <c:axPos val="b"/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‏יחס מים-צמנט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-2129643912"/>
        <c:crosses val="autoZero"/>
        <c:crossBetween val="midCat"/>
        <c:majorUnit val="0.05"/>
      </c:valAx>
      <c:valAx>
        <c:axId val="-2129643912"/>
        <c:scaling>
          <c:orientation val="minMax"/>
          <c:max val="60.0"/>
          <c:min val="10.0"/>
        </c:scaling>
        <c:delete val="0"/>
        <c:axPos val="l"/>
        <c:majorGridlines>
          <c:spPr>
            <a:ln w="9525">
              <a:solidFill>
                <a:srgbClr val="DDE3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‏חוזק קובייה (MPa)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-2128940872"/>
        <c:crosses val="autoZero"/>
        <c:crossBetween val="midCat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‏תוצאה בודדת</c:v>
                </c:pt>
              </c:strCache>
            </c:strRef>
          </c:tx>
          <c:spPr>
            <a:ln w="22225">
              <a:solidFill>
                <a:srgbClr val="0081C8"/>
              </a:solidFill>
            </a:ln>
          </c:spPr>
          <c:marker>
            <c:symbol val="circle"/>
            <c:size val="7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marker>
          <c:dPt>
            <c:idx val="11"/>
            <c:marker>
              <c:size val="12"/>
              <c:spPr>
                <a:solidFill>
                  <a:srgbClr val="C62828"/>
                </a:solidFill>
              </c:spPr>
            </c:marker>
          </c:dPt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38</c:v>
                </c:pt>
                <c:pt idx="1">
                  <c:v>36</c:v>
                </c:pt>
                <c:pt idx="2">
                  <c:v>40</c:v>
                </c:pt>
                <c:pt idx="3">
                  <c:v>37</c:v>
                </c:pt>
                <c:pt idx="4">
                  <c:v>39</c:v>
                </c:pt>
                <c:pt idx="5">
                  <c:v>35</c:v>
                </c:pt>
                <c:pt idx="6">
                  <c:v>38</c:v>
                </c:pt>
                <c:pt idx="7">
                  <c:v>41</c:v>
                </c:pt>
                <c:pt idx="8">
                  <c:v>37</c:v>
                </c:pt>
                <c:pt idx="9">
                  <c:v>36</c:v>
                </c:pt>
                <c:pt idx="10">
                  <c:v>38</c:v>
                </c:pt>
                <c:pt idx="11">
                  <c:v>28</c:v>
                </c:pt>
                <c:pt idx="12">
                  <c:v>37</c:v>
                </c:pt>
                <c:pt idx="13">
                  <c:v>36</c:v>
                </c:pt>
                <c:pt idx="14">
                  <c:v>35</c:v>
                </c:pt>
                <c:pt idx="15">
                  <c:v>34</c:v>
                </c:pt>
                <c:pt idx="16">
                  <c:v>35</c:v>
                </c:pt>
                <c:pt idx="17">
                  <c:v>33</c:v>
                </c:pt>
                <c:pt idx="18">
                  <c:v>34</c:v>
                </c:pt>
                <c:pt idx="19">
                  <c:v>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‏ממוצע נע (3)</c:v>
                </c:pt>
              </c:strCache>
            </c:strRef>
          </c:tx>
          <c:spPr>
            <a:ln w="38100">
              <a:solidFill>
                <a:srgbClr val="003973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2">
                  <c:v>38.0</c:v>
                </c:pt>
                <c:pt idx="3">
                  <c:v>37.7</c:v>
                </c:pt>
                <c:pt idx="4">
                  <c:v>38.7</c:v>
                </c:pt>
                <c:pt idx="5">
                  <c:v>37.0</c:v>
                </c:pt>
                <c:pt idx="6">
                  <c:v>37.3</c:v>
                </c:pt>
                <c:pt idx="7">
                  <c:v>38.0</c:v>
                </c:pt>
                <c:pt idx="8">
                  <c:v>38.7</c:v>
                </c:pt>
                <c:pt idx="9">
                  <c:v>38.0</c:v>
                </c:pt>
                <c:pt idx="10">
                  <c:v>37.0</c:v>
                </c:pt>
                <c:pt idx="11">
                  <c:v>34.0</c:v>
                </c:pt>
                <c:pt idx="12">
                  <c:v>34.3</c:v>
                </c:pt>
                <c:pt idx="13">
                  <c:v>33.7</c:v>
                </c:pt>
                <c:pt idx="14">
                  <c:v>36.0</c:v>
                </c:pt>
                <c:pt idx="15">
                  <c:v>35.0</c:v>
                </c:pt>
                <c:pt idx="16">
                  <c:v>34.7</c:v>
                </c:pt>
                <c:pt idx="17">
                  <c:v>34.0</c:v>
                </c:pt>
                <c:pt idx="18">
                  <c:v>34.0</c:v>
                </c:pt>
                <c:pt idx="19">
                  <c:v>33.3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‏דרגה ב-30</c:v>
                </c:pt>
              </c:strCache>
            </c:strRef>
          </c:tx>
          <c:spPr>
            <a:ln w="25400">
              <a:solidFill>
                <a:srgbClr val="C62828"/>
              </a:solidFill>
              <a:prstDash val="dash"/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30</c:v>
                </c:pt>
                <c:pt idx="4">
                  <c:v>30</c:v>
                </c:pt>
                <c:pt idx="5">
                  <c:v>30</c:v>
                </c:pt>
                <c:pt idx="6">
                  <c:v>30</c:v>
                </c:pt>
                <c:pt idx="7">
                  <c:v>30</c:v>
                </c:pt>
                <c:pt idx="8">
                  <c:v>30</c:v>
                </c:pt>
                <c:pt idx="9">
                  <c:v>30</c:v>
                </c:pt>
                <c:pt idx="10">
                  <c:v>30</c:v>
                </c:pt>
                <c:pt idx="11">
                  <c:v>30</c:v>
                </c:pt>
                <c:pt idx="12">
                  <c:v>30</c:v>
                </c:pt>
                <c:pt idx="13">
                  <c:v>30</c:v>
                </c:pt>
                <c:pt idx="14">
                  <c:v>30</c:v>
                </c:pt>
                <c:pt idx="15">
                  <c:v>30</c:v>
                </c:pt>
                <c:pt idx="16">
                  <c:v>30</c:v>
                </c:pt>
                <c:pt idx="17">
                  <c:v>30</c:v>
                </c:pt>
                <c:pt idx="18">
                  <c:v>30</c:v>
                </c:pt>
                <c:pt idx="19">
                  <c:v>30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‏יעד ייצור</c:v>
                </c:pt>
              </c:strCache>
            </c:strRef>
          </c:tx>
          <c:spPr>
            <a:ln w="19050">
              <a:solidFill>
                <a:srgbClr val="2E7D32"/>
              </a:solidFill>
              <a:prstDash val="dash"/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37</c:v>
                </c:pt>
                <c:pt idx="1">
                  <c:v>37</c:v>
                </c:pt>
                <c:pt idx="2">
                  <c:v>37</c:v>
                </c:pt>
                <c:pt idx="3">
                  <c:v>37</c:v>
                </c:pt>
                <c:pt idx="4">
                  <c:v>37</c:v>
                </c:pt>
                <c:pt idx="5">
                  <c:v>37</c:v>
                </c:pt>
                <c:pt idx="6">
                  <c:v>37</c:v>
                </c:pt>
                <c:pt idx="7">
                  <c:v>37</c:v>
                </c:pt>
                <c:pt idx="8">
                  <c:v>37</c:v>
                </c:pt>
                <c:pt idx="9">
                  <c:v>37</c:v>
                </c:pt>
                <c:pt idx="10">
                  <c:v>37</c:v>
                </c:pt>
                <c:pt idx="11">
                  <c:v>37</c:v>
                </c:pt>
                <c:pt idx="12">
                  <c:v>37</c:v>
                </c:pt>
                <c:pt idx="13">
                  <c:v>37</c:v>
                </c:pt>
                <c:pt idx="14">
                  <c:v>37</c:v>
                </c:pt>
                <c:pt idx="15">
                  <c:v>37</c:v>
                </c:pt>
                <c:pt idx="16">
                  <c:v>37</c:v>
                </c:pt>
                <c:pt idx="17">
                  <c:v>37</c:v>
                </c:pt>
                <c:pt idx="18">
                  <c:v>37</c:v>
                </c:pt>
                <c:pt idx="19">
                  <c:v>37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‏מספר דגימה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4.0"/>
          <c:min val="24.0"/>
        </c:scaling>
        <c:delete val="0"/>
        <c:axPos val="l"/>
        <c:majorGridlines>
          <c:spPr>
            <a:ln w="9525">
              <a:solidFill>
                <a:srgbClr val="DDE3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‏חוזק קובייה (MPa)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18791784"/>
        <c:crosses val="autoZero"/>
        <c:majorUnit val="4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‏גבול תחתון</c:v>
                </c:pt>
              </c:strCache>
            </c:strRef>
          </c:tx>
          <c:spPr>
            <a:ln w="25400">
              <a:solidFill>
                <a:srgbClr val="A3B1BA"/>
              </a:solidFill>
              <a:prstDash val="dash"/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0.063</c:v>
                </c:pt>
                <c:pt idx="1">
                  <c:v>0.125</c:v>
                </c:pt>
                <c:pt idx="2">
                  <c:v>0.25</c:v>
                </c:pt>
                <c:pt idx="3">
                  <c:v>0.5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  <c:pt idx="7">
                  <c:v>8</c:v>
                </c:pt>
                <c:pt idx="8">
                  <c:v>16</c:v>
                </c:pt>
                <c:pt idx="9">
                  <c:v>22.4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2</c:v>
                </c:pt>
                <c:pt idx="2">
                  <c:v>6</c:v>
                </c:pt>
                <c:pt idx="3">
                  <c:v>12</c:v>
                </c:pt>
                <c:pt idx="4">
                  <c:v>20</c:v>
                </c:pt>
                <c:pt idx="5">
                  <c:v>28</c:v>
                </c:pt>
                <c:pt idx="6">
                  <c:v>36</c:v>
                </c:pt>
                <c:pt idx="7">
                  <c:v>52</c:v>
                </c:pt>
                <c:pt idx="8">
                  <c:v>78</c:v>
                </c:pt>
                <c:pt idx="9">
                  <c:v>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‏גבול עליון</c:v>
                </c:pt>
              </c:strCache>
            </c:strRef>
          </c:tx>
          <c:spPr>
            <a:ln w="25400">
              <a:solidFill>
                <a:srgbClr val="A3B1BA"/>
              </a:solidFill>
              <a:prstDash val="dash"/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0.063</c:v>
                </c:pt>
                <c:pt idx="1">
                  <c:v>0.125</c:v>
                </c:pt>
                <c:pt idx="2">
                  <c:v>0.25</c:v>
                </c:pt>
                <c:pt idx="3">
                  <c:v>0.5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  <c:pt idx="7">
                  <c:v>8</c:v>
                </c:pt>
                <c:pt idx="8">
                  <c:v>16</c:v>
                </c:pt>
                <c:pt idx="9">
                  <c:v>22.4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</c:v>
                </c:pt>
                <c:pt idx="1">
                  <c:v>8</c:v>
                </c:pt>
                <c:pt idx="2">
                  <c:v>16</c:v>
                </c:pt>
                <c:pt idx="3">
                  <c:v>26</c:v>
                </c:pt>
                <c:pt idx="4">
                  <c:v>36</c:v>
                </c:pt>
                <c:pt idx="5">
                  <c:v>46</c:v>
                </c:pt>
                <c:pt idx="6">
                  <c:v>58</c:v>
                </c:pt>
                <c:pt idx="7">
                  <c:v>76</c:v>
                </c:pt>
                <c:pt idx="8">
                  <c:v>95</c:v>
                </c:pt>
                <c:pt idx="9">
                  <c:v>100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‏דגימה</c:v>
                </c:pt>
              </c:strCache>
            </c:strRef>
          </c:tx>
          <c:spPr>
            <a:ln w="38100">
              <a:solidFill>
                <a:srgbClr val="0081C8"/>
              </a:solidFill>
            </a:ln>
          </c:spPr>
          <c:marker>
            <c:symbol val="circle"/>
            <c:size val="7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Sheet1!$A$2:$A$11</c:f>
              <c:strCache>
                <c:ptCount val="10"/>
                <c:pt idx="0">
                  <c:v>0.063</c:v>
                </c:pt>
                <c:pt idx="1">
                  <c:v>0.125</c:v>
                </c:pt>
                <c:pt idx="2">
                  <c:v>0.25</c:v>
                </c:pt>
                <c:pt idx="3">
                  <c:v>0.5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  <c:pt idx="7">
                  <c:v>8</c:v>
                </c:pt>
                <c:pt idx="8">
                  <c:v>16</c:v>
                </c:pt>
                <c:pt idx="9">
                  <c:v>22.4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1.5</c:v>
                </c:pt>
                <c:pt idx="1">
                  <c:v>4</c:v>
                </c:pt>
                <c:pt idx="2">
                  <c:v>10</c:v>
                </c:pt>
                <c:pt idx="3">
                  <c:v>17</c:v>
                </c:pt>
                <c:pt idx="4">
                  <c:v>25</c:v>
                </c:pt>
                <c:pt idx="5">
                  <c:v>33</c:v>
                </c:pt>
                <c:pt idx="6">
                  <c:v>44</c:v>
                </c:pt>
                <c:pt idx="7">
                  <c:v>61</c:v>
                </c:pt>
                <c:pt idx="8">
                  <c:v>86</c:v>
                </c:pt>
                <c:pt idx="9">
                  <c:v>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‏פתח נפה (מ"מ)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 w="9525">
              <a:solidFill>
                <a:srgbClr val="DDE3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‏% עובר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18791784"/>
        <c:crosses val="autoZero"/>
        <c:majorUnit val="2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‏מוצקים (גרם לליטר)</c:v>
                </c:pt>
              </c:strCache>
            </c:strRef>
          </c:tx>
          <c:spPr>
            <a:ln w="38100">
              <a:solidFill>
                <a:srgbClr val="0081C8"/>
              </a:solidFill>
            </a:ln>
          </c:spPr>
          <c:marker>
            <c:symbol val="circle"/>
            <c:size val="7"/>
            <c:spPr>
              <a:solidFill>
                <a:srgbClr val="0081C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1.01</c:v>
                </c:pt>
                <c:pt idx="1">
                  <c:v>1.02</c:v>
                </c:pt>
                <c:pt idx="2">
                  <c:v>1.03</c:v>
                </c:pt>
                <c:pt idx="3">
                  <c:v>1.04</c:v>
                </c:pt>
                <c:pt idx="4">
                  <c:v>1.05</c:v>
                </c:pt>
                <c:pt idx="5">
                  <c:v>1.06</c:v>
                </c:pt>
                <c:pt idx="6">
                  <c:v>1.08</c:v>
                </c:pt>
                <c:pt idx="7">
                  <c:v>1.10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</c:v>
                </c:pt>
                <c:pt idx="1">
                  <c:v>38</c:v>
                </c:pt>
                <c:pt idx="2">
                  <c:v>57</c:v>
                </c:pt>
                <c:pt idx="3">
                  <c:v>76</c:v>
                </c:pt>
                <c:pt idx="4">
                  <c:v>95</c:v>
                </c:pt>
                <c:pt idx="5">
                  <c:v>115</c:v>
                </c:pt>
                <c:pt idx="6">
                  <c:v>153</c:v>
                </c:pt>
                <c:pt idx="7">
                  <c:v>191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‏גבול לתערובת לדוגמה</c:v>
                </c:pt>
              </c:strCache>
            </c:strRef>
          </c:tx>
          <c:spPr>
            <a:ln w="25400">
              <a:solidFill>
                <a:srgbClr val="C62828"/>
              </a:solidFill>
              <a:prstDash val="dash"/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1.01</c:v>
                </c:pt>
                <c:pt idx="1">
                  <c:v>1.02</c:v>
                </c:pt>
                <c:pt idx="2">
                  <c:v>1.03</c:v>
                </c:pt>
                <c:pt idx="3">
                  <c:v>1.04</c:v>
                </c:pt>
                <c:pt idx="4">
                  <c:v>1.05</c:v>
                </c:pt>
                <c:pt idx="5">
                  <c:v>1.06</c:v>
                </c:pt>
                <c:pt idx="6">
                  <c:v>1.08</c:v>
                </c:pt>
                <c:pt idx="7">
                  <c:v>1.10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112</c:v>
                </c:pt>
                <c:pt idx="1">
                  <c:v>112</c:v>
                </c:pt>
                <c:pt idx="2">
                  <c:v>112</c:v>
                </c:pt>
                <c:pt idx="3">
                  <c:v>112</c:v>
                </c:pt>
                <c:pt idx="4">
                  <c:v>112</c:v>
                </c:pt>
                <c:pt idx="5">
                  <c:v>112</c:v>
                </c:pt>
                <c:pt idx="6">
                  <c:v>112</c:v>
                </c:pt>
                <c:pt idx="7">
                  <c:v>112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‏צפיפות המים (ק"ג/ל')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0.0"/>
          <c:min val="0.0"/>
        </c:scaling>
        <c:delete val="0"/>
        <c:axPos val="l"/>
        <c:majorGridlines>
          <c:spPr>
            <a:ln w="9525">
              <a:solidFill>
                <a:srgbClr val="DDE3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he-IL" sz="1200" b="0">
                    <a:solidFill>
                      <a:srgbClr val="5F6B76"/>
                    </a:solidFill>
                    <a:latin typeface="Arial Unicode MS"/>
                    <a:ea typeface="Arial Unicode MS"/>
                    <a:cs typeface="Arial Unicode MS"/>
                  </a:rPr>
                  <a:t>‏גרם מוצקים לליטר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8C2CA"/>
            </a:solidFill>
          </a:ln>
        </c:spPr>
        <c:txPr>
          <a:bodyPr/>
          <a:lstStyle/>
          <a:p>
            <a:pPr>
              <a:defRPr sz="1200">
                <a:solidFill>
                  <a:srgbClr val="5F6B76"/>
                </a:solidFill>
                <a:latin typeface="Arial Unicode MS"/>
              </a:defRPr>
            </a:pPr>
          </a:p>
        </c:txPr>
        <c:crossAx val="2118791784"/>
        <c:crosses val="autoZero"/>
        <c:majorUnit val="5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333F4A"/>
          </a:solidFill>
          <a:latin typeface="Arial Unicode M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he-IL" dirty="0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</p:spTree>
    <p:extLst>
      <p:ext uri="{BB962C8B-B14F-4D97-AF65-F5344CB8AC3E}">
        <p14:creationId xmlns:p14="http://schemas.microsoft.com/office/powerpoint/2010/main" val="509072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1158716" y="365126"/>
            <a:ext cx="10515600" cy="417300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1130430" y="892364"/>
            <a:ext cx="10515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FBDFFA4-0AD9-48AF-A2BC-37199CFBEA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9150" y="5445925"/>
            <a:ext cx="2916344" cy="125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968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FBDFFA4-0AD9-48AF-A2BC-37199CFBEA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9150" y="5445925"/>
            <a:ext cx="2916344" cy="125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881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</p:spTree>
    <p:extLst>
      <p:ext uri="{BB962C8B-B14F-4D97-AF65-F5344CB8AC3E}">
        <p14:creationId xmlns:p14="http://schemas.microsoft.com/office/powerpoint/2010/main" val="1223895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</p:spTree>
    <p:extLst>
      <p:ext uri="{BB962C8B-B14F-4D97-AF65-F5344CB8AC3E}">
        <p14:creationId xmlns:p14="http://schemas.microsoft.com/office/powerpoint/2010/main" val="1910026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he-IL" dirty="0"/>
          </a:p>
        </p:txBody>
      </p:sp>
      <p:sp>
        <p:nvSpPr>
          <p:cNvPr id="3" name="Footer academy"/>
          <p:cNvSpPr txBox="1"/>
          <p:nvPr/>
        </p:nvSpPr>
        <p:spPr>
          <a:xfrm>
            <a:off x="868680" y="62362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l" rtl="1" marL="0" indent="0">
              <a:spcAft>
                <a:spcPts val="400"/>
              </a:spcAft>
              <a:buNone/>
            </a:pPr>
            <a:r>
              <a:rPr lang="he-IL" sz="10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סולל בונה תעשיות | אקדמיית טכנולוגיה ואיכות</a:t>
            </a:r>
          </a:p>
        </p:txBody>
      </p:sp>
    </p:spTree>
    <p:extLst>
      <p:ext uri="{BB962C8B-B14F-4D97-AF65-F5344CB8AC3E}">
        <p14:creationId xmlns:p14="http://schemas.microsoft.com/office/powerpoint/2010/main" val="2636803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9054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</p:spTree>
    <p:extLst>
      <p:ext uri="{BB962C8B-B14F-4D97-AF65-F5344CB8AC3E}">
        <p14:creationId xmlns:p14="http://schemas.microsoft.com/office/powerpoint/2010/main" val="558101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</p:spTree>
    <p:extLst>
      <p:ext uri="{BB962C8B-B14F-4D97-AF65-F5344CB8AC3E}">
        <p14:creationId xmlns:p14="http://schemas.microsoft.com/office/powerpoint/2010/main" val="2369236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he-IL" dirty="0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</p:spTree>
    <p:extLst>
      <p:ext uri="{BB962C8B-B14F-4D97-AF65-F5344CB8AC3E}">
        <p14:creationId xmlns:p14="http://schemas.microsoft.com/office/powerpoint/2010/main" val="20368473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</p:spTree>
    <p:extLst>
      <p:ext uri="{BB962C8B-B14F-4D97-AF65-F5344CB8AC3E}">
        <p14:creationId xmlns:p14="http://schemas.microsoft.com/office/powerpoint/2010/main" val="24154919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/>
          <p:cNvSpPr>
            <a:spLocks noGrp="1"/>
          </p:cNvSpPr>
          <p:nvPr>
            <p:ph type="title"/>
          </p:nvPr>
        </p:nvSpPr>
        <p:spPr>
          <a:xfrm>
            <a:off x="960751" y="365125"/>
            <a:ext cx="10515600" cy="596409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 dirty="0"/>
              <a:t>לחץ כדי לערוך סגנון כותרת של תבנית בסיס</a:t>
            </a:r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951324" y="104319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 dirty="0"/>
              <a:t>לחץ כדי לערוך סגנונות טקסט של תבנית בסיס</a:t>
            </a:r>
          </a:p>
          <a:p>
            <a:pPr lvl="1"/>
            <a:r>
              <a:rPr lang="he-IL" dirty="0"/>
              <a:t>רמה שנייה</a:t>
            </a:r>
          </a:p>
          <a:p>
            <a:pPr lvl="2"/>
            <a:r>
              <a:rPr lang="he-IL" dirty="0"/>
              <a:t>רמה שלישית</a:t>
            </a:r>
          </a:p>
        </p:txBody>
      </p:sp>
      <p:sp>
        <p:nvSpPr>
          <p:cNvPr id="7" name="מציין מיקום של מספר שקופית 5"/>
          <p:cNvSpPr txBox="1">
            <a:spLocks/>
          </p:cNvSpPr>
          <p:nvPr userDrawn="1"/>
        </p:nvSpPr>
        <p:spPr>
          <a:xfrm>
            <a:off x="4736279" y="63007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defPPr>
              <a:defRPr lang="he-IL"/>
            </a:defPPr>
            <a:lvl1pPr marL="0" algn="l" defTabSz="914400" rtl="1" eaLnBrk="1" latinLnBrk="0" hangingPunct="1">
              <a:defRPr sz="1200" kern="1200">
                <a:solidFill>
                  <a:srgbClr val="4D4D4D"/>
                </a:solidFill>
                <a:latin typeface="+mn-lt"/>
                <a:ea typeface="+mn-ea"/>
                <a:cs typeface="+mn-cs"/>
              </a:defRPr>
            </a:lvl1pPr>
            <a:lvl2pPr marL="4572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F0E67B44-57E6-401F-A746-3C0CB7CBB830}" type="slidenum">
              <a:rPr lang="he-IL" sz="100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pPr algn="ctr"/>
              <a:t>‹#›</a:t>
            </a:fld>
            <a:endParaRPr lang="he-IL" sz="10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8" name="מחבר ישר 5"/>
          <p:cNvCxnSpPr/>
          <p:nvPr userDrawn="1"/>
        </p:nvCxnSpPr>
        <p:spPr>
          <a:xfrm flipH="1">
            <a:off x="970239" y="6149180"/>
            <a:ext cx="10540380" cy="0"/>
          </a:xfrm>
          <a:prstGeom prst="line">
            <a:avLst/>
          </a:prstGeom>
          <a:ln>
            <a:solidFill>
              <a:srgbClr val="0081C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תמונה 8">
            <a:extLst>
              <a:ext uri="{FF2B5EF4-FFF2-40B4-BE49-F238E27FC236}">
                <a16:creationId xmlns:a16="http://schemas.microsoft.com/office/drawing/2014/main" id="{4FBDFFA4-0AD9-48AF-A2BC-37199CFBEAD2}"/>
              </a:ext>
            </a:extLst>
          </p:cNvPr>
          <p:cNvPicPr/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9150" y="5445925"/>
            <a:ext cx="2916344" cy="125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403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070C0"/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000" kern="1200">
          <a:solidFill>
            <a:schemeClr val="accent6">
              <a:lumMod val="75000"/>
            </a:schemeClr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 Unicode MS" panose="020B0604020202020204" pitchFamily="34" charset="-128"/>
        <a:buChar char="₋"/>
        <a:defRPr sz="1800" kern="1200">
          <a:solidFill>
            <a:schemeClr val="accent6">
              <a:lumMod val="75000"/>
            </a:schemeClr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 Unicode MS" panose="020B0604020202020204" pitchFamily="34" charset="-128"/>
        <a:buChar char="₋"/>
        <a:defRPr sz="1600" kern="1200">
          <a:solidFill>
            <a:schemeClr val="accent6">
              <a:lumMod val="75000"/>
            </a:schemeClr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6">
              <a:lumMod val="75000"/>
            </a:schemeClr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6">
              <a:lumMod val="75000"/>
            </a:schemeClr>
          </a:solidFill>
          <a:latin typeface="Arial Unicode MS" panose="020B0604020202020204" pitchFamily="34" charset="-128"/>
          <a:ea typeface="Arial Unicode MS" panose="020B0604020202020204" pitchFamily="34" charset="-128"/>
          <a:cs typeface="Arial Unicode MS" panose="020B0604020202020204" pitchFamily="34" charset="-128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png"/><Relationship Id="rId3" Type="http://schemas.openxmlformats.org/officeDocument/2006/relationships/image" Target="../media/image18.png"/><Relationship Id="rId4" Type="http://schemas.openxmlformats.org/officeDocument/2006/relationships/image" Target="../media/image31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8.png"/><Relationship Id="rId3" Type="http://schemas.openxmlformats.org/officeDocument/2006/relationships/image" Target="../media/image34.png"/><Relationship Id="rId4" Type="http://schemas.openxmlformats.org/officeDocument/2006/relationships/image" Target="../media/image12.png"/><Relationship Id="rId5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png"/><Relationship Id="rId3" Type="http://schemas.openxmlformats.org/officeDocument/2006/relationships/image" Target="../media/image12.png"/><Relationship Id="rId4" Type="http://schemas.openxmlformats.org/officeDocument/2006/relationships/image" Target="../media/image21.png"/><Relationship Id="rId5" Type="http://schemas.openxmlformats.org/officeDocument/2006/relationships/image" Target="../media/image28.png"/><Relationship Id="rId6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1.png"/><Relationship Id="rId3" Type="http://schemas.openxmlformats.org/officeDocument/2006/relationships/chart" Target="../charts/chart4.xml"/><Relationship Id="rId4" Type="http://schemas.openxmlformats.org/officeDocument/2006/relationships/image" Target="../media/image42.png"/><Relationship Id="rId5" Type="http://schemas.openxmlformats.org/officeDocument/2006/relationships/image" Target="../media/image31.png"/><Relationship Id="rId6" Type="http://schemas.openxmlformats.org/officeDocument/2006/relationships/image" Target="../media/image24.png"/><Relationship Id="rId7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png"/><Relationship Id="rId3" Type="http://schemas.openxmlformats.org/officeDocument/2006/relationships/image" Target="../media/image12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32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7.pn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1.png"/><Relationship Id="rId3" Type="http://schemas.openxmlformats.org/officeDocument/2006/relationships/image" Target="../media/image5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Relationship Id="rId6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33.png"/><Relationship Id="rId5" Type="http://schemas.openxmlformats.org/officeDocument/2006/relationships/image" Target="../media/image5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3.png"/><Relationship Id="rId3" Type="http://schemas.openxmlformats.org/officeDocument/2006/relationships/image" Target="../media/image38.png"/><Relationship Id="rId4" Type="http://schemas.openxmlformats.org/officeDocument/2006/relationships/image" Target="../media/image27.png"/><Relationship Id="rId5" Type="http://schemas.openxmlformats.org/officeDocument/2006/relationships/image" Target="../media/image54.png"/><Relationship Id="rId6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Relationship Id="rId3" Type="http://schemas.openxmlformats.org/officeDocument/2006/relationships/image" Target="../media/image19.png"/><Relationship Id="rId4" Type="http://schemas.openxmlformats.org/officeDocument/2006/relationships/image" Target="../media/image7.png"/><Relationship Id="rId5" Type="http://schemas.openxmlformats.org/officeDocument/2006/relationships/image" Target="../media/image4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1.png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2.png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3.png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4.png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image" Target="../media/image5.png"/><Relationship Id="rId4" Type="http://schemas.openxmlformats.org/officeDocument/2006/relationships/image" Target="../media/image75.png"/><Relationship Id="rId5" Type="http://schemas.openxmlformats.org/officeDocument/2006/relationships/image" Target="../media/image13.png"/><Relationship Id="rId6" Type="http://schemas.openxmlformats.org/officeDocument/2006/relationships/image" Target="../media/image2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9.png"/><Relationship Id="rId3" Type="http://schemas.openxmlformats.org/officeDocument/2006/relationships/image" Target="../media/image2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1.png"/><Relationship Id="rId3" Type="http://schemas.openxmlformats.org/officeDocument/2006/relationships/image" Target="../media/image21.png"/><Relationship Id="rId4" Type="http://schemas.openxmlformats.org/officeDocument/2006/relationships/image" Target="../media/image5.png"/><Relationship Id="rId5" Type="http://schemas.openxmlformats.org/officeDocument/2006/relationships/image" Target="../media/image82.png"/><Relationship Id="rId6" Type="http://schemas.openxmlformats.org/officeDocument/2006/relationships/image" Target="../media/image35.png"/><Relationship Id="rId7" Type="http://schemas.openxmlformats.org/officeDocument/2006/relationships/image" Target="../media/image17.png"/><Relationship Id="rId8" Type="http://schemas.openxmlformats.org/officeDocument/2006/relationships/image" Target="../media/image2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Relationship Id="rId5" Type="http://schemas.openxmlformats.org/officeDocument/2006/relationships/image" Target="../media/image2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Relationship Id="rId3" Type="http://schemas.openxmlformats.org/officeDocument/2006/relationships/image" Target="../media/image5.png"/><Relationship Id="rId4" Type="http://schemas.openxmlformats.org/officeDocument/2006/relationships/image" Target="../media/image11.png"/><Relationship Id="rId5" Type="http://schemas.openxmlformats.org/officeDocument/2006/relationships/image" Target="../media/image34.png"/><Relationship Id="rId6" Type="http://schemas.openxmlformats.org/officeDocument/2006/relationships/image" Target="../media/image2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7.png"/><Relationship Id="rId3" Type="http://schemas.openxmlformats.org/officeDocument/2006/relationships/image" Target="../media/image64.png"/><Relationship Id="rId4" Type="http://schemas.openxmlformats.org/officeDocument/2006/relationships/image" Target="../media/image88.png"/><Relationship Id="rId5" Type="http://schemas.openxmlformats.org/officeDocument/2006/relationships/image" Target="../media/image65.png"/><Relationship Id="rId6" Type="http://schemas.openxmlformats.org/officeDocument/2006/relationships/image" Target="../media/image89.png"/><Relationship Id="rId7" Type="http://schemas.openxmlformats.org/officeDocument/2006/relationships/image" Target="../media/image90.png"/><Relationship Id="rId8" Type="http://schemas.openxmlformats.org/officeDocument/2006/relationships/image" Target="../media/image9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2.png"/><Relationship Id="rId3" Type="http://schemas.openxmlformats.org/officeDocument/2006/relationships/image" Target="../media/image92.png"/><Relationship Id="rId4" Type="http://schemas.openxmlformats.org/officeDocument/2006/relationships/image" Target="../media/image48.png"/><Relationship Id="rId5" Type="http://schemas.openxmlformats.org/officeDocument/2006/relationships/image" Target="../media/image81.png"/><Relationship Id="rId6" Type="http://schemas.openxmlformats.org/officeDocument/2006/relationships/image" Target="../media/image7.png"/><Relationship Id="rId7" Type="http://schemas.openxmlformats.org/officeDocument/2006/relationships/image" Target="../media/image2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3.png"/><Relationship Id="rId3" Type="http://schemas.openxmlformats.org/officeDocument/2006/relationships/image" Target="../media/image64.png"/><Relationship Id="rId4" Type="http://schemas.openxmlformats.org/officeDocument/2006/relationships/image" Target="../media/image94.png"/><Relationship Id="rId5" Type="http://schemas.openxmlformats.org/officeDocument/2006/relationships/image" Target="../media/image9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4.png"/><Relationship Id="rId3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2.png"/><Relationship Id="rId3" Type="http://schemas.openxmlformats.org/officeDocument/2006/relationships/image" Target="../media/image85.png"/><Relationship Id="rId4" Type="http://schemas.openxmlformats.org/officeDocument/2006/relationships/image" Target="../media/image21.png"/><Relationship Id="rId5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Relationship Id="rId4" Type="http://schemas.openxmlformats.org/officeDocument/2006/relationships/image" Target="../media/image34.png"/><Relationship Id="rId5" Type="http://schemas.openxmlformats.org/officeDocument/2006/relationships/image" Target="../media/image82.png"/><Relationship Id="rId6" Type="http://schemas.openxmlformats.org/officeDocument/2006/relationships/image" Target="../media/image5.png"/><Relationship Id="rId7" Type="http://schemas.openxmlformats.org/officeDocument/2006/relationships/image" Target="../media/image9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98.png"/><Relationship Id="rId4" Type="http://schemas.openxmlformats.org/officeDocument/2006/relationships/image" Target="../media/image7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0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0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5.png"/><Relationship Id="rId5" Type="http://schemas.openxmlformats.org/officeDocument/2006/relationships/image" Target="../media/image101.png"/><Relationship Id="rId6" Type="http://schemas.openxmlformats.org/officeDocument/2006/relationships/image" Target="../media/image16.png"/><Relationship Id="rId7" Type="http://schemas.openxmlformats.org/officeDocument/2006/relationships/image" Target="../media/image1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34.png"/><Relationship Id="rId4" Type="http://schemas.openxmlformats.org/officeDocument/2006/relationships/image" Target="../media/image8.png"/><Relationship Id="rId5" Type="http://schemas.openxmlformats.org/officeDocument/2006/relationships/image" Target="../media/image102.png"/><Relationship Id="rId6" Type="http://schemas.openxmlformats.org/officeDocument/2006/relationships/image" Target="../media/image103.png"/><Relationship Id="rId7" Type="http://schemas.openxmlformats.org/officeDocument/2006/relationships/image" Target="../media/image10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4" name="מחבר ישר 3"/>
          <p:cNvCxnSpPr/>
          <p:nvPr/>
        </p:nvCxnSpPr>
        <p:spPr>
          <a:xfrm flipV="1">
            <a:off x="3033632" y="3390312"/>
            <a:ext cx="6241601" cy="187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527048" y="3456432"/>
            <a:ext cx="9144000" cy="731520"/>
          </a:xfrm>
          <a:prstGeom prst="rect">
            <a:avLst/>
          </a:prstGeom>
          <a:noFill/>
        </p:spPr>
        <p:txBody>
          <a:bodyPr wrap="square" rtlCol="1"/>
          <a:lstStyle/>
          <a:p>
            <a:pPr algn="ctr" rtl="1"/>
            <a:r>
              <a:rPr lang="he-IL" sz="4000" dirty="0">
                <a:solidFill>
                  <a:srgbClr val="0081C8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תורת הבטון</a:t>
            </a:r>
          </a:p>
        </p:txBody>
      </p:sp>
      <p:sp>
        <p:nvSpPr>
          <p:cNvPr id="8" name="מלבן 7"/>
          <p:cNvSpPr/>
          <p:nvPr/>
        </p:nvSpPr>
        <p:spPr>
          <a:xfrm>
            <a:off x="386499" y="5693789"/>
            <a:ext cx="11528981" cy="100866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9" name="מציין מיקום תוכן 2"/>
          <p:cNvSpPr txBox="1">
            <a:spLocks/>
          </p:cNvSpPr>
          <p:nvPr/>
        </p:nvSpPr>
        <p:spPr>
          <a:xfrm>
            <a:off x="292608" y="6198123"/>
            <a:ext cx="2377440" cy="339536"/>
          </a:xfrm>
          <a:prstGeom prst="rect">
            <a:avLst/>
          </a:prstGeom>
        </p:spPr>
        <p:txBody>
          <a:bodyPr vert="horz" lIns="91440" tIns="45720" rIns="91440" bIns="45720" rtlCol="1" wrap="square"/>
          <a:lstStyle>
            <a:lvl1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accent6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  <a:lvl2pPr marL="6858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 Unicode MS" panose="020B0604020202020204" pitchFamily="34" charset="-128"/>
              <a:buChar char="₋"/>
              <a:defRPr sz="1800" kern="1200">
                <a:solidFill>
                  <a:schemeClr val="accent6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2pPr>
            <a:lvl3pPr marL="11430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 Unicode MS" panose="020B0604020202020204" pitchFamily="34" charset="-128"/>
              <a:buChar char="₋"/>
              <a:defRPr sz="1600" kern="1200">
                <a:solidFill>
                  <a:schemeClr val="accent6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3pPr>
            <a:lvl4pPr marL="16002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6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4pPr>
            <a:lvl5pPr marL="20574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6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defRPr>
            </a:lvl5pPr>
            <a:lvl6pPr marL="25146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 rtl="1">
              <a:buSzPct val="80000"/>
              <a:buNone/>
            </a:pPr>
            <a:r>
              <a:rPr lang="he-IL" sz="1200" dirty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אוקטובר 2026</a:t>
            </a: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9C0450FA-88A1-4150-9ABF-2C16CCC2B89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8379" y="1677714"/>
            <a:ext cx="3821659" cy="16432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27048" y="42062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יסודות, איכות ומצוינות מקצועית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4626864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Concrete Technology Fundamentals  |  אקדמיית טכנולוגיה ואיכות</a:t>
            </a:r>
          </a:p>
        </p:txBody>
      </p:sp>
      <p:pic>
        <p:nvPicPr>
          <p:cNvPr id="12" name="Picture 11" descr="sky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5074920"/>
            <a:ext cx="8412480" cy="13593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מטרות ההדרכה</a:t>
            </a:r>
          </a:p>
        </p:txBody>
      </p:sp>
      <p:sp>
        <p:nvSpPr>
          <p:cNvPr id="3" name="Oval 2"/>
          <p:cNvSpPr/>
          <p:nvPr/>
        </p:nvSpPr>
        <p:spPr>
          <a:xfrm>
            <a:off x="868680" y="1280160"/>
            <a:ext cx="3931920" cy="3931920"/>
          </a:xfrm>
          <a:prstGeom prst="ellipse">
            <a:avLst/>
          </a:prstGeom>
          <a:solidFill>
            <a:srgbClr val="DCE6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25880" y="1737360"/>
            <a:ext cx="3017520" cy="3017520"/>
          </a:xfrm>
          <a:prstGeom prst="ellipse">
            <a:avLst/>
          </a:prstGeom>
          <a:solidFill>
            <a:srgbClr val="A9C6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80" y="2194560"/>
            <a:ext cx="2103120" cy="21031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0" y="2697479"/>
            <a:ext cx="1097280" cy="109728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Bullsey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32" y="2953512"/>
            <a:ext cx="585216" cy="585216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 flipH="1">
            <a:off x="3063240" y="1508760"/>
            <a:ext cx="2057400" cy="1554479"/>
          </a:xfrm>
          <a:prstGeom prst="line">
            <a:avLst/>
          </a:prstGeom>
          <a:ln w="50800">
            <a:solidFill>
              <a:srgbClr val="7E8F12"/>
            </a:solidFill>
            <a:tailEnd type="triangle"/>
          </a:ln>
        </p:spPr>
      </p:cxnSp>
      <p:sp>
        <p:nvSpPr>
          <p:cNvPr id="9" name="TextBox 8"/>
          <p:cNvSpPr txBox="1"/>
          <p:nvPr/>
        </p:nvSpPr>
        <p:spPr>
          <a:xfrm>
            <a:off x="822960" y="544068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מטרה: משתתף שמבין את החומר — ומונע כשלים לפני שהם קורים</a:t>
            </a:r>
          </a:p>
        </p:txBody>
      </p:sp>
      <p:sp>
        <p:nvSpPr>
          <p:cNvPr id="10" name="Oval 9"/>
          <p:cNvSpPr/>
          <p:nvPr/>
        </p:nvSpPr>
        <p:spPr>
          <a:xfrm>
            <a:off x="10835640" y="1143000"/>
            <a:ext cx="640080" cy="6400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259" y="1296619"/>
            <a:ext cx="332841" cy="3328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0" y="1115568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להבין כיצד נוצר בטון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508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מרכיבים, הידרציה ומבנה</a:t>
            </a:r>
          </a:p>
        </p:txBody>
      </p:sp>
      <p:sp>
        <p:nvSpPr>
          <p:cNvPr id="14" name="Oval 13"/>
          <p:cNvSpPr/>
          <p:nvPr/>
        </p:nvSpPr>
        <p:spPr>
          <a:xfrm>
            <a:off x="10835640" y="2039111"/>
            <a:ext cx="640080" cy="6400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FaCog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9259" y="2192731"/>
            <a:ext cx="332841" cy="3328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0" y="2011679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להבין את גורמי האיכות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24048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W/C, חומרי גלם, אשפרה</a:t>
            </a:r>
          </a:p>
        </p:txBody>
      </p:sp>
      <p:sp>
        <p:nvSpPr>
          <p:cNvPr id="18" name="Oval 17"/>
          <p:cNvSpPr/>
          <p:nvPr/>
        </p:nvSpPr>
        <p:spPr>
          <a:xfrm>
            <a:off x="10835640" y="2935224"/>
            <a:ext cx="640080" cy="6400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aExclamationTriang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9259" y="3088843"/>
            <a:ext cx="332841" cy="33284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0" y="2907792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לזהות כשלים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300984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סגרגציה, דימום, קיני חצץ, סדיקה</a:t>
            </a:r>
          </a:p>
        </p:txBody>
      </p:sp>
      <p:sp>
        <p:nvSpPr>
          <p:cNvPr id="22" name="Oval 21"/>
          <p:cNvSpPr/>
          <p:nvPr/>
        </p:nvSpPr>
        <p:spPr>
          <a:xfrm>
            <a:off x="10835640" y="3831336"/>
            <a:ext cx="640080" cy="6400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Clipboard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89259" y="3984955"/>
            <a:ext cx="332841" cy="33284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0" y="3803903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לבצע בקרת איכות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197096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בדיקות טרי, קשוח וחומרי גלם</a:t>
            </a:r>
          </a:p>
        </p:txBody>
      </p:sp>
      <p:sp>
        <p:nvSpPr>
          <p:cNvPr id="26" name="Oval 25"/>
          <p:cNvSpPr/>
          <p:nvPr/>
        </p:nvSpPr>
        <p:spPr>
          <a:xfrm>
            <a:off x="10835640" y="4727448"/>
            <a:ext cx="640080" cy="6400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FaBoo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9259" y="4881067"/>
            <a:ext cx="332841" cy="33284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69280" y="4700016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להכיר תקנים ודרישות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509320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118, ת"י 26, ת"י 3, ת"י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שרשרת הערך של הבטון</a:t>
            </a:r>
          </a:p>
        </p:txBody>
      </p:sp>
      <p:sp>
        <p:nvSpPr>
          <p:cNvPr id="3" name="Oval 2"/>
          <p:cNvSpPr/>
          <p:nvPr/>
        </p:nvSpPr>
        <p:spPr>
          <a:xfrm>
            <a:off x="1035558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aMountai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5036" y="1545336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0412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מחצבה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סוג הסלע וניקיונו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993952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8" name="Oval 7"/>
          <p:cNvSpPr/>
          <p:nvPr/>
        </p:nvSpPr>
        <p:spPr>
          <a:xfrm>
            <a:off x="880110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FaFilt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0556" y="1545336"/>
            <a:ext cx="475488" cy="475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4964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מפעל אגרגטים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גריסה, ניפוי, שטיפה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838504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13" name="Oval 12"/>
          <p:cNvSpPr/>
          <p:nvPr/>
        </p:nvSpPr>
        <p:spPr>
          <a:xfrm>
            <a:off x="724662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FaWarehou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6076" y="1545336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9516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צמנט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סוג, חוזק, אחידות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683056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18" name="Oval 17"/>
          <p:cNvSpPr/>
          <p:nvPr/>
        </p:nvSpPr>
        <p:spPr>
          <a:xfrm>
            <a:off x="5692140" y="1325880"/>
            <a:ext cx="914400" cy="9144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aIndustry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1596" y="1545336"/>
            <a:ext cx="475488" cy="4754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4068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מפעל בטון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תכן תערובת, שקילה, ערבוב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27608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23" name="Oval 22"/>
          <p:cNvSpPr/>
          <p:nvPr/>
        </p:nvSpPr>
        <p:spPr>
          <a:xfrm>
            <a:off x="413766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Tru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7116" y="1545336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8620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הובלה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זמן, טמפרטורה, ללא תוספת מים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72160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28" name="Oval 27"/>
          <p:cNvSpPr/>
          <p:nvPr/>
        </p:nvSpPr>
        <p:spPr>
          <a:xfrm>
            <a:off x="258318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FaHardHa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02636" y="1545336"/>
            <a:ext cx="475488" cy="4754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33172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אתר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יציקה, ריטוט, אשפרה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167128" y="1783080"/>
            <a:ext cx="192024" cy="0"/>
          </a:xfrm>
          <a:prstGeom prst="line">
            <a:avLst/>
          </a:prstGeom>
          <a:ln w="31750">
            <a:solidFill>
              <a:srgbClr val="A3B1BA"/>
            </a:solidFill>
            <a:tailEnd type="triangle"/>
          </a:ln>
        </p:spPr>
      </p:cxnSp>
      <p:sp>
        <p:nvSpPr>
          <p:cNvPr id="33" name="Oval 32"/>
          <p:cNvSpPr/>
          <p:nvPr/>
        </p:nvSpPr>
        <p:spPr>
          <a:xfrm>
            <a:off x="102870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FaBuilding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8156" y="1545336"/>
            <a:ext cx="475488" cy="4754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23774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לקוח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2761488"/>
            <a:ext cx="141732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מבנה עמיד לעשרות שנים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3703320"/>
            <a:ext cx="10652760" cy="13258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927080" y="3886200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FaSearch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36807" y="3995928"/>
            <a:ext cx="237744" cy="23774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001000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כל חוליה משפיעה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4297680"/>
            <a:ext cx="283464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אגרגט מלוכלך במחצבה = בעיית חוזק ועבידות במפעל</a:t>
            </a:r>
          </a:p>
        </p:txBody>
      </p:sp>
      <p:sp>
        <p:nvSpPr>
          <p:cNvPr id="42" name="Oval 41"/>
          <p:cNvSpPr/>
          <p:nvPr/>
        </p:nvSpPr>
        <p:spPr>
          <a:xfrm>
            <a:off x="7360920" y="3886200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FaLink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70648" y="3995928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434840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האחריות משותפת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34840" y="4297680"/>
            <a:ext cx="283464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מספק חומרי הגלם ועד הצוות שמאשפר באתר</a:t>
            </a:r>
          </a:p>
        </p:txBody>
      </p:sp>
      <p:sp>
        <p:nvSpPr>
          <p:cNvPr id="46" name="Oval 45"/>
          <p:cNvSpPr/>
          <p:nvPr/>
        </p:nvSpPr>
        <p:spPr>
          <a:xfrm>
            <a:off x="3794760" y="3886200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FaChartLine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04488" y="3995928"/>
            <a:ext cx="237744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8680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בקרה לאורך השרשרת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" y="4297680"/>
            <a:ext cx="283464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בדיקה בכל מעבר — לא רק בקוביות של 28 יום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60" y="5285232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94192" y="5376672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FaLightbulb_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03919" y="5486400"/>
            <a:ext cx="237744" cy="2377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51560" y="5285232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איכות הבטון נקבעת לאורך כל שרשרת הערך — חוליה חלשה אחת מספיקה לכשל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מרכיבי הבטון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אגרגטים · צמנט · מים · מוספים ותוספים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מהו בטון?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0" y="1051560"/>
            <a:ext cx="635508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חומר מרוכב: שלד של אגרגטים שמשחת צמנט ומים מלכדת לגוף אחד מוצק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051560"/>
          <a:ext cx="420624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65960" y="26060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כ-70%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אגרגטים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חלוקת נפח טיפוסית בבטון רגיל (להמחשה)</a:t>
            </a:r>
          </a:p>
        </p:txBody>
      </p:sp>
      <p:sp>
        <p:nvSpPr>
          <p:cNvPr id="7" name="Oval 6"/>
          <p:cNvSpPr/>
          <p:nvPr/>
        </p:nvSpPr>
        <p:spPr>
          <a:xfrm>
            <a:off x="10890504" y="1792224"/>
            <a:ext cx="530352" cy="530352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aCub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7788" y="1919508"/>
            <a:ext cx="275783" cy="2757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60" y="1801368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אגרגטים  </a:t>
            </a: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חצץ וחול — השלד הנושא של הבטון</a:t>
            </a:r>
          </a:p>
        </p:txBody>
      </p:sp>
      <p:sp>
        <p:nvSpPr>
          <p:cNvPr id="10" name="Oval 9"/>
          <p:cNvSpPr/>
          <p:nvPr/>
        </p:nvSpPr>
        <p:spPr>
          <a:xfrm>
            <a:off x="10890504" y="2450591"/>
            <a:ext cx="530352" cy="530352"/>
          </a:xfrm>
          <a:prstGeom prst="ellipse">
            <a:avLst/>
          </a:prstGeom>
          <a:solidFill>
            <a:srgbClr val="A3B1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Warehouse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7788" y="2577876"/>
            <a:ext cx="275783" cy="2757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94960" y="2459736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צמנט  </a:t>
            </a: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החומר הקושר: מגיב עם מים ויוצר את הדבק</a:t>
            </a:r>
          </a:p>
        </p:txBody>
      </p:sp>
      <p:sp>
        <p:nvSpPr>
          <p:cNvPr id="13" name="Oval 12"/>
          <p:cNvSpPr/>
          <p:nvPr/>
        </p:nvSpPr>
        <p:spPr>
          <a:xfrm>
            <a:off x="10890504" y="3108959"/>
            <a:ext cx="530352" cy="530352"/>
          </a:xfrm>
          <a:prstGeom prst="ellipse">
            <a:avLst/>
          </a:prstGeom>
          <a:solidFill>
            <a:srgbClr val="7FC3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FaTint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7788" y="3236244"/>
            <a:ext cx="275783" cy="27578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94960" y="3118103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מים  </a:t>
            </a: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מניעים את ההידרציה ומעניקים עבידות</a:t>
            </a:r>
          </a:p>
        </p:txBody>
      </p:sp>
      <p:sp>
        <p:nvSpPr>
          <p:cNvPr id="16" name="Oval 15"/>
          <p:cNvSpPr/>
          <p:nvPr/>
        </p:nvSpPr>
        <p:spPr>
          <a:xfrm>
            <a:off x="10890504" y="3767328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Via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17788" y="3894612"/>
            <a:ext cx="275783" cy="27578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94960" y="3776472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מוספים  </a:t>
            </a: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כימיקלים במינון נמוך שמשנים התנהגות</a:t>
            </a:r>
          </a:p>
        </p:txBody>
      </p:sp>
      <p:sp>
        <p:nvSpPr>
          <p:cNvPr id="19" name="Oval 18"/>
          <p:cNvSpPr/>
          <p:nvPr/>
        </p:nvSpPr>
        <p:spPr>
          <a:xfrm>
            <a:off x="10890504" y="4425696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Recycle_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7788" y="4552980"/>
            <a:ext cx="275783" cy="27578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394960" y="4434840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תוספים  </a:t>
            </a: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חומרים מינרליים פעילים במקום חלק מהצמנט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30352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94192" y="535838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Lightbulb_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19" y="546811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530352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בטון טוב = חומרי גלם טובים × תכן נכון × ביצוע נכון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תפקיד האגרגטים</a:t>
            </a:r>
          </a:p>
        </p:txBody>
      </p:sp>
      <p:pic>
        <p:nvPicPr>
          <p:cNvPr id="3" name="Picture 2" descr="aggre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9072"/>
            <a:ext cx="6035040" cy="41569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3035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חתך בטון: האגרגטים (מסומנים) הם רוב הנפח, ומשחת הצמנט ממלאת את החללים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051560"/>
            <a:ext cx="42519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5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70-80%</a:t>
            </a:r>
          </a:p>
          <a:p>
            <a:pPr algn="r" rtl="1" marL="0" indent="0">
              <a:spcAft>
                <a:spcPts val="400"/>
              </a:spcAft>
              <a:buNone/>
            </a:pPr>
            <a:r>
              <a:rPr lang="he-IL" sz="18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מנפח הבטון</a:t>
            </a:r>
          </a:p>
        </p:txBody>
      </p:sp>
      <p:sp>
        <p:nvSpPr>
          <p:cNvPr id="6" name="Oval 5"/>
          <p:cNvSpPr/>
          <p:nvPr/>
        </p:nvSpPr>
        <p:spPr>
          <a:xfrm>
            <a:off x="10927080" y="2404872"/>
            <a:ext cx="548640" cy="5486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WeightHangin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8753" y="2536545"/>
            <a:ext cx="285292" cy="285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2377440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שלד נושא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743200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תורמים לחוזק ולמודול האלסטיות; אגרגט חזק ונקי = בטון חזק</a:t>
            </a:r>
          </a:p>
        </p:txBody>
      </p:sp>
      <p:sp>
        <p:nvSpPr>
          <p:cNvPr id="10" name="Oval 9"/>
          <p:cNvSpPr/>
          <p:nvPr/>
        </p:nvSpPr>
        <p:spPr>
          <a:xfrm>
            <a:off x="10927080" y="3392424"/>
            <a:ext cx="548640" cy="5486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8753" y="3524097"/>
            <a:ext cx="285292" cy="2852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23760" y="3364992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עמידות ויציבות נפחית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3730752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מקטינים התכווצות, זחילה וחום הידרציה</a:t>
            </a:r>
          </a:p>
        </p:txBody>
      </p:sp>
      <p:sp>
        <p:nvSpPr>
          <p:cNvPr id="14" name="Oval 13"/>
          <p:cNvSpPr/>
          <p:nvPr/>
        </p:nvSpPr>
        <p:spPr>
          <a:xfrm>
            <a:off x="10927080" y="4379976"/>
            <a:ext cx="548640" cy="5486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FaCoin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8753" y="4511649"/>
            <a:ext cx="285292" cy="2852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23760" y="4352544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כלכליות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718304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זולים מהצמנט — גרדציה טובה חוסכת משחה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תפקיד הצמנט</a:t>
            </a:r>
          </a:p>
        </p:txBody>
      </p:sp>
      <p:pic>
        <p:nvPicPr>
          <p:cNvPr id="3" name="Picture 2" descr="hyd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67114"/>
            <a:ext cx="6766560" cy="21292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35204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גרגרי צמנט במים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דקות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36391" y="35204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תחילת הידרציה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36391" y="38404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שעות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4" y="35204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רשת C-S-H מלכדת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9824" y="38404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ימים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43400"/>
            <a:ext cx="6766560" cy="77724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2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מרכיבי הקלינקר:  </a:t>
            </a: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C₃S, C₂S, C₃A, C₄AF</a:t>
            </a:r>
          </a:p>
          <a:p>
            <a:pPr algn="r" rtl="1" marL="0" indent="0">
              <a:spcAft>
                <a:spcPts val="2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סוגי צמנט:  </a:t>
            </a: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CEM I עד CEM V, לפי ת"י 1</a:t>
            </a:r>
          </a:p>
        </p:txBody>
      </p:sp>
      <p:sp>
        <p:nvSpPr>
          <p:cNvPr id="12" name="Oval 11"/>
          <p:cNvSpPr/>
          <p:nvPr/>
        </p:nvSpPr>
        <p:spPr>
          <a:xfrm>
            <a:off x="10917936" y="1225295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998" y="1361358"/>
            <a:ext cx="294802" cy="29480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55279" y="118872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החומר הקושר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572768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המרכיב היחיד שהופך את התערובת לגוף מוצק</a:t>
            </a:r>
          </a:p>
        </p:txBody>
      </p:sp>
      <p:sp>
        <p:nvSpPr>
          <p:cNvPr id="16" name="Oval 15"/>
          <p:cNvSpPr/>
          <p:nvPr/>
        </p:nvSpPr>
        <p:spPr>
          <a:xfrm>
            <a:off x="10917936" y="2322576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LayerGrou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3998" y="2458638"/>
            <a:ext cx="294802" cy="2948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55279" y="22860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יוצר את משחת הצמנט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670048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צמנט + מים עוטפים את האגרגטים וממלאים חללים</a:t>
            </a:r>
          </a:p>
        </p:txBody>
      </p:sp>
      <p:sp>
        <p:nvSpPr>
          <p:cNvPr id="20" name="Oval 19"/>
          <p:cNvSpPr/>
          <p:nvPr/>
        </p:nvSpPr>
        <p:spPr>
          <a:xfrm>
            <a:off x="10917936" y="3419856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ChartLi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3998" y="3555918"/>
            <a:ext cx="294802" cy="29480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955279" y="338328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מפתח חוזק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767328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התגובה נמשכת שבועות וחודשים כל עוד יש לחות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34924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94192" y="540410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513831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51560" y="534924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צמנט אינו "דבק" שמתייבש — הוא מגיב כימית עם מים ומתקשה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תפקיד המים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יחס מים-צמנט (W/C) — סקאלת השפעה</a:t>
            </a:r>
          </a:p>
        </p:txBody>
      </p:sp>
      <p:sp>
        <p:nvSpPr>
          <p:cNvPr id="4" name="Rectangle 3"/>
          <p:cNvSpPr/>
          <p:nvPr/>
        </p:nvSpPr>
        <p:spPr>
          <a:xfrm>
            <a:off x="6156959" y="1645920"/>
            <a:ext cx="1487424" cy="594360"/>
          </a:xfrm>
          <a:prstGeom prst="rect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חוזק גבוה מאוד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6959" y="2286000"/>
            <a:ext cx="1487424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דורש סופר-פלסטיצייזר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0" y="1645920"/>
            <a:ext cx="1487423" cy="594360"/>
          </a:xfrm>
          <a:prstGeom prst="rect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בטון מבני איכותי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32960" y="2286000"/>
            <a:ext cx="1487423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עמידות טובה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645920"/>
            <a:ext cx="1487423" cy="594360"/>
          </a:xfrm>
          <a:prstGeom prst="rect">
            <a:avLst/>
          </a:prstGeom>
          <a:solidFill>
            <a:srgbClr val="7FC3EA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בטון רגיל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286000"/>
            <a:ext cx="1487423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רגיש לאשפרה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645920"/>
            <a:ext cx="2249424" cy="594360"/>
          </a:xfrm>
          <a:prstGeom prst="rect">
            <a:avLst/>
          </a:prstGeom>
          <a:solidFill>
            <a:srgbClr val="A3B1BA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בטון חלש וחדיר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סיכון לעמידות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6060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0.30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2639" y="26060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0.40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26060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0.50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060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0.60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060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0.75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005840" y="3063240"/>
            <a:ext cx="6492239" cy="0"/>
          </a:xfrm>
          <a:prstGeom prst="line">
            <a:avLst/>
          </a:prstGeom>
          <a:ln w="19050">
            <a:solidFill>
              <a:srgbClr val="5F6B76"/>
            </a:solidFill>
            <a:tailEnd type="triangle"/>
          </a:ln>
        </p:spPr>
      </p:cxnSp>
      <p:sp>
        <p:nvSpPr>
          <p:cNvPr id="18" name="TextBox 17"/>
          <p:cNvSpPr txBox="1"/>
          <p:nvPr/>
        </p:nvSpPr>
        <p:spPr>
          <a:xfrm>
            <a:off x="822960" y="31272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חוזק ועמידות יורדים  ←  יותר מים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657600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730752"/>
            <a:ext cx="3017520" cy="13258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0.25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 שנדרש כימית להידרציה מלאה (בקירוב)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657600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3730752"/>
            <a:ext cx="3017520" cy="13258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0.45-0.55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 טיפוסי בבטון מבני — העודף הוא "מי עבידות"</a:t>
            </a:r>
          </a:p>
        </p:txBody>
      </p:sp>
      <p:sp>
        <p:nvSpPr>
          <p:cNvPr id="23" name="Oval 22"/>
          <p:cNvSpPr/>
          <p:nvPr/>
        </p:nvSpPr>
        <p:spPr>
          <a:xfrm>
            <a:off x="10917936" y="1225295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Flas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998" y="1361358"/>
            <a:ext cx="294802" cy="29480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46720" y="118872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יצירת הידרציה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1572768"/>
            <a:ext cx="278892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המים מגיבים עם הצמנט ויוצרים את מוצרי ההידרציה</a:t>
            </a:r>
          </a:p>
        </p:txBody>
      </p:sp>
      <p:sp>
        <p:nvSpPr>
          <p:cNvPr id="27" name="Oval 26"/>
          <p:cNvSpPr/>
          <p:nvPr/>
        </p:nvSpPr>
        <p:spPr>
          <a:xfrm>
            <a:off x="10917936" y="2414016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FaHandPap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998" y="2550078"/>
            <a:ext cx="294802" cy="29480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046720" y="237744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השפעה על עבידות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2761488"/>
            <a:ext cx="278892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מאפשרים שאיבה, יציקה וריטוט</a:t>
            </a:r>
          </a:p>
        </p:txBody>
      </p:sp>
      <p:sp>
        <p:nvSpPr>
          <p:cNvPr id="31" name="Oval 30"/>
          <p:cNvSpPr/>
          <p:nvPr/>
        </p:nvSpPr>
        <p:spPr>
          <a:xfrm>
            <a:off x="10917936" y="3602736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FaArrowDow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3998" y="3738798"/>
            <a:ext cx="294802" cy="29480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46720" y="356616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השפעה על חוזק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3950208"/>
            <a:ext cx="278892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כל ליטר עודף משאיר נקבוביות ומחליש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4924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94192" y="540410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aLightbulb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19" y="5513831"/>
            <a:ext cx="237744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51560" y="534924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המים הנוספים מעבר לנדרש כימית — הם שמשאירים את הנקבוביות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מוספים ותוספים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63640" y="1051560"/>
            <a:ext cx="5212080" cy="7315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58500" y="1165860"/>
            <a:ext cx="502920" cy="5029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Vial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9200" y="1286560"/>
            <a:ext cx="261518" cy="261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4343400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מוספים (Admixtures): </a:t>
            </a: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כימיקלים, מינון קטן מ-5% ממשקל הצמנט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051560"/>
            <a:ext cx="5212080" cy="731520"/>
          </a:xfrm>
          <a:prstGeom prst="roundRect">
            <a:avLst>
              <a:gd name="adj" fmla="val 8000"/>
            </a:avLst>
          </a:prstGeom>
          <a:solidFill>
            <a:srgbClr val="F3F7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17820" y="1165860"/>
            <a:ext cx="502920" cy="5029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FaRecycle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520" y="1286560"/>
            <a:ext cx="261518" cy="26151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1097280"/>
            <a:ext cx="4343400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תוספים (Additions): </a:t>
            </a: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חומרים מינרליים פעילים, מחליפים חלק מהצמנט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2960" y="1965960"/>
          <a:ext cx="10652760" cy="33101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03320"/>
                <a:gridCol w="4023360"/>
                <a:gridCol w="201168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מתי משתמשים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פעולה עיקרית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חומר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סוג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חוזק גבוה, בטון זורם, W/C נמוך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מפזר את גרגרי הצמנט; מפחית מים ב-12-30%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סופר-פלסטיצייזר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מוסף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קיץ, הובלה ארוכה, יציקות רציפות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דוחה את תחילת ההתקשרות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מעכב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מוסף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חורף, טרום, פירוק תבניות מוקדם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מזרז התקשרות והתפתחות חוזק מוקדם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מאיץ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מוסף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יציקות מסיביות, עמידות לכלורידים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תגובה פוצולנית; עבידות ועמידות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אפר פחם (Fly Ash)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תוסף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 בחוזק גבוה, סביבה ימית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חלקיקים זעירים שממלאים חללים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מיקרוסיליקה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תוסף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מבנים ימיים, סולפטים, מסיבי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חום הידרציה נמוך, עמידות כימית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סיגים (GGBS)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תוסף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הידרציה ומבנה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תהליך ההידרציה · מיקרו-מבנה · גורמים משפיעים · התפתחות המבנה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מהי הידרציה?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15400" y="1188720"/>
            <a:ext cx="2514600" cy="2468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94460"/>
            <a:ext cx="777240" cy="7772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Tin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617" y="1580997"/>
            <a:ext cx="404164" cy="4041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52560" y="23317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מים + צמנט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88920"/>
            <a:ext cx="224028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מגע ראשוני, תחילת פירוק המינרלים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750808" y="2423160"/>
            <a:ext cx="146304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9" name="Rounded Rectangle 8"/>
          <p:cNvSpPr/>
          <p:nvPr/>
        </p:nvSpPr>
        <p:spPr>
          <a:xfrm>
            <a:off x="6217920" y="1188720"/>
            <a:ext cx="2514600" cy="2468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86600" y="1394460"/>
            <a:ext cx="777240" cy="7772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Bo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3137" y="1580997"/>
            <a:ext cx="404164" cy="4041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5080" y="23317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תגובה כימית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788920"/>
            <a:ext cx="224028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אקסותרמית — משחררת חום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53328" y="2423160"/>
            <a:ext cx="146304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15" name="Rounded Rectangle 14"/>
          <p:cNvSpPr/>
          <p:nvPr/>
        </p:nvSpPr>
        <p:spPr>
          <a:xfrm>
            <a:off x="3520439" y="1188720"/>
            <a:ext cx="2514600" cy="24688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89120" y="1394460"/>
            <a:ext cx="777240" cy="77724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LayerGroup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657" y="1580997"/>
            <a:ext cx="404164" cy="4041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57599" y="23317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C-S-H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599" y="2788920"/>
            <a:ext cx="224028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סיליקט סידן מוהדר: "הדבק" של הבטון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3355847" y="2423160"/>
            <a:ext cx="146304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21" name="Rounded Rectangle 20"/>
          <p:cNvSpPr/>
          <p:nvPr/>
        </p:nvSpPr>
        <p:spPr>
          <a:xfrm>
            <a:off x="822959" y="1188720"/>
            <a:ext cx="2514600" cy="2468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91639" y="1394460"/>
            <a:ext cx="777240" cy="7772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ChartLi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8177" y="1580997"/>
            <a:ext cx="404164" cy="4041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19" y="23317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התפתחות חוזק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19" y="2788920"/>
            <a:ext cx="224028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הרשת מתעבה והחללים מתמלאים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931920"/>
            <a:ext cx="10652760" cy="10972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977639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C₃S / C₂S + H₂O  →  C-S-H + CH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תוצר משני: סידן הידרוקסידי — שומר על pH גבוה ומגן על הזיון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02336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50-60% מנפח המשחה המוקשה הוא C-S-H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ההידרציה צורכת מים — בלי לחות היא נעצרת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30352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94192" y="537210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481828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51560" y="530352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אין הידרציה — אין חוזק. לכן האשפרה היא חלק מהתהליך, לא תוספת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מיקרו-מבנה של בטון</a:t>
            </a:r>
          </a:p>
        </p:txBody>
      </p:sp>
      <p:pic>
        <p:nvPicPr>
          <p:cNvPr id="3" name="Picture 2" descr="mi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6766560" cy="43307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26679" y="3774643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</a:t>
            </a: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   Aggregate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26679" y="414040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השלד: חזק וצפוף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262432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7E8F12"/>
                </a:solidFill>
                <a:latin typeface="Arial Unicode MS"/>
                <a:ea typeface="Arial Unicode MS"/>
                <a:cs typeface="Arial Unicode MS"/>
              </a:rPr>
              <a:t>ITZ — אזור המגע</a:t>
            </a: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   Interfacial Transition Zone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2990088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10-50 מיקרון, נקבובי יותר — החוליה החלשה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458663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משחת צמנט</a:t>
            </a: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   Cement Paste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495239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C-S-H, CH ונקבוביות קפילריות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4924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94192" y="540410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Lightbulb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19" y="5513831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51560" y="534924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שיפור ה-ITZ (W/C נמוך, מיקרוסיליקה, אגרגט נקי) = בטון חזק ועמיד יותר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גורמים המשפיעים על הידרציה</a:t>
            </a:r>
          </a:p>
        </p:txBody>
      </p:sp>
      <p:sp>
        <p:nvSpPr>
          <p:cNvPr id="3" name="Oval 2"/>
          <p:cNvSpPr/>
          <p:nvPr/>
        </p:nvSpPr>
        <p:spPr>
          <a:xfrm>
            <a:off x="5093208" y="2103120"/>
            <a:ext cx="2103120" cy="21031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38927" y="278892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הידרציה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097280"/>
            <a:ext cx="3246120" cy="1737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21340" y="125730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ThermometerHalf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3986" y="1399946"/>
            <a:ext cx="309067" cy="3090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32588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טמפרטורה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חום מאיץ את התגובה המוקדמת אך פוגע בחוזק הסופי; מתחת ל-5°C היא כמעט נעצרת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150608" y="1965960"/>
            <a:ext cx="1078992" cy="731520"/>
          </a:xfrm>
          <a:prstGeom prst="line">
            <a:avLst/>
          </a:prstGeom>
          <a:ln w="25400">
            <a:solidFill>
              <a:srgbClr val="A3B1BA"/>
            </a:solidFill>
          </a:ln>
        </p:spPr>
      </p:cxnSp>
      <p:sp>
        <p:nvSpPr>
          <p:cNvPr id="11" name="Rounded Rectangle 10"/>
          <p:cNvSpPr/>
          <p:nvPr/>
        </p:nvSpPr>
        <p:spPr>
          <a:xfrm>
            <a:off x="822960" y="1097280"/>
            <a:ext cx="3246120" cy="1737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4700" y="125730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Tin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7346" y="1399946"/>
            <a:ext cx="309067" cy="3090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" y="132588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יחס W/C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874519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קובע כמה מים זמינים וכמה חללים יישארו</a:t>
            </a:r>
          </a:p>
        </p:txBody>
      </p:sp>
      <p:cxnSp>
        <p:nvCxnSpPr>
          <p:cNvPr id="16" name="Connector 15"/>
          <p:cNvCxnSpPr/>
          <p:nvPr/>
        </p:nvCxnSpPr>
        <p:spPr>
          <a:xfrm flipH="1" flipV="1">
            <a:off x="4069080" y="1965960"/>
            <a:ext cx="1069847" cy="731520"/>
          </a:xfrm>
          <a:prstGeom prst="line">
            <a:avLst/>
          </a:prstGeom>
          <a:ln w="25400">
            <a:solidFill>
              <a:srgbClr val="A3B1BA"/>
            </a:solidFill>
          </a:ln>
        </p:spPr>
      </p:cxnSp>
      <p:sp>
        <p:nvSpPr>
          <p:cNvPr id="17" name="Rounded Rectangle 16"/>
          <p:cNvSpPr/>
          <p:nvPr/>
        </p:nvSpPr>
        <p:spPr>
          <a:xfrm>
            <a:off x="8229600" y="3520440"/>
            <a:ext cx="3246120" cy="1737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21340" y="3680459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aWarehou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3986" y="3823106"/>
            <a:ext cx="309067" cy="3090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80" y="3749039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סוג הצמנט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297680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דקות טחינה והרכב: CEM I מהיר, CEM III עם סיגים איטי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50608" y="3611880"/>
            <a:ext cx="1078992" cy="777240"/>
          </a:xfrm>
          <a:prstGeom prst="line">
            <a:avLst/>
          </a:prstGeom>
          <a:ln w="25400">
            <a:solidFill>
              <a:srgbClr val="A3B1BA"/>
            </a:solidFill>
          </a:ln>
        </p:spPr>
      </p:cxnSp>
      <p:sp>
        <p:nvSpPr>
          <p:cNvPr id="23" name="Rounded Rectangle 22"/>
          <p:cNvSpPr/>
          <p:nvPr/>
        </p:nvSpPr>
        <p:spPr>
          <a:xfrm>
            <a:off x="822960" y="3520440"/>
            <a:ext cx="3246120" cy="1737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14700" y="3680459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FaC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7346" y="3823106"/>
            <a:ext cx="309067" cy="30906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05840" y="3749039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זמן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297680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ההידרציה נמשכת חודשים — כל עוד יש לחות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4069080" y="3611880"/>
            <a:ext cx="1069847" cy="777240"/>
          </a:xfrm>
          <a:prstGeom prst="line">
            <a:avLst/>
          </a:prstGeom>
          <a:ln w="25400">
            <a:solidFill>
              <a:srgbClr val="A3B1BA"/>
            </a:solidFill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התפתחות המבנה: מבטון טרי לבטון קשוח</a:t>
            </a:r>
          </a:p>
        </p:txBody>
      </p:sp>
      <p:sp>
        <p:nvSpPr>
          <p:cNvPr id="3" name="Rectangle 2"/>
          <p:cNvSpPr/>
          <p:nvPr/>
        </p:nvSpPr>
        <p:spPr>
          <a:xfrm>
            <a:off x="8830818" y="1828800"/>
            <a:ext cx="2626614" cy="685800"/>
          </a:xfrm>
          <a:prstGeom prst="rect">
            <a:avLst/>
          </a:prstGeom>
          <a:solidFill>
            <a:srgbClr val="7FC3EA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פלסטי</a:t>
            </a:r>
          </a:p>
        </p:txBody>
      </p:sp>
      <p:sp>
        <p:nvSpPr>
          <p:cNvPr id="4" name="Oval 3"/>
          <p:cNvSpPr/>
          <p:nvPr/>
        </p:nvSpPr>
        <p:spPr>
          <a:xfrm>
            <a:off x="10904220" y="1165860"/>
            <a:ext cx="502920" cy="5029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03970" y="2606040"/>
            <a:ext cx="248031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0-2 שעות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49690" y="2971800"/>
            <a:ext cx="2388870" cy="10058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ניתן להובלה, שאיבה, יציקה וריטוט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7628" y="1828800"/>
            <a:ext cx="2626614" cy="685800"/>
          </a:xfrm>
          <a:prstGeom prst="rect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תחילת התקשרות</a:t>
            </a:r>
          </a:p>
        </p:txBody>
      </p:sp>
      <p:sp>
        <p:nvSpPr>
          <p:cNvPr id="8" name="Oval 7"/>
          <p:cNvSpPr/>
          <p:nvPr/>
        </p:nvSpPr>
        <p:spPr>
          <a:xfrm>
            <a:off x="8241030" y="1165860"/>
            <a:ext cx="502920" cy="5029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0780" y="2606040"/>
            <a:ext cx="248031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2-4 שעות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6500" y="2971800"/>
            <a:ext cx="2388870" cy="10058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סוף חלון הריטוט; אסור להוסיף מים או לערבב מחדש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4438" y="1828800"/>
            <a:ext cx="2626614" cy="685800"/>
          </a:xfrm>
          <a:prstGeom prst="rect">
            <a:avLst/>
          </a:prstGeom>
          <a:solidFill>
            <a:srgbClr val="1F5A94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התקשות</a:t>
            </a:r>
          </a:p>
        </p:txBody>
      </p:sp>
      <p:sp>
        <p:nvSpPr>
          <p:cNvPr id="12" name="Oval 11"/>
          <p:cNvSpPr/>
          <p:nvPr/>
        </p:nvSpPr>
        <p:spPr>
          <a:xfrm>
            <a:off x="5577840" y="1165860"/>
            <a:ext cx="502920" cy="5029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7590" y="2606040"/>
            <a:ext cx="248031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4-10 שעות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310" y="2971800"/>
            <a:ext cx="2388870" cy="10058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סוף התקשרות; מתחילה עבודת החלקה והגנה מהתאדות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1828800"/>
            <a:ext cx="2626614" cy="685800"/>
          </a:xfrm>
          <a:prstGeom prst="rect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קשיח</a:t>
            </a:r>
          </a:p>
        </p:txBody>
      </p:sp>
      <p:sp>
        <p:nvSpPr>
          <p:cNvPr id="16" name="Oval 15"/>
          <p:cNvSpPr/>
          <p:nvPr/>
        </p:nvSpPr>
        <p:spPr>
          <a:xfrm>
            <a:off x="2914650" y="1165860"/>
            <a:ext cx="502920" cy="5029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606040"/>
            <a:ext cx="248031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מ-24 שעות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971800"/>
            <a:ext cx="2388870" cy="10058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צובר חוזק; פירוק תבניות לפי חוזק בפועל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68680" y="4069080"/>
            <a:ext cx="10607040" cy="0"/>
          </a:xfrm>
          <a:prstGeom prst="line">
            <a:avLst/>
          </a:prstGeom>
          <a:ln w="25400">
            <a:solidFill>
              <a:srgbClr val="5F6B76"/>
            </a:solidFill>
            <a:tailEnd type="triangle"/>
          </a:ln>
        </p:spPr>
      </p:cxnSp>
      <p:sp>
        <p:nvSpPr>
          <p:cNvPr id="20" name="TextBox 19"/>
          <p:cNvSpPr txBox="1"/>
          <p:nvPr/>
        </p:nvSpPr>
        <p:spPr>
          <a:xfrm>
            <a:off x="822960" y="4133087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l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זמן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3484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הזמנים טיפוסיים ל-20°C וצמנט רגיל; חום ומאיצים מקצרים, קור ומעכבים מאריכים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7492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94192" y="514350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Lightbulb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19" y="5253228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507492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שגיאה בשלב הפלסטי (מים, ריטוט מאוחר) אינה ניתנת לתיקון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חוזק הבטון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הגדרה · התפתחות · גורמים · אשפרה · דרגות חוזק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מהו חוזק?</a:t>
            </a:r>
          </a:p>
        </p:txBody>
      </p:sp>
      <p:pic>
        <p:nvPicPr>
          <p:cNvPr id="3" name="Picture 2" descr="cube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31221"/>
            <a:ext cx="3840480" cy="41383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120640" y="1188720"/>
            <a:ext cx="6355080" cy="137160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49240" y="1234440"/>
            <a:ext cx="5897880" cy="12801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יכולת הבטון לשאת עומסי לחיצה ללא כשל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278892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0" y="28803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f = F / A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כוח השבר חלקי שטח החתך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MPa = N/mm²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278892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28803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דוגמה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קובייה 150 מ"מ נשברה ב-675 kN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675,000 / 22,500 = 30 MPa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4617720"/>
            <a:ext cx="635508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חוזק הלחיצה הוא המדד המרכזי לאיכות הבטון, אבל לא היחיד: עמידות וחדירות נבדקות בנפרד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התפתחות חוזק לאורך זמן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51560"/>
          <a:ext cx="73152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532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52.5R: חוזק מוקדם גבוה · CEM II: עם אבן גיר / אפר פחם · CEM III: עם סיגים. ערכים טיפוסיים להמחשה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28 </a:t>
            </a: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יום — גיל הייחוס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73736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דרגת החוזק (למשל ב-30) נבדקת בקוביות בגיל 28 יום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56032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7 </a:t>
            </a: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ימים — אינדיקציה מוקדמת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10896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כ-65-75% מחוזק 28 בצמנט רגיל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93192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90 </a:t>
            </a: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יום — המשך עלייה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4480559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צמנטים עם תוספים ממשיכים לצבור חוזק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גורמים המשפיעים על החוזק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63640" y="1143000"/>
            <a:ext cx="5212080" cy="17830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1320" y="1325880"/>
            <a:ext cx="731520" cy="7315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Tin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6884" y="1501444"/>
            <a:ext cx="380390" cy="3803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4173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יחס W/C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6596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הגורם הדומיננטי: W/C נמוך יותר = חוזק גבוה יותר (חוק אברמס)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143000"/>
            <a:ext cx="5212080" cy="17830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20640" y="132588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FaWarehou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4" y="1501444"/>
            <a:ext cx="380390" cy="3803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" y="14173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צמנט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96596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סוג, דרגת חוזק (42.5 / 52.5) ותכולה בתערובת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08960"/>
            <a:ext cx="5212080" cy="17830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61320" y="329184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FaCub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6884" y="3467404"/>
            <a:ext cx="380390" cy="38039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92240" y="3383279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חוזק הסלע, צורה, ניקיון, גרדציה וגודל מקסימלי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08960"/>
            <a:ext cx="5212080" cy="17830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20640" y="3291840"/>
            <a:ext cx="731520" cy="7315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ShieldAl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204" y="3467404"/>
            <a:ext cx="380390" cy="38039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1560" y="3383279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אשפרה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931920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בטון ללא אשפרה עלול להגיע לכ-50-60% בלבד מהחוזק הפוטנציאלי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25780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94192" y="532638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436108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1560" y="525780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שלושה מתוך ארבעה גורמים נקבעים במפעל — האשפרה נקבעת באתר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אשפרה: הגורם שנשכח</a:t>
            </a:r>
          </a:p>
        </p:txBody>
      </p:sp>
      <p:pic>
        <p:nvPicPr>
          <p:cNvPr id="3" name="Picture 2" descr="cu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8490"/>
            <a:ext cx="4206240" cy="2546458"/>
          </a:xfrm>
          <a:prstGeom prst="rect">
            <a:avLst/>
          </a:prstGeom>
        </p:spPr>
      </p:pic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257800" y="1051560"/>
          <a:ext cx="621792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257800" y="370332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אשפרה קצרה = 3 ימים. מגמה טיפוסית לפי ספרות מקצועית — להמחשה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0" y="411480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53928" y="42336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aWat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3655" y="4343400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4224528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הרטבה רציפה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466344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המטרה, הצפה, יוטה רטובה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411480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74736" y="42336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3" y="434340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4224528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כיסוי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466344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יריעות פוליאתילן צמודות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411480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95544" y="42336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aVia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5272" y="4343400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648456" y="4224528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חומר אשפרה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8456" y="466344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Curing Compound מיד אחרי ההחלקה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" y="411480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16352" y="42336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C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4343400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9264" y="4224528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משך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66344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לפחות 7 ימים; יותר עם סיגים/אפר פחם או בקור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94960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האשפרה משפיעה בעיקר על שכבת הכיסוי — השכבה שמגנה על הזיון. </a:t>
            </a: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משך ושיטה: לפי ת"י 467 ומפרט הפרויקט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דרגות חוזק לפי ת"י 118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דרגת החוזק מסומנת באות ב' ובמספר: המספר הוא החוזק האופייני (MPa) על קוביות בגיל 28 יום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00200"/>
          <a:ext cx="1065276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3291840"/>
                <a:gridCol w="1828800"/>
              </a:tblGrid>
              <a:tr h="50292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שימושים טיפוסיים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חוזק אופייני על קוביות (MPa)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דרגה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 רזה, מילוי, אלמנטים לא נושאים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ב-20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יסודות, רצפות, מבני מגורים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30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ב-30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תקרות, עמודים, סביבה מליחה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ב-40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טרום, גשרים, סביבה ימית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50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ב-50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 בחוזק גבוה, רבי-קומות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ב-60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709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דרגות ביניים (ב-25, ב-35, ב-45...) קיימות לפי התקן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983480"/>
            <a:ext cx="8183879" cy="960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98179" y="5207507"/>
            <a:ext cx="502920" cy="5029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aLightbulb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8880" y="5328208"/>
            <a:ext cx="261518" cy="2615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502920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דרגת החוזק אינה בחירה חופשית:</a:t>
            </a:r>
          </a:p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ת"י 118 קובע דרגת חוזק מינימלית לכל דרגת חשיפה — והמתכנן קובע את הדרגה בפועל.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דרגות חשיפה לפי ת"י 118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118 מגדיר 11 דרגות חשיפה לפי סביבת הרכיב. המזמין חייב לציין את דרגת החשיפה של כל רכיב</a:t>
            </a:r>
          </a:p>
        </p:txBody>
      </p:sp>
      <p:sp>
        <p:nvSpPr>
          <p:cNvPr id="4" name="Rectangle 3"/>
          <p:cNvSpPr/>
          <p:nvPr/>
        </p:nvSpPr>
        <p:spPr>
          <a:xfrm>
            <a:off x="9718548" y="1600200"/>
            <a:ext cx="1738884" cy="73152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דרגה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3412" y="2423160"/>
            <a:ext cx="1629156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פנים המבנה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73412" y="2834640"/>
            <a:ext cx="1629156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רכיבים מוגנים, יבשים</a:t>
            </a:r>
          </a:p>
        </p:txBody>
      </p:sp>
      <p:sp>
        <p:nvSpPr>
          <p:cNvPr id="7" name="Rectangle 6"/>
          <p:cNvSpPr/>
          <p:nvPr/>
        </p:nvSpPr>
        <p:spPr>
          <a:xfrm>
            <a:off x="7943088" y="1600200"/>
            <a:ext cx="1738884" cy="731520"/>
          </a:xfrm>
          <a:prstGeom prst="rect">
            <a:avLst/>
          </a:prstGeom>
          <a:solidFill>
            <a:srgbClr val="A9C6E3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דרגה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7952" y="2423160"/>
            <a:ext cx="1629156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חוץ, 2 ק"מ ומעלה מהים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7952" y="2834640"/>
            <a:ext cx="1629156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מעל 2 מ' מהקרקע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7628" y="1600200"/>
            <a:ext cx="1738884" cy="731520"/>
          </a:xfrm>
          <a:prstGeom prst="rect">
            <a:avLst/>
          </a:prstGeom>
          <a:solidFill>
            <a:srgbClr val="7FA7D6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דרגה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2492" y="2423160"/>
            <a:ext cx="1629156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חוץ, במגע עם קרקע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2492" y="2834640"/>
            <a:ext cx="1629156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קרקע לא אגרסיבית, עד 2 מ' מעליה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2168" y="1600200"/>
            <a:ext cx="1738884" cy="731520"/>
          </a:xfrm>
          <a:prstGeom prst="rect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דרגה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7032" y="2423160"/>
            <a:ext cx="1629156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חוץ, 1-2 ק"מ מהים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32" y="2834640"/>
            <a:ext cx="1629156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סביבה מליחה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16708" y="1600200"/>
            <a:ext cx="1738884" cy="731520"/>
          </a:xfrm>
          <a:prstGeom prst="rect">
            <a:avLst/>
          </a:prstGeom>
          <a:solidFill>
            <a:srgbClr val="1F5A94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דרגה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1572" y="2423160"/>
            <a:ext cx="1629156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חוץ, 200 מ' עד 1 ק"מ מהים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1572" y="2834640"/>
            <a:ext cx="1629156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סביבה ימית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1600200"/>
            <a:ext cx="1738884" cy="731520"/>
          </a:xfrm>
          <a:prstGeom prst="rect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דרגה 6-11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2423160"/>
            <a:ext cx="1629156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ימי וכימי חמורים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2834640"/>
            <a:ext cx="1629156" cy="5943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קו החוף, מים, קרקע וסביבה אגרסיבית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868680" y="3520440"/>
            <a:ext cx="10561320" cy="0"/>
          </a:xfrm>
          <a:prstGeom prst="line">
            <a:avLst/>
          </a:prstGeom>
          <a:ln w="25400">
            <a:solidFill>
              <a:srgbClr val="5F6B76"/>
            </a:solidFill>
            <a:tailEnd type="triangle"/>
          </a:ln>
        </p:spPr>
      </p:cxnSp>
      <p:sp>
        <p:nvSpPr>
          <p:cNvPr id="23" name="TextBox 22"/>
          <p:cNvSpPr txBox="1"/>
          <p:nvPr/>
        </p:nvSpPr>
        <p:spPr>
          <a:xfrm>
            <a:off x="822960" y="35844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l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קרבה לים ואגרסיביות הסביבה 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361188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FFF2DC"/>
          </a:solidFill>
          <a:ln w="12700">
            <a:solidFill>
              <a:srgbClr val="B26A00"/>
            </a:solidFill>
          </a:ln>
        </p:spPr>
        <p:txBody>
          <a:bodyPr rtlCol="0" anchor="ctr" wrap="square" lIns="18288" rIns="18288" tIns="18288" bIns="18288"/>
          <a:lstStyle/>
          <a:p>
            <a:pPr algn="ctr" rtl="1" marL="0" indent="0">
              <a:buNone/>
            </a:pPr>
            <a:r>
              <a:rPr lang="he-IL" sz="11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לאימות מול התקן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023360"/>
            <a:ext cx="106527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מה נגזר מדרגת החשיפה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90888" y="4434840"/>
            <a:ext cx="2039112" cy="6858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49940" y="4567428"/>
            <a:ext cx="411480" cy="4114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FaTin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4666183"/>
            <a:ext cx="213969" cy="21396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82328" y="4434840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W/C מרבי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60336" y="4434840"/>
            <a:ext cx="2039112" cy="6858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819388" y="4567428"/>
            <a:ext cx="411480" cy="4114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FaWarehou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8143" y="4666183"/>
            <a:ext cx="213969" cy="21396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351776" y="4434840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תכולת צמנט מינימלית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29784" y="4434840"/>
            <a:ext cx="2039112" cy="6858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88836" y="4567428"/>
            <a:ext cx="411480" cy="4114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FaWeightHang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7591" y="4666183"/>
            <a:ext cx="213969" cy="21396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21224" y="4434840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דרגת חוזק מינימלית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999232" y="4434840"/>
            <a:ext cx="2039112" cy="6858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58284" y="4567428"/>
            <a:ext cx="411480" cy="4114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FaShieldAl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7039" y="4666183"/>
            <a:ext cx="213969" cy="21396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090672" y="4434840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עובי כיסוי לזיון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4434840"/>
            <a:ext cx="2039112" cy="6858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427732" y="4567428"/>
            <a:ext cx="411480" cy="41148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FaFlas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6487" y="4666183"/>
            <a:ext cx="213969" cy="21396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60120" y="4434840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תקרת כלורידים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257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תיאורי הדרגות מקוצרים. ההגדרה המלאה והערכים לכל דרגה — בטבלאות ת"י 118 במהדורה המחייבת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משמעות החוזק: האיזון בתכן התערובת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1463040" y="1280160"/>
            <a:ext cx="4754880" cy="3931920"/>
          </a:xfrm>
          <a:prstGeom prst="triangle">
            <a:avLst/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68880" y="34290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תכן תערובת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מאוזן</a:t>
            </a:r>
          </a:p>
        </p:txBody>
      </p:sp>
      <p:sp>
        <p:nvSpPr>
          <p:cNvPr id="5" name="Oval 4"/>
          <p:cNvSpPr/>
          <p:nvPr/>
        </p:nvSpPr>
        <p:spPr>
          <a:xfrm>
            <a:off x="3383280" y="777240"/>
            <a:ext cx="914400" cy="914400"/>
          </a:xfrm>
          <a:prstGeom prst="ellipse">
            <a:avLst/>
          </a:prstGeom>
          <a:solidFill>
            <a:srgbClr val="003973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WeightHanging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996696"/>
            <a:ext cx="475488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89120" y="10515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חוזק</a:t>
            </a:r>
          </a:p>
        </p:txBody>
      </p:sp>
      <p:sp>
        <p:nvSpPr>
          <p:cNvPr id="8" name="Oval 7"/>
          <p:cNvSpPr/>
          <p:nvPr/>
        </p:nvSpPr>
        <p:spPr>
          <a:xfrm>
            <a:off x="5760720" y="4709160"/>
            <a:ext cx="914400" cy="914400"/>
          </a:xfrm>
          <a:prstGeom prst="ellipse">
            <a:avLst/>
          </a:prstGeom>
          <a:solidFill>
            <a:srgbClr val="003973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FaShieldA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76" y="4928616"/>
            <a:ext cx="475488" cy="475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0" y="5669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עמידות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" y="4709160"/>
            <a:ext cx="914400" cy="914400"/>
          </a:xfrm>
          <a:prstGeom prst="ellipse">
            <a:avLst/>
          </a:prstGeom>
          <a:solidFill>
            <a:srgbClr val="003973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HandPap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296" y="4928616"/>
            <a:ext cx="475488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5669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עבידות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1280160"/>
            <a:ext cx="4251960" cy="11430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FaTint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60020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06640" y="1389888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מוסיפים מים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8470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עבידות ↑  חוזק ↓  עמידות 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606039"/>
            <a:ext cx="4251960" cy="1143000"/>
          </a:xfrm>
          <a:prstGeom prst="roundRect">
            <a:avLst>
              <a:gd name="adj" fmla="val 8000"/>
            </a:avLst>
          </a:prstGeom>
          <a:solidFill>
            <a:srgbClr val="FFF2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aWarehous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2926079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406640" y="2715768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מוסיפים צמנט בלבד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17296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חוזק ↑  עלות ↑  חום וסדיקה 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3931920"/>
            <a:ext cx="4251960" cy="114300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Vial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27080" y="4251959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06640" y="4041648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W/C נמוך + סופר-פלסטיצייזר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449884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חוזק ↑  עמידות ↑  עבידות נשמרת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יחס מים-צמנט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הגדרה · W/C וחוזק · W/C וחדירות · W/C ועמידות · מקרה שטח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יחס מים-צמנט (W/C)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143000"/>
            <a:ext cx="8366760" cy="15544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91840" y="1188720"/>
            <a:ext cx="8001000" cy="14630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400" b="1">
                <a:solidFill>
                  <a:srgbClr val="C4D82E"/>
                </a:solidFill>
                <a:latin typeface="Arial Unicode MS"/>
                <a:ea typeface="Arial Unicode MS"/>
                <a:cs typeface="Arial Unicode MS"/>
              </a:rPr>
              <a:t>W/C  =  </a:t>
            </a:r>
            <a:r>
              <a:rPr lang="he-IL" sz="2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משקל המים (ק"ג)  ÷  משקל הצמנט (ק"ג)</a:t>
            </a:r>
          </a:p>
        </p:txBody>
      </p:sp>
      <p:sp>
        <p:nvSpPr>
          <p:cNvPr id="5" name="Oval 4"/>
          <p:cNvSpPr/>
          <p:nvPr/>
        </p:nvSpPr>
        <p:spPr>
          <a:xfrm>
            <a:off x="1234440" y="1234440"/>
            <a:ext cx="1371600" cy="13716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BalanceSca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624" y="1563624"/>
            <a:ext cx="713232" cy="7132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46720" y="3017520"/>
            <a:ext cx="20116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3063240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180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ליטר מים ל-מ"ק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017520"/>
            <a:ext cx="548640" cy="12344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3017520"/>
            <a:ext cx="20116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3063240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360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ק"ג צמנט ל-מ"ק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17520"/>
            <a:ext cx="548640" cy="12344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=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39" y="3017520"/>
            <a:ext cx="20116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39" y="3063240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3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0.50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</a:t>
            </a:r>
          </a:p>
        </p:txBody>
      </p:sp>
      <p:sp>
        <p:nvSpPr>
          <p:cNvPr id="15" name="Oval 14"/>
          <p:cNvSpPr/>
          <p:nvPr/>
        </p:nvSpPr>
        <p:spPr>
          <a:xfrm>
            <a:off x="10858500" y="4549140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aTin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200" y="4669840"/>
            <a:ext cx="261518" cy="26151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01000" y="4526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סופרים את כל המים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89204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כולל הלחות החופשית באגרגטים ומים מהמוספים</a:t>
            </a:r>
          </a:p>
        </p:txBody>
      </p:sp>
      <p:sp>
        <p:nvSpPr>
          <p:cNvPr id="19" name="Oval 18"/>
          <p:cNvSpPr/>
          <p:nvPr/>
        </p:nvSpPr>
        <p:spPr>
          <a:xfrm>
            <a:off x="7310628" y="4549140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Recycl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1328" y="4669840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53128" y="4526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W/B — מים לחומר מלכד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489204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כשיש תוספים: מחלקים בצמנט + אפר/סיגים/מיקרוסיליקה</a:t>
            </a:r>
          </a:p>
        </p:txBody>
      </p:sp>
      <p:sp>
        <p:nvSpPr>
          <p:cNvPr id="23" name="Oval 22"/>
          <p:cNvSpPr/>
          <p:nvPr/>
        </p:nvSpPr>
        <p:spPr>
          <a:xfrm>
            <a:off x="3762755" y="4549140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3456" y="4669840"/>
            <a:ext cx="261518" cy="26151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05256" y="4526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מגבלה תקנית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" y="489204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ת"י 118 קובע W/C מרבי לכל אחת מ-11 דרגות החשיפה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W/C וחוזק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51560"/>
          <a:ext cx="694944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4864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עקומה טיפוסית להמחשה — לכל מפעל ולכל צמנט עקומה משלו, שנבנית מתערובות ניסיון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1143000"/>
            <a:ext cx="3383280" cy="1737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188720"/>
            <a:ext cx="3108960" cy="16459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ככל ש-W/C נמוך יותר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2400" b="1">
                <a:solidFill>
                  <a:srgbClr val="C4D82E"/>
                </a:solidFill>
                <a:latin typeface="Arial Unicode MS"/>
                <a:ea typeface="Arial Unicode MS"/>
                <a:cs typeface="Arial Unicode MS"/>
              </a:rPr>
              <a:t>החוזק גבוה יותר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306324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310896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W/C 0.47 → 0.61</a:t>
            </a:r>
          </a:p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החוזק יורד בכ-30%, מ-44 ל-31 MPa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438912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חוק אברמס (1918): החוזק תלוי ביחס המים-צמנט — כמעט בלי קשר לכמות הצמנט עצמה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W/C וחדירות</a:t>
            </a:r>
          </a:p>
        </p:txBody>
      </p:sp>
      <p:pic>
        <p:nvPicPr>
          <p:cNvPr id="3" name="Picture 2" descr="pores_d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023360" cy="3017520"/>
          </a:xfrm>
          <a:prstGeom prst="rect">
            <a:avLst/>
          </a:prstGeom>
        </p:spPr>
      </p:pic>
      <p:pic>
        <p:nvPicPr>
          <p:cNvPr id="4" name="Picture 3" descr="pores_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599" y="1463040"/>
            <a:ext cx="402336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051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W/C 0.40</a:t>
            </a:r>
            <a:r>
              <a:rPr lang="he-IL" sz="17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  —  משחה צפופה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W/C 0.70</a:t>
            </a:r>
            <a:r>
              <a:rPr lang="he-IL" sz="17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  —  נקבוביות רציפות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4572000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נקבוביות קפילריות מעטות ומבודדות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מים ויונים מתקשים לחדור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רשת תעלות מחוברות לכל העומק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מים, כלורידים ו-CO₂ חודרים בקלות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34924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94192" y="540410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Lightbulb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19" y="5513831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1560" y="534924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מעל W/C ≈ 0.6 הנקבוביות הופכות לרציפות — והחדירות עולה בסדרי גודל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W/C ועמידות</a:t>
            </a:r>
          </a:p>
        </p:txBody>
      </p:sp>
      <p:pic>
        <p:nvPicPr>
          <p:cNvPr id="3" name="Picture 2" descr="chlor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33993"/>
            <a:ext cx="6675120" cy="28526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069080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קו מקווקו = עומק כיסוי הבטון. משמאל: הכלורידים הגיעו לזיון, החלודה מתנפחת ומבקיעה את הבטון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14300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35056" y="1408176"/>
            <a:ext cx="566928" cy="56692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1118" y="1544238"/>
            <a:ext cx="294802" cy="2948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09560" y="1234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כלורידים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600200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חודרים דרך הנקבוביות ומשמידים את שכבת ההגנה של הפלדה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37744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35056" y="2642616"/>
            <a:ext cx="566928" cy="56692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1118" y="2778678"/>
            <a:ext cx="294802" cy="2948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09560" y="2468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קורוזיה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834640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חלודה תופסת פי 2-6 מנפח הפלדה — סדיקה והתפוררות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361188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35056" y="3877056"/>
            <a:ext cx="566928" cy="56692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Tin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1118" y="4013118"/>
            <a:ext cx="294802" cy="2948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09560" y="3703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חדירת מים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069080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מובילה מלחים, סולפטים ותגובות אלקלי-סיליקה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800600"/>
            <a:ext cx="8183879" cy="77724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94192" y="496062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070348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1560" y="4800600"/>
            <a:ext cx="7269479" cy="7772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בדרגות החשיפה הימיות של ת"י 118: W/C נמוך וכיסוי מוגדל — זו ההגנה העיקרית לזיון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מקרה שטח: הוספת מים באתר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955280" y="1097280"/>
            <a:ext cx="3520440" cy="2514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52760" y="1234440"/>
            <a:ext cx="640080" cy="64008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ExclamationTriang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6379" y="1388059"/>
            <a:ext cx="332841" cy="3328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353312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הבעיה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011680"/>
            <a:ext cx="3154680" cy="1554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המשאית הגיעה לאחר המתנה ארוכה, בשקיעה נמוכה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הצוות ביקש "להוסיף קצת מים" כדי לשאוב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882128" y="2377440"/>
            <a:ext cx="91440" cy="0"/>
          </a:xfrm>
          <a:prstGeom prst="line">
            <a:avLst/>
          </a:prstGeom>
          <a:ln w="38100">
            <a:solidFill>
              <a:srgbClr val="A3B1BA"/>
            </a:solidFill>
            <a:tailEnd type="triangle"/>
          </a:ln>
        </p:spPr>
      </p:cxnSp>
      <p:sp>
        <p:nvSpPr>
          <p:cNvPr id="9" name="Rounded Rectangle 8"/>
          <p:cNvSpPr/>
          <p:nvPr/>
        </p:nvSpPr>
        <p:spPr>
          <a:xfrm>
            <a:off x="4343400" y="1097280"/>
            <a:ext cx="3520440" cy="2514600"/>
          </a:xfrm>
          <a:prstGeom prst="roundRect">
            <a:avLst>
              <a:gd name="adj" fmla="val 8000"/>
            </a:avLst>
          </a:prstGeom>
          <a:solidFill>
            <a:srgbClr val="FFF2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80" y="1234440"/>
            <a:ext cx="640080" cy="640080"/>
          </a:xfrm>
          <a:prstGeom prst="ellipse">
            <a:avLst/>
          </a:prstGeom>
          <a:solidFill>
            <a:srgbClr val="B26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499" y="1388059"/>
            <a:ext cx="332841" cy="3328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26280" y="1353312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הגורם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11680"/>
            <a:ext cx="3154680" cy="1554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תכנון לוגיסטי לקוי וזמן המתנה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אין נוהל לתיקון עבידות במוסף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לחץ זמנים — ללא תיעוד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4270248" y="2377440"/>
            <a:ext cx="91440" cy="0"/>
          </a:xfrm>
          <a:prstGeom prst="line">
            <a:avLst/>
          </a:prstGeom>
          <a:ln w="38100">
            <a:solidFill>
              <a:srgbClr val="A3B1BA"/>
            </a:solidFill>
            <a:tailEnd type="triangle"/>
          </a:ln>
        </p:spPr>
      </p:cxnSp>
      <p:sp>
        <p:nvSpPr>
          <p:cNvPr id="15" name="Rounded Rectangle 14"/>
          <p:cNvSpPr/>
          <p:nvPr/>
        </p:nvSpPr>
        <p:spPr>
          <a:xfrm>
            <a:off x="731519" y="1097280"/>
            <a:ext cx="3520440" cy="25146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28999" y="1234440"/>
            <a:ext cx="640080" cy="64008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ArrowDow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2619" y="1388059"/>
            <a:ext cx="332841" cy="3328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399" y="1353312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התוצאה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" y="2011680"/>
            <a:ext cx="3154680" cy="1554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חוזק נמוך מהדרישה בקוביות 28 יום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חדירות גבוהה ואבק פני שטח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מחלוקת אחריות מול הלקוח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794760"/>
            <a:ext cx="10652760" cy="11887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3858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300 ק"ג צמנט, 165 ל' מים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2519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W/C = 0.55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3858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+ 20 ל' מים למ"ק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42519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W/C = 0.62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" y="3858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ירידת חוזק צפויה (בקירוב)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" y="42519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15-20%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16636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94192" y="525780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FaCheckCircle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19" y="5367528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51560" y="516636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הפתרון: מוסף מאושר בהנחיית המפעל ותיעוד — לעולם לא מים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בדיקות בטון טרי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שקיעה · טמפרטורה · צפיפות · כמות אוויר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מהו בטון טרי?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בטון במצב פלסטי, מרגע הערבוב ועד תחילת ההתקשרות. הבדיקות כאן הן ההזדמנות האחרונה לעצור משאית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69680" y="1691640"/>
            <a:ext cx="2542032" cy="30632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37776" y="1965960"/>
            <a:ext cx="1005840" cy="10058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RulerVertical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9177" y="2207361"/>
            <a:ext cx="523036" cy="5230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315468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שקיעה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6840" y="3611880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עבידות ועקביות בין משאיות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26 חלק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91640"/>
            <a:ext cx="2542032" cy="30632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67728" y="1965960"/>
            <a:ext cx="1005840" cy="100584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ThermometerHal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9129" y="2207361"/>
            <a:ext cx="523036" cy="5230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315468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טמפרטורה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3611880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סיכון להתקשרות מהירה או איטית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בקרת ייצור לפי ת"י 118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9584" y="1691640"/>
            <a:ext cx="2542032" cy="30632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97680" y="1965960"/>
            <a:ext cx="1005840" cy="100584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aWeightHang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081" y="2207361"/>
            <a:ext cx="523036" cy="5230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621024" y="315468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צפיפות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6744" y="3611880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בקרת תפוקה ופרופורציות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1024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26 חלק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" y="1691640"/>
            <a:ext cx="2542032" cy="30632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627632" y="1965960"/>
            <a:ext cx="1005840" cy="100584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TachometerAl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9033" y="2207361"/>
            <a:ext cx="523036" cy="5230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0976" y="315468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1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כמות אוויר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" y="3611880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עמידות, חוזק ותפוקה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26 חלק 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07492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94192" y="5166359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276088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51560" y="507492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בודקים את המשאית הראשונה, כל משאית חשודה — ולפי תכנית הדגימה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בדיקת שקיעה (Slump Test)</a:t>
            </a:r>
          </a:p>
        </p:txBody>
      </p:sp>
      <p:pic>
        <p:nvPicPr>
          <p:cNvPr id="3" name="Picture 2" descr="slump_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26" y="1097280"/>
            <a:ext cx="5288946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43484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מידות החרוט במ"מ: קוטר עליון 100, תחתון 200, גובה 300</a:t>
            </a:r>
          </a:p>
        </p:txBody>
      </p:sp>
      <p:sp>
        <p:nvSpPr>
          <p:cNvPr id="5" name="Oval 4"/>
          <p:cNvSpPr/>
          <p:nvPr/>
        </p:nvSpPr>
        <p:spPr>
          <a:xfrm>
            <a:off x="10981944" y="1179576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143000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מרטיבים חרוט ומשטח, מניחים על בסיס יציב ואופקי</a:t>
            </a:r>
          </a:p>
        </p:txBody>
      </p:sp>
      <p:sp>
        <p:nvSpPr>
          <p:cNvPr id="7" name="Oval 6"/>
          <p:cNvSpPr/>
          <p:nvPr/>
        </p:nvSpPr>
        <p:spPr>
          <a:xfrm>
            <a:off x="10981944" y="1837943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01368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ממלאים ב-3 שכבות שוות, כל אחת 25 דקירות במוט</a:t>
            </a:r>
          </a:p>
        </p:txBody>
      </p:sp>
      <p:sp>
        <p:nvSpPr>
          <p:cNvPr id="9" name="Oval 8"/>
          <p:cNvSpPr/>
          <p:nvPr/>
        </p:nvSpPr>
        <p:spPr>
          <a:xfrm>
            <a:off x="10981944" y="2496311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459736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מיישרים את פני הבטון ומנקים סביב החרוט</a:t>
            </a:r>
          </a:p>
        </p:txBody>
      </p:sp>
      <p:sp>
        <p:nvSpPr>
          <p:cNvPr id="11" name="Oval 10"/>
          <p:cNvSpPr/>
          <p:nvPr/>
        </p:nvSpPr>
        <p:spPr>
          <a:xfrm>
            <a:off x="10981944" y="3154680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118104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מרימים אנכית ובאחידות, ללא סיבוב (2-5 שניות)</a:t>
            </a:r>
          </a:p>
        </p:txBody>
      </p:sp>
      <p:sp>
        <p:nvSpPr>
          <p:cNvPr id="13" name="Oval 12"/>
          <p:cNvSpPr/>
          <p:nvPr/>
        </p:nvSpPr>
        <p:spPr>
          <a:xfrm>
            <a:off x="10981944" y="3813048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776472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מודדים מגובה החרוט עד מרכז הבטון השוקע</a:t>
            </a:r>
          </a:p>
        </p:txBody>
      </p:sp>
      <p:sp>
        <p:nvSpPr>
          <p:cNvPr id="15" name="Oval 14"/>
          <p:cNvSpPr/>
          <p:nvPr/>
        </p:nvSpPr>
        <p:spPr>
          <a:xfrm>
            <a:off x="10981944" y="4471416"/>
            <a:ext cx="438912" cy="43891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434840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רושמים את התוצאה ואת צורת השקיעה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937760"/>
            <a:ext cx="5669280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79592" y="502920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aClock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513892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51560" y="49377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הבדיקה לפי ת"י 26 חלק 2 — מבוצעת ברצף ובמהירות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פענוח תוצאות שקיעה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3749039"/>
          </a:xfrm>
          <a:prstGeom prst="roundRect">
            <a:avLst>
              <a:gd name="adj" fmla="val 8000"/>
            </a:avLst>
          </a:prstGeom>
          <a:solidFill>
            <a:srgbClr val="FFF2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lump_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7451" y="1234440"/>
            <a:ext cx="2241816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29260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נמוכה מדי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80" y="3383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קשה לשאיבה ולריטוט; סיכון לקיני חצץ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06908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פעולה: </a:t>
            </a: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בדיקת זמן המתנה; תיקון רק במוסף מאושר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097280"/>
            <a:ext cx="3474720" cy="3749039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slump_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9579" y="1234440"/>
            <a:ext cx="2241816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0288" y="29260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תקינה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3383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שקיעה סימטרית בטווח ההזמנה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406908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פעולה: </a:t>
            </a: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מאשרים ומתעדים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" y="1097280"/>
            <a:ext cx="3474720" cy="3749039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slump_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1707" y="1234440"/>
            <a:ext cx="2241816" cy="1600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2416" y="29260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גבוהה מדי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383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חשד לעודף מים; סגרגציה ודימום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" y="406908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פעולה: </a:t>
            </a: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עצירה, בדיקה חוזרת, החלטה על דחייה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98348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דרגות סומך לפי ת"י 118 (מ"מ)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534924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FFF2DC"/>
          </a:solidFill>
          <a:ln w="12700">
            <a:solidFill>
              <a:srgbClr val="B26A00"/>
            </a:solidFill>
          </a:ln>
        </p:spPr>
        <p:txBody>
          <a:bodyPr rtlCol="0" anchor="ctr" wrap="square" lIns="18288" rIns="18288" tIns="18288" bIns="18288"/>
          <a:lstStyle/>
          <a:p>
            <a:pPr algn="ctr" rtl="1" marL="0" indent="0">
              <a:buNone/>
            </a:pPr>
            <a:r>
              <a:rPr lang="he-IL" sz="11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לאימות מול התקן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4983480"/>
          <a:ext cx="7772400" cy="731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S5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S4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S3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S2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S1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220 ומעלה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160-210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100-150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50-90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10-40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בדיקת טמפרטורה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44125" y="1417320"/>
            <a:ext cx="1304163" cy="82296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סכנת קפיאה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4125" y="2304288"/>
            <a:ext cx="1304163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ההידרציה כמעט נעצרת</a:t>
            </a:r>
          </a:p>
        </p:txBody>
      </p:sp>
      <p:sp>
        <p:nvSpPr>
          <p:cNvPr id="5" name="Rectangle 4"/>
          <p:cNvSpPr/>
          <p:nvPr/>
        </p:nvSpPr>
        <p:spPr>
          <a:xfrm>
            <a:off x="8812530" y="1417320"/>
            <a:ext cx="1304163" cy="822960"/>
          </a:xfrm>
          <a:prstGeom prst="rect">
            <a:avLst/>
          </a:prstGeom>
          <a:solidFill>
            <a:srgbClr val="7FA7D6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איטי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12530" y="2304288"/>
            <a:ext cx="1304163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התקשרות ממושכת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6150" y="1417320"/>
            <a:ext cx="5298948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תקין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6150" y="2304288"/>
            <a:ext cx="5298948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טווח עבודה רגיל</a:t>
            </a:r>
          </a:p>
        </p:txBody>
      </p:sp>
      <p:sp>
        <p:nvSpPr>
          <p:cNvPr id="9" name="Rectangle 8"/>
          <p:cNvSpPr/>
          <p:nvPr/>
        </p:nvSpPr>
        <p:spPr>
          <a:xfrm>
            <a:off x="2154555" y="1417320"/>
            <a:ext cx="1304163" cy="822960"/>
          </a:xfrm>
          <a:prstGeom prst="rect">
            <a:avLst/>
          </a:prstGeom>
          <a:solidFill>
            <a:srgbClr val="B26A00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חם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4555" y="2304288"/>
            <a:ext cx="1304163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נדרשים אמצעי קיץ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1304163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סיכון גבוה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04288"/>
            <a:ext cx="1304163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בדרך כלל מחוץ למפרט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0°C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4085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5°C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2490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10°C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6110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30°C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34515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35°C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07899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40°C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301752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5056" y="3191256"/>
            <a:ext cx="566928" cy="566928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Su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1118" y="3327318"/>
            <a:ext cx="294802" cy="29480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83880" y="32461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בטון חם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8404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התקשרות מהירה ואיבוד שקיעה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סדיקה פלסטית ותרמית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חוזק סופי נמוך יותר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53128" y="301752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87184" y="3191256"/>
            <a:ext cx="566928" cy="56692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FaSnowflak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246" y="3327318"/>
            <a:ext cx="294802" cy="29480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36008" y="32461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בטון קר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6008" y="38404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התקשרות והתפתחות חוזק איטיות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פירוק תבניות מאוחר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סכנת קפיאה בגיל צעיר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256" y="301752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39312" y="3191256"/>
            <a:ext cx="566928" cy="56692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FaThermometerHalf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5374" y="3327318"/>
            <a:ext cx="294802" cy="29480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88136" y="324612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איך מודדים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" y="38404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מדחום מכויל, טבילה של 75 מ"מ לפחות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2-5 דקות עד התייצבות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רישום גם של טמפרטורת האוויר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57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הגבולות בפועל נקבעים במפרט ובתקן החל על הפרויקט; הטווחים כאן להמחשה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בדיקת צפיפות</a:t>
            </a:r>
          </a:p>
        </p:txBody>
      </p:sp>
      <p:pic>
        <p:nvPicPr>
          <p:cNvPr id="3" name="Picture 2" descr="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56868"/>
            <a:ext cx="3291840" cy="344698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434840" y="1143000"/>
            <a:ext cx="7040880" cy="1737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17720" y="1188720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מה מטרתה?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1645920"/>
            <a:ext cx="6675120" cy="11887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בדיקת תפוקה — האם הלקוח מקבל מ"ק מלא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אימות פרופורציות התערובת ואינדיקציה לתכולת אוויר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טיפוסי: 2,300-2,450 ק"ג/מ"ק לבטון רגיל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063240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איך מבצעים?</a:t>
            </a:r>
          </a:p>
        </p:txBody>
      </p:sp>
      <p:sp>
        <p:nvSpPr>
          <p:cNvPr id="8" name="Oval 7"/>
          <p:cNvSpPr/>
          <p:nvPr/>
        </p:nvSpPr>
        <p:spPr>
          <a:xfrm>
            <a:off x="10387584" y="3520439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6648" y="4069080"/>
            <a:ext cx="1719072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שוקלים מיכל ריק בנפח ידוע</a:t>
            </a:r>
          </a:p>
        </p:txBody>
      </p:sp>
      <p:sp>
        <p:nvSpPr>
          <p:cNvPr id="10" name="Oval 9"/>
          <p:cNvSpPr/>
          <p:nvPr/>
        </p:nvSpPr>
        <p:spPr>
          <a:xfrm>
            <a:off x="8622792" y="3520439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1856" y="4069080"/>
            <a:ext cx="1719072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ממלאים בשכבות ומהדקים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0" y="3520439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4069080"/>
            <a:ext cx="1719072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מיישרים ומנקים את הדפנות</a:t>
            </a:r>
          </a:p>
        </p:txBody>
      </p:sp>
      <p:sp>
        <p:nvSpPr>
          <p:cNvPr id="14" name="Oval 13"/>
          <p:cNvSpPr/>
          <p:nvPr/>
        </p:nvSpPr>
        <p:spPr>
          <a:xfrm>
            <a:off x="5093208" y="3520439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4069080"/>
            <a:ext cx="1719072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שוקלים ומחשבים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4846320"/>
            <a:ext cx="7040880" cy="77724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873752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0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ρ = (M₂ − M₁) / V</a:t>
            </a:r>
          </a:p>
          <a:p>
            <a:pPr algn="ctr" rtl="1" marL="0" indent="0">
              <a:buNone/>
            </a:pPr>
            <a:r>
              <a:rPr lang="he-IL" sz="12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M₂ מיכל מלא  •  M₁ מיכל ריק  •  V נפח המיכל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כמות אוויר</a:t>
            </a:r>
          </a:p>
        </p:txBody>
      </p:sp>
      <p:pic>
        <p:nvPicPr>
          <p:cNvPr id="3" name="Picture 2" descr="air_m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19395"/>
            <a:ext cx="3200400" cy="3504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846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מד אוויר בשיטת הלחץ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0" y="1143000"/>
            <a:ext cx="3474720" cy="31089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19" y="1280160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CheckCirc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1593" y="1411833"/>
            <a:ext cx="285292" cy="285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79" y="13716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יתרונות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01168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עמידות למחזורי קפיאה-הפשרה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שיפור עבידות וקוהזיה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הפחתת דימום וסגרגציה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474720" cy="31089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0" y="1280160"/>
            <a:ext cx="548640" cy="54864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TimesCircl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993" y="1411833"/>
            <a:ext cx="285292" cy="2852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13716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חסרונות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01168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כל 1% אוויר ≈ 5% ירידה בחוזק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השפעה על התפוקה והצפיפות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רגישות לסוג המוסף ולזמן הערבוב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4434840"/>
            <a:ext cx="7132320" cy="11887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4480560"/>
            <a:ext cx="6766560" cy="10972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בבטון רגיל בישראל: אוויר כלוא של 1-2%. אוויר מוחדר מכוון — רק כשנדרש במפרט.</a:t>
            </a:r>
          </a:p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תוצאה גבוהה בלי מוסף מחדיר אוויר = סימן לבעיה בתערובת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בדיקות בטון קשוח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קוביות, קרוטים ובדיקות לא הורסות · בדיקת לחיצה · פענוח תוצאות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בדיקות בטון קשוח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4526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pec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4419" y="1234440"/>
            <a:ext cx="2227881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3429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קוביות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840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נלקחות מהבטון הטרי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22452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בקרת ההתאמה השוטפת של הבטון שסופק לדרגת החוזק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5166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26 חלקים 1 ו-4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097280"/>
            <a:ext cx="3474720" cy="4526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pec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547" y="1234440"/>
            <a:ext cx="2227881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90288" y="3429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קרוטים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3840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קידוח מהמבנה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422452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הערכת הבטון בפועל במבנה, במקרי ספק או כשל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5166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26 חלק 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1097280"/>
            <a:ext cx="3474720" cy="4526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eb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675" y="1234440"/>
            <a:ext cx="2227881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2416" y="3429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בדיקות לא הורסות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3840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פטיש רתע ושיטות נוספות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22452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סקירה מהירה של אחידות; לא תחליף לקרוטים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5166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26 חלק 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בדיקת לחיצה</a:t>
            </a:r>
          </a:p>
        </p:txBody>
      </p:sp>
      <p:pic>
        <p:nvPicPr>
          <p:cNvPr id="3" name="Picture 2" descr="p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64958"/>
            <a:ext cx="3657599" cy="417944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92440" y="114300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81359" y="12618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19" y="12801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דגימה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7099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מהמשאית לפי תכנית, ת"י 26 חלק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79" y="114300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0" y="1261872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12801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יציקה והידוק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17099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בתבניות נקיות ומשומנות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5603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881359" y="2679191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69747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24 שעות ראשונות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312724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באתר, מוגן מזעזועים, חום והתייבשות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79" y="25603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0" y="2679191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269747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אשפרה במעבדה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312724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במים או בתא לחות, בטמפרטורה מבוקרת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77639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881359" y="4096511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41148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לחיצה בגיל הבדיקה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454456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בקצב העמסה קבוע עד לשבר, ת"י 26 חלק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26279" y="3977639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0" y="4096511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41148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רישום ופענוח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59" y="454456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עומס, חוזק, צורת השבר וחריגות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544068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שבר תקין בקובייה: שתי פירמידות הפוכות. שבר חריג מעיד בדרך כלל על הכנה או אשפרה לקויות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קוביות מול קרוטים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143000"/>
          <a:ext cx="10652760" cy="37124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60520"/>
                <a:gridCol w="4114800"/>
                <a:gridCol w="2377440"/>
              </a:tblGrid>
              <a:tr h="53035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קרוטים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קוביות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פרמטר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הבטון כפי שנמצא במבנה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הבטון כפי שסופק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מה נבדק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26 חלק 6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26 חלקים 1 ו-4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תקן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בספק, בכשל קוביות או בבדיקת מבנה קיים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שוטף, לפי תכנית הדגימה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מתי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גם את הביצוע: הידוק, אשפרה ופגמים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את פוטנציאל התערובת באשפרה מבוקרת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משקף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כיוון וקוטר הקידוח, זיון, לחות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דגימה, הכנה, אשפרה ראשונית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גורמים משפיעים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לפי הקריטריונים לקרוטים בתקן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5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מול דרגת החוזק לפי ת"י 118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5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פענוח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22960" y="525780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94192" y="532638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Lightbulb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19" y="54361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525780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קרוט נמוך מקובייה אינו בהכרח בטון פסול: הפער משקף לעיתים את הביצוע והאשפרה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פענוח תוצאות חוזק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51560"/>
          <a:ext cx="70408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39496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דוגמה להמחשה: בטון ב-30. קריטריוני ההתאמה המחייבים — לפי ת"י 118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109728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12780" y="1229867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3480" y="1350568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234439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Trend — מגמה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755648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ירידה עקבית בממוצע הנע (דגימות 13-20): לחקור חומרי גלם, מינון, ציוד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56032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12780" y="2692908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ExclamationTriangl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3480" y="2813608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0" y="2697479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Outlier — חריג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218687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דגימה 12 בודדת ונמוכה: לבדוק דגימה, הכנה ואשפרה לפני מסקנות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02336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12780" y="4155948"/>
            <a:ext cx="502920" cy="5029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Balance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3480" y="4276648"/>
            <a:ext cx="261518" cy="2615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0" y="416052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בקרה סטטיסטית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681728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ממוצע, סטיית תקן ותוצאות בודדות מול קריטריוני ההתאמה של ת"י 118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כשלים נפוצים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סגרגציה · דימום · קיני חצץ · סדיקה פלסטית · התקלפות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סגרגציה  |  Segregation</a:t>
            </a:r>
          </a:p>
        </p:txBody>
      </p:sp>
      <p:pic>
        <p:nvPicPr>
          <p:cNvPr id="3" name="Picture 2" descr="se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32783"/>
            <a:ext cx="5394960" cy="32609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0749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האגרגט הגס נפרד ומצטבר בתחתית; משחה עשירה נשארת למעלה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7060" y="1257300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760" y="137800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2801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גורמים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הטלה מגובה רב (מעל 1.5 מ') או דרך מזחלה ארוכה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עודף מים / שקיעה גבוהה מדי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ריטוט יתר או גרירת בטון בוויברטור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גרדציה לקויה, מחסור בחומר דק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2900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67060" y="35890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7760" y="370972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36118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מניעה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שרוול או משפך עד קרוב לנקודת היציקה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שקיעה בטווח ההזמנה, ללא תוספת מים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ריטוט נקודתי וקצר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תכן תערובת קוהזיבי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דימום  |  Bleeding</a:t>
            </a:r>
          </a:p>
        </p:txBody>
      </p:sp>
      <p:pic>
        <p:nvPicPr>
          <p:cNvPr id="3" name="Picture 2" descr="blee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59904"/>
            <a:ext cx="5394960" cy="34066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0749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מים עולים לפני השטח ונלכדים מתחת לאגרגטים ולמוטות הזיון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7060" y="1257300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760" y="137800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2801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גורמים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 גבוה ומחסור בחומר דק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התקשרות איטית (קור, מעכב במינון יתר)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יציקות עמוקות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אגרגט עם גרדציה פתוחה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2900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67060" y="35890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7760" y="370972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36118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מניעה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תכן עם מספיק דקים או תוספים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מינון מוספים לפי הנחיה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לא להחליק כשיש מים על הפנים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יציקה בשכבות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קיני חצץ  |  Honeycombs</a:t>
            </a:r>
          </a:p>
        </p:txBody>
      </p:sp>
      <p:pic>
        <p:nvPicPr>
          <p:cNvPr id="3" name="Picture 2" descr="honey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18066"/>
            <a:ext cx="5394960" cy="36903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0749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אזור עם אגרגט חשוף וחללים, בדרך כלל בתחתית קירות ועמודים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7060" y="1257300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760" y="137800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2801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גורמים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ריטוט חסר או לא אחיד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צפיפות זיון מול גודל אגרגט מרבי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דליפת משחה מתבניות לא אטומות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עבידות נמוכה וסגרגציה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2900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67060" y="35890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7760" y="370972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36118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מניעה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תכנית ריטוט: מרחקים ועומקים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התאמת גודל האגרגט לצפיפות הזיון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אטימת מישקי תבניות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שקיעה מתאימה לאלמנט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סדיקה פלסטית  |  Plastic Shrinkage</a:t>
            </a:r>
          </a:p>
        </p:txBody>
      </p:sp>
      <p:pic>
        <p:nvPicPr>
          <p:cNvPr id="3" name="Picture 2" descr="pla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8346"/>
            <a:ext cx="5394960" cy="3549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0749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סדקים קצרים ומקבילים בשעות הראשונות, לפני ההתקשות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7060" y="1257300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760" y="137800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2801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גורמים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רוח — מגבירה התאדות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חום וקרינת שמש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אידוי מהיר מקצב הדימום (מעל ~1 ק"ג/מ"ר/שעה)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לחות יחסית נמוכה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2900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67060" y="35890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7760" y="370972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36118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מניעה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שוברי רוח וצל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ערפול מים או חומר מעכב התאדות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יציקה בשעות קרירות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אשפרה מיד אחרי ההחלקה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התקלפות  |  Scaling</a:t>
            </a:r>
          </a:p>
        </p:txBody>
      </p:sp>
      <p:pic>
        <p:nvPicPr>
          <p:cNvPr id="3" name="Picture 2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59904"/>
            <a:ext cx="5394960" cy="34066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0749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שכבה דקה עליונה מתקלפת וחושפת את האגרגט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7060" y="1257300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a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760" y="137800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2801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גורמים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החלקה בזמן שיש מי דימום על הפנים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החלקת יתר או פיזור צמנט יבש על הפנים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אשפרה חסרה בשכבה העליונה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 גבוה בפני השטח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42900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67060" y="35890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hield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7760" y="3709720"/>
            <a:ext cx="261518" cy="2615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0" y="36118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מניעה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החלקה רק אחרי היעלמות מי הדימום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אשפרה מיידית ומלאה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W/C נמוך ובטון קוהזיבי</a:t>
            </a:r>
          </a:p>
          <a:p>
            <a:pPr algn="r" rtl="1" marL="228600" indent="-228600">
              <a:spcAft>
                <a:spcPts val="2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תיקון: השחזה ושכבה מתקנת ייעודית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בקרת חומרי גלם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תהליך קבלה · בדיקות אגרגטים · צמנט · מוספים · זיהוי חומרים פסולים · מטריצת סיכונים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בקרת חומרי גלם: תהליך הקבלה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69680" y="118872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61220" y="137160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Tru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784" y="1547164"/>
            <a:ext cx="380390" cy="3803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0" y="21945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קבלה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תעודת משלוח, זיהוי ספק ותאריך, בדיקה ויזואלית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695944" y="2240280"/>
            <a:ext cx="164592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9" name="Rounded Rectangle 8"/>
          <p:cNvSpPr/>
          <p:nvPr/>
        </p:nvSpPr>
        <p:spPr>
          <a:xfrm>
            <a:off x="6172200" y="118872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63740" y="137160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304" y="1547164"/>
            <a:ext cx="380390" cy="3803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21945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בדיקה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דגימה ובדיקות לפי תכנית הבקרה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5998464" y="2240280"/>
            <a:ext cx="164592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15" name="Rounded Rectangle 14"/>
          <p:cNvSpPr/>
          <p:nvPr/>
        </p:nvSpPr>
        <p:spPr>
          <a:xfrm>
            <a:off x="3474719" y="118872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66259" y="1371600"/>
            <a:ext cx="731520" cy="73152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ClipboardCheck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824" y="1547164"/>
            <a:ext cx="380390" cy="3803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66159" y="21945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אישור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השוואה לדרישות התקן והמפרט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3300983" y="2240280"/>
            <a:ext cx="164592" cy="0"/>
          </a:xfrm>
          <a:prstGeom prst="line">
            <a:avLst/>
          </a:prstGeom>
          <a:ln w="38100">
            <a:solidFill>
              <a:srgbClr val="0081C8"/>
            </a:solidFill>
            <a:tailEnd type="triangle"/>
          </a:ln>
        </p:spPr>
      </p:cxnSp>
      <p:sp>
        <p:nvSpPr>
          <p:cNvPr id="21" name="Rounded Rectangle 20"/>
          <p:cNvSpPr/>
          <p:nvPr/>
        </p:nvSpPr>
        <p:spPr>
          <a:xfrm>
            <a:off x="777240" y="118872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68780" y="137160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Industry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4344" y="1547164"/>
            <a:ext cx="380390" cy="3803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219456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שימוש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שחרור לממגורה או לערמה, עם עקיבות</a:t>
            </a:r>
          </a:p>
        </p:txBody>
      </p:sp>
      <p:sp>
        <p:nvSpPr>
          <p:cNvPr id="26" name="Diamond 25"/>
          <p:cNvSpPr/>
          <p:nvPr/>
        </p:nvSpPr>
        <p:spPr>
          <a:xfrm>
            <a:off x="6515100" y="3566160"/>
            <a:ext cx="1828800" cy="1051560"/>
          </a:xfrm>
          <a:prstGeom prst="diamond">
            <a:avLst/>
          </a:prstGeom>
          <a:solidFill>
            <a:srgbClr val="FFF2DC"/>
          </a:solidFill>
          <a:ln w="25400">
            <a:solidFill>
              <a:srgbClr val="B26A00"/>
            </a:solidFill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תקין?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29500" y="3310128"/>
            <a:ext cx="0" cy="256032"/>
          </a:xfrm>
          <a:prstGeom prst="line">
            <a:avLst/>
          </a:prstGeom>
          <a:ln w="31750">
            <a:solidFill>
              <a:srgbClr val="0081C8"/>
            </a:solidFill>
            <a:tailEnd type="triangle"/>
          </a:ln>
        </p:spPr>
      </p:cxnSp>
      <p:cxnSp>
        <p:nvCxnSpPr>
          <p:cNvPr id="28" name="Connector 27"/>
          <p:cNvCxnSpPr/>
          <p:nvPr/>
        </p:nvCxnSpPr>
        <p:spPr>
          <a:xfrm>
            <a:off x="8343900" y="4087368"/>
            <a:ext cx="754380" cy="0"/>
          </a:xfrm>
          <a:prstGeom prst="line">
            <a:avLst/>
          </a:prstGeom>
          <a:ln w="31750">
            <a:solidFill>
              <a:srgbClr val="C62828"/>
            </a:solidFill>
            <a:tailEnd type="triangle"/>
          </a:ln>
        </p:spPr>
      </p:cxnSp>
      <p:sp>
        <p:nvSpPr>
          <p:cNvPr id="29" name="TextBox 28"/>
          <p:cNvSpPr txBox="1"/>
          <p:nvPr/>
        </p:nvSpPr>
        <p:spPr>
          <a:xfrm>
            <a:off x="8343900" y="3703320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לא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356616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19050">
            <a:solidFill>
              <a:srgbClr val="C62828"/>
            </a:solidFill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הסגר וסימון</a:t>
            </a:r>
          </a:p>
          <a:p>
            <a:pPr algn="ctr" rtl="1" marL="0" indent="0"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החזרה לספק + דוח אי-התאמה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732020" y="4087368"/>
            <a:ext cx="1783080" cy="0"/>
          </a:xfrm>
          <a:prstGeom prst="line">
            <a:avLst/>
          </a:prstGeom>
          <a:ln w="31750">
            <a:solidFill>
              <a:srgbClr val="2E7D32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4732020" y="3310128"/>
            <a:ext cx="0" cy="777240"/>
          </a:xfrm>
          <a:prstGeom prst="line">
            <a:avLst/>
          </a:prstGeom>
          <a:ln w="31750">
            <a:solidFill>
              <a:srgbClr val="2E7D32"/>
            </a:solidFill>
            <a:tailEnd type="triangle"/>
          </a:ln>
        </p:spPr>
      </p:cxnSp>
      <p:sp>
        <p:nvSpPr>
          <p:cNvPr id="33" name="TextBox 32"/>
          <p:cNvSpPr txBox="1"/>
          <p:nvPr/>
        </p:nvSpPr>
        <p:spPr>
          <a:xfrm>
            <a:off x="5875020" y="3703320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52044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חומר שלא אושר — לא נכנס לממגורה או לערמה הפעילה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כל משלוח ניתן לאיתור עד היציקה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תיעוד: מי בדק, מתי ומה הוחלט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16636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94192" y="525780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367528"/>
            <a:ext cx="237744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51560" y="516636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המקום הזול ביותר לעצור בעיה הוא בשער המפעל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בדיקות אגרגטים: מפת הבדיקות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097280"/>
          <a:ext cx="10652760" cy="3849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23160"/>
                <a:gridCol w="3291840"/>
                <a:gridCol w="274320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תדירות מומלצת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מה היא מגלה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דרישה לפי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בדיקה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בכל בדיקה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הבסיס לכל תוצאה אמינה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דגימה והקטנה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שבועי ובכל משלוח חשוד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פיזור גדלים ותכולת אבק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עקום דירוג ואבק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שבועי (חול)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האם הדקים הם חרסית מזיקה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 / מפרט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שווה חול / כחול מתילן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יומי ובכל שינוי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תיקון מים יומי בתערובת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נוהל המפעל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לחות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חודשי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איכות הסלע, בסיס לתיקון מים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צפיפות וספיגות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רבעוני ובמקור חדש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עמידות, פחוסים ומוארכים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שחיקה וצורת גרגר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חצי-שנתי ובמקור חדש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אורגני, חרסית, כלורידים, סולפטים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3, ת"י 118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חומרים מזיקים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22960" y="525780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94192" y="532638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ListOl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19" y="54361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525780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התדירות נקבעת בתכנית הבקרה של המפעל — ומתהדקת בכל שינוי מקור או חריגה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דגימה והקטנת דגימה</a:t>
            </a:r>
          </a:p>
        </p:txBody>
      </p:sp>
      <p:pic>
        <p:nvPicPr>
          <p:cNvPr id="3" name="Picture 2" descr="sam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263" y="1143000"/>
            <a:ext cx="5805553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39319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נקודות דגימה בערמה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3931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מחלק (Riffle) לשני חצאים</a:t>
            </a:r>
          </a:p>
        </p:txBody>
      </p:sp>
      <p:sp>
        <p:nvSpPr>
          <p:cNvPr id="6" name="Oval 5"/>
          <p:cNvSpPr/>
          <p:nvPr/>
        </p:nvSpPr>
        <p:spPr>
          <a:xfrm>
            <a:off x="11055096" y="1143000"/>
            <a:ext cx="420624" cy="420624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097280"/>
            <a:ext cx="3968496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דוגמים מכמה נקודות בערמה, מתחת לשכבת הפנים — לא מהשוליים שבהם הגס מתגלגל</a:t>
            </a:r>
          </a:p>
        </p:txBody>
      </p:sp>
      <p:sp>
        <p:nvSpPr>
          <p:cNvPr id="8" name="Oval 7"/>
          <p:cNvSpPr/>
          <p:nvPr/>
        </p:nvSpPr>
        <p:spPr>
          <a:xfrm>
            <a:off x="11055096" y="1837944"/>
            <a:ext cx="420624" cy="420624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92224"/>
            <a:ext cx="3968496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מהמסוע: חתך מלא של הסרט, כשהמסוע עוצר</a:t>
            </a:r>
          </a:p>
        </p:txBody>
      </p:sp>
      <p:sp>
        <p:nvSpPr>
          <p:cNvPr id="10" name="Oval 9"/>
          <p:cNvSpPr/>
          <p:nvPr/>
        </p:nvSpPr>
        <p:spPr>
          <a:xfrm>
            <a:off x="11055096" y="2532888"/>
            <a:ext cx="420624" cy="420624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87168"/>
            <a:ext cx="3968496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מאחדים לדגימה מייצגת בכמות מספקת לגודל הגרגר המרבי</a:t>
            </a:r>
          </a:p>
        </p:txBody>
      </p:sp>
      <p:sp>
        <p:nvSpPr>
          <p:cNvPr id="12" name="Oval 11"/>
          <p:cNvSpPr/>
          <p:nvPr/>
        </p:nvSpPr>
        <p:spPr>
          <a:xfrm>
            <a:off x="11055096" y="3227832"/>
            <a:ext cx="420624" cy="420624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3182112"/>
            <a:ext cx="3968496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מקטינים במחלק או בשיטת רבעים — לעולם לא "חופן מלמעלה"</a:t>
            </a:r>
          </a:p>
        </p:txBody>
      </p:sp>
      <p:sp>
        <p:nvSpPr>
          <p:cNvPr id="14" name="Oval 13"/>
          <p:cNvSpPr/>
          <p:nvPr/>
        </p:nvSpPr>
        <p:spPr>
          <a:xfrm>
            <a:off x="11055096" y="3922776"/>
            <a:ext cx="420624" cy="420624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877056"/>
            <a:ext cx="3968496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מסמנים: מקור, תאריך, נקודה ושם הדוגם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4340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מסה מינימלית מקובלת לניפוי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4709160"/>
          <a:ext cx="5852160" cy="7680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77824"/>
                <a:gridCol w="877824"/>
                <a:gridCol w="877824"/>
                <a:gridCol w="877824"/>
                <a:gridCol w="877824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63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32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16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Dmax (מ"מ)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2.6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מסה מינ' (ק"ג)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6949440" y="4663440"/>
            <a:ext cx="4526280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863072" y="4754879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ExclamationTriangle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4864607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8040" y="466344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תוצאה מדויקת מדגימה לא מייצגת — חסרת ערך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גרדציה ומודול דקות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51560"/>
          <a:ext cx="53949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9834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עקומת דירוג בתוך מעטפת הדרישה — דוגמה להמחשה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0515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אופן הביצוע (עקום דירוג לפי ת"י 3)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1536192"/>
            <a:ext cx="365760" cy="3657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463040"/>
            <a:ext cx="4480559" cy="448056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ייבוש ב-110±5°C ושקילה (M1)</a:t>
            </a:r>
          </a:p>
        </p:txBody>
      </p:sp>
      <p:sp>
        <p:nvSpPr>
          <p:cNvPr id="8" name="Oval 7"/>
          <p:cNvSpPr/>
          <p:nvPr/>
        </p:nvSpPr>
        <p:spPr>
          <a:xfrm>
            <a:off x="11109960" y="2039112"/>
            <a:ext cx="365760" cy="3657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480559" cy="448056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שטיפה על נפה 0.063 מ"מ, ייבוש ושקילה (M2)</a:t>
            </a:r>
          </a:p>
        </p:txBody>
      </p:sp>
      <p:sp>
        <p:nvSpPr>
          <p:cNvPr id="10" name="Oval 9"/>
          <p:cNvSpPr/>
          <p:nvPr/>
        </p:nvSpPr>
        <p:spPr>
          <a:xfrm>
            <a:off x="11109960" y="2542032"/>
            <a:ext cx="365760" cy="3657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480559" cy="448056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ניפוי בסדרת נפות ושקילת השארית בכל נפה</a:t>
            </a:r>
          </a:p>
        </p:txBody>
      </p:sp>
      <p:sp>
        <p:nvSpPr>
          <p:cNvPr id="12" name="Oval 11"/>
          <p:cNvSpPr/>
          <p:nvPr/>
        </p:nvSpPr>
        <p:spPr>
          <a:xfrm>
            <a:off x="11109960" y="3044952"/>
            <a:ext cx="365760" cy="3657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71800"/>
            <a:ext cx="4480559" cy="448056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חישוב % עובר מצטבר והשוואה למעטפת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3566160"/>
            <a:ext cx="2423160" cy="16002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611880"/>
            <a:ext cx="2240280" cy="15087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2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מודול דקות FM</a:t>
            </a:r>
          </a:p>
          <a:p>
            <a:pPr algn="ctr" rtl="1" marL="0" indent="0">
              <a:spcAft>
                <a:spcPts val="2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סכום ה-% הנשאר המצטבר על הנפות 0.15-4.75, חלקי 100</a:t>
            </a:r>
          </a:p>
          <a:p>
            <a:pPr algn="ctr" rtl="1" marL="0" indent="0">
              <a:spcAft>
                <a:spcPts val="200"/>
              </a:spcAft>
              <a:buNone/>
            </a:pPr>
            <a:r>
              <a:rPr lang="he-IL" sz="1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מקובל לחול בטון: 2.3-3.1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3566160"/>
            <a:ext cx="2423160" cy="16002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3611880"/>
            <a:ext cx="2240280" cy="15087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2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דקים מתחת ל-0.063</a:t>
            </a:r>
          </a:p>
          <a:p>
            <a:pPr algn="ctr" rtl="1" marL="0" indent="0">
              <a:spcAft>
                <a:spcPts val="2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ת"י 3: תכולת אבק מרבית לפי סוג האגרגט (א' / ב')</a:t>
            </a:r>
          </a:p>
          <a:p>
            <a:pPr algn="ctr" rtl="1" marL="0" indent="0">
              <a:spcAft>
                <a:spcPts val="2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בחול גרוס, במהדורת 1998: 3% (א') / 5% (ב')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25780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ערכים מקובלים — לאימות מול ת"י 3 במהדורה המחייבת (כולל גיליונות התיקון) ומול מפרט המפעל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איכות הדקים: שווה חול וכחול מתילן</a:t>
            </a:r>
          </a:p>
        </p:txBody>
      </p:sp>
      <p:pic>
        <p:nvPicPr>
          <p:cNvPr id="3" name="Picture 2" descr="sand_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4107"/>
            <a:ext cx="3931920" cy="28981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88920" y="4434840"/>
            <a:ext cx="196596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חול חרסיתי</a:t>
            </a:r>
          </a:p>
          <a:p>
            <a:pPr algn="ctr" rtl="1" marL="0" indent="0"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SE נמוך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96596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חול נקי</a:t>
            </a:r>
          </a:p>
          <a:p>
            <a:pPr algn="ctr" rtl="1" marL="0" indent="0"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SE גבוה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09728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1887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שווה חול (SE)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שיטה מקובלת · ת"י 3 / מפרט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חול 0/2 בתמיסה מפרידה בגליל מדורג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ניעור ממוכן ושקיעה של 20 דקות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מודדים את גובה החרסית (h1) ואת גובה החול (h2)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59" y="3520440"/>
            <a:ext cx="2926080" cy="54864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SE = h2 / h1 ×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20624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טיפוסי במפרטים: SE ≥ 60-70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79" y="109728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1887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כחול מתילן (MB)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600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שיטה מקובלת · ת"י 3 / מפרט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196596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חלקיק 0/2 בתרחיף מים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טיטרציה במנות של תמיסת כחול מתילן</a:t>
            </a:r>
          </a:p>
          <a:p>
            <a:pPr algn="r" rtl="1" marL="228600" indent="-228600">
              <a:spcAft>
                <a:spcPts val="3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בדיקת "הילה" על נייר סינון עד רוויה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59" y="3520440"/>
            <a:ext cx="2926080" cy="54864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MB = גרם צבע לק"ג חומר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420624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טיפוסי במפרטים: MB ≤ 1.0-2.0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03520"/>
            <a:ext cx="8183879" cy="566928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94192" y="5358383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Lightbulb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19" y="54681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1560" y="5303520"/>
            <a:ext cx="7269479" cy="566928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SE מסנן מהר; MB מבדיל בין אבק אבן תקין לחרסית מזיקה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292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FFF2DC"/>
          </a:solidFill>
          <a:ln w="12700">
            <a:solidFill>
              <a:srgbClr val="B26A00"/>
            </a:solidFill>
          </a:ln>
        </p:spPr>
        <p:txBody>
          <a:bodyPr rtlCol="0" anchor="ctr" wrap="square" lIns="18288" rIns="18288" tIns="18288" bIns="18288"/>
          <a:lstStyle/>
          <a:p>
            <a:pPr algn="ctr" rtl="1" marL="0" indent="0">
              <a:buNone/>
            </a:pPr>
            <a:r>
              <a:rPr lang="he-IL" sz="11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לאימות מול התקן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צפיפות, ספיגות ותיקון מים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0" y="10515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אופן הביצוע (צפיפות וספיגות, ת"י 3)</a:t>
            </a:r>
          </a:p>
        </p:txBody>
      </p:sp>
      <p:sp>
        <p:nvSpPr>
          <p:cNvPr id="4" name="Oval 3"/>
          <p:cNvSpPr/>
          <p:nvPr/>
        </p:nvSpPr>
        <p:spPr>
          <a:xfrm>
            <a:off x="11109960" y="1536192"/>
            <a:ext cx="365760" cy="3657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463040"/>
            <a:ext cx="4480559" cy="448056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השריה במים 24 שעות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2039112"/>
            <a:ext cx="365760" cy="3657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65960"/>
            <a:ext cx="4480559" cy="448056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ייבוש פני השטח עד מצב רווי-יבש-פנים (SSD)</a:t>
            </a:r>
          </a:p>
        </p:txBody>
      </p:sp>
      <p:sp>
        <p:nvSpPr>
          <p:cNvPr id="8" name="Oval 7"/>
          <p:cNvSpPr/>
          <p:nvPr/>
        </p:nvSpPr>
        <p:spPr>
          <a:xfrm>
            <a:off x="11109960" y="2542032"/>
            <a:ext cx="365760" cy="3657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468880"/>
            <a:ext cx="4480559" cy="448056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שקילה במצב SSD ושקילה בתוך מים (סל / פיקנומטר)</a:t>
            </a:r>
          </a:p>
        </p:txBody>
      </p:sp>
      <p:sp>
        <p:nvSpPr>
          <p:cNvPr id="10" name="Oval 9"/>
          <p:cNvSpPr/>
          <p:nvPr/>
        </p:nvSpPr>
        <p:spPr>
          <a:xfrm>
            <a:off x="11109960" y="3044952"/>
            <a:ext cx="365760" cy="3657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971800"/>
            <a:ext cx="4480559" cy="448056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ייבוש בתנור ושקילה יבשה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566160"/>
            <a:ext cx="4983480" cy="68580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584448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WA24 = (M_SSD − M_dry) / M_dry × 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389120"/>
            <a:ext cx="498348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ת"י 3: ספיגות מרבית 5% (לפי גיליון תיקון 2021)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גיר/דולומיט איכותי: לרוב 0.5-2%; ערך גבוה — לבירור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1097280"/>
            <a:ext cx="5394960" cy="4069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1188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8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דוגמה: תיקון לחות יומי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05840" y="1691640"/>
          <a:ext cx="5029200" cy="1755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914400"/>
                <a:gridCol w="914400"/>
                <a:gridCol w="1097280"/>
                <a:gridCol w="914400"/>
              </a:tblGrid>
              <a:tr h="43891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מים חופשיים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ספיגות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לחות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כמות (ק"ג)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חומר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+28 ל'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1.5%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−7 ל'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1.2%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0.5%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1,000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חצץ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+21 ל'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סה"כ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005840" y="3611880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האגרגט מכניס 21 ליטר מים "בשקט" — מפחיתים אותם ממי התערובת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ב-350 ק"ג צמנט, בלי תיקון: W/C עולה בכ-0.06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5780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מים חופשיים = (לחות − ספיגות) × משקל יבש. הלחות נמדדת יומית (ייבוש דוגמה) או בחיישן במגורה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עמידות לשחיקה וצורת גרגר</a:t>
            </a:r>
          </a:p>
        </p:txBody>
      </p:sp>
      <p:pic>
        <p:nvPicPr>
          <p:cNvPr id="3" name="Picture 2" descr="la_d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33968"/>
            <a:ext cx="3840480" cy="28527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0690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תוף לוס אנג'לס: אגרגט + כדורי פלדה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1097280"/>
            <a:ext cx="6537960" cy="23774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188720"/>
            <a:ext cx="61722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שחיקה בתוף לוס אנג'לס (LA)</a:t>
            </a: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   ת"י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645920"/>
            <a:ext cx="3749039" cy="1783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5 ק"ג אגרגט 10-14 מ"מ + 11 כדורי פלדה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500 סיבובים ב-31-33 סל"ד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ניפוי על 1.6 מ"מ; LA = % החומר שנשחק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40" y="1691640"/>
            <a:ext cx="228600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1C8"/>
            </a:solidFill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דרישה</a:t>
            </a:r>
          </a:p>
          <a:p>
            <a:pPr algn="ctr" rtl="1" marL="0" indent="0">
              <a:buNone/>
            </a:pPr>
            <a:r>
              <a:rPr lang="he-IL" sz="26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≤ 40</a:t>
            </a:r>
          </a:p>
          <a:p>
            <a:pPr algn="ctr" rtl="1" marL="0" indent="0">
              <a:buNone/>
            </a:pPr>
            <a:r>
              <a:rPr lang="he-IL" sz="11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בטון מבני (טיפוסי)</a:t>
            </a:r>
          </a:p>
          <a:p>
            <a:pPr algn="ctr" rtl="1" marL="0" indent="0"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לפי ת"י 3 / מפרט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3657600"/>
            <a:ext cx="6537960" cy="15087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3730752"/>
            <a:ext cx="61722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גרגרים פחוסים ומוארכים</a:t>
            </a: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   ת"י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4160520"/>
            <a:ext cx="3749039" cy="9601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מדידה במד צורה; % הגרגרים הפחוסים והמוארכים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גרגר שטוח = יותר מים, פחות עבידות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41605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1C8"/>
            </a:solidFill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6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תכולה מרבית</a:t>
            </a:r>
          </a:p>
          <a:p>
            <a:pPr algn="ctr" rtl="1" marL="0" indent="0">
              <a:buNone/>
            </a:pPr>
            <a:r>
              <a:rPr lang="he-IL" sz="11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לפי ת"י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0352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ערכים מקובלים — לאימות מול ת"י 3 במהדורה המחייבת (כולל גיליונות התיקון) ומול מפרט המפעל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חומרים מזיקים באגרגט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19659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216152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Leaf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088" y="1325880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20700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חומר אורגני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745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תמיסת NaOH והשוואת צבע לסטנדרט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21284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כהה מהסטנדרט ← בדיקת טיט השוואתית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7249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השפעה: מעכב התקשרות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097280"/>
            <a:ext cx="3474720" cy="19659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33488" y="1216152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Cub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132588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90288" y="120700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חרסית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5544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8745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תכולת חרסית וגושים פריכים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21284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תכולה מרבית לפי ת"י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7249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השפעה: חללים ונקודות חולשה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" y="1097280"/>
            <a:ext cx="3474720" cy="19659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85615" y="1216152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Flas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5344" y="132588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42416" y="120700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כלורידים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" y="15544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118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" y="187451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כלורידים מכל מרכיבי התערובת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" y="221284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תקרה בבטון כולו, באחוז ממשקל הצמנט — לפי דרגת החשיפה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" y="27249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השפעה: קורוזיה של הזיון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3200400"/>
            <a:ext cx="3474720" cy="19659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81360" y="3319272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FaVial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1088" y="3429000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138160" y="331012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סולפטים וגופרית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657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סולפטים מסיסים וגופרית כללית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3159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תכולה מרבית לפי ת"י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48280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השפעה: התפחות והתפוררות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53128" y="3200400"/>
            <a:ext cx="3474720" cy="19659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33488" y="3319272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aBol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216" y="3429000"/>
            <a:ext cx="237744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590288" y="331012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תגובה אלקלית (ASR)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90288" y="3657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בדיקת מעבדה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0288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התפשחות מוטות טיט בתמיסה בסיסית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0288" y="43159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התפשחות גבוהה = אגרגט תגובתי, לבירור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0288" y="48280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השפעה: סדיקה מתמשכת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5256" y="3200400"/>
            <a:ext cx="3474720" cy="19659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85615" y="3319272"/>
            <a:ext cx="457200" cy="4572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5" name="Picture 44" descr="FaSearch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5344" y="3429000"/>
            <a:ext cx="237744" cy="23774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42416" y="331012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חלקיקים קלים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" y="3657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הפרדה בנוזל כבד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" y="43159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תכולה מרבית לפי ת"י 3 / מפרט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" y="48280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השפעה: כתמים ובליטות בפני השטח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5349240"/>
            <a:ext cx="8183879" cy="54864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394192" y="5394959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FaLightbulb_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19" y="5504688"/>
            <a:ext cx="237744" cy="23774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51560" y="5349240"/>
            <a:ext cx="7269479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מקור אגרגט חדש עובר את כל הבדיקות האלה לפני השימוש הראשון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דוח בדיקה מול דרישות: איך מחליטים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097280"/>
          <a:ext cx="7223760" cy="34381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1325880"/>
                <a:gridCol w="1234440"/>
                <a:gridCol w="1051560"/>
                <a:gridCol w="1325880"/>
                <a:gridCol w="1371600"/>
              </a:tblGrid>
              <a:tr h="42976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סטטוס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דרישה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תוצאה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לפי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בדיקה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חומר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עומד</a:t>
                      </a:r>
                    </a:p>
                  </a:txBody>
                  <a:tcPr marL="73152" marR="73152" marT="36576" marB="36576" anchor="ctr">
                    <a:solidFill>
                      <a:srgbClr val="E8F3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תחום התקן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בתוך התחום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עקום דירוג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חול גרוס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חורג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≤ 5% (סוג ב')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7.8%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תכולת אבק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חול גרוס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חורג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≥ 65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מפרט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שווה חול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חול גרוס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חורג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≤ 1.5 g/kg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2.6 g/kg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מפרט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כחול מתילן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חול גרוס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עומד</a:t>
                      </a:r>
                    </a:p>
                  </a:txBody>
                  <a:tcPr marL="73152" marR="73152" marT="36576" marB="36576" anchor="ctr">
                    <a:solidFill>
                      <a:srgbClr val="E8F3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≤ 5%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1.4%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ספיגות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חול גרוס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עומד</a:t>
                      </a:r>
                    </a:p>
                  </a:txBody>
                  <a:tcPr marL="73152" marR="73152" marT="36576" marB="36576" anchor="ctr">
                    <a:solidFill>
                      <a:srgbClr val="E8F3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לפי ת"י 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27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שחיקה LA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חצץ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עומד</a:t>
                      </a:r>
                    </a:p>
                  </a:txBody>
                  <a:tcPr marL="73152" marR="73152" marT="36576" marB="36576" anchor="ctr">
                    <a:solidFill>
                      <a:srgbClr val="E8F3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לפי ת"י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14%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פחוסים ומוארכים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חצץ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617720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דוגמה להמחשה. ערכים מקובלים — לאימות מול ת"י 3 במהדורה המחייבת (כולל גיליונות התיקון) ומול מפרט המפעל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0292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FFF2DC"/>
          </a:solidFill>
          <a:ln w="12700">
            <a:solidFill>
              <a:srgbClr val="B26A00"/>
            </a:solidFill>
          </a:ln>
        </p:spPr>
        <p:txBody>
          <a:bodyPr rtlCol="0" anchor="ctr" wrap="square" lIns="18288" rIns="18288" tIns="18288" bIns="18288"/>
          <a:lstStyle/>
          <a:p>
            <a:pPr algn="ctr" rtl="1" marL="0" indent="0">
              <a:buNone/>
            </a:pPr>
            <a:r>
              <a:rPr lang="he-IL" sz="11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לאימות מול התקן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097280"/>
            <a:ext cx="3154680" cy="39319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188720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4D82E"/>
                </a:solidFill>
                <a:latin typeface="Arial Unicode MS"/>
                <a:ea typeface="Arial Unicode MS"/>
                <a:cs typeface="Arial Unicode MS"/>
              </a:rPr>
              <a:t>המסקנה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645920"/>
            <a:ext cx="278892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שלוש חריגות שמצביעות על אותה בעיה: הדקים בחול הם חרסית, לא אבק אבן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788920"/>
            <a:ext cx="2788920" cy="21945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הסגר המשלוח וסימון הערמה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דוח אי-התאמה והודעה לספק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דרישה לשטיפה או להחלפת מקור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בדיקה חוזרת לפני שחרור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21208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94192" y="530352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Search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19" y="541324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51560" y="521208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לא מחליטים לפי בדיקה אחת: מחפשים את הסיפור שהתוצאות מספרות יחד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בדיקות איכות צמנט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81160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Certificat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0616" y="1545336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23774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תעודות יצרן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88036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תו תקן לפי ת"י 1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תעודת משלוח: סוג, דרגה ומשקל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דוח איכות תקופתי מהיצרן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4251960"/>
            <a:ext cx="2011680" cy="320040"/>
          </a:xfrm>
          <a:prstGeom prst="roundRect">
            <a:avLst>
              <a:gd name="adj" fmla="val 50000"/>
            </a:avLst>
          </a:prstGeom>
          <a:solidFill>
            <a:srgbClr val="C4D82E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כל משלוח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0972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33288" y="1325880"/>
            <a:ext cx="914400" cy="91440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HourglassHal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744" y="1545336"/>
            <a:ext cx="475488" cy="4754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90288" y="23774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זמן התקשרות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88036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מחט ויקה — לפי ת"י 1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תחילת התקשרות: לפחות 45-75 דקות, לפי הדרגה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חריגה מעידה על בעיית ייצור או אחסון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84648" y="4251960"/>
            <a:ext cx="2011680" cy="320040"/>
          </a:xfrm>
          <a:prstGeom prst="roundRect">
            <a:avLst>
              <a:gd name="adj" fmla="val 50000"/>
            </a:avLst>
          </a:prstGeom>
          <a:solidFill>
            <a:srgbClr val="C4D82E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תקופתית / בחשד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10972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85416" y="1325880"/>
            <a:ext cx="914400" cy="9144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CompressArrowsA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4872" y="1545336"/>
            <a:ext cx="475488" cy="4754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42416" y="23774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חוזק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288036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מנסרות טיט 40×40×160 — לפי ת"י 1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בגיל 2 / 7 ו-28 יום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השוואה לדרגה: 42.5 / 52.5 MPa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36776" y="4251960"/>
            <a:ext cx="2011680" cy="320040"/>
          </a:xfrm>
          <a:prstGeom prst="roundRect">
            <a:avLst>
              <a:gd name="adj" fmla="val 50000"/>
            </a:avLst>
          </a:prstGeom>
          <a:solidFill>
            <a:srgbClr val="C4D82E"/>
          </a:solidFill>
          <a:ln>
            <a:noFill/>
          </a:ln>
        </p:spPr>
        <p:txBody>
          <a:bodyPr rtlCol="0" anchor="ctr" wrap="square" lIns="45720" rIns="45720" tIns="18288" bIns="18288"/>
          <a:lstStyle/>
          <a:p>
            <a:pPr algn="ctr" rtl="1" marL="0" indent="0">
              <a:buNone/>
            </a:pPr>
            <a:r>
              <a:rPr lang="he-IL" sz="1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לפי תכנית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37760"/>
            <a:ext cx="8183879" cy="68580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94192" y="505206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Lightbulb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19" y="5161788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51560" y="4937760"/>
            <a:ext cx="7269479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בודקים גם את האחסון: צמנט חם או לח משנה התקשרות ועבידות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בדיקות איכות מוספים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בדיקות זהות מהירות בקבלה — השוואה לערך שהצהיר היצרן, לפי דרישות ת"י 118 למרכיבי הבטון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69680" y="1600200"/>
            <a:ext cx="2542032" cy="3291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9216" y="1828800"/>
            <a:ext cx="822960" cy="8229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WeightHanging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6726" y="2026310"/>
            <a:ext cx="427939" cy="4279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278892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צפיפות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3246120"/>
            <a:ext cx="2359152" cy="5029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±0.02-0.03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3767328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גרם/סמ"ק מהערך המוצהר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הידרומטר / פיקנומטר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00200"/>
            <a:ext cx="2542032" cy="3291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59168" y="1828800"/>
            <a:ext cx="822960" cy="82296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678" y="2026310"/>
            <a:ext cx="427939" cy="4279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1072" y="278892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3246120"/>
            <a:ext cx="2359152" cy="5029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±1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3767328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יחידת pH מהמוצהר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מד pH מכויל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9584" y="1600200"/>
            <a:ext cx="2542032" cy="3291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89120" y="1828800"/>
            <a:ext cx="822960" cy="8229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FaFilt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630" y="2026310"/>
            <a:ext cx="427939" cy="42793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21024" y="278892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מוצקים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1024" y="3246120"/>
            <a:ext cx="2359152" cy="5029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algn="ctr" rtl="0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±5%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21024" y="3767328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יחסי מהערך המוצהר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1024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ייבוש ב-105°C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" y="1600200"/>
            <a:ext cx="2542032" cy="3291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719072" y="1828800"/>
            <a:ext cx="822960" cy="82296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FaTin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6582" y="2026310"/>
            <a:ext cx="427939" cy="42793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50976" y="2788920"/>
            <a:ext cx="2359152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צמיגות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3246120"/>
            <a:ext cx="2359152" cy="5029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השוואה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3767328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לדגימת ייחוס מאושרת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4297680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צמיגומטר / משפך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120640"/>
            <a:ext cx="8183879" cy="68580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94192" y="523494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FaLightbulb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19" y="5344668"/>
            <a:ext cx="237744" cy="2377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51560" y="5120640"/>
            <a:ext cx="7269479" cy="68580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לבדוק גם: תאריך תפוגה, הפרדת פאזות במיכל וזיהוי נכון של המוסף בצנרת המינון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זיהוי חומרים פסולים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1143000"/>
            <a:ext cx="2011680" cy="402336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tile_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280365"/>
            <a:ext cx="1828800" cy="1371188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0172700" y="2766060"/>
            <a:ext cx="594360" cy="59436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CheckCirc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5346" y="2908706"/>
            <a:ext cx="309067" cy="309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55480" y="3474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תקין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אגרגט נקי, צבע אחיד, ללא ציפוי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6" y="1143000"/>
            <a:ext cx="2011680" cy="40233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tile_c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496" y="1280365"/>
            <a:ext cx="1828800" cy="137118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014716" y="2766060"/>
            <a:ext cx="594360" cy="59436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aTimesCirc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362" y="2908706"/>
            <a:ext cx="309067" cy="30906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97496" y="3474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חרסית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3216" y="393192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ציפוי וגושים חומים; נמרח ביד רטובה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1143000"/>
            <a:ext cx="2011680" cy="40233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tile_lum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9512" y="1280365"/>
            <a:ext cx="1828800" cy="1371188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856732" y="2766060"/>
            <a:ext cx="594360" cy="59436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aTimesCirc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378" y="2908706"/>
            <a:ext cx="309067" cy="30906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39512" y="3474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גושי צמנט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393192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גושים קשים שאינם מתפוררים באצבע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90088" y="1143000"/>
            <a:ext cx="2011680" cy="40233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tile_organi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1528" y="1280365"/>
            <a:ext cx="1828800" cy="1371188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3698748" y="2766060"/>
            <a:ext cx="594360" cy="59436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aTimesCirc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394" y="2908706"/>
            <a:ext cx="309067" cy="3090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081528" y="3474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חומר אורגני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7248" y="393192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שורשים, עלים, צבע כהה וריח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" y="1143000"/>
            <a:ext cx="2011680" cy="40233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tile_ph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544" y="1280365"/>
            <a:ext cx="1828800" cy="1371188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540764" y="2766060"/>
            <a:ext cx="594360" cy="59436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aTimesCirc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3410" y="2908706"/>
            <a:ext cx="309067" cy="30906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3474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הפרדת פאזות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393192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שכבות נפרדות במיכל המוסף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25780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איורים להמחשה. מומלץ להחליף בתמונות אמיתיות מהמפעלים, לצורך זיהוי מדויק בשטח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מטריצת סיכוני איכות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097280"/>
          <a:ext cx="7680956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25416"/>
                <a:gridCol w="694062"/>
                <a:gridCol w="879146"/>
                <a:gridCol w="971687"/>
                <a:gridCol w="2544896"/>
                <a:gridCol w="1249312"/>
                <a:gridCol w="416437"/>
              </a:tblGrid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רמה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ציון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השפעה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הסתברות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סיכון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חומר גלם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#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גבוה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12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חרסית / עודף דקים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 דק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בינוני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גרדציה חורגת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 גס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גבוה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סוג שגוי בממגורה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צמנט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בינוני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לחות וגושים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צמנט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גבוה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מינון שגוי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בינוני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הפרדת פאזות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מוסף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בינוני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מים ממוחזרים לא מבוקרים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84632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סולם 1-5. דוגמה — יש לכייל את הציונים לפי נתוני המפעל ולעדכן אחת לרבעון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097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הסתברות ↑   השפעה ←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17352" y="1508760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41864" y="1508760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66376" y="1508760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90888" y="1508760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15400" y="1508760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817352" y="1984248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41864" y="1984248"/>
            <a:ext cx="448056" cy="448056"/>
          </a:xfrm>
          <a:prstGeom prst="rect">
            <a:avLst/>
          </a:prstGeom>
          <a:solidFill>
            <a:srgbClr val="FFD9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66376" y="1984248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90888" y="1984248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15400" y="1984248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817352" y="2459736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341864" y="2459736"/>
            <a:ext cx="448056" cy="448056"/>
          </a:xfrm>
          <a:prstGeom prst="rect">
            <a:avLst/>
          </a:prstGeom>
          <a:solidFill>
            <a:srgbClr val="FFD9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66376" y="2459736"/>
            <a:ext cx="448056" cy="448056"/>
          </a:xfrm>
          <a:prstGeom prst="rect">
            <a:avLst/>
          </a:prstGeom>
          <a:solidFill>
            <a:srgbClr val="FFD9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90888" y="2459736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2459736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17352" y="2935224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41864" y="2935224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66376" y="2935224"/>
            <a:ext cx="448056" cy="448056"/>
          </a:xfrm>
          <a:prstGeom prst="rect">
            <a:avLst/>
          </a:prstGeom>
          <a:solidFill>
            <a:srgbClr val="FFD9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90888" y="2935224"/>
            <a:ext cx="448056" cy="448056"/>
          </a:xfrm>
          <a:prstGeom prst="rect">
            <a:avLst/>
          </a:prstGeom>
          <a:solidFill>
            <a:srgbClr val="FFD9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15400" y="2935224"/>
            <a:ext cx="448056" cy="448056"/>
          </a:xfrm>
          <a:prstGeom prst="rect">
            <a:avLst/>
          </a:prstGeom>
          <a:solidFill>
            <a:srgbClr val="F4B7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17352" y="3410712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341864" y="3410712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66376" y="3410712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90888" y="3410712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15400" y="3410712"/>
            <a:ext cx="448056" cy="448056"/>
          </a:xfrm>
          <a:prstGeom prst="rect">
            <a:avLst/>
          </a:prstGeom>
          <a:solidFill>
            <a:srgbClr val="BFE3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505188" y="2574036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32" name="Oval 31"/>
          <p:cNvSpPr/>
          <p:nvPr/>
        </p:nvSpPr>
        <p:spPr>
          <a:xfrm>
            <a:off x="9980676" y="2574036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33" name="Oval 32"/>
          <p:cNvSpPr/>
          <p:nvPr/>
        </p:nvSpPr>
        <p:spPr>
          <a:xfrm>
            <a:off x="8938260" y="3049523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9121140" y="3049523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9889236" y="3049523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36" name="Oval 35"/>
          <p:cNvSpPr/>
          <p:nvPr/>
        </p:nvSpPr>
        <p:spPr>
          <a:xfrm>
            <a:off x="10072115" y="3049523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  <p:sp>
        <p:nvSpPr>
          <p:cNvPr id="37" name="Oval 36"/>
          <p:cNvSpPr/>
          <p:nvPr/>
        </p:nvSpPr>
        <p:spPr>
          <a:xfrm>
            <a:off x="9505188" y="3049523"/>
            <a:ext cx="219456" cy="219456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2520" y="40233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מתחילים מהתאים האדומים: שם נמצא רוב הסיכון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חומרים ממוחזרים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מים ממוחזרים · בטון חוזר · אגרגט ממוחזר · מתי מותר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חומרים ממוחזרים במפעל הבטון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1280160"/>
            <a:ext cx="822960" cy="8229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Wate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390" y="1477670"/>
            <a:ext cx="427939" cy="4279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21945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מים ממוחזרים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 שטיפת משאיות ומפעל אחרי שיקוע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29260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כמעט בכל מפעל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0972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79008" y="1280160"/>
            <a:ext cx="822960" cy="82296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SyncA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18" y="1477670"/>
            <a:ext cx="427939" cy="4279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90288" y="21945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בטון חוזר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עודפי בטון טרי שחוזרים מהאתר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9260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אחוזים בודדים מהייצור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10972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31136" y="1280160"/>
            <a:ext cx="822960" cy="822960"/>
          </a:xfrm>
          <a:prstGeom prst="ellipse">
            <a:avLst/>
          </a:prstGeom>
          <a:solidFill>
            <a:srgbClr val="7E8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Recycl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8646" y="1477670"/>
            <a:ext cx="427939" cy="4279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42416" y="21945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 ממוחזר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גריסת בטון קשוח ופסולת בניין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" y="29260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בהיקף גדל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3474720"/>
            <a:ext cx="5623560" cy="160020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835640" y="365760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Leaf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5367" y="3767328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0" y="36118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למה ממחזרים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023360"/>
            <a:ext cx="5212080" cy="10058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חיסכון במים ובחומרי גלם; פחות פסולת להטמנה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רגולציה סביבתית ודרישות בנייה ירוקה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474720"/>
            <a:ext cx="4846320" cy="1600200"/>
          </a:xfrm>
          <a:prstGeom prst="roundRect">
            <a:avLst>
              <a:gd name="adj" fmla="val 8000"/>
            </a:avLst>
          </a:prstGeom>
          <a:solidFill>
            <a:srgbClr val="FFF2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0" y="3657600"/>
            <a:ext cx="457200" cy="457200"/>
          </a:xfrm>
          <a:prstGeom prst="ellipse">
            <a:avLst/>
          </a:prstGeom>
          <a:solidFill>
            <a:srgbClr val="B26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FaExclamationTriang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8928" y="376732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05840" y="36118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מה הסיכון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02336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שונות גבוהה בין יום ליום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מוצקים, מעכבים, ספיגות וזיהומים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25780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94192" y="532638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FaLightbulb_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19" y="5436108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51560" y="525780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ממוחזר זה לא פסול: זה חומר גלם שדורש בקרה צמודה יותר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מים ממוחזרים: מקורות ומערכת</a:t>
            </a:r>
          </a:p>
        </p:txBody>
      </p:sp>
      <p:pic>
        <p:nvPicPr>
          <p:cNvPr id="3" name="Picture 2" descr="water_pl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652760" cy="2892598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0180374" y="3968496"/>
            <a:ext cx="384048" cy="38404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0838" y="438912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שטיפת המשאית</a:t>
            </a:r>
          </a:p>
        </p:txBody>
      </p:sp>
      <p:sp>
        <p:nvSpPr>
          <p:cNvPr id="6" name="Oval 5"/>
          <p:cNvSpPr/>
          <p:nvPr/>
        </p:nvSpPr>
        <p:spPr>
          <a:xfrm>
            <a:off x="7973731" y="3968496"/>
            <a:ext cx="384048" cy="38404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4195" y="438912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מפריד (Reclaimer): חצץ וחול חוזרים</a:t>
            </a:r>
          </a:p>
        </p:txBody>
      </p:sp>
      <p:sp>
        <p:nvSpPr>
          <p:cNvPr id="8" name="Oval 7"/>
          <p:cNvSpPr/>
          <p:nvPr/>
        </p:nvSpPr>
        <p:spPr>
          <a:xfrm>
            <a:off x="5729042" y="3968496"/>
            <a:ext cx="384048" cy="38404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9506" y="438912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בריכות שיקוע</a:t>
            </a:r>
          </a:p>
        </p:txBody>
      </p:sp>
      <p:sp>
        <p:nvSpPr>
          <p:cNvPr id="10" name="Oval 9"/>
          <p:cNvSpPr/>
          <p:nvPr/>
        </p:nvSpPr>
        <p:spPr>
          <a:xfrm>
            <a:off x="3218034" y="3968496"/>
            <a:ext cx="384048" cy="38404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8498" y="438912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מיכל ערבול + מד צפיפות</a:t>
            </a:r>
          </a:p>
        </p:txBody>
      </p:sp>
      <p:sp>
        <p:nvSpPr>
          <p:cNvPr id="12" name="Oval 11"/>
          <p:cNvSpPr/>
          <p:nvPr/>
        </p:nvSpPr>
        <p:spPr>
          <a:xfrm>
            <a:off x="1505984" y="3968496"/>
            <a:ext cx="384048" cy="384048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48" y="438912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מינון במפעל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98348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76488" y="5065776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aCheckCirc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8659" y="5157947"/>
            <a:ext cx="199704" cy="1997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088" y="505663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מקורות מקובלים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5394960"/>
            <a:ext cx="20574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מי שטיפה, ניקוז המפעל, מי גשם מהחצר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498348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33288" y="5065776"/>
            <a:ext cx="384048" cy="384048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Ba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5459" y="5157947"/>
            <a:ext cx="199704" cy="19970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75888" y="505663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C62828"/>
                </a:solidFill>
                <a:latin typeface="Arial Unicode MS"/>
                <a:ea typeface="Arial Unicode MS"/>
                <a:cs typeface="Arial Unicode MS"/>
              </a:rPr>
              <a:t>לא נכנס למערכת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8" y="5394960"/>
            <a:ext cx="20574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שמנים, דלק, דטרגנטים, שפכים סניטריים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98348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90088" y="5065776"/>
            <a:ext cx="384048" cy="384048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FaSyncAl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2259" y="5157947"/>
            <a:ext cx="199704" cy="19970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32688" y="505663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ערבול רציף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5394960"/>
            <a:ext cx="2057400" cy="566928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בלי ערבול המוצקים שוקעים והצפיפות "קופצת"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מים ממוחזרים: בדיקות ודרישות לפי ת"י 118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097280"/>
          <a:ext cx="1065276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68880"/>
                <a:gridCol w="4023360"/>
                <a:gridCol w="2514600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איך ומתי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דרישה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פרמטר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שלב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חזותית, יומי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 יותר מעקבות נראות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שמנים ושומנים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בדיקה מקדימה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ניעור בבקבוק, יומי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קצף נעלם תוך 2 דקות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דטרגנטים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בדיקה מקדימה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יומי / שבועי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ללא ריח חריג; pH ≥ 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ריח ו-pH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בדיקה מקדימה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מעבדה, לפי תכנית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≤ 500 דרוך · ≤ 1,000 מזוין · ≤ 4,500 לא מזוין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כלורידים (Cl)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כימיה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מעבדה, לפי תכנית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≤ 2,000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סולפטים (SO₄)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כימיה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מעבדה, לפי תכנית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≤ 1,500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אלקליים (Na₂O שקול)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כימיה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מעבדה, בחשד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≤ 100 · ≤ 100 · ≤ 500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סוכרים · פוספטים · חנקות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כימיה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מעבדה, בחשד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≤ 100 · ≤ 100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עופרת · אבץ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4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כימיה</a:t>
                      </a:r>
                    </a:p>
                  </a:txBody>
                  <a:tcPr marL="73152" marR="73152" marT="36576" marB="36576" anchor="ctr">
                    <a:solidFill>
                      <a:srgbClr val="F3F7D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16636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ריכוזים ב-mg/l. ת"י 118 קובע את הדרישות למי ערבוב, כולל מים ממוחזרים מתעשיית הבטון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0292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FFF2DC"/>
          </a:solidFill>
          <a:ln w="12700">
            <a:solidFill>
              <a:srgbClr val="B26A00"/>
            </a:solidFill>
          </a:ln>
        </p:spPr>
        <p:txBody>
          <a:bodyPr rtlCol="0" anchor="ctr" wrap="square" lIns="18288" rIns="18288" tIns="18288" bIns="18288"/>
          <a:lstStyle/>
          <a:p>
            <a:pPr algn="ctr" rtl="1" marL="0" indent="0">
              <a:buNone/>
            </a:pPr>
            <a:r>
              <a:rPr lang="he-IL" sz="11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לאימות מול התקן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40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ת"י 118 מפנה לעניין זה לתקן המים האירופי; יש לאמת את הערכים מול המהדורה המחייבת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מים ממוחזרים: התקשרות, חוזק ומוצקים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92240" y="1097280"/>
            <a:ext cx="4983480" cy="219456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0" y="118872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בדיקת ביצועים מול מים מזוקקים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45920"/>
            <a:ext cx="4617720" cy="1600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התחלת התקשרות ≥ 1 שעה; סוף ≤ 12 שעות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סטייה מזמני הביקורת: עד 25%</a:t>
            </a:r>
          </a:p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חוזק 7 ימים ≥ 90% מהביקורת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292608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FFF2DC"/>
          </a:solidFill>
          <a:ln w="12700">
            <a:solidFill>
              <a:srgbClr val="B26A00"/>
            </a:solidFill>
          </a:ln>
        </p:spPr>
        <p:txBody>
          <a:bodyPr rtlCol="0" anchor="ctr" wrap="square" lIns="18288" rIns="18288" tIns="18288" bIns="18288"/>
          <a:lstStyle/>
          <a:p>
            <a:pPr algn="ctr" rtl="1" marL="0" indent="0">
              <a:buNone/>
            </a:pPr>
            <a:r>
              <a:rPr lang="he-IL" sz="11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לאימות מול התקן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474720"/>
            <a:ext cx="4983480" cy="160020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3520440"/>
            <a:ext cx="4617720" cy="15087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C4D82E"/>
                </a:solidFill>
                <a:latin typeface="Arial Unicode MS"/>
                <a:ea typeface="Arial Unicode MS"/>
                <a:cs typeface="Arial Unicode MS"/>
              </a:rPr>
              <a:t>כלל המוצקים</a:t>
            </a:r>
          </a:p>
          <a:p>
            <a:pPr algn="r" rtl="1" marL="0" indent="0">
              <a:spcAft>
                <a:spcPts val="400"/>
              </a:spcAft>
              <a:buNone/>
            </a:pPr>
            <a:r>
              <a:rPr lang="he-IL"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מסת המוצקים מהמים הממוחזרים ≤ 1% ממסת האגרגט הכוללת</a:t>
            </a:r>
          </a:p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דוגמה: 170 ל' מים ו-1,900 ק"ג אגרגט — עד 19 ק"ג מוצקים, כלומר צפיפות מים של 1.06 לכל היותר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051560"/>
          <a:ext cx="544068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07492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חישוב בהנחת צפיפות מוצקים 2.1. המדידה היומית של הצפיפות היא הבקרה החשובה ביותר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כללי שימוש במים ממוחזרים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63640" y="1097280"/>
            <a:ext cx="5212080" cy="3977639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44200" y="1280160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CheckCirc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5873" y="1411833"/>
            <a:ext cx="285292" cy="2852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3258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עושים תמיד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ערבול רציף במיכל לפני המינון</a:t>
            </a:r>
          </a:p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מדידת צפיפות לפחות יומית (עדיף חיישן רציף)</a:t>
            </a:r>
          </a:p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חישוב המוצקים והכללתם בתכן כחומר דק</a:t>
            </a:r>
          </a:p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המים הממוחזרים נספרים במלואם ב-W/C</a:t>
            </a:r>
          </a:p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כימיה, התקשרות וחוזק לפי תכנית הבקרה</a:t>
            </a:r>
          </a:p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תיעוד שיעור המים הממוחזרים בכל מנה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1097280"/>
            <a:ext cx="5212080" cy="3977639"/>
          </a:xfrm>
          <a:prstGeom prst="roundRect">
            <a:avLst>
              <a:gd name="adj" fmla="val 8000"/>
            </a:avLst>
          </a:prstGeom>
          <a:solidFill>
            <a:srgbClr val="FFF2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03520" y="1280160"/>
            <a:ext cx="548640" cy="548640"/>
          </a:xfrm>
          <a:prstGeom prst="ellipse">
            <a:avLst/>
          </a:prstGeom>
          <a:solidFill>
            <a:srgbClr val="B26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FaExclamationTriang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5193" y="1411833"/>
            <a:ext cx="285292" cy="285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59" y="13258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זהירות מיוחדת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0116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בטון אדריכלי חשוף — שינויי גוון</a:t>
            </a:r>
          </a:p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בטון דרוך — מגבלת כלורידים מחמירה</a:t>
            </a:r>
          </a:p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בטון עם אוויר מוחדר — השפעה על כמות האוויר</a:t>
            </a:r>
          </a:p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חוזק גבוה ו-SCC — רגישות לדקים</a:t>
            </a:r>
          </a:p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שאריות מייצב הידרציה — עיכוב התקשרות</a:t>
            </a:r>
          </a:p>
          <a:p>
            <a:pPr algn="r" rtl="1" marL="228600" indent="-228600">
              <a:spcAft>
                <a:spcPts val="500"/>
              </a:spcAft>
              <a:buFont typeface="Arial"/>
              <a:buChar char="•"/>
            </a:pPr>
            <a:r>
              <a:rPr lang="he-IL" sz="15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צפיפות מעל הגבול — מדללים במים נקיים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257800"/>
            <a:ext cx="8183879" cy="59436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94192" y="532638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FaLightbulb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19" y="5436108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51560" y="5257800"/>
            <a:ext cx="7269479" cy="59436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המים הממוחזרים הם חומר גלם לכל דבר: נבדקים, מתועדים ונכנסים לתכן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בטון חוזר: שלושה מסלולים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3429000"/>
          </a:xfrm>
          <a:prstGeom prst="roundRect">
            <a:avLst>
              <a:gd name="adj" fmla="val 8000"/>
            </a:avLst>
          </a:prstGeom>
          <a:solidFill>
            <a:srgbClr val="E8F3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1280160"/>
            <a:ext cx="822960" cy="82296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SyncAl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390" y="1477670"/>
            <a:ext cx="427939" cy="4279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22402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2E7D32"/>
                </a:solidFill>
                <a:latin typeface="Arial Unicode MS"/>
                <a:ea typeface="Arial Unicode MS"/>
                <a:cs typeface="Arial Unicode MS"/>
              </a:rPr>
              <a:t>שטיפה במפריד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69748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בטון טרי → Reclaimer → חצץ וחול שטופים + מים ממוחזרים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36118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 כמעט כמו טבעי; בודקים דקים וגרדציה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097280"/>
            <a:ext cx="3474720" cy="3429000"/>
          </a:xfrm>
          <a:prstGeom prst="roundRect">
            <a:avLst>
              <a:gd name="adj" fmla="val 8000"/>
            </a:avLst>
          </a:prstGeom>
          <a:solidFill>
            <a:srgbClr val="FFF2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79008" y="1280160"/>
            <a:ext cx="822960" cy="822960"/>
          </a:xfrm>
          <a:prstGeom prst="ellipse">
            <a:avLst/>
          </a:prstGeom>
          <a:solidFill>
            <a:srgbClr val="B26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HourglassHal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18" y="1477670"/>
            <a:ext cx="427939" cy="4279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90288" y="22402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ייצוב ושימוש חוזר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69748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מוסף מייצב הידרציה עוצר את ההתקשרות לשעות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6118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רק בהנחיית טכנולוג; לרוב לאלמנטים לא קריטיים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1097280"/>
            <a:ext cx="3474720" cy="34290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31136" y="1280160"/>
            <a:ext cx="822960" cy="82296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Cub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8646" y="1477670"/>
            <a:ext cx="427939" cy="4279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42416" y="22402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התקשות וגריסה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269748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בטון קשוח → גריסה וניפוי → אגרגט ממוחזר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" y="36118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 ממוחזר — רק במפרט מיוחד ובאישור מתכנן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4632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94192" y="4937759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ClipboardCheck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19" y="5047488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51560" y="484632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בטון חוזר מתועד במקורו: מאיזו תערובת, כמה זמן, ואם קיבל מוסף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אגרגט ממוחזר: תכונות ובדיקות</a:t>
            </a:r>
          </a:p>
        </p:txBody>
      </p:sp>
      <p:pic>
        <p:nvPicPr>
          <p:cNvPr id="3" name="Picture 2" descr="r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06793"/>
            <a:ext cx="5029200" cy="20840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74720" y="32004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 ממוחזר</a:t>
            </a:r>
          </a:p>
          <a:p>
            <a:pPr algn="ctr" rtl="1" marL="0" indent="0"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טיט דבוק נקבובי סביב הסלע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buNone/>
            </a:pPr>
            <a:r>
              <a:rPr lang="he-IL" sz="14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 טבעי</a:t>
            </a:r>
          </a:p>
          <a:p>
            <a:pPr algn="ctr" rtl="1" marL="0" indent="0"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סלע נקי וצפוף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3840480"/>
          <a:ext cx="5029200" cy="1664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1554480"/>
                <a:gridCol w="1920240"/>
              </a:tblGrid>
              <a:tr h="347472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ממוחזר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טבעי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תכונה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2.1-2.5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2.6-2.7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צפיפות (ק"ג/ל')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3-10%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0.5-2%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ספיגות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30-45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20-30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LA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גבוהה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3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נמוכה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3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שונות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097280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9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בדיקות ייעודיות</a:t>
            </a:r>
          </a:p>
        </p:txBody>
      </p:sp>
      <p:sp>
        <p:nvSpPr>
          <p:cNvPr id="8" name="Oval 7"/>
          <p:cNvSpPr/>
          <p:nvPr/>
        </p:nvSpPr>
        <p:spPr>
          <a:xfrm>
            <a:off x="10972800" y="1664207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FaListOl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2528" y="1773936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מיון מרכיבים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01952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בטון, אבן טבעית, לבנים, אספלט, זיהומים וחומר צף</a:t>
            </a:r>
          </a:p>
        </p:txBody>
      </p:sp>
      <p:sp>
        <p:nvSpPr>
          <p:cNvPr id="12" name="Oval 11"/>
          <p:cNvSpPr/>
          <p:nvPr/>
        </p:nvSpPr>
        <p:spPr>
          <a:xfrm>
            <a:off x="10972800" y="2395727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Tin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2528" y="2505456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23317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ספיגות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633472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בסיס לתיקון מים; מרטיבים מראש את הערמה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127248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Vial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2528" y="3236976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920" y="30632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סולפטים מסיסים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364992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גבס מטיח ולוחות — סכנת התפחות</a:t>
            </a:r>
          </a:p>
        </p:txBody>
      </p:sp>
      <p:sp>
        <p:nvSpPr>
          <p:cNvPr id="20" name="Oval 19"/>
          <p:cNvSpPr/>
          <p:nvPr/>
        </p:nvSpPr>
        <p:spPr>
          <a:xfrm>
            <a:off x="10972800" y="3858768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Flas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82528" y="3968496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17920" y="3794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כלורידים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096512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בטון ישן מסביבה ימית או מחניונים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4590288"/>
            <a:ext cx="457200" cy="45720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FaTrashAl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82528" y="4700016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17920" y="452628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5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זיהומים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828032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2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עץ, פלסטיק, זכוכית, מתכת, אספלט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אגרגט ממוחזר בתקינה הישראלית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2240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72600" y="1280160"/>
            <a:ext cx="731520" cy="73152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Boo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8164" y="1455724"/>
            <a:ext cx="380390" cy="3803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21031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ת"י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5146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חל על אגרגטים ממקור טבעי ומגריסה — לא על אגרגט ממוחזר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097280"/>
            <a:ext cx="3474720" cy="2240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24728" y="1280160"/>
            <a:ext cx="731520" cy="73152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FaBoo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292" y="1455724"/>
            <a:ext cx="380390" cy="3803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90288" y="21031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ת"י 118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5146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במהדורה המעודכנת: נספח למידע בלבד עם המלצות לשימוש באגרגט ממוחזר גס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" y="1097280"/>
            <a:ext cx="3474720" cy="224028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76856" y="1280160"/>
            <a:ext cx="731520" cy="731520"/>
          </a:xfrm>
          <a:prstGeom prst="ellipse">
            <a:avLst/>
          </a:prstGeom>
          <a:solidFill>
            <a:srgbClr val="7E8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FaUser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2420" y="1455724"/>
            <a:ext cx="380390" cy="38039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2416" y="21031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המשמעות למפעל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" y="25146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שימוש רק במפרט מיוחד, באישור המתכנן ובבקרה מוגברת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29000"/>
            <a:ext cx="3657600" cy="292608"/>
          </a:xfrm>
          <a:prstGeom prst="roundRect">
            <a:avLst>
              <a:gd name="adj" fmla="val 50000"/>
            </a:avLst>
          </a:prstGeom>
          <a:solidFill>
            <a:srgbClr val="FFF2DC"/>
          </a:solidFill>
          <a:ln w="12700">
            <a:solidFill>
              <a:srgbClr val="B26A00"/>
            </a:solidFill>
          </a:ln>
        </p:spPr>
        <p:txBody>
          <a:bodyPr rtlCol="0" anchor="ctr" wrap="square" lIns="18288" rIns="18288" tIns="18288" bIns="18288"/>
          <a:lstStyle/>
          <a:p>
            <a:pPr algn="ctr" rtl="1" marL="0" indent="0">
              <a:buNone/>
            </a:pPr>
            <a:r>
              <a:rPr lang="he-IL" sz="1100" b="1">
                <a:solidFill>
                  <a:srgbClr val="B26A00"/>
                </a:solidFill>
                <a:latin typeface="Arial Unicode MS"/>
                <a:ea typeface="Arial Unicode MS"/>
                <a:cs typeface="Arial Unicode MS"/>
              </a:rPr>
              <a:t>מעמד הנספח ונוסחו — לאימות במהדורה המחייבת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840480"/>
            <a:ext cx="10652760" cy="36576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הנחיות מקצועיות למפעל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25196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רק אגרגט גס; אגרגט ממוחזר דק — לא מומלץ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425196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מקור ידוע: עדיף בטון חוזר של המפעל עצמו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בדיקות כמו לאגרגט טבעי + ספיגות, סולפטים וכלורידים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7548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228600" indent="-228600">
              <a:spcAft>
                <a:spcPts val="400"/>
              </a:spcAft>
              <a:buFont typeface="Arial"/>
              <a:buChar char="•"/>
            </a:pPr>
            <a:r>
              <a:rPr lang="he-IL" sz="14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לא בדרגות החשיפה החמורות, לא בדרוך ולא באדריכלי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349240"/>
            <a:ext cx="8183879" cy="54864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94192" y="5394959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FaExclamationTriangle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19" y="5504688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51560" y="5349240"/>
            <a:ext cx="7269479" cy="5486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בספק — מתייחסים לאגרגט ממוחזר כאל חומר לא מאושר עד אישור כתוב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מטריצת החלטה: מתי מותר להשתמש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097280"/>
          <a:ext cx="10652760" cy="3081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25880"/>
                <a:gridCol w="1143000"/>
                <a:gridCol w="1417320"/>
                <a:gridCol w="1600200"/>
                <a:gridCol w="1417320"/>
                <a:gridCol w="1325880"/>
                <a:gridCol w="2423160"/>
              </a:tblGrid>
              <a:tr h="566928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חוזק גבוה / SCC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אדריכלי חשוף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דרוך / טרום דרוך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דרגות ימיות וכימיות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מזוין, דרגות 1-3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 רזה / לא מזוין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חומר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 מומלץ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בתנאים: כלורידים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בתנאים: כלורידים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מותר</a:t>
                      </a:r>
                    </a:p>
                  </a:txBody>
                  <a:tcPr marL="73152" marR="73152" marT="36576" marB="36576" anchor="ctr">
                    <a:solidFill>
                      <a:srgbClr val="E8F3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מותר</a:t>
                      </a:r>
                    </a:p>
                  </a:txBody>
                  <a:tcPr marL="73152" marR="73152" marT="36576" marB="36576" anchor="ctr">
                    <a:solidFill>
                      <a:srgbClr val="E8F3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מים ממוחזרים (מוצקים ≤ 1%)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מותר</a:t>
                      </a:r>
                    </a:p>
                  </a:txBody>
                  <a:tcPr marL="73152" marR="73152" marT="36576" marB="36576" anchor="ctr">
                    <a:solidFill>
                      <a:srgbClr val="E8F3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מותר</a:t>
                      </a:r>
                    </a:p>
                  </a:txBody>
                  <a:tcPr marL="73152" marR="73152" marT="36576" marB="36576" anchor="ctr">
                    <a:solidFill>
                      <a:srgbClr val="E8F3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 שטוף ממפריד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 חוזר מיוצב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 ממוחזר מבטון של המפעל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לא</a:t>
                      </a:r>
                    </a:p>
                  </a:txBody>
                  <a:tcPr marL="73152" marR="73152" marT="36576" marB="36576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בתנאים</a:t>
                      </a:r>
                    </a:p>
                  </a:txBody>
                  <a:tcPr marL="73152" marR="73152" marT="36576" marB="36576" anchor="ctr">
                    <a:solidFill>
                      <a:srgbClr val="FFF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 ממוחזר מפסולת בניין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1064240" y="4434840"/>
            <a:ext cx="320040" cy="274320"/>
          </a:xfrm>
          <a:prstGeom prst="rect">
            <a:avLst/>
          </a:prstGeom>
          <a:solidFill>
            <a:srgbClr val="E8F3E9"/>
          </a:solidFill>
          <a:ln w="9525">
            <a:solidFill>
              <a:srgbClr val="A3B1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98280" y="4416552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מותר בבקרה רגילה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0" y="4434840"/>
            <a:ext cx="320040" cy="274320"/>
          </a:xfrm>
          <a:prstGeom prst="rect">
            <a:avLst/>
          </a:prstGeom>
          <a:solidFill>
            <a:srgbClr val="FFF2DC"/>
          </a:solidFill>
          <a:ln w="9525">
            <a:solidFill>
              <a:srgbClr val="A3B1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4416552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בתנאים / עם מגבלה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434840"/>
            <a:ext cx="320040" cy="274320"/>
          </a:xfrm>
          <a:prstGeom prst="rect">
            <a:avLst/>
          </a:prstGeom>
          <a:solidFill>
            <a:srgbClr val="FBE9E9"/>
          </a:solidFill>
          <a:ln w="9525">
            <a:solidFill>
              <a:srgbClr val="A3B1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4416552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לא מומלץ / אסור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המלצה מקצועית כללית — ת"י 118, ת"י 3, המפרט והמתכנן גוברים תמיד. דרגות החשיפה לפי ת"י 118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21208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94192" y="530352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aUserCheck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19" y="5413248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1560" y="521208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בספק — לא משתמשים. ממוחזר נכנס רק עם בדיקה, תיעוד ואישור טכנולוג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תמונה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>
          <a:xfrm flipH="1">
            <a:off x="0" y="0"/>
            <a:ext cx="10306050" cy="6858000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6115050" y="0"/>
            <a:ext cx="6076950" cy="6858000"/>
          </a:xfrm>
          <a:prstGeom prst="rect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7" name="משולש שווה שוקיים 6"/>
          <p:cNvSpPr/>
          <p:nvPr/>
        </p:nvSpPr>
        <p:spPr>
          <a:xfrm rot="16200000" flipH="1">
            <a:off x="5324475" y="3143250"/>
            <a:ext cx="1123950" cy="609600"/>
          </a:xfrm>
          <a:prstGeom prst="triangle">
            <a:avLst/>
          </a:prstGeom>
          <a:solidFill>
            <a:srgbClr val="2C9E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prstClr val="whit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0840" y="2514600"/>
            <a:ext cx="4937760" cy="914400"/>
          </a:xfrm>
          <a:prstGeom prst="rect">
            <a:avLst/>
          </a:prstGeom>
          <a:noFill/>
        </p:spPr>
        <p:txBody>
          <a:bodyPr wrap="square" rtlCol="1" anchor="ctr"/>
          <a:lstStyle/>
          <a:p>
            <a:pPr algn="ctr" rtl="1"/>
            <a:r>
              <a:rPr lang="he-IL" sz="3600" dirty="0">
                <a:solidFill>
                  <a:prstClr val="white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חידון, תקנים וסיכום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פרק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611880"/>
            <a:ext cx="4206240" cy="20116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sz="16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5 שאלות לבדיקת הבנה · מפת התקנים · מסרים מרכזיים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חידון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14300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1389888"/>
            <a:ext cx="914400" cy="9144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Question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609344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9052560" cy="13258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מהו החומר הקושר בבטון?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1340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0659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צמנט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21340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מים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0659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59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מוסף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חידון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14300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1389888"/>
            <a:ext cx="914400" cy="9144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Question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609344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9052560" cy="13258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כמה אחוז מנפח הבטון הם אגרגטים?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1340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10-20%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0659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30-40%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21340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50-60%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0659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59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70-80%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חידון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14300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1389888"/>
            <a:ext cx="914400" cy="9144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Question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609344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9052560" cy="13258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מהו C-S-H?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1340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סוג של מוסף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0659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תוצר ההידרציה העיקרי, שאחראי לחוזק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21340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סוג של צמנט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0659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59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בדיקת חוזק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חידון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14300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1389888"/>
            <a:ext cx="914400" cy="9144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Question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609344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9052560" cy="13258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מה קורה כאשר יחס מים-צמנט עולה?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1340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החוזק עולה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0659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החדירות יורדת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21340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החוזק יורד והחדירות עולה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0659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59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אין השפעה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חידון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14300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1389888"/>
            <a:ext cx="914400" cy="9144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Question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609344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188720"/>
            <a:ext cx="9052560" cy="13258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3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איזו בדיקה מבוצעת בבטון טרי?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1340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קרוטים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83464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80659" y="30403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283464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שקיעה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21340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LA Abrasion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5212080" cy="100584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0659" y="427482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59" y="406908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0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לחיצת גלילים בגיל 28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התקנים הישראליים לבטון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1000" y="1097280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21340" y="125730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aWarehous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3986" y="1399946"/>
            <a:ext cx="309067" cy="3090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83880" y="1280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ת"י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17830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צמנט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2212848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סוגים (CEM I-V), דרגות חוזק ובדיקות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097280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73468" y="125730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Cub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6114" y="1399946"/>
            <a:ext cx="309067" cy="3090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36008" y="1280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ת"י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7830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אגרגטים לבטון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12848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עקום דירוג, אבק, חרסית, ספיגות, צורה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1097280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25596" y="125730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aFlas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242" y="1399946"/>
            <a:ext cx="309067" cy="30906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88136" y="1280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ת"י 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17830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שיטות בדיקה לבטון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" y="2212848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דגימה, בטון טרי, חוזק, קרוטים, בדיקות לא הורסות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3108960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721340" y="3268980"/>
            <a:ext cx="594360" cy="59436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aBook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986" y="3411626"/>
            <a:ext cx="309067" cy="30906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183880" y="32918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400" b="1">
                <a:solidFill>
                  <a:srgbClr val="C4D82E"/>
                </a:solidFill>
                <a:latin typeface="Arial Unicode MS"/>
                <a:ea typeface="Arial Unicode MS"/>
                <a:cs typeface="Arial Unicode MS"/>
              </a:rPr>
              <a:t>ת"י 118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37947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בטון: דרישות, תפקוד וייצור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4224528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דרגות חוזק וחשיפה, מרכיבים, בקרת ייצור והתאמה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53128" y="3108960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3468" y="32689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FaBuilding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6114" y="3411626"/>
            <a:ext cx="309067" cy="30906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636008" y="32918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ת"י 466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8" y="37947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חוקת הבטון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8" y="4224528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תכן מבני; כיסוי ועמידות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" y="3108960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25596" y="3268980"/>
            <a:ext cx="594360" cy="594360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FaHardHa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8242" y="3411626"/>
            <a:ext cx="309067" cy="30906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88136" y="32918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400" b="1">
                <a:solidFill>
                  <a:srgbClr val="0081C8"/>
                </a:solidFill>
                <a:latin typeface="Arial Unicode MS"/>
                <a:ea typeface="Arial Unicode MS"/>
                <a:cs typeface="Arial Unicode MS"/>
              </a:rPr>
              <a:t>ת"י 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" y="37947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6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ביצוע עבודות בטון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" y="4224528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300" b="0">
                <a:solidFill>
                  <a:srgbClr val="333F4A"/>
                </a:solidFill>
                <a:latin typeface="Arial Unicode MS"/>
                <a:ea typeface="Arial Unicode MS"/>
                <a:cs typeface="Arial Unicode MS"/>
              </a:rPr>
              <a:t>יציקה, הידוק, אשפרה ופיקוח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257800"/>
            <a:ext cx="8183879" cy="64008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94192" y="5349240"/>
            <a:ext cx="457200" cy="457200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FaBook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19" y="5458968"/>
            <a:ext cx="237744" cy="23774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51560" y="5257800"/>
            <a:ext cx="7269479" cy="64008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ת"י 118 הוא התקן המרכזי: מגדיר את הדרישות ומפנה לתקני המרכיבים והבדיקות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נספח: התקנים הישראליים הרלוונטיים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051560"/>
          <a:ext cx="10652760" cy="4261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2103120"/>
                <a:gridCol w="2651760"/>
                <a:gridCol w="2286000"/>
                <a:gridCol w="1508760"/>
              </a:tblGrid>
              <a:tr h="420624"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רלוונטי ל-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תחום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מטרה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נושא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 marL="0" indent="0">
                        <a:buNone/>
                      </a:pPr>
                      <a:r>
                        <a:rPr lang="he-IL" sz="12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תקן</a:t>
                      </a:r>
                    </a:p>
                  </a:txBody>
                  <a:tcPr marL="73152" marR="73152" marT="36576" marB="36576" anchor="ctr">
                    <a:solidFill>
                      <a:srgbClr val="0081C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איכות, רכש, מעבדה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ייצור ואספקת צמנט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הרכב, סוגים ודרגות חוזק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צמנט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1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מחצבות, איכות, מעבדה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מחצבות ומפעלי אגרגט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דרישות לאגרגט טבעי וגרוס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אגרגטים לבטון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3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טכנאים, מעבדה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אתר, מפעל ומעבדה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נטילת מדגמים מבטון טרי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דגימה והכנת דגימות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26 ח' 1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טכנאים, איכות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אתר ומפעל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סומך, צפיפות, אוויר ועוד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בדיקות בטון טרי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26 ח' 2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מעבדה, טכנולוגים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חוזק לחיצה של קוביות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חוזק בטון קשוי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26 ח' 4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מעבדה, מהנדסים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מעבדות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ספיגות, חדירת מים ועוד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בדיקות מיוחדות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26 ח' 5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מהנדסים, איכות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מבנים קיימים וכשלים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הערכת הבטון במבנה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קרוטים ובדיקות לא הורסות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26 ח' 6, 7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טכנולוגים, מנהלי מפעלים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כל בטון: באתר, טרום, מובא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דרגות חוזק וחשיפה, התאמה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בטון: דרישות, תפקוד וייצור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118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מהנדסים, מנהלי אזורים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מבני בטון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תכן מבני ועמידות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חוקת הבטון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466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מנהלי אזורים, פיקוח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אתרי בנייה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יציקה, הידוק ואשפרה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0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ביצוע עבודות בטון</a:t>
                      </a:r>
                    </a:p>
                  </a:txBody>
                  <a:tcPr marL="73152" marR="73152" marT="36576" marB="36576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 marL="0" indent="0">
                        <a:buNone/>
                      </a:pPr>
                      <a:r>
                        <a:rPr lang="he-IL" sz="1200" b="1">
                          <a:solidFill>
                            <a:srgbClr val="333F4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ת"י 467</a:t>
                      </a:r>
                    </a:p>
                  </a:txBody>
                  <a:tcPr marL="73152" marR="73152" marT="36576" marB="36576" anchor="ctr">
                    <a:solidFill>
                      <a:srgbClr val="EA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4864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1100" b="0">
                <a:solidFill>
                  <a:srgbClr val="5F6B76"/>
                </a:solidFill>
                <a:latin typeface="Arial Unicode MS"/>
                <a:ea typeface="Arial Unicode MS"/>
                <a:cs typeface="Arial Unicode MS"/>
              </a:rPr>
              <a:t>יש לוודא תמיד את המהדורה וגיליונות התיקון העדכניים באתר מכון התקנים הישראלי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>
                <a:latin typeface="Arial Unicode MS"/>
                <a:ea typeface="Arial Unicode MS"/>
                <a:cs typeface="Arial Unicode MS"/>
              </a:rPr>
              <a:t>סיכום: 5 מסרים מרכזיים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097280"/>
            <a:ext cx="9189720" cy="7315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53344" y="1197864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5" name="Oval 4"/>
          <p:cNvSpPr/>
          <p:nvPr/>
        </p:nvSpPr>
        <p:spPr>
          <a:xfrm>
            <a:off x="2523744" y="1197864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aCub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028" y="1325148"/>
            <a:ext cx="275783" cy="275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0" y="109728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איכות מתחילה בחומרי הגלם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1965960"/>
            <a:ext cx="9189720" cy="731520"/>
          </a:xfrm>
          <a:prstGeom prst="roundRect">
            <a:avLst>
              <a:gd name="adj" fmla="val 8000"/>
            </a:avLst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53344" y="2066543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2523744" y="2066543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aTin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028" y="2193828"/>
            <a:ext cx="275783" cy="2757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91840" y="196596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W/C הוא הפרמטר הקריטי ביותר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2834639"/>
            <a:ext cx="9189720" cy="7315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53344" y="2935223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523744" y="2935223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aClipboard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028" y="3062508"/>
            <a:ext cx="275783" cy="27578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91840" y="2834639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בקרת איכות מונעת כשלים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0" y="3703320"/>
            <a:ext cx="9189720" cy="7315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53344" y="3803904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2523744" y="3803904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DollarSig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028" y="3931188"/>
            <a:ext cx="275783" cy="27578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291840" y="370332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זיהוי מוקדם חוסך כסף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4572000"/>
            <a:ext cx="9189720" cy="73152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753344" y="4672584"/>
            <a:ext cx="530352" cy="530352"/>
          </a:xfrm>
          <a:prstGeom prst="ellipse">
            <a:avLst/>
          </a:prstGeom>
          <a:solidFill>
            <a:srgbClr val="C4D82E"/>
          </a:solidFill>
          <a:ln>
            <a:noFill/>
          </a:ln>
        </p:spPr>
        <p:txBody>
          <a:bodyPr rtlCol="0" anchor="ctr" wrap="square" lIns="0" rIns="0" tIns="18288" bIns="18288"/>
          <a:lstStyle/>
          <a:p>
            <a:pPr algn="ctr" rtl="1" marL="0" indent="0">
              <a:buNone/>
            </a:pPr>
            <a:r>
              <a:rPr lang="he-IL" sz="20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2523744" y="4672584"/>
            <a:ext cx="530352" cy="530352"/>
          </a:xfrm>
          <a:prstGeom prst="ellipse">
            <a:avLst/>
          </a:prstGeom>
          <a:solidFill>
            <a:srgbClr val="008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FaUser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1028" y="4799868"/>
            <a:ext cx="275783" cy="27578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91840" y="457200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 rtlCol="1">
            <a:spAutoFit/>
          </a:bodyPr>
          <a:lstStyle/>
          <a:p>
            <a:pPr algn="r" rtl="1" marL="0" indent="0">
              <a:spcAft>
                <a:spcPts val="400"/>
              </a:spcAft>
              <a:buNone/>
            </a:pPr>
            <a:r>
              <a:rPr lang="he-IL" sz="2200" b="1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איכות היא אחריות של כולם</a:t>
            </a:r>
          </a:p>
        </p:txBody>
      </p:sp>
      <p:sp>
        <p:nvSpPr>
          <p:cNvPr id="28" name="Oval 27"/>
          <p:cNvSpPr/>
          <p:nvPr/>
        </p:nvSpPr>
        <p:spPr>
          <a:xfrm>
            <a:off x="822959" y="2331720"/>
            <a:ext cx="1005840" cy="1005840"/>
          </a:xfrm>
          <a:prstGeom prst="ellipse">
            <a:avLst/>
          </a:prstGeom>
          <a:solidFill>
            <a:srgbClr val="0039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FaGraduationCap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361" y="2573121"/>
            <a:ext cx="523036" cy="52303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4" name="מחבר ישר 3"/>
          <p:cNvCxnSpPr/>
          <p:nvPr/>
        </p:nvCxnSpPr>
        <p:spPr>
          <a:xfrm flipV="1">
            <a:off x="3033632" y="3390312"/>
            <a:ext cx="6241601" cy="187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55848" y="3403012"/>
            <a:ext cx="5486400" cy="477054"/>
          </a:xfrm>
          <a:prstGeom prst="rect">
            <a:avLst/>
          </a:prstGeom>
          <a:noFill/>
        </p:spPr>
        <p:txBody>
          <a:bodyPr wrap="square" rtlCol="1"/>
          <a:lstStyle/>
          <a:p>
            <a:pPr algn="ctr" rtl="1"/>
            <a:r>
              <a:rPr lang="he-IL" sz="3200" dirty="0">
                <a:solidFill>
                  <a:srgbClr val="0081C8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תודה</a:t>
            </a:r>
          </a:p>
        </p:txBody>
      </p:sp>
      <p:sp>
        <p:nvSpPr>
          <p:cNvPr id="8" name="מלבן 7"/>
          <p:cNvSpPr/>
          <p:nvPr/>
        </p:nvSpPr>
        <p:spPr>
          <a:xfrm>
            <a:off x="386499" y="5693789"/>
            <a:ext cx="11528981" cy="100866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F4258CAE-1473-4617-9119-9A1C283CBE93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8764" y="1865953"/>
            <a:ext cx="3530397" cy="1518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3977639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 rtlCol="1">
            <a:spAutoFit/>
          </a:bodyPr>
          <a:lstStyle/>
          <a:p>
            <a:pPr algn="ctr" rtl="1" marL="0" indent="0">
              <a:spcAft>
                <a:spcPts val="400"/>
              </a:spcAft>
              <a:buNone/>
            </a:pPr>
            <a:r>
              <a:rPr lang="he-IL" sz="2600" b="0">
                <a:solidFill>
                  <a:srgbClr val="003973"/>
                </a:solidFill>
                <a:latin typeface="Arial Unicode MS"/>
                <a:ea typeface="Arial Unicode MS"/>
                <a:cs typeface="Arial Unicode MS"/>
              </a:rPr>
              <a:t>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תבנית בסיס למצגות שיכון ובינוי">
      <a:dk1>
        <a:srgbClr val="C4D82E"/>
      </a:dk1>
      <a:lt1>
        <a:srgbClr val="0081C8"/>
      </a:lt1>
      <a:dk2>
        <a:srgbClr val="A3B1BA"/>
      </a:dk2>
      <a:lt2>
        <a:srgbClr val="003973"/>
      </a:lt2>
      <a:accent1>
        <a:srgbClr val="0081C8"/>
      </a:accent1>
      <a:accent2>
        <a:srgbClr val="C4D82E"/>
      </a:accent2>
      <a:accent3>
        <a:srgbClr val="A3B1BA"/>
      </a:accent3>
      <a:accent4>
        <a:srgbClr val="003973"/>
      </a:accent4>
      <a:accent5>
        <a:srgbClr val="262626"/>
      </a:accent5>
      <a:accent6>
        <a:srgbClr val="595959"/>
      </a:accent6>
      <a:hlink>
        <a:srgbClr val="0081C8"/>
      </a:hlink>
      <a:folHlink>
        <a:srgbClr val="C4D82E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סולל בונה טמפלט עברית PP2.potx" id="{F6564717-E104-4DD3-9895-39AFC14DC32D}" vid="{B3DC2C64-1825-423B-95BF-E24B4AD58689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05d7__x05d1__x05e8__x05d4_ xmlns="db334208-c8bb-4fb7-900b-a6c4dfa7dd03">סולל בונה</_x05d7__x05d1__x05e8__x05d4_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מסמך" ma:contentTypeID="0x010100C3173429295ACD4B82CF2C65E538B364" ma:contentTypeVersion="4" ma:contentTypeDescription="צור מסמך חדש." ma:contentTypeScope="" ma:versionID="39a720152dbfe75294de4e741d89bf2d">
  <xsd:schema xmlns:xsd="http://www.w3.org/2001/XMLSchema" xmlns:xs="http://www.w3.org/2001/XMLSchema" xmlns:p="http://schemas.microsoft.com/office/2006/metadata/properties" xmlns:ns2="db334208-c8bb-4fb7-900b-a6c4dfa7dd03" targetNamespace="http://schemas.microsoft.com/office/2006/metadata/properties" ma:root="true" ma:fieldsID="113123c2e926be4c819dd13e16a40f0b" ns2:_="">
    <xsd:import namespace="db334208-c8bb-4fb7-900b-a6c4dfa7dd03"/>
    <xsd:element name="properties">
      <xsd:complexType>
        <xsd:sequence>
          <xsd:element name="documentManagement">
            <xsd:complexType>
              <xsd:all>
                <xsd:element ref="ns2:_x05d7__x05d1__x05e8__x05d4_" minOccurs="0"/>
                <xsd:element ref="ns2:MediaServiceMetadata" minOccurs="0"/>
                <xsd:element ref="ns2:MediaServiceFastMetadata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334208-c8bb-4fb7-900b-a6c4dfa7dd03" elementFormDefault="qualified">
    <xsd:import namespace="http://schemas.microsoft.com/office/2006/documentManagement/types"/>
    <xsd:import namespace="http://schemas.microsoft.com/office/infopath/2007/PartnerControls"/>
    <xsd:element name="_x05d7__x05d1__x05e8__x05d4_" ma:index="8" nillable="true" ma:displayName="חברה" ma:default="אירופה" ma:format="Dropdown" ma:internalName="_x05d7__x05d1__x05e8__x05d4_">
      <xsd:simpleType>
        <xsd:restriction base="dms:Choice">
          <xsd:enumeration value="אירופה"/>
          <xsd:enumeration value="אמריקה"/>
          <xsd:enumeration value="אנרגיה"/>
          <xsd:enumeration value="אס בי איי תשתיות"/>
          <xsd:enumeration value="זכיינות"/>
          <xsd:enumeration value="מנורה"/>
          <xsd:enumeration value="נדל&quot;ן"/>
          <xsd:enumeration value="נתיבי הצפון"/>
          <xsd:enumeration value="צמנטכל - סולל בונה"/>
          <xsd:enumeration value="סולל בונה"/>
          <xsd:enumeration value="שיכון ובינוי"/>
          <xsd:enumeration value="שיכון ובינוי - רקע כללי למצגת"/>
        </xsd:restriction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סוג תוכן"/>
        <xsd:element ref="dc:title" minOccurs="0" maxOccurs="1" ma:index="4" ma:displayName="כותרת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6C29644-336C-48F1-B72F-2F0D5FA1734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8C00E8-DACC-4946-8582-820C16449845}">
  <ds:schemaRefs>
    <ds:schemaRef ds:uri="http://schemas.microsoft.com/office/2006/metadata/properties"/>
    <ds:schemaRef ds:uri="http://www.w3.org/2000/xmlns/"/>
    <ds:schemaRef ds:uri="db334208-c8bb-4fb7-900b-a6c4dfa7dd03"/>
  </ds:schemaRefs>
</ds:datastoreItem>
</file>

<file path=customXml/itemProps3.xml><?xml version="1.0" encoding="utf-8"?>
<ds:datastoreItem xmlns:ds="http://schemas.openxmlformats.org/officeDocument/2006/customXml" ds:itemID="{64F8816C-467B-4A6D-8258-1B0E0C873AB4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db334208-c8bb-4fb7-900b-a6c4dfa7dd0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סולל בונה טמפלט עברית PP2</Template>
  <TotalTime>0</TotalTime>
  <Words>41</Words>
  <Application>Microsoft Office PowerPoint</Application>
  <PresentationFormat>מסך רחב</PresentationFormat>
  <Paragraphs>14</Paragraphs>
  <Slides>8</Slides>
  <Notes>0</Notes>
  <HiddenSlides>0</HiddenSlides>
  <MMClips>0</MMClips>
  <ScaleCrop>false</ScaleCrop>
  <HeadingPairs>
    <vt:vector size="4" baseType="variant"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9" baseType="lpstr">
      <vt:lpstr>ערכת נושא Office</vt:lpstr>
      <vt:lpstr>מצגת של PowerPoint‏</vt:lpstr>
      <vt:lpstr>כותרת ראשית</vt:lpstr>
      <vt:lpstr>להקפיד לעשות שימוש בפונט ARIEL UNICOD MS </vt:lpstr>
      <vt:lpstr>כותרת ראשית</vt:lpstr>
      <vt:lpstr>גרף</vt:lpstr>
      <vt:lpstr>טבלה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Eitan Berkovitch</dc:creator>
  <cp:lastModifiedBy>Eitan Berkovitch</cp:lastModifiedBy>
  <cp:revision>2</cp:revision>
  <dcterms:created xsi:type="dcterms:W3CDTF">2026-10-19T12:18:30Z</dcterms:created>
  <dcterms:modified xsi:type="dcterms:W3CDTF">2026-10-19T12:20:49Z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0x010100C3173429295ACD4B82CF2C65E538B364</vt:lpwstr>
  </property>
</Properties>
</file>