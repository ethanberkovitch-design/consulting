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48" r:id="rId4"/>
  </p:sldMasterIdLst>
  <p:sldIdLst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  <p:sldId id="331" r:id="rId83"/>
    <p:sldId id="332" r:id="rId84"/>
    <p:sldId id="333" r:id="rId85"/>
    <p:sldId id="334" r:id="rId86"/>
    <p:sldId id="335" r:id="rId87"/>
    <p:sldId id="336" r:id="rId88"/>
    <p:sldId id="337" r:id="rId89"/>
    <p:sldId id="338" r:id="rId90"/>
    <p:sldId id="339" r:id="rId91"/>
    <p:sldId id="340" r:id="rId92"/>
    <p:sldId id="341" r:id="rId93"/>
    <p:sldId id="342" r:id="rId94"/>
    <p:sldId id="343" r:id="rId95"/>
    <p:sldId id="344" r:id="rId96"/>
  </p:sldIdLst>
  <p:sldSz cx="12192000" cy="6858000"/>
  <p:notesSz cx="6858000" cy="9144000"/>
  <p:defaultTextStyle>
    <a:defPPr>
      <a:defRPr lang="he-IL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81C8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סגנון ביניים 2 - הדגשה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0982" autoAdjust="0"/>
    <p:restoredTop sz="94660"/>
  </p:normalViewPr>
  <p:slideViewPr>
    <p:cSldViewPr snapToGrid="0">
      <p:cViewPr varScale="1">
        <p:scale>
          <a:sx n="117" d="100"/>
          <a:sy n="117" d="100"/>
        </p:scale>
        <p:origin x="120" y="61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slide" Target="slides/slide9.xml"/><Relationship Id="rId18" Type="http://schemas.openxmlformats.org/officeDocument/2006/relationships/slide" Target="slides/slide10.xml"/><Relationship Id="rId19" Type="http://schemas.openxmlformats.org/officeDocument/2006/relationships/slide" Target="slides/slide11.xml"/><Relationship Id="rId20" Type="http://schemas.openxmlformats.org/officeDocument/2006/relationships/slide" Target="slides/slide12.xml"/><Relationship Id="rId21" Type="http://schemas.openxmlformats.org/officeDocument/2006/relationships/slide" Target="slides/slide13.xml"/><Relationship Id="rId22" Type="http://schemas.openxmlformats.org/officeDocument/2006/relationships/slide" Target="slides/slide14.xml"/><Relationship Id="rId23" Type="http://schemas.openxmlformats.org/officeDocument/2006/relationships/slide" Target="slides/slide15.xml"/><Relationship Id="rId24" Type="http://schemas.openxmlformats.org/officeDocument/2006/relationships/slide" Target="slides/slide16.xml"/><Relationship Id="rId25" Type="http://schemas.openxmlformats.org/officeDocument/2006/relationships/slide" Target="slides/slide17.xml"/><Relationship Id="rId26" Type="http://schemas.openxmlformats.org/officeDocument/2006/relationships/slide" Target="slides/slide18.xml"/><Relationship Id="rId27" Type="http://schemas.openxmlformats.org/officeDocument/2006/relationships/slide" Target="slides/slide19.xml"/><Relationship Id="rId28" Type="http://schemas.openxmlformats.org/officeDocument/2006/relationships/slide" Target="slides/slide20.xml"/><Relationship Id="rId29" Type="http://schemas.openxmlformats.org/officeDocument/2006/relationships/slide" Target="slides/slide21.xml"/><Relationship Id="rId30" Type="http://schemas.openxmlformats.org/officeDocument/2006/relationships/slide" Target="slides/slide22.xml"/><Relationship Id="rId31" Type="http://schemas.openxmlformats.org/officeDocument/2006/relationships/slide" Target="slides/slide23.xml"/><Relationship Id="rId32" Type="http://schemas.openxmlformats.org/officeDocument/2006/relationships/slide" Target="slides/slide24.xml"/><Relationship Id="rId33" Type="http://schemas.openxmlformats.org/officeDocument/2006/relationships/slide" Target="slides/slide25.xml"/><Relationship Id="rId34" Type="http://schemas.openxmlformats.org/officeDocument/2006/relationships/slide" Target="slides/slide26.xml"/><Relationship Id="rId35" Type="http://schemas.openxmlformats.org/officeDocument/2006/relationships/slide" Target="slides/slide27.xml"/><Relationship Id="rId36" Type="http://schemas.openxmlformats.org/officeDocument/2006/relationships/slide" Target="slides/slide28.xml"/><Relationship Id="rId37" Type="http://schemas.openxmlformats.org/officeDocument/2006/relationships/slide" Target="slides/slide29.xml"/><Relationship Id="rId38" Type="http://schemas.openxmlformats.org/officeDocument/2006/relationships/slide" Target="slides/slide30.xml"/><Relationship Id="rId39" Type="http://schemas.openxmlformats.org/officeDocument/2006/relationships/slide" Target="slides/slide31.xml"/><Relationship Id="rId40" Type="http://schemas.openxmlformats.org/officeDocument/2006/relationships/slide" Target="slides/slide32.xml"/><Relationship Id="rId41" Type="http://schemas.openxmlformats.org/officeDocument/2006/relationships/slide" Target="slides/slide33.xml"/><Relationship Id="rId42" Type="http://schemas.openxmlformats.org/officeDocument/2006/relationships/slide" Target="slides/slide34.xml"/><Relationship Id="rId43" Type="http://schemas.openxmlformats.org/officeDocument/2006/relationships/slide" Target="slides/slide35.xml"/><Relationship Id="rId44" Type="http://schemas.openxmlformats.org/officeDocument/2006/relationships/slide" Target="slides/slide36.xml"/><Relationship Id="rId45" Type="http://schemas.openxmlformats.org/officeDocument/2006/relationships/slide" Target="slides/slide37.xml"/><Relationship Id="rId46" Type="http://schemas.openxmlformats.org/officeDocument/2006/relationships/slide" Target="slides/slide38.xml"/><Relationship Id="rId47" Type="http://schemas.openxmlformats.org/officeDocument/2006/relationships/slide" Target="slides/slide39.xml"/><Relationship Id="rId48" Type="http://schemas.openxmlformats.org/officeDocument/2006/relationships/slide" Target="slides/slide40.xml"/><Relationship Id="rId49" Type="http://schemas.openxmlformats.org/officeDocument/2006/relationships/slide" Target="slides/slide41.xml"/><Relationship Id="rId50" Type="http://schemas.openxmlformats.org/officeDocument/2006/relationships/slide" Target="slides/slide42.xml"/><Relationship Id="rId51" Type="http://schemas.openxmlformats.org/officeDocument/2006/relationships/slide" Target="slides/slide43.xml"/><Relationship Id="rId52" Type="http://schemas.openxmlformats.org/officeDocument/2006/relationships/slide" Target="slides/slide44.xml"/><Relationship Id="rId53" Type="http://schemas.openxmlformats.org/officeDocument/2006/relationships/slide" Target="slides/slide45.xml"/><Relationship Id="rId54" Type="http://schemas.openxmlformats.org/officeDocument/2006/relationships/slide" Target="slides/slide46.xml"/><Relationship Id="rId55" Type="http://schemas.openxmlformats.org/officeDocument/2006/relationships/slide" Target="slides/slide47.xml"/><Relationship Id="rId56" Type="http://schemas.openxmlformats.org/officeDocument/2006/relationships/slide" Target="slides/slide48.xml"/><Relationship Id="rId57" Type="http://schemas.openxmlformats.org/officeDocument/2006/relationships/slide" Target="slides/slide49.xml"/><Relationship Id="rId58" Type="http://schemas.openxmlformats.org/officeDocument/2006/relationships/slide" Target="slides/slide50.xml"/><Relationship Id="rId59" Type="http://schemas.openxmlformats.org/officeDocument/2006/relationships/slide" Target="slides/slide51.xml"/><Relationship Id="rId60" Type="http://schemas.openxmlformats.org/officeDocument/2006/relationships/slide" Target="slides/slide52.xml"/><Relationship Id="rId61" Type="http://schemas.openxmlformats.org/officeDocument/2006/relationships/slide" Target="slides/slide53.xml"/><Relationship Id="rId62" Type="http://schemas.openxmlformats.org/officeDocument/2006/relationships/slide" Target="slides/slide54.xml"/><Relationship Id="rId63" Type="http://schemas.openxmlformats.org/officeDocument/2006/relationships/slide" Target="slides/slide55.xml"/><Relationship Id="rId64" Type="http://schemas.openxmlformats.org/officeDocument/2006/relationships/slide" Target="slides/slide56.xml"/><Relationship Id="rId65" Type="http://schemas.openxmlformats.org/officeDocument/2006/relationships/slide" Target="slides/slide57.xml"/><Relationship Id="rId66" Type="http://schemas.openxmlformats.org/officeDocument/2006/relationships/slide" Target="slides/slide58.xml"/><Relationship Id="rId67" Type="http://schemas.openxmlformats.org/officeDocument/2006/relationships/slide" Target="slides/slide59.xml"/><Relationship Id="rId68" Type="http://schemas.openxmlformats.org/officeDocument/2006/relationships/slide" Target="slides/slide60.xml"/><Relationship Id="rId69" Type="http://schemas.openxmlformats.org/officeDocument/2006/relationships/slide" Target="slides/slide61.xml"/><Relationship Id="rId70" Type="http://schemas.openxmlformats.org/officeDocument/2006/relationships/slide" Target="slides/slide62.xml"/><Relationship Id="rId71" Type="http://schemas.openxmlformats.org/officeDocument/2006/relationships/slide" Target="slides/slide63.xml"/><Relationship Id="rId72" Type="http://schemas.openxmlformats.org/officeDocument/2006/relationships/slide" Target="slides/slide64.xml"/><Relationship Id="rId73" Type="http://schemas.openxmlformats.org/officeDocument/2006/relationships/slide" Target="slides/slide65.xml"/><Relationship Id="rId74" Type="http://schemas.openxmlformats.org/officeDocument/2006/relationships/slide" Target="slides/slide66.xml"/><Relationship Id="rId75" Type="http://schemas.openxmlformats.org/officeDocument/2006/relationships/slide" Target="slides/slide67.xml"/><Relationship Id="rId76" Type="http://schemas.openxmlformats.org/officeDocument/2006/relationships/slide" Target="slides/slide68.xml"/><Relationship Id="rId77" Type="http://schemas.openxmlformats.org/officeDocument/2006/relationships/slide" Target="slides/slide69.xml"/><Relationship Id="rId78" Type="http://schemas.openxmlformats.org/officeDocument/2006/relationships/slide" Target="slides/slide70.xml"/><Relationship Id="rId79" Type="http://schemas.openxmlformats.org/officeDocument/2006/relationships/slide" Target="slides/slide71.xml"/><Relationship Id="rId80" Type="http://schemas.openxmlformats.org/officeDocument/2006/relationships/slide" Target="slides/slide72.xml"/><Relationship Id="rId81" Type="http://schemas.openxmlformats.org/officeDocument/2006/relationships/slide" Target="slides/slide73.xml"/><Relationship Id="rId82" Type="http://schemas.openxmlformats.org/officeDocument/2006/relationships/slide" Target="slides/slide74.xml"/><Relationship Id="rId83" Type="http://schemas.openxmlformats.org/officeDocument/2006/relationships/slide" Target="slides/slide75.xml"/><Relationship Id="rId84" Type="http://schemas.openxmlformats.org/officeDocument/2006/relationships/slide" Target="slides/slide76.xml"/><Relationship Id="rId85" Type="http://schemas.openxmlformats.org/officeDocument/2006/relationships/slide" Target="slides/slide77.xml"/><Relationship Id="rId86" Type="http://schemas.openxmlformats.org/officeDocument/2006/relationships/slide" Target="slides/slide78.xml"/><Relationship Id="rId87" Type="http://schemas.openxmlformats.org/officeDocument/2006/relationships/slide" Target="slides/slide79.xml"/><Relationship Id="rId88" Type="http://schemas.openxmlformats.org/officeDocument/2006/relationships/slide" Target="slides/slide80.xml"/><Relationship Id="rId89" Type="http://schemas.openxmlformats.org/officeDocument/2006/relationships/slide" Target="slides/slide81.xml"/><Relationship Id="rId90" Type="http://schemas.openxmlformats.org/officeDocument/2006/relationships/slide" Target="slides/slide82.xml"/><Relationship Id="rId91" Type="http://schemas.openxmlformats.org/officeDocument/2006/relationships/slide" Target="slides/slide83.xml"/><Relationship Id="rId92" Type="http://schemas.openxmlformats.org/officeDocument/2006/relationships/slide" Target="slides/slide84.xml"/><Relationship Id="rId93" Type="http://schemas.openxmlformats.org/officeDocument/2006/relationships/slide" Target="slides/slide85.xml"/><Relationship Id="rId94" Type="http://schemas.openxmlformats.org/officeDocument/2006/relationships/slide" Target="slides/slide86.xml"/><Relationship Id="rId95" Type="http://schemas.openxmlformats.org/officeDocument/2006/relationships/slide" Target="slides/slide87.xml"/><Relationship Id="rId96" Type="http://schemas.openxmlformats.org/officeDocument/2006/relationships/slide" Target="slides/slide88.xml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נפח</c:v>
                </c:pt>
              </c:strCache>
            </c:strRef>
          </c:tx>
          <c:dPt>
            <c:idx val="0"/>
            <c:spPr>
              <a:solidFill>
                <a:srgbClr val="003973"/>
              </a:solidFill>
              <a:ln>
                <a:solidFill>
                  <a:srgbClr val="FFFFFF"/>
                </a:solidFill>
              </a:ln>
            </c:spPr>
          </c:dPt>
          <c:dPt>
            <c:idx val="1"/>
            <c:spPr>
              <a:solidFill>
                <a:srgbClr val="0081C8"/>
              </a:solidFill>
              <a:ln>
                <a:solidFill>
                  <a:srgbClr val="FFFFFF"/>
                </a:solidFill>
              </a:ln>
            </c:spPr>
          </c:dPt>
          <c:dPt>
            <c:idx val="2"/>
            <c:spPr>
              <a:solidFill>
                <a:srgbClr val="7FC3EA"/>
              </a:solidFill>
              <a:ln>
                <a:solidFill>
                  <a:srgbClr val="FFFFFF"/>
                </a:solidFill>
              </a:ln>
            </c:spPr>
          </c:dPt>
          <c:dPt>
            <c:idx val="3"/>
            <c:spPr>
              <a:solidFill>
                <a:srgbClr val="A3B1BA"/>
              </a:solidFill>
              <a:ln>
                <a:solidFill>
                  <a:srgbClr val="FFFFFF"/>
                </a:solidFill>
              </a:ln>
            </c:spPr>
          </c:dPt>
          <c:dPt>
            <c:idx val="4"/>
            <c:spPr>
              <a:solidFill>
                <a:srgbClr val="C4D82E"/>
              </a:solidFill>
              <a:ln>
                <a:solidFill>
                  <a:srgbClr val="FFFFFF"/>
                </a:solidFill>
              </a:ln>
            </c:spPr>
          </c:dPt>
          <c:cat>
            <c:strRef>
              <c:f>Sheet1!$A$2:$A$6</c:f>
              <c:strCache>
                <c:ptCount val="5"/>
                <c:pt idx="0">
                  <c:v>אגרגט גס</c:v>
                </c:pt>
                <c:pt idx="1">
                  <c:v>אגרגט דק</c:v>
                </c:pt>
                <c:pt idx="2">
                  <c:v>מים</c:v>
                </c:pt>
                <c:pt idx="3">
                  <c:v>צמנט</c:v>
                </c:pt>
                <c:pt idx="4">
                  <c:v>אוויר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42</c:v>
                </c:pt>
                <c:pt idx="1">
                  <c:v>28</c:v>
                </c:pt>
                <c:pt idx="2">
                  <c:v>17</c:v>
                </c:pt>
                <c:pt idx="3">
                  <c:v>11</c:v>
                </c:pt>
                <c:pt idx="4">
                  <c:v>2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300" b="1">
                  <a:solidFill>
                    <a:srgbClr val="FFFFFF"/>
                  </a:solidFill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5"/>
      </c:doughnutChart>
    </c:plotArea>
    <c:plotVisOnly val="1"/>
    <c:dispBlanksAs val="gap"/>
    <c:showDLblsOverMax val="0"/>
  </c:chart>
  <c:txPr>
    <a:bodyPr/>
    <a:lstStyle/>
    <a:p>
      <a:pPr>
        <a:defRPr sz="1300">
          <a:solidFill>
            <a:srgbClr val="333F4A"/>
          </a:solidFill>
          <a:latin typeface="Arial Unicode MS"/>
        </a:defRPr>
      </a:pPr>
      <a:endParaRPr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CEM I 52.5R</c:v>
                </c:pt>
              </c:strCache>
            </c:strRef>
          </c:tx>
          <c:spPr>
            <a:ln w="34925">
              <a:solidFill>
                <a:srgbClr val="003973"/>
              </a:solidFill>
            </a:ln>
          </c:spPr>
          <c:marker>
            <c:symbol val="circle"/>
            <c:size val="7"/>
            <c:spPr>
              <a:solidFill>
                <a:srgbClr val="003973"/>
              </a:solidFill>
              <a:ln>
                <a:solidFill>
                  <a:srgbClr val="FFFFFF"/>
                </a:solidFill>
              </a:ln>
            </c:spPr>
          </c:marker>
          <c:cat>
            <c:strRef>
              <c:f>Sheet1!$A$2:$A$6</c:f>
              <c:strCache>
                <c:ptCount val="5"/>
                <c:pt idx="0">
                  <c:v>1</c:v>
                </c:pt>
                <c:pt idx="1">
                  <c:v>3</c:v>
                </c:pt>
                <c:pt idx="2">
                  <c:v>7</c:v>
                </c:pt>
                <c:pt idx="3">
                  <c:v>28</c:v>
                </c:pt>
                <c:pt idx="4">
                  <c:v>90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40</c:v>
                </c:pt>
                <c:pt idx="1">
                  <c:v>65</c:v>
                </c:pt>
                <c:pt idx="2">
                  <c:v>80</c:v>
                </c:pt>
                <c:pt idx="3">
                  <c:v>100</c:v>
                </c:pt>
                <c:pt idx="4">
                  <c:v>105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CEM I 42.5</c:v>
                </c:pt>
              </c:strCache>
            </c:strRef>
          </c:tx>
          <c:spPr>
            <a:ln w="34925">
              <a:solidFill>
                <a:srgbClr val="0081C8"/>
              </a:solidFill>
            </a:ln>
          </c:spPr>
          <c:marker>
            <c:symbol val="circle"/>
            <c:size val="7"/>
            <c:spPr>
              <a:solidFill>
                <a:srgbClr val="0081C8"/>
              </a:solidFill>
              <a:ln>
                <a:solidFill>
                  <a:srgbClr val="FFFFFF"/>
                </a:solidFill>
              </a:ln>
            </c:spPr>
          </c:marker>
          <c:cat>
            <c:strRef>
              <c:f>Sheet1!$A$2:$A$6</c:f>
              <c:strCache>
                <c:ptCount val="5"/>
                <c:pt idx="0">
                  <c:v>1</c:v>
                </c:pt>
                <c:pt idx="1">
                  <c:v>3</c:v>
                </c:pt>
                <c:pt idx="2">
                  <c:v>7</c:v>
                </c:pt>
                <c:pt idx="3">
                  <c:v>28</c:v>
                </c:pt>
                <c:pt idx="4">
                  <c:v>90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25</c:v>
                </c:pt>
                <c:pt idx="1">
                  <c:v>52</c:v>
                </c:pt>
                <c:pt idx="2">
                  <c:v>70</c:v>
                </c:pt>
                <c:pt idx="3">
                  <c:v>100</c:v>
                </c:pt>
                <c:pt idx="4">
                  <c:v>110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CEM II/A</c:v>
                </c:pt>
              </c:strCache>
            </c:strRef>
          </c:tx>
          <c:spPr>
            <a:ln w="34925">
              <a:solidFill>
                <a:srgbClr val="A3B1BA"/>
              </a:solidFill>
            </a:ln>
          </c:spPr>
          <c:marker>
            <c:symbol val="circle"/>
            <c:size val="7"/>
            <c:spPr>
              <a:solidFill>
                <a:srgbClr val="A3B1BA"/>
              </a:solidFill>
              <a:ln>
                <a:solidFill>
                  <a:srgbClr val="FFFFFF"/>
                </a:solidFill>
              </a:ln>
            </c:spPr>
          </c:marker>
          <c:cat>
            <c:strRef>
              <c:f>Sheet1!$A$2:$A$6</c:f>
              <c:strCache>
                <c:ptCount val="5"/>
                <c:pt idx="0">
                  <c:v>1</c:v>
                </c:pt>
                <c:pt idx="1">
                  <c:v>3</c:v>
                </c:pt>
                <c:pt idx="2">
                  <c:v>7</c:v>
                </c:pt>
                <c:pt idx="3">
                  <c:v>28</c:v>
                </c:pt>
                <c:pt idx="4">
                  <c:v>90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18</c:v>
                </c:pt>
                <c:pt idx="1">
                  <c:v>42</c:v>
                </c:pt>
                <c:pt idx="2">
                  <c:v>62</c:v>
                </c:pt>
                <c:pt idx="3">
                  <c:v>100</c:v>
                </c:pt>
                <c:pt idx="4">
                  <c:v>115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CEM III/A</c:v>
                </c:pt>
              </c:strCache>
            </c:strRef>
          </c:tx>
          <c:spPr>
            <a:ln w="34925">
              <a:solidFill>
                <a:srgbClr val="7E8F12"/>
              </a:solidFill>
            </a:ln>
          </c:spPr>
          <c:marker>
            <c:symbol val="circle"/>
            <c:size val="7"/>
            <c:spPr>
              <a:solidFill>
                <a:srgbClr val="7E8F12"/>
              </a:solidFill>
              <a:ln>
                <a:solidFill>
                  <a:srgbClr val="FFFFFF"/>
                </a:solidFill>
              </a:ln>
            </c:spPr>
          </c:marker>
          <c:cat>
            <c:strRef>
              <c:f>Sheet1!$A$2:$A$6</c:f>
              <c:strCache>
                <c:ptCount val="5"/>
                <c:pt idx="0">
                  <c:v>1</c:v>
                </c:pt>
                <c:pt idx="1">
                  <c:v>3</c:v>
                </c:pt>
                <c:pt idx="2">
                  <c:v>7</c:v>
                </c:pt>
                <c:pt idx="3">
                  <c:v>28</c:v>
                </c:pt>
                <c:pt idx="4">
                  <c:v>90</c:v>
                </c:pt>
              </c:strCache>
            </c:strRef>
          </c:cat>
          <c:val>
            <c:numRef>
              <c:f>Sheet1!$E$2:$E$6</c:f>
              <c:numCache>
                <c:formatCode>General</c:formatCode>
                <c:ptCount val="5"/>
                <c:pt idx="0">
                  <c:v>10</c:v>
                </c:pt>
                <c:pt idx="1">
                  <c:v>30</c:v>
                </c:pt>
                <c:pt idx="2">
                  <c:v>50</c:v>
                </c:pt>
                <c:pt idx="3">
                  <c:v>100</c:v>
                </c:pt>
                <c:pt idx="4">
                  <c:v>122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 lang="he-IL" sz="1200" b="0">
                    <a:solidFill>
                      <a:srgbClr val="5F6B76"/>
                    </a:solidFill>
                    <a:latin typeface="Arial Unicode MS"/>
                    <a:ea typeface="Arial Unicode MS"/>
                    <a:cs typeface="Arial Unicode MS"/>
                  </a:rPr>
                  <a:t>‏גיל (ימים)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spPr>
          <a:ln>
            <a:solidFill>
              <a:srgbClr val="B8C2CA"/>
            </a:solidFill>
          </a:ln>
        </c:spPr>
        <c:txPr>
          <a:bodyPr/>
          <a:lstStyle/>
          <a:p>
            <a:pPr>
              <a:defRPr sz="1200">
                <a:solidFill>
                  <a:srgbClr val="5F6B76"/>
                </a:solidFill>
                <a:latin typeface="Arial Unicode MS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130.0"/>
          <c:min val="0.0"/>
        </c:scaling>
        <c:delete val="0"/>
        <c:axPos val="l"/>
        <c:majorGridlines>
          <c:spPr>
            <a:ln w="9525">
              <a:solidFill>
                <a:srgbClr val="DDE3E8"/>
              </a:solidFill>
            </a:ln>
          </c:spPr>
        </c:majorGridlines>
        <c:title>
          <c:tx>
            <c:rich>
              <a:bodyPr/>
              <a:lstStyle/>
              <a:p>
                <a:r>
                  <a:rPr lang="he-IL" sz="1200" b="0">
                    <a:solidFill>
                      <a:srgbClr val="5F6B76"/>
                    </a:solidFill>
                    <a:latin typeface="Arial Unicode MS"/>
                    <a:ea typeface="Arial Unicode MS"/>
                    <a:cs typeface="Arial Unicode MS"/>
                  </a:rPr>
                  <a:t>‏% מחוזק 28 יום</a:t>
                </a:r>
              </a:p>
            </c:rich>
          </c:tx>
          <c:layout/>
          <c:overlay val="0"/>
        </c:title>
        <c:numFmt formatCode="0&quot;%&quot;" sourceLinked="0"/>
        <c:majorTickMark val="out"/>
        <c:minorTickMark val="none"/>
        <c:tickLblPos val="nextTo"/>
        <c:spPr>
          <a:ln>
            <a:solidFill>
              <a:srgbClr val="B8C2CA"/>
            </a:solidFill>
          </a:ln>
        </c:spPr>
        <c:txPr>
          <a:bodyPr/>
          <a:lstStyle/>
          <a:p>
            <a:pPr>
              <a:defRPr sz="1200">
                <a:solidFill>
                  <a:srgbClr val="5F6B76"/>
                </a:solidFill>
                <a:latin typeface="Arial Unicode MS"/>
              </a:defRPr>
            </a:pPr>
          </a:p>
        </c:txPr>
        <c:crossAx val="2118791784"/>
        <c:crosses val="autoZero"/>
        <c:majorUnit val="20.0"/>
      </c:valAx>
    </c:plotArea>
    <c:legend>
      <c:legendPos val="b"/>
      <c:layout/>
      <c:overlay val="0"/>
      <c:txPr>
        <a:bodyPr/>
        <a:lstStyle/>
        <a:p>
          <a:pPr>
            <a:defRPr sz="1200"/>
          </a:pPr>
        </a:p>
      </c:txPr>
    </c:legend>
    <c:plotVisOnly val="1"/>
    <c:dispBlanksAs val="gap"/>
    <c:showDLblsOverMax val="0"/>
  </c:chart>
  <c:txPr>
    <a:bodyPr/>
    <a:lstStyle/>
    <a:p>
      <a:pPr>
        <a:defRPr sz="1200">
          <a:solidFill>
            <a:srgbClr val="333F4A"/>
          </a:solidFill>
          <a:latin typeface="Arial Unicode MS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lang="he-IL" sz="1400" b="1">
                <a:solidFill>
                  <a:srgbClr val="003973"/>
                </a:solidFill>
                <a:latin typeface="Arial Unicode MS"/>
                <a:ea typeface="Arial Unicode MS"/>
                <a:cs typeface="Arial Unicode MS"/>
              </a:rPr>
              <a:t>‏חוזק יחסי בגיל 28 יום (%)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חוזק יחסי</c:v>
                </c:pt>
              </c:strCache>
            </c:strRef>
          </c:tx>
          <c:spPr>
            <a:solidFill>
              <a:srgbClr val="0081C8"/>
            </a:solidFill>
          </c:spPr>
          <c:dPt>
            <c:idx val="0"/>
            <c:spPr>
              <a:solidFill>
                <a:srgbClr val="A3B1BA"/>
              </a:solidFill>
            </c:spPr>
          </c:dPt>
          <c:cat>
            <c:strRef>
              <c:f>Sheet1!$A$2:$A$5</c:f>
              <c:strCache>
                <c:ptCount val="4"/>
                <c:pt idx="0">
                  <c:v>‏ללא אשפרה</c:v>
                </c:pt>
                <c:pt idx="1">
                  <c:v>‏אשפרה קצרה</c:v>
                </c:pt>
                <c:pt idx="2">
                  <c:v>‏שבוע אשפרה</c:v>
                </c:pt>
                <c:pt idx="3">
                  <c:v>‏אשפרה רציפה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60</c:v>
                </c:pt>
                <c:pt idx="1">
                  <c:v>80</c:v>
                </c:pt>
                <c:pt idx="2">
                  <c:v>90</c:v>
                </c:pt>
                <c:pt idx="3">
                  <c:v>100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200" b="1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B8C2CA"/>
            </a:solidFill>
          </a:ln>
        </c:spPr>
        <c:txPr>
          <a:bodyPr/>
          <a:lstStyle/>
          <a:p>
            <a:pPr>
              <a:defRPr sz="1200">
                <a:solidFill>
                  <a:srgbClr val="5F6B76"/>
                </a:solidFill>
                <a:latin typeface="Arial Unicode MS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15.0"/>
          <c:min val="0.0"/>
        </c:scaling>
        <c:delete/>
        <c:axPos val="b"/>
        <c:majorTickMark val="out"/>
        <c:minorTickMark val="none"/>
        <c:tickLblPos val="nextTo"/>
        <c:spPr>
          <a:ln>
            <a:solidFill>
              <a:srgbClr val="B8C2CA"/>
            </a:solidFill>
          </a:ln>
        </c:spPr>
        <c:txPr>
          <a:bodyPr/>
          <a:lstStyle/>
          <a:p>
            <a:pPr>
              <a:defRPr sz="1200">
                <a:solidFill>
                  <a:srgbClr val="5F6B76"/>
                </a:solidFill>
                <a:latin typeface="Arial Unicode MS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200">
          <a:solidFill>
            <a:srgbClr val="333F4A"/>
          </a:solidFill>
          <a:latin typeface="Arial Unicode MS"/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plotArea>
      <c:scatterChart>
        <c:scatterStyle val="smooth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‏חוזק גליל 28 יום</c:v>
                </c:pt>
              </c:strCache>
            </c:strRef>
          </c:tx>
          <c:spPr>
            <a:ln w="44450">
              <a:solidFill>
                <a:srgbClr val="0081C8"/>
              </a:solidFill>
            </a:ln>
          </c:spPr>
          <c:marker>
            <c:symbol val="circle"/>
            <c:size val="7"/>
            <c:spPr>
              <a:solidFill>
                <a:srgbClr val="0081C8"/>
              </a:solidFill>
              <a:ln>
                <a:solidFill>
                  <a:srgbClr val="FFFFFF"/>
                </a:solidFill>
              </a:ln>
            </c:spPr>
          </c:marker>
          <c:xVal>
            <c:numRef>
              <c:f>Sheet1!$A$2:$A$8</c:f>
              <c:numCache>
                <c:formatCode>General</c:formatCode>
                <c:ptCount val="7"/>
                <c:pt idx="0">
                  <c:v>0.38</c:v>
                </c:pt>
                <c:pt idx="1">
                  <c:v>0.42</c:v>
                </c:pt>
                <c:pt idx="2">
                  <c:v>0.47</c:v>
                </c:pt>
                <c:pt idx="3">
                  <c:v>0.54</c:v>
                </c:pt>
                <c:pt idx="4">
                  <c:v>0.61</c:v>
                </c:pt>
                <c:pt idx="5">
                  <c:v>0.69</c:v>
                </c:pt>
                <c:pt idx="6">
                  <c:v>0.79</c:v>
                </c:pt>
              </c:numCache>
            </c:numRef>
          </c:xVal>
          <c:yVal>
            <c:numRef>
              <c:f>Sheet1!$B$2:$B$8</c:f>
              <c:numCache>
                <c:formatCode>General</c:formatCode>
                <c:ptCount val="7"/>
                <c:pt idx="0">
                  <c:v>44</c:v>
                </c:pt>
                <c:pt idx="1">
                  <c:v>40</c:v>
                </c:pt>
                <c:pt idx="2">
                  <c:v>35</c:v>
                </c:pt>
                <c:pt idx="3">
                  <c:v>30</c:v>
                </c:pt>
                <c:pt idx="4">
                  <c:v>25</c:v>
                </c:pt>
                <c:pt idx="5">
                  <c:v>20</c:v>
                </c:pt>
                <c:pt idx="6">
                  <c:v>15</c:v>
                </c:pt>
              </c:numCache>
            </c:numRef>
          </c:yVal>
          <c:smooth val="0"/>
        </c:ser>
        <c:axId val="-2128940872"/>
        <c:axId val="-2129643912"/>
      </c:scatterChart>
      <c:valAx>
        <c:axId val="-2128940872"/>
        <c:scaling>
          <c:orientation val="minMax"/>
          <c:max val="0.8"/>
          <c:min val="0.35"/>
        </c:scaling>
        <c:delete val="0"/>
        <c:axPos val="b"/>
        <c:title>
          <c:tx>
            <c:rich>
              <a:bodyPr/>
              <a:lstStyle/>
              <a:p>
                <a:r>
                  <a:rPr lang="he-IL" sz="1200" b="0">
                    <a:solidFill>
                      <a:srgbClr val="5F6B76"/>
                    </a:solidFill>
                    <a:latin typeface="Arial Unicode MS"/>
                    <a:ea typeface="Arial Unicode MS"/>
                    <a:cs typeface="Arial Unicode MS"/>
                  </a:rPr>
                  <a:t>‏יחס מים-צמנט</a:t>
                </a:r>
              </a:p>
            </c:rich>
          </c:tx>
          <c:layout/>
          <c:overlay val="0"/>
        </c:title>
        <c:numFmt formatCode="0.00" sourceLinked="0"/>
        <c:majorTickMark val="out"/>
        <c:minorTickMark val="none"/>
        <c:tickLblPos val="nextTo"/>
        <c:spPr>
          <a:ln>
            <a:solidFill>
              <a:srgbClr val="B8C2CA"/>
            </a:solidFill>
          </a:ln>
        </c:spPr>
        <c:txPr>
          <a:bodyPr/>
          <a:lstStyle/>
          <a:p>
            <a:pPr>
              <a:defRPr sz="1200">
                <a:solidFill>
                  <a:srgbClr val="5F6B76"/>
                </a:solidFill>
                <a:latin typeface="Arial Unicode MS"/>
              </a:defRPr>
            </a:pPr>
          </a:p>
        </c:txPr>
        <c:crossAx val="-2129643912"/>
        <c:crosses val="autoZero"/>
        <c:crossBetween val="midCat"/>
        <c:majorUnit val="0.05"/>
      </c:valAx>
      <c:valAx>
        <c:axId val="-2129643912"/>
        <c:scaling>
          <c:orientation val="minMax"/>
          <c:max val="50.0"/>
          <c:min val="10.0"/>
        </c:scaling>
        <c:delete val="0"/>
        <c:axPos val="l"/>
        <c:majorGridlines>
          <c:spPr>
            <a:ln w="9525">
              <a:solidFill>
                <a:srgbClr val="DDE3E8"/>
              </a:solidFill>
            </a:ln>
          </c:spPr>
        </c:majorGridlines>
        <c:title>
          <c:tx>
            <c:rich>
              <a:bodyPr/>
              <a:lstStyle/>
              <a:p>
                <a:r>
                  <a:rPr lang="he-IL" sz="1200" b="0">
                    <a:solidFill>
                      <a:srgbClr val="5F6B76"/>
                    </a:solidFill>
                    <a:latin typeface="Arial Unicode MS"/>
                    <a:ea typeface="Arial Unicode MS"/>
                    <a:cs typeface="Arial Unicode MS"/>
                  </a:rPr>
                  <a:t>‏חוזק לחיצה (MPa)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spPr>
          <a:ln>
            <a:solidFill>
              <a:srgbClr val="B8C2CA"/>
            </a:solidFill>
          </a:ln>
        </c:spPr>
        <c:txPr>
          <a:bodyPr/>
          <a:lstStyle/>
          <a:p>
            <a:pPr>
              <a:defRPr sz="1200">
                <a:solidFill>
                  <a:srgbClr val="5F6B76"/>
                </a:solidFill>
                <a:latin typeface="Arial Unicode MS"/>
              </a:defRPr>
            </a:pPr>
          </a:p>
        </c:txPr>
        <c:crossAx val="-2128940872"/>
        <c:crosses val="autoZero"/>
        <c:crossBetween val="midCat"/>
        <c:majorUnit val="10.0"/>
      </c:valAx>
    </c:plotArea>
    <c:plotVisOnly val="1"/>
    <c:dispBlanksAs val="gap"/>
    <c:showDLblsOverMax val="0"/>
  </c:chart>
  <c:txPr>
    <a:bodyPr/>
    <a:lstStyle/>
    <a:p>
      <a:pPr>
        <a:defRPr sz="1200">
          <a:solidFill>
            <a:srgbClr val="333F4A"/>
          </a:solidFill>
          <a:latin typeface="Arial Unicode MS"/>
        </a:defRPr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‏תוצאה בודדת</c:v>
                </c:pt>
              </c:strCache>
            </c:strRef>
          </c:tx>
          <c:spPr>
            <a:ln w="22225">
              <a:solidFill>
                <a:srgbClr val="0081C8"/>
              </a:solidFill>
            </a:ln>
          </c:spPr>
          <c:marker>
            <c:symbol val="circle"/>
            <c:size val="7"/>
            <c:spPr>
              <a:solidFill>
                <a:srgbClr val="0081C8"/>
              </a:solidFill>
              <a:ln>
                <a:solidFill>
                  <a:srgbClr val="FFFFFF"/>
                </a:solidFill>
              </a:ln>
            </c:spPr>
          </c:marker>
          <c:dPt>
            <c:idx val="11"/>
            <c:marker>
              <c:size val="12"/>
              <c:spPr>
                <a:solidFill>
                  <a:srgbClr val="C62828"/>
                </a:solidFill>
              </c:spPr>
            </c:marker>
          </c:dPt>
          <c:cat>
            <c:strRef>
              <c:f>Sheet1!$A$2:$A$21</c:f>
              <c:strCache>
                <c:ptCount val="2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</c:strCache>
            </c:strRef>
          </c:cat>
          <c:val>
            <c:numRef>
              <c:f>Sheet1!$B$2:$B$21</c:f>
              <c:numCache>
                <c:formatCode>General</c:formatCode>
                <c:ptCount val="20"/>
                <c:pt idx="0">
                  <c:v>41</c:v>
                </c:pt>
                <c:pt idx="1">
                  <c:v>39</c:v>
                </c:pt>
                <c:pt idx="2">
                  <c:v>43</c:v>
                </c:pt>
                <c:pt idx="3">
                  <c:v>40</c:v>
                </c:pt>
                <c:pt idx="4">
                  <c:v>42</c:v>
                </c:pt>
                <c:pt idx="5">
                  <c:v>38</c:v>
                </c:pt>
                <c:pt idx="6">
                  <c:v>41</c:v>
                </c:pt>
                <c:pt idx="7">
                  <c:v>44</c:v>
                </c:pt>
                <c:pt idx="8">
                  <c:v>40</c:v>
                </c:pt>
                <c:pt idx="9">
                  <c:v>39</c:v>
                </c:pt>
                <c:pt idx="10">
                  <c:v>41</c:v>
                </c:pt>
                <c:pt idx="11">
                  <c:v>31</c:v>
                </c:pt>
                <c:pt idx="12">
                  <c:v>40</c:v>
                </c:pt>
                <c:pt idx="13">
                  <c:v>39</c:v>
                </c:pt>
                <c:pt idx="14">
                  <c:v>38</c:v>
                </c:pt>
                <c:pt idx="15">
                  <c:v>37</c:v>
                </c:pt>
                <c:pt idx="16">
                  <c:v>38</c:v>
                </c:pt>
                <c:pt idx="17">
                  <c:v>36</c:v>
                </c:pt>
                <c:pt idx="18">
                  <c:v>37</c:v>
                </c:pt>
                <c:pt idx="19">
                  <c:v>36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‏ממוצע נע (3)</c:v>
                </c:pt>
              </c:strCache>
            </c:strRef>
          </c:tx>
          <c:spPr>
            <a:ln w="38100">
              <a:solidFill>
                <a:srgbClr val="003973"/>
              </a:solidFill>
            </a:ln>
          </c:spPr>
          <c:marker>
            <c:symbol val="none"/>
          </c:marker>
          <c:cat>
            <c:strRef>
              <c:f>Sheet1!$A$2:$A$21</c:f>
              <c:strCache>
                <c:ptCount val="2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</c:strCache>
            </c:strRef>
          </c:cat>
          <c:val>
            <c:numRef>
              <c:f>Sheet1!$C$2:$C$21</c:f>
              <c:numCache>
                <c:formatCode>General</c:formatCode>
                <c:ptCount val="20"/>
                <c:pt idx="2">
                  <c:v>41.0</c:v>
                </c:pt>
                <c:pt idx="3">
                  <c:v>40.7</c:v>
                </c:pt>
                <c:pt idx="4">
                  <c:v>41.7</c:v>
                </c:pt>
                <c:pt idx="5">
                  <c:v>40.0</c:v>
                </c:pt>
                <c:pt idx="6">
                  <c:v>40.3</c:v>
                </c:pt>
                <c:pt idx="7">
                  <c:v>41.0</c:v>
                </c:pt>
                <c:pt idx="8">
                  <c:v>41.7</c:v>
                </c:pt>
                <c:pt idx="9">
                  <c:v>41.0</c:v>
                </c:pt>
                <c:pt idx="10">
                  <c:v>40.0</c:v>
                </c:pt>
                <c:pt idx="11">
                  <c:v>37.0</c:v>
                </c:pt>
                <c:pt idx="12">
                  <c:v>37.3</c:v>
                </c:pt>
                <c:pt idx="13">
                  <c:v>36.7</c:v>
                </c:pt>
                <c:pt idx="14">
                  <c:v>39.0</c:v>
                </c:pt>
                <c:pt idx="15">
                  <c:v>38.0</c:v>
                </c:pt>
                <c:pt idx="16">
                  <c:v>37.7</c:v>
                </c:pt>
                <c:pt idx="17">
                  <c:v>37.0</c:v>
                </c:pt>
                <c:pt idx="18">
                  <c:v>37.0</c:v>
                </c:pt>
                <c:pt idx="19">
                  <c:v>36.3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fck = 37</c:v>
                </c:pt>
              </c:strCache>
            </c:strRef>
          </c:tx>
          <c:spPr>
            <a:ln w="25400">
              <a:solidFill>
                <a:srgbClr val="C62828"/>
              </a:solidFill>
              <a:prstDash val="dash"/>
            </a:ln>
          </c:spPr>
          <c:marker>
            <c:symbol val="none"/>
          </c:marker>
          <c:cat>
            <c:strRef>
              <c:f>Sheet1!$A$2:$A$21</c:f>
              <c:strCache>
                <c:ptCount val="2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</c:strCache>
            </c:strRef>
          </c:cat>
          <c:val>
            <c:numRef>
              <c:f>Sheet1!$D$2:$D$21</c:f>
              <c:numCache>
                <c:formatCode>General</c:formatCode>
                <c:ptCount val="20"/>
                <c:pt idx="0">
                  <c:v>37</c:v>
                </c:pt>
                <c:pt idx="1">
                  <c:v>37</c:v>
                </c:pt>
                <c:pt idx="2">
                  <c:v>37</c:v>
                </c:pt>
                <c:pt idx="3">
                  <c:v>37</c:v>
                </c:pt>
                <c:pt idx="4">
                  <c:v>37</c:v>
                </c:pt>
                <c:pt idx="5">
                  <c:v>37</c:v>
                </c:pt>
                <c:pt idx="6">
                  <c:v>37</c:v>
                </c:pt>
                <c:pt idx="7">
                  <c:v>37</c:v>
                </c:pt>
                <c:pt idx="8">
                  <c:v>37</c:v>
                </c:pt>
                <c:pt idx="9">
                  <c:v>37</c:v>
                </c:pt>
                <c:pt idx="10">
                  <c:v>37</c:v>
                </c:pt>
                <c:pt idx="11">
                  <c:v>37</c:v>
                </c:pt>
                <c:pt idx="12">
                  <c:v>37</c:v>
                </c:pt>
                <c:pt idx="13">
                  <c:v>37</c:v>
                </c:pt>
                <c:pt idx="14">
                  <c:v>37</c:v>
                </c:pt>
                <c:pt idx="15">
                  <c:v>37</c:v>
                </c:pt>
                <c:pt idx="16">
                  <c:v>37</c:v>
                </c:pt>
                <c:pt idx="17">
                  <c:v>37</c:v>
                </c:pt>
                <c:pt idx="18">
                  <c:v>37</c:v>
                </c:pt>
                <c:pt idx="19">
                  <c:v>37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fck + 4</c:v>
                </c:pt>
              </c:strCache>
            </c:strRef>
          </c:tx>
          <c:spPr>
            <a:ln w="19050">
              <a:solidFill>
                <a:srgbClr val="2E7D32"/>
              </a:solidFill>
              <a:prstDash val="dash"/>
            </a:ln>
          </c:spPr>
          <c:marker>
            <c:symbol val="none"/>
          </c:marker>
          <c:cat>
            <c:strRef>
              <c:f>Sheet1!$A$2:$A$21</c:f>
              <c:strCache>
                <c:ptCount val="2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</c:strCache>
            </c:strRef>
          </c:cat>
          <c:val>
            <c:numRef>
              <c:f>Sheet1!$E$2:$E$21</c:f>
              <c:numCache>
                <c:formatCode>General</c:formatCode>
                <c:ptCount val="20"/>
                <c:pt idx="0">
                  <c:v>41</c:v>
                </c:pt>
                <c:pt idx="1">
                  <c:v>41</c:v>
                </c:pt>
                <c:pt idx="2">
                  <c:v>41</c:v>
                </c:pt>
                <c:pt idx="3">
                  <c:v>41</c:v>
                </c:pt>
                <c:pt idx="4">
                  <c:v>41</c:v>
                </c:pt>
                <c:pt idx="5">
                  <c:v>41</c:v>
                </c:pt>
                <c:pt idx="6">
                  <c:v>41</c:v>
                </c:pt>
                <c:pt idx="7">
                  <c:v>41</c:v>
                </c:pt>
                <c:pt idx="8">
                  <c:v>41</c:v>
                </c:pt>
                <c:pt idx="9">
                  <c:v>41</c:v>
                </c:pt>
                <c:pt idx="10">
                  <c:v>41</c:v>
                </c:pt>
                <c:pt idx="11">
                  <c:v>41</c:v>
                </c:pt>
                <c:pt idx="12">
                  <c:v>41</c:v>
                </c:pt>
                <c:pt idx="13">
                  <c:v>41</c:v>
                </c:pt>
                <c:pt idx="14">
                  <c:v>41</c:v>
                </c:pt>
                <c:pt idx="15">
                  <c:v>41</c:v>
                </c:pt>
                <c:pt idx="16">
                  <c:v>41</c:v>
                </c:pt>
                <c:pt idx="17">
                  <c:v>41</c:v>
                </c:pt>
                <c:pt idx="18">
                  <c:v>41</c:v>
                </c:pt>
                <c:pt idx="19">
                  <c:v>41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 lang="he-IL" sz="1200" b="0">
                    <a:solidFill>
                      <a:srgbClr val="5F6B76"/>
                    </a:solidFill>
                    <a:latin typeface="Arial Unicode MS"/>
                    <a:ea typeface="Arial Unicode MS"/>
                    <a:cs typeface="Arial Unicode MS"/>
                  </a:rPr>
                  <a:t>‏מספר דגימה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spPr>
          <a:ln>
            <a:solidFill>
              <a:srgbClr val="B8C2CA"/>
            </a:solidFill>
          </a:ln>
        </c:spPr>
        <c:txPr>
          <a:bodyPr/>
          <a:lstStyle/>
          <a:p>
            <a:pPr>
              <a:defRPr sz="1200">
                <a:solidFill>
                  <a:srgbClr val="5F6B76"/>
                </a:solidFill>
                <a:latin typeface="Arial Unicode MS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48.0"/>
          <c:min val="28.0"/>
        </c:scaling>
        <c:delete val="0"/>
        <c:axPos val="l"/>
        <c:majorGridlines>
          <c:spPr>
            <a:ln w="9525">
              <a:solidFill>
                <a:srgbClr val="DDE3E8"/>
              </a:solidFill>
            </a:ln>
          </c:spPr>
        </c:majorGridlines>
        <c:title>
          <c:tx>
            <c:rich>
              <a:bodyPr/>
              <a:lstStyle/>
              <a:p>
                <a:r>
                  <a:rPr lang="he-IL" sz="1200" b="0">
                    <a:solidFill>
                      <a:srgbClr val="5F6B76"/>
                    </a:solidFill>
                    <a:latin typeface="Arial Unicode MS"/>
                    <a:ea typeface="Arial Unicode MS"/>
                    <a:cs typeface="Arial Unicode MS"/>
                  </a:rPr>
                  <a:t>‏חוזק קובייה (MPa)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spPr>
          <a:ln>
            <a:solidFill>
              <a:srgbClr val="B8C2CA"/>
            </a:solidFill>
          </a:ln>
        </c:spPr>
        <c:txPr>
          <a:bodyPr/>
          <a:lstStyle/>
          <a:p>
            <a:pPr>
              <a:defRPr sz="1200">
                <a:solidFill>
                  <a:srgbClr val="5F6B76"/>
                </a:solidFill>
                <a:latin typeface="Arial Unicode MS"/>
              </a:defRPr>
            </a:pPr>
          </a:p>
        </c:txPr>
        <c:crossAx val="2118791784"/>
        <c:crosses val="autoZero"/>
        <c:majorUnit val="4.0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200">
          <a:solidFill>
            <a:srgbClr val="333F4A"/>
          </a:solidFill>
          <a:latin typeface="Arial Unicode MS"/>
        </a:defRPr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‏גבול תחתון</c:v>
                </c:pt>
              </c:strCache>
            </c:strRef>
          </c:tx>
          <c:spPr>
            <a:ln w="25400">
              <a:solidFill>
                <a:srgbClr val="A3B1BA"/>
              </a:solidFill>
              <a:prstDash val="dash"/>
            </a:ln>
          </c:spPr>
          <c:marker>
            <c:symbol val="none"/>
          </c:marker>
          <c:cat>
            <c:strRef>
              <c:f>Sheet1!$A$2:$A$11</c:f>
              <c:strCache>
                <c:ptCount val="10"/>
                <c:pt idx="0">
                  <c:v>0.063</c:v>
                </c:pt>
                <c:pt idx="1">
                  <c:v>0.125</c:v>
                </c:pt>
                <c:pt idx="2">
                  <c:v>0.25</c:v>
                </c:pt>
                <c:pt idx="3">
                  <c:v>0.5</c:v>
                </c:pt>
                <c:pt idx="4">
                  <c:v>1</c:v>
                </c:pt>
                <c:pt idx="5">
                  <c:v>2</c:v>
                </c:pt>
                <c:pt idx="6">
                  <c:v>4</c:v>
                </c:pt>
                <c:pt idx="7">
                  <c:v>8</c:v>
                </c:pt>
                <c:pt idx="8">
                  <c:v>16</c:v>
                </c:pt>
                <c:pt idx="9">
                  <c:v>22.4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0</c:v>
                </c:pt>
                <c:pt idx="1">
                  <c:v>2</c:v>
                </c:pt>
                <c:pt idx="2">
                  <c:v>6</c:v>
                </c:pt>
                <c:pt idx="3">
                  <c:v>12</c:v>
                </c:pt>
                <c:pt idx="4">
                  <c:v>20</c:v>
                </c:pt>
                <c:pt idx="5">
                  <c:v>28</c:v>
                </c:pt>
                <c:pt idx="6">
                  <c:v>36</c:v>
                </c:pt>
                <c:pt idx="7">
                  <c:v>52</c:v>
                </c:pt>
                <c:pt idx="8">
                  <c:v>78</c:v>
                </c:pt>
                <c:pt idx="9">
                  <c:v>95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‏גבול עליון</c:v>
                </c:pt>
              </c:strCache>
            </c:strRef>
          </c:tx>
          <c:spPr>
            <a:ln w="25400">
              <a:solidFill>
                <a:srgbClr val="A3B1BA"/>
              </a:solidFill>
              <a:prstDash val="dash"/>
            </a:ln>
          </c:spPr>
          <c:marker>
            <c:symbol val="none"/>
          </c:marker>
          <c:cat>
            <c:strRef>
              <c:f>Sheet1!$A$2:$A$11</c:f>
              <c:strCache>
                <c:ptCount val="10"/>
                <c:pt idx="0">
                  <c:v>0.063</c:v>
                </c:pt>
                <c:pt idx="1">
                  <c:v>0.125</c:v>
                </c:pt>
                <c:pt idx="2">
                  <c:v>0.25</c:v>
                </c:pt>
                <c:pt idx="3">
                  <c:v>0.5</c:v>
                </c:pt>
                <c:pt idx="4">
                  <c:v>1</c:v>
                </c:pt>
                <c:pt idx="5">
                  <c:v>2</c:v>
                </c:pt>
                <c:pt idx="6">
                  <c:v>4</c:v>
                </c:pt>
                <c:pt idx="7">
                  <c:v>8</c:v>
                </c:pt>
                <c:pt idx="8">
                  <c:v>16</c:v>
                </c:pt>
                <c:pt idx="9">
                  <c:v>22.4</c:v>
                </c:pt>
              </c:strCache>
            </c: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3</c:v>
                </c:pt>
                <c:pt idx="1">
                  <c:v>8</c:v>
                </c:pt>
                <c:pt idx="2">
                  <c:v>16</c:v>
                </c:pt>
                <c:pt idx="3">
                  <c:v>26</c:v>
                </c:pt>
                <c:pt idx="4">
                  <c:v>36</c:v>
                </c:pt>
                <c:pt idx="5">
                  <c:v>46</c:v>
                </c:pt>
                <c:pt idx="6">
                  <c:v>58</c:v>
                </c:pt>
                <c:pt idx="7">
                  <c:v>76</c:v>
                </c:pt>
                <c:pt idx="8">
                  <c:v>95</c:v>
                </c:pt>
                <c:pt idx="9">
                  <c:v>100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‏דגימה</c:v>
                </c:pt>
              </c:strCache>
            </c:strRef>
          </c:tx>
          <c:spPr>
            <a:ln w="38100">
              <a:solidFill>
                <a:srgbClr val="0081C8"/>
              </a:solidFill>
            </a:ln>
          </c:spPr>
          <c:marker>
            <c:symbol val="circle"/>
            <c:size val="7"/>
            <c:spPr>
              <a:solidFill>
                <a:srgbClr val="0081C8"/>
              </a:solidFill>
              <a:ln>
                <a:solidFill>
                  <a:srgbClr val="FFFFFF"/>
                </a:solidFill>
              </a:ln>
            </c:spPr>
          </c:marker>
          <c:cat>
            <c:strRef>
              <c:f>Sheet1!$A$2:$A$11</c:f>
              <c:strCache>
                <c:ptCount val="10"/>
                <c:pt idx="0">
                  <c:v>0.063</c:v>
                </c:pt>
                <c:pt idx="1">
                  <c:v>0.125</c:v>
                </c:pt>
                <c:pt idx="2">
                  <c:v>0.25</c:v>
                </c:pt>
                <c:pt idx="3">
                  <c:v>0.5</c:v>
                </c:pt>
                <c:pt idx="4">
                  <c:v>1</c:v>
                </c:pt>
                <c:pt idx="5">
                  <c:v>2</c:v>
                </c:pt>
                <c:pt idx="6">
                  <c:v>4</c:v>
                </c:pt>
                <c:pt idx="7">
                  <c:v>8</c:v>
                </c:pt>
                <c:pt idx="8">
                  <c:v>16</c:v>
                </c:pt>
                <c:pt idx="9">
                  <c:v>22.4</c:v>
                </c:pt>
              </c:strCache>
            </c:strRef>
          </c:cat>
          <c:val>
            <c:numRef>
              <c:f>Sheet1!$D$2:$D$11</c:f>
              <c:numCache>
                <c:formatCode>General</c:formatCode>
                <c:ptCount val="10"/>
                <c:pt idx="0">
                  <c:v>1.5</c:v>
                </c:pt>
                <c:pt idx="1">
                  <c:v>4</c:v>
                </c:pt>
                <c:pt idx="2">
                  <c:v>10</c:v>
                </c:pt>
                <c:pt idx="3">
                  <c:v>17</c:v>
                </c:pt>
                <c:pt idx="4">
                  <c:v>25</c:v>
                </c:pt>
                <c:pt idx="5">
                  <c:v>33</c:v>
                </c:pt>
                <c:pt idx="6">
                  <c:v>44</c:v>
                </c:pt>
                <c:pt idx="7">
                  <c:v>61</c:v>
                </c:pt>
                <c:pt idx="8">
                  <c:v>86</c:v>
                </c:pt>
                <c:pt idx="9">
                  <c:v>99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 lang="he-IL" sz="1200" b="0">
                    <a:solidFill>
                      <a:srgbClr val="5F6B76"/>
                    </a:solidFill>
                    <a:latin typeface="Arial Unicode MS"/>
                    <a:ea typeface="Arial Unicode MS"/>
                    <a:cs typeface="Arial Unicode MS"/>
                  </a:rPr>
                  <a:t>‏פתח נפה (מ"מ)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spPr>
          <a:ln>
            <a:solidFill>
              <a:srgbClr val="B8C2CA"/>
            </a:solidFill>
          </a:ln>
        </c:spPr>
        <c:txPr>
          <a:bodyPr/>
          <a:lstStyle/>
          <a:p>
            <a:pPr>
              <a:defRPr sz="1200">
                <a:solidFill>
                  <a:srgbClr val="5F6B76"/>
                </a:solidFill>
                <a:latin typeface="Arial Unicode MS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100.0"/>
          <c:min val="0.0"/>
        </c:scaling>
        <c:delete val="0"/>
        <c:axPos val="l"/>
        <c:majorGridlines>
          <c:spPr>
            <a:ln w="9525">
              <a:solidFill>
                <a:srgbClr val="DDE3E8"/>
              </a:solidFill>
            </a:ln>
          </c:spPr>
        </c:majorGridlines>
        <c:title>
          <c:tx>
            <c:rich>
              <a:bodyPr/>
              <a:lstStyle/>
              <a:p>
                <a:r>
                  <a:rPr lang="he-IL" sz="1200" b="0">
                    <a:solidFill>
                      <a:srgbClr val="5F6B76"/>
                    </a:solidFill>
                    <a:latin typeface="Arial Unicode MS"/>
                    <a:ea typeface="Arial Unicode MS"/>
                    <a:cs typeface="Arial Unicode MS"/>
                  </a:rPr>
                  <a:t>‏% עובר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spPr>
          <a:ln>
            <a:solidFill>
              <a:srgbClr val="B8C2CA"/>
            </a:solidFill>
          </a:ln>
        </c:spPr>
        <c:txPr>
          <a:bodyPr/>
          <a:lstStyle/>
          <a:p>
            <a:pPr>
              <a:defRPr sz="1200">
                <a:solidFill>
                  <a:srgbClr val="5F6B76"/>
                </a:solidFill>
                <a:latin typeface="Arial Unicode MS"/>
              </a:defRPr>
            </a:pPr>
          </a:p>
        </c:txPr>
        <c:crossAx val="2118791784"/>
        <c:crosses val="autoZero"/>
        <c:majorUnit val="20.0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200">
          <a:solidFill>
            <a:srgbClr val="333F4A"/>
          </a:solidFill>
          <a:latin typeface="Arial Unicode MS"/>
        </a:defRPr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‏מוצקים (גרם לליטר)</c:v>
                </c:pt>
              </c:strCache>
            </c:strRef>
          </c:tx>
          <c:spPr>
            <a:ln w="38100">
              <a:solidFill>
                <a:srgbClr val="0081C8"/>
              </a:solidFill>
            </a:ln>
          </c:spPr>
          <c:marker>
            <c:symbol val="circle"/>
            <c:size val="7"/>
            <c:spPr>
              <a:solidFill>
                <a:srgbClr val="0081C8"/>
              </a:solidFill>
              <a:ln>
                <a:solidFill>
                  <a:srgbClr val="FFFFFF"/>
                </a:solidFill>
              </a:ln>
            </c:spPr>
          </c:marker>
          <c:cat>
            <c:strRef>
              <c:f>Sheet1!$A$2:$A$9</c:f>
              <c:strCache>
                <c:ptCount val="8"/>
                <c:pt idx="0">
                  <c:v>1.01</c:v>
                </c:pt>
                <c:pt idx="1">
                  <c:v>1.02</c:v>
                </c:pt>
                <c:pt idx="2">
                  <c:v>1.03</c:v>
                </c:pt>
                <c:pt idx="3">
                  <c:v>1.04</c:v>
                </c:pt>
                <c:pt idx="4">
                  <c:v>1.05</c:v>
                </c:pt>
                <c:pt idx="5">
                  <c:v>1.06</c:v>
                </c:pt>
                <c:pt idx="6">
                  <c:v>1.08</c:v>
                </c:pt>
                <c:pt idx="7">
                  <c:v>1.10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19</c:v>
                </c:pt>
                <c:pt idx="1">
                  <c:v>38</c:v>
                </c:pt>
                <c:pt idx="2">
                  <c:v>57</c:v>
                </c:pt>
                <c:pt idx="3">
                  <c:v>76</c:v>
                </c:pt>
                <c:pt idx="4">
                  <c:v>95</c:v>
                </c:pt>
                <c:pt idx="5">
                  <c:v>115</c:v>
                </c:pt>
                <c:pt idx="6">
                  <c:v>153</c:v>
                </c:pt>
                <c:pt idx="7">
                  <c:v>191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‏גבול לתערובת לדוגמה</c:v>
                </c:pt>
              </c:strCache>
            </c:strRef>
          </c:tx>
          <c:spPr>
            <a:ln w="25400">
              <a:solidFill>
                <a:srgbClr val="C62828"/>
              </a:solidFill>
              <a:prstDash val="dash"/>
            </a:ln>
          </c:spPr>
          <c:marker>
            <c:symbol val="none"/>
          </c:marker>
          <c:cat>
            <c:strRef>
              <c:f>Sheet1!$A$2:$A$9</c:f>
              <c:strCache>
                <c:ptCount val="8"/>
                <c:pt idx="0">
                  <c:v>1.01</c:v>
                </c:pt>
                <c:pt idx="1">
                  <c:v>1.02</c:v>
                </c:pt>
                <c:pt idx="2">
                  <c:v>1.03</c:v>
                </c:pt>
                <c:pt idx="3">
                  <c:v>1.04</c:v>
                </c:pt>
                <c:pt idx="4">
                  <c:v>1.05</c:v>
                </c:pt>
                <c:pt idx="5">
                  <c:v>1.06</c:v>
                </c:pt>
                <c:pt idx="6">
                  <c:v>1.08</c:v>
                </c:pt>
                <c:pt idx="7">
                  <c:v>1.10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112</c:v>
                </c:pt>
                <c:pt idx="1">
                  <c:v>112</c:v>
                </c:pt>
                <c:pt idx="2">
                  <c:v>112</c:v>
                </c:pt>
                <c:pt idx="3">
                  <c:v>112</c:v>
                </c:pt>
                <c:pt idx="4">
                  <c:v>112</c:v>
                </c:pt>
                <c:pt idx="5">
                  <c:v>112</c:v>
                </c:pt>
                <c:pt idx="6">
                  <c:v>112</c:v>
                </c:pt>
                <c:pt idx="7">
                  <c:v>112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 lang="he-IL" sz="1200" b="0">
                    <a:solidFill>
                      <a:srgbClr val="5F6B76"/>
                    </a:solidFill>
                    <a:latin typeface="Arial Unicode MS"/>
                    <a:ea typeface="Arial Unicode MS"/>
                    <a:cs typeface="Arial Unicode MS"/>
                  </a:rPr>
                  <a:t>‏צפיפות המים (ק"ג/ל')</a:t>
                </a:r>
              </a:p>
            </c:rich>
          </c:tx>
          <c:layout/>
          <c:overlay val="0"/>
        </c:title>
        <c:numFmt formatCode="0.00" sourceLinked="0"/>
        <c:majorTickMark val="out"/>
        <c:minorTickMark val="none"/>
        <c:tickLblPos val="nextTo"/>
        <c:spPr>
          <a:ln>
            <a:solidFill>
              <a:srgbClr val="B8C2CA"/>
            </a:solidFill>
          </a:ln>
        </c:spPr>
        <c:txPr>
          <a:bodyPr/>
          <a:lstStyle/>
          <a:p>
            <a:pPr>
              <a:defRPr sz="1200">
                <a:solidFill>
                  <a:srgbClr val="5F6B76"/>
                </a:solidFill>
                <a:latin typeface="Arial Unicode MS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200.0"/>
          <c:min val="0.0"/>
        </c:scaling>
        <c:delete val="0"/>
        <c:axPos val="l"/>
        <c:majorGridlines>
          <c:spPr>
            <a:ln w="9525">
              <a:solidFill>
                <a:srgbClr val="DDE3E8"/>
              </a:solidFill>
            </a:ln>
          </c:spPr>
        </c:majorGridlines>
        <c:title>
          <c:tx>
            <c:rich>
              <a:bodyPr/>
              <a:lstStyle/>
              <a:p>
                <a:r>
                  <a:rPr lang="he-IL" sz="1200" b="0">
                    <a:solidFill>
                      <a:srgbClr val="5F6B76"/>
                    </a:solidFill>
                    <a:latin typeface="Arial Unicode MS"/>
                    <a:ea typeface="Arial Unicode MS"/>
                    <a:cs typeface="Arial Unicode MS"/>
                  </a:rPr>
                  <a:t>‏גרם מוצקים לליטר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spPr>
          <a:ln>
            <a:solidFill>
              <a:srgbClr val="B8C2CA"/>
            </a:solidFill>
          </a:ln>
        </c:spPr>
        <c:txPr>
          <a:bodyPr/>
          <a:lstStyle/>
          <a:p>
            <a:pPr>
              <a:defRPr sz="1200">
                <a:solidFill>
                  <a:srgbClr val="5F6B76"/>
                </a:solidFill>
                <a:latin typeface="Arial Unicode MS"/>
              </a:defRPr>
            </a:pPr>
          </a:p>
        </c:txPr>
        <c:crossAx val="2118791784"/>
        <c:crosses val="autoZero"/>
        <c:majorUnit val="50.0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200">
          <a:solidFill>
            <a:srgbClr val="333F4A"/>
          </a:solidFill>
          <a:latin typeface="Arial Unicode MS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  <a:endParaRPr lang="he-IL" dirty="0"/>
          </a:p>
        </p:txBody>
      </p:sp>
      <p:sp>
        <p:nvSpPr>
          <p:cNvPr id="3" name="כותרת משנה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e-IL"/>
              <a:t>לחץ כדי לערוך סגנון כותרת משנה של תבנית בסיס</a:t>
            </a:r>
          </a:p>
        </p:txBody>
      </p:sp>
    </p:spTree>
    <p:extLst>
      <p:ext uri="{BB962C8B-B14F-4D97-AF65-F5344CB8AC3E}">
        <p14:creationId xmlns:p14="http://schemas.microsoft.com/office/powerpoint/2010/main" val="5090723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1158716" y="365126"/>
            <a:ext cx="10515600" cy="417300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>
          <a:xfrm>
            <a:off x="1130430" y="892364"/>
            <a:ext cx="10515600" cy="435133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pic>
        <p:nvPicPr>
          <p:cNvPr id="4" name="תמונה 3">
            <a:extLst>
              <a:ext uri="{FF2B5EF4-FFF2-40B4-BE49-F238E27FC236}">
                <a16:creationId xmlns:a16="http://schemas.microsoft.com/office/drawing/2014/main" id="{4FBDFFA4-0AD9-48AF-A2BC-37199CFBEAD2}"/>
              </a:ext>
            </a:extLst>
          </p:cNvPr>
          <p:cNvPicPr/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99150" y="5445925"/>
            <a:ext cx="2916344" cy="12539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89686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pic>
        <p:nvPicPr>
          <p:cNvPr id="4" name="תמונה 3">
            <a:extLst>
              <a:ext uri="{FF2B5EF4-FFF2-40B4-BE49-F238E27FC236}">
                <a16:creationId xmlns:a16="http://schemas.microsoft.com/office/drawing/2014/main" id="{4FBDFFA4-0AD9-48AF-A2BC-37199CFBEAD2}"/>
              </a:ext>
            </a:extLst>
          </p:cNvPr>
          <p:cNvPicPr/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99150" y="5445925"/>
            <a:ext cx="2916344" cy="12539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98817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תוכן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</p:spTree>
    <p:extLst>
      <p:ext uri="{BB962C8B-B14F-4D97-AF65-F5344CB8AC3E}">
        <p14:creationId xmlns:p14="http://schemas.microsoft.com/office/powerpoint/2010/main" val="12238957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מציין מיקום תוכן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5" name="מציין מיקום טקסט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6" name="מציין מיקום תוכן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</p:spTree>
    <p:extLst>
      <p:ext uri="{BB962C8B-B14F-4D97-AF65-F5344CB8AC3E}">
        <p14:creationId xmlns:p14="http://schemas.microsoft.com/office/powerpoint/2010/main" val="19100262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he-IL" dirty="0"/>
          </a:p>
        </p:txBody>
      </p:sp>
      <p:sp>
        <p:nvSpPr>
          <p:cNvPr id="3" name="Footer academy"/>
          <p:cNvSpPr txBox="1"/>
          <p:nvPr/>
        </p:nvSpPr>
        <p:spPr>
          <a:xfrm>
            <a:off x="868680" y="6236208"/>
            <a:ext cx="4023360" cy="274320"/>
          </a:xfrm>
          <a:prstGeom prst="rect">
            <a:avLst/>
          </a:prstGeom>
          <a:noFill/>
        </p:spPr>
        <p:txBody>
          <a:bodyPr wrap="square" lIns="0" rIns="0" tIns="0" bIns="0" anchor="t" rtlCol="1">
            <a:spAutoFit/>
          </a:bodyPr>
          <a:lstStyle/>
          <a:p>
            <a:pPr algn="l" rtl="1" marL="0" indent="0">
              <a:spcAft>
                <a:spcPts val="400"/>
              </a:spcAft>
              <a:buNone/>
            </a:pPr>
            <a:r>
              <a:rPr lang="he-IL" sz="1000" b="0">
                <a:solidFill>
                  <a:srgbClr val="5F6B76"/>
                </a:solidFill>
                <a:latin typeface="Arial Unicode MS"/>
                <a:ea typeface="Arial Unicode MS"/>
                <a:cs typeface="Arial Unicode MS"/>
              </a:rPr>
              <a:t>סולל בונה תעשיות | אקדמיית טכנולוגיה ואיכות</a:t>
            </a:r>
          </a:p>
        </p:txBody>
      </p:sp>
    </p:spTree>
    <p:extLst>
      <p:ext uri="{BB962C8B-B14F-4D97-AF65-F5344CB8AC3E}">
        <p14:creationId xmlns:p14="http://schemas.microsoft.com/office/powerpoint/2010/main" val="26368038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990544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טקסט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</p:spTree>
    <p:extLst>
      <p:ext uri="{BB962C8B-B14F-4D97-AF65-F5344CB8AC3E}">
        <p14:creationId xmlns:p14="http://schemas.microsoft.com/office/powerpoint/2010/main" val="5581013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תמונה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he-IL"/>
              <a:t>לחץ על הסמל כדי להוסיף תמונה</a:t>
            </a:r>
          </a:p>
        </p:txBody>
      </p:sp>
      <p:sp>
        <p:nvSpPr>
          <p:cNvPr id="4" name="מציין מיקום טקסט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</p:spTree>
    <p:extLst>
      <p:ext uri="{BB962C8B-B14F-4D97-AF65-F5344CB8AC3E}">
        <p14:creationId xmlns:p14="http://schemas.microsoft.com/office/powerpoint/2010/main" val="23692364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he-IL" dirty="0"/>
          </a:p>
        </p:txBody>
      </p:sp>
      <p:sp>
        <p:nvSpPr>
          <p:cNvPr id="3" name="מציין מיקום של טקסט אנכי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</p:spTree>
    <p:extLst>
      <p:ext uri="{BB962C8B-B14F-4D97-AF65-F5344CB8AC3E}">
        <p14:creationId xmlns:p14="http://schemas.microsoft.com/office/powerpoint/2010/main" val="20368473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אנכית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טקסט אנכי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</p:spTree>
    <p:extLst>
      <p:ext uri="{BB962C8B-B14F-4D97-AF65-F5344CB8AC3E}">
        <p14:creationId xmlns:p14="http://schemas.microsoft.com/office/powerpoint/2010/main" val="2415491936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1"/>
          <p:cNvSpPr>
            <a:spLocks noGrp="1"/>
          </p:cNvSpPr>
          <p:nvPr>
            <p:ph type="title"/>
          </p:nvPr>
        </p:nvSpPr>
        <p:spPr>
          <a:xfrm>
            <a:off x="960751" y="365125"/>
            <a:ext cx="10515600" cy="596409"/>
          </a:xfrm>
          <a:prstGeom prst="rect">
            <a:avLst/>
          </a:prstGeom>
        </p:spPr>
        <p:txBody>
          <a:bodyPr vert="horz" lIns="91440" tIns="45720" rIns="91440" bIns="45720" rtlCol="1" anchor="ctr">
            <a:normAutofit/>
          </a:bodyPr>
          <a:lstStyle/>
          <a:p>
            <a:r>
              <a:rPr lang="he-IL" dirty="0"/>
              <a:t>לחץ כדי לערוך סגנון כותרת של תבנית בסיס</a:t>
            </a:r>
          </a:p>
        </p:txBody>
      </p:sp>
      <p:sp>
        <p:nvSpPr>
          <p:cNvPr id="3" name="מציין מיקום טקסט 2"/>
          <p:cNvSpPr>
            <a:spLocks noGrp="1"/>
          </p:cNvSpPr>
          <p:nvPr>
            <p:ph type="body" idx="1"/>
          </p:nvPr>
        </p:nvSpPr>
        <p:spPr>
          <a:xfrm>
            <a:off x="951324" y="1043197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/>
          <a:p>
            <a:pPr lvl="0"/>
            <a:r>
              <a:rPr lang="he-IL" dirty="0"/>
              <a:t>לחץ כדי לערוך סגנונות טקסט של תבנית בסיס</a:t>
            </a:r>
          </a:p>
          <a:p>
            <a:pPr lvl="1"/>
            <a:r>
              <a:rPr lang="he-IL" dirty="0"/>
              <a:t>רמה שנייה</a:t>
            </a:r>
          </a:p>
          <a:p>
            <a:pPr lvl="2"/>
            <a:r>
              <a:rPr lang="he-IL" dirty="0"/>
              <a:t>רמה שלישית</a:t>
            </a:r>
          </a:p>
        </p:txBody>
      </p:sp>
      <p:sp>
        <p:nvSpPr>
          <p:cNvPr id="7" name="מציין מיקום של מספר שקופית 5"/>
          <p:cNvSpPr txBox="1">
            <a:spLocks/>
          </p:cNvSpPr>
          <p:nvPr userDrawn="1"/>
        </p:nvSpPr>
        <p:spPr>
          <a:xfrm>
            <a:off x="4736279" y="630078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defPPr>
              <a:defRPr lang="he-IL"/>
            </a:defPPr>
            <a:lvl1pPr marL="0" algn="l" defTabSz="914400" rtl="1" eaLnBrk="1" latinLnBrk="0" hangingPunct="1">
              <a:defRPr sz="1200" kern="1200">
                <a:solidFill>
                  <a:srgbClr val="4D4D4D"/>
                </a:solidFill>
                <a:latin typeface="+mn-lt"/>
                <a:ea typeface="+mn-ea"/>
                <a:cs typeface="+mn-cs"/>
              </a:defRPr>
            </a:lvl1pPr>
            <a:lvl2pPr marL="457200" algn="r" defTabSz="914400" rtl="1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r" defTabSz="914400" rtl="1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r" defTabSz="914400" rtl="1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r" defTabSz="914400" rtl="1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r" defTabSz="914400" rtl="1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r" defTabSz="914400" rtl="1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r" defTabSz="914400" rtl="1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r" defTabSz="914400" rtl="1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F0E67B44-57E6-401F-A746-3C0CB7CBB830}" type="slidenum">
              <a:rPr lang="he-IL" sz="1000" smtClean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pPr algn="ctr"/>
              <a:t>‹#›</a:t>
            </a:fld>
            <a:endParaRPr lang="he-IL" sz="1000" dirty="0"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cxnSp>
        <p:nvCxnSpPr>
          <p:cNvPr id="8" name="מחבר ישר 5"/>
          <p:cNvCxnSpPr/>
          <p:nvPr userDrawn="1"/>
        </p:nvCxnSpPr>
        <p:spPr>
          <a:xfrm flipH="1">
            <a:off x="970239" y="6149180"/>
            <a:ext cx="10540380" cy="0"/>
          </a:xfrm>
          <a:prstGeom prst="line">
            <a:avLst/>
          </a:prstGeom>
          <a:ln>
            <a:solidFill>
              <a:srgbClr val="0081C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תמונה 8">
            <a:extLst>
              <a:ext uri="{FF2B5EF4-FFF2-40B4-BE49-F238E27FC236}">
                <a16:creationId xmlns:a16="http://schemas.microsoft.com/office/drawing/2014/main" id="{4FBDFFA4-0AD9-48AF-A2BC-37199CFBEAD2}"/>
              </a:ext>
            </a:extLst>
          </p:cNvPr>
          <p:cNvPicPr/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99150" y="5445925"/>
            <a:ext cx="2916344" cy="12539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84039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r" defTabSz="914400" rtl="1" eaLnBrk="1" latinLnBrk="0" hangingPunct="1">
        <a:lnSpc>
          <a:spcPct val="90000"/>
        </a:lnSpc>
        <a:spcBef>
          <a:spcPct val="0"/>
        </a:spcBef>
        <a:buNone/>
        <a:defRPr sz="2800" kern="1200">
          <a:solidFill>
            <a:srgbClr val="0070C0"/>
          </a:solidFill>
          <a:latin typeface="Arial Unicode MS" panose="020B0604020202020204" pitchFamily="34" charset="-128"/>
          <a:ea typeface="Arial Unicode MS" panose="020B0604020202020204" pitchFamily="34" charset="-128"/>
          <a:cs typeface="Arial Unicode MS" panose="020B0604020202020204" pitchFamily="34" charset="-128"/>
        </a:defRPr>
      </a:lvl1pPr>
    </p:titleStyle>
    <p:bodyStyle>
      <a:lvl1pPr marL="228600" indent="-228600" algn="r" defTabSz="914400" rtl="1" eaLnBrk="1" latinLnBrk="0" hangingPunct="1">
        <a:lnSpc>
          <a:spcPct val="90000"/>
        </a:lnSpc>
        <a:spcBef>
          <a:spcPts val="1000"/>
        </a:spcBef>
        <a:buFont typeface="Wingdings" panose="05000000000000000000" pitchFamily="2" charset="2"/>
        <a:buChar char="§"/>
        <a:defRPr sz="2000" kern="1200">
          <a:solidFill>
            <a:schemeClr val="accent6">
              <a:lumMod val="75000"/>
            </a:schemeClr>
          </a:solidFill>
          <a:latin typeface="Arial Unicode MS" panose="020B0604020202020204" pitchFamily="34" charset="-128"/>
          <a:ea typeface="Arial Unicode MS" panose="020B0604020202020204" pitchFamily="34" charset="-128"/>
          <a:cs typeface="Arial Unicode MS" panose="020B0604020202020204" pitchFamily="34" charset="-128"/>
        </a:defRPr>
      </a:lvl1pPr>
      <a:lvl2pPr marL="685800" indent="-228600" algn="r" defTabSz="914400" rtl="1" eaLnBrk="1" latinLnBrk="0" hangingPunct="1">
        <a:lnSpc>
          <a:spcPct val="90000"/>
        </a:lnSpc>
        <a:spcBef>
          <a:spcPts val="500"/>
        </a:spcBef>
        <a:buFont typeface="Arial Unicode MS" panose="020B0604020202020204" pitchFamily="34" charset="-128"/>
        <a:buChar char="₋"/>
        <a:defRPr sz="1800" kern="1200">
          <a:solidFill>
            <a:schemeClr val="accent6">
              <a:lumMod val="75000"/>
            </a:schemeClr>
          </a:solidFill>
          <a:latin typeface="Arial Unicode MS" panose="020B0604020202020204" pitchFamily="34" charset="-128"/>
          <a:ea typeface="Arial Unicode MS" panose="020B0604020202020204" pitchFamily="34" charset="-128"/>
          <a:cs typeface="Arial Unicode MS" panose="020B0604020202020204" pitchFamily="34" charset="-128"/>
        </a:defRPr>
      </a:lvl2pPr>
      <a:lvl3pPr marL="1143000" indent="-228600" algn="r" defTabSz="914400" rtl="1" eaLnBrk="1" latinLnBrk="0" hangingPunct="1">
        <a:lnSpc>
          <a:spcPct val="90000"/>
        </a:lnSpc>
        <a:spcBef>
          <a:spcPts val="500"/>
        </a:spcBef>
        <a:buFont typeface="Arial Unicode MS" panose="020B0604020202020204" pitchFamily="34" charset="-128"/>
        <a:buChar char="₋"/>
        <a:defRPr sz="1600" kern="1200">
          <a:solidFill>
            <a:schemeClr val="accent6">
              <a:lumMod val="75000"/>
            </a:schemeClr>
          </a:solidFill>
          <a:latin typeface="Arial Unicode MS" panose="020B0604020202020204" pitchFamily="34" charset="-128"/>
          <a:ea typeface="Arial Unicode MS" panose="020B0604020202020204" pitchFamily="34" charset="-128"/>
          <a:cs typeface="Arial Unicode MS" panose="020B0604020202020204" pitchFamily="34" charset="-128"/>
        </a:defRPr>
      </a:lvl3pPr>
      <a:lvl4pPr marL="1600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accent6">
              <a:lumMod val="75000"/>
            </a:schemeClr>
          </a:solidFill>
          <a:latin typeface="Arial Unicode MS" panose="020B0604020202020204" pitchFamily="34" charset="-128"/>
          <a:ea typeface="Arial Unicode MS" panose="020B0604020202020204" pitchFamily="34" charset="-128"/>
          <a:cs typeface="Arial Unicode MS" panose="020B0604020202020204" pitchFamily="34" charset="-128"/>
        </a:defRPr>
      </a:lvl4pPr>
      <a:lvl5pPr marL="20574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accent6">
              <a:lumMod val="75000"/>
            </a:schemeClr>
          </a:solidFill>
          <a:latin typeface="Arial Unicode MS" panose="020B0604020202020204" pitchFamily="34" charset="-128"/>
          <a:ea typeface="Arial Unicode MS" panose="020B0604020202020204" pitchFamily="34" charset="-128"/>
          <a:cs typeface="Arial Unicode MS" panose="020B0604020202020204" pitchFamily="34" charset="-128"/>
        </a:defRPr>
      </a:lvl5pPr>
      <a:lvl6pPr marL="25146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e-IL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Relationship Id="rId7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image" Target="../media/image14.png"/><Relationship Id="rId7" Type="http://schemas.openxmlformats.org/officeDocument/2006/relationships/image" Target="../media/image15.png"/><Relationship Id="rId8" Type="http://schemas.openxmlformats.org/officeDocument/2006/relationships/image" Target="../media/image16.png"/><Relationship Id="rId9" Type="http://schemas.openxmlformats.org/officeDocument/2006/relationships/image" Target="../media/image17.png"/><Relationship Id="rId10" Type="http://schemas.openxmlformats.org/officeDocument/2006/relationships/image" Target="../media/image18.png"/><Relationship Id="rId11" Type="http://schemas.openxmlformats.org/officeDocument/2006/relationships/image" Target="../media/image19.png"/><Relationship Id="rId12" Type="http://schemas.openxmlformats.org/officeDocument/2006/relationships/image" Target="../media/image2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e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2.xml"/><Relationship Id="rId3" Type="http://schemas.openxmlformats.org/officeDocument/2006/relationships/image" Target="../media/image21.png"/><Relationship Id="rId4" Type="http://schemas.openxmlformats.org/officeDocument/2006/relationships/image" Target="../media/image22.png"/><Relationship Id="rId5" Type="http://schemas.openxmlformats.org/officeDocument/2006/relationships/image" Target="../media/image23.png"/><Relationship Id="rId6" Type="http://schemas.openxmlformats.org/officeDocument/2006/relationships/image" Target="../media/image24.png"/><Relationship Id="rId7" Type="http://schemas.openxmlformats.org/officeDocument/2006/relationships/image" Target="../media/image25.png"/><Relationship Id="rId8" Type="http://schemas.openxmlformats.org/officeDocument/2006/relationships/image" Target="../media/image2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6.png"/><Relationship Id="rId3" Type="http://schemas.openxmlformats.org/officeDocument/2006/relationships/image" Target="../media/image27.png"/><Relationship Id="rId4" Type="http://schemas.openxmlformats.org/officeDocument/2006/relationships/image" Target="../media/image28.png"/><Relationship Id="rId5" Type="http://schemas.openxmlformats.org/officeDocument/2006/relationships/image" Target="../media/image29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0.png"/><Relationship Id="rId3" Type="http://schemas.openxmlformats.org/officeDocument/2006/relationships/image" Target="../media/image18.png"/><Relationship Id="rId4" Type="http://schemas.openxmlformats.org/officeDocument/2006/relationships/image" Target="../media/image31.png"/><Relationship Id="rId5" Type="http://schemas.openxmlformats.org/officeDocument/2006/relationships/image" Target="../media/image19.png"/><Relationship Id="rId6" Type="http://schemas.openxmlformats.org/officeDocument/2006/relationships/image" Target="../media/image20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Relationship Id="rId3" Type="http://schemas.openxmlformats.org/officeDocument/2006/relationships/image" Target="../media/image32.png"/><Relationship Id="rId4" Type="http://schemas.openxmlformats.org/officeDocument/2006/relationships/image" Target="../media/image33.png"/><Relationship Id="rId5" Type="http://schemas.openxmlformats.org/officeDocument/2006/relationships/image" Target="../media/image20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4.png"/><Relationship Id="rId3" Type="http://schemas.openxmlformats.org/officeDocument/2006/relationships/image" Target="../media/image25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e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4.png"/><Relationship Id="rId3" Type="http://schemas.openxmlformats.org/officeDocument/2006/relationships/image" Target="../media/image35.png"/><Relationship Id="rId4" Type="http://schemas.openxmlformats.org/officeDocument/2006/relationships/image" Target="../media/image36.png"/><Relationship Id="rId5" Type="http://schemas.openxmlformats.org/officeDocument/2006/relationships/image" Target="../media/image19.png"/><Relationship Id="rId6" Type="http://schemas.openxmlformats.org/officeDocument/2006/relationships/image" Target="../media/image20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7.png"/><Relationship Id="rId3" Type="http://schemas.openxmlformats.org/officeDocument/2006/relationships/image" Target="../media/image2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8.png"/><Relationship Id="rId3" Type="http://schemas.openxmlformats.org/officeDocument/2006/relationships/image" Target="../media/image34.png"/><Relationship Id="rId4" Type="http://schemas.openxmlformats.org/officeDocument/2006/relationships/image" Target="../media/image12.png"/><Relationship Id="rId5" Type="http://schemas.openxmlformats.org/officeDocument/2006/relationships/image" Target="../media/image39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0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e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0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3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4.png"/><Relationship Id="rId3" Type="http://schemas.openxmlformats.org/officeDocument/2006/relationships/image" Target="../media/image12.png"/><Relationship Id="rId4" Type="http://schemas.openxmlformats.org/officeDocument/2006/relationships/image" Target="../media/image21.png"/><Relationship Id="rId5" Type="http://schemas.openxmlformats.org/officeDocument/2006/relationships/image" Target="../media/image28.png"/><Relationship Id="rId6" Type="http://schemas.openxmlformats.org/officeDocument/2006/relationships/image" Target="../media/image20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1.png"/><Relationship Id="rId3" Type="http://schemas.openxmlformats.org/officeDocument/2006/relationships/chart" Target="../charts/chart4.xml"/><Relationship Id="rId4" Type="http://schemas.openxmlformats.org/officeDocument/2006/relationships/image" Target="../media/image42.png"/><Relationship Id="rId5" Type="http://schemas.openxmlformats.org/officeDocument/2006/relationships/image" Target="../media/image31.png"/><Relationship Id="rId6" Type="http://schemas.openxmlformats.org/officeDocument/2006/relationships/image" Target="../media/image24.png"/><Relationship Id="rId7" Type="http://schemas.openxmlformats.org/officeDocument/2006/relationships/image" Target="../media/image39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3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7.png"/><Relationship Id="rId3" Type="http://schemas.openxmlformats.org/officeDocument/2006/relationships/image" Target="../media/image28.png"/><Relationship Id="rId4" Type="http://schemas.openxmlformats.org/officeDocument/2006/relationships/image" Target="../media/image32.png"/><Relationship Id="rId5" Type="http://schemas.openxmlformats.org/officeDocument/2006/relationships/image" Target="../media/image44.png"/><Relationship Id="rId6" Type="http://schemas.openxmlformats.org/officeDocument/2006/relationships/image" Target="../media/image45.png"/><Relationship Id="rId7" Type="http://schemas.openxmlformats.org/officeDocument/2006/relationships/image" Target="../media/image46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e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7.png"/><Relationship Id="rId3" Type="http://schemas.openxmlformats.org/officeDocument/2006/relationships/image" Target="../media/image34.png"/><Relationship Id="rId4" Type="http://schemas.openxmlformats.org/officeDocument/2006/relationships/image" Target="../media/image48.png"/><Relationship Id="rId5" Type="http://schemas.openxmlformats.org/officeDocument/2006/relationships/image" Target="../media/image9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5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9.png"/><Relationship Id="rId3" Type="http://schemas.openxmlformats.org/officeDocument/2006/relationships/image" Target="../media/image50.png"/><Relationship Id="rId4" Type="http://schemas.openxmlformats.org/officeDocument/2006/relationships/image" Target="../media/image20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1.png"/><Relationship Id="rId3" Type="http://schemas.openxmlformats.org/officeDocument/2006/relationships/image" Target="../media/image5.png"/><Relationship Id="rId4" Type="http://schemas.openxmlformats.org/officeDocument/2006/relationships/image" Target="../media/image35.png"/><Relationship Id="rId5" Type="http://schemas.openxmlformats.org/officeDocument/2006/relationships/image" Target="../media/image34.png"/><Relationship Id="rId6" Type="http://schemas.openxmlformats.org/officeDocument/2006/relationships/image" Target="../media/image20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7.png"/><Relationship Id="rId3" Type="http://schemas.openxmlformats.org/officeDocument/2006/relationships/image" Target="../media/image17.png"/><Relationship Id="rId4" Type="http://schemas.openxmlformats.org/officeDocument/2006/relationships/image" Target="../media/image33.png"/><Relationship Id="rId5" Type="http://schemas.openxmlformats.org/officeDocument/2006/relationships/image" Target="../media/image52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e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3.png"/><Relationship Id="rId3" Type="http://schemas.openxmlformats.org/officeDocument/2006/relationships/image" Target="../media/image38.png"/><Relationship Id="rId4" Type="http://schemas.openxmlformats.org/officeDocument/2006/relationships/image" Target="../media/image27.png"/><Relationship Id="rId5" Type="http://schemas.openxmlformats.org/officeDocument/2006/relationships/image" Target="../media/image54.png"/><Relationship Id="rId6" Type="http://schemas.openxmlformats.org/officeDocument/2006/relationships/image" Target="../media/image20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5.png"/><Relationship Id="rId3" Type="http://schemas.openxmlformats.org/officeDocument/2006/relationships/image" Target="../media/image56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7.png"/><Relationship Id="rId3" Type="http://schemas.openxmlformats.org/officeDocument/2006/relationships/image" Target="../media/image58.png"/><Relationship Id="rId4" Type="http://schemas.openxmlformats.org/officeDocument/2006/relationships/image" Target="../media/image59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0.png"/><Relationship Id="rId3" Type="http://schemas.openxmlformats.org/officeDocument/2006/relationships/image" Target="../media/image61.png"/><Relationship Id="rId4" Type="http://schemas.openxmlformats.org/officeDocument/2006/relationships/image" Target="../media/image38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2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3.png"/><Relationship Id="rId3" Type="http://schemas.openxmlformats.org/officeDocument/2006/relationships/image" Target="../media/image64.png"/><Relationship Id="rId4" Type="http://schemas.openxmlformats.org/officeDocument/2006/relationships/image" Target="../media/image65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e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6.png"/><Relationship Id="rId3" Type="http://schemas.openxmlformats.org/officeDocument/2006/relationships/image" Target="../media/image67.png"/><Relationship Id="rId4" Type="http://schemas.openxmlformats.org/officeDocument/2006/relationships/image" Target="../media/image68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9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0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6.xml"/><Relationship Id="rId3" Type="http://schemas.openxmlformats.org/officeDocument/2006/relationships/image" Target="../media/image19.png"/><Relationship Id="rId4" Type="http://schemas.openxmlformats.org/officeDocument/2006/relationships/image" Target="../media/image7.png"/><Relationship Id="rId5" Type="http://schemas.openxmlformats.org/officeDocument/2006/relationships/image" Target="../media/image47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e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70.png"/><Relationship Id="rId3" Type="http://schemas.openxmlformats.org/officeDocument/2006/relationships/image" Target="../media/image17.png"/><Relationship Id="rId4" Type="http://schemas.openxmlformats.org/officeDocument/2006/relationships/image" Target="../media/image28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71.png"/><Relationship Id="rId3" Type="http://schemas.openxmlformats.org/officeDocument/2006/relationships/image" Target="../media/image17.png"/><Relationship Id="rId4" Type="http://schemas.openxmlformats.org/officeDocument/2006/relationships/image" Target="../media/image28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72.png"/><Relationship Id="rId3" Type="http://schemas.openxmlformats.org/officeDocument/2006/relationships/image" Target="../media/image17.png"/><Relationship Id="rId4" Type="http://schemas.openxmlformats.org/officeDocument/2006/relationships/image" Target="../media/image28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73.png"/><Relationship Id="rId3" Type="http://schemas.openxmlformats.org/officeDocument/2006/relationships/image" Target="../media/image17.png"/><Relationship Id="rId4" Type="http://schemas.openxmlformats.org/officeDocument/2006/relationships/image" Target="../media/image28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74.png"/><Relationship Id="rId3" Type="http://schemas.openxmlformats.org/officeDocument/2006/relationships/image" Target="../media/image17.png"/><Relationship Id="rId4" Type="http://schemas.openxmlformats.org/officeDocument/2006/relationships/image" Target="../media/image28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e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4.png"/><Relationship Id="rId3" Type="http://schemas.openxmlformats.org/officeDocument/2006/relationships/image" Target="../media/image5.png"/><Relationship Id="rId4" Type="http://schemas.openxmlformats.org/officeDocument/2006/relationships/image" Target="../media/image75.png"/><Relationship Id="rId5" Type="http://schemas.openxmlformats.org/officeDocument/2006/relationships/image" Target="../media/image13.png"/><Relationship Id="rId6" Type="http://schemas.openxmlformats.org/officeDocument/2006/relationships/image" Target="../media/image20.pn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76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77.png"/><Relationship Id="rId3" Type="http://schemas.openxmlformats.org/officeDocument/2006/relationships/image" Target="../media/image78.pn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79.png"/><Relationship Id="rId3" Type="http://schemas.openxmlformats.org/officeDocument/2006/relationships/image" Target="../media/image20.pn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80.pn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81.png"/><Relationship Id="rId3" Type="http://schemas.openxmlformats.org/officeDocument/2006/relationships/image" Target="../media/image21.png"/><Relationship Id="rId4" Type="http://schemas.openxmlformats.org/officeDocument/2006/relationships/image" Target="../media/image5.png"/><Relationship Id="rId5" Type="http://schemas.openxmlformats.org/officeDocument/2006/relationships/image" Target="../media/image82.png"/><Relationship Id="rId6" Type="http://schemas.openxmlformats.org/officeDocument/2006/relationships/image" Target="../media/image35.png"/><Relationship Id="rId7" Type="http://schemas.openxmlformats.org/officeDocument/2006/relationships/image" Target="../media/image17.png"/><Relationship Id="rId8" Type="http://schemas.openxmlformats.org/officeDocument/2006/relationships/image" Target="../media/image20.pn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83.pn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84.png"/><Relationship Id="rId3" Type="http://schemas.openxmlformats.org/officeDocument/2006/relationships/image" Target="../media/image85.png"/><Relationship Id="rId4" Type="http://schemas.openxmlformats.org/officeDocument/2006/relationships/image" Target="../media/image86.png"/><Relationship Id="rId5" Type="http://schemas.openxmlformats.org/officeDocument/2006/relationships/image" Target="../media/image20.pn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7.png"/><Relationship Id="rId3" Type="http://schemas.openxmlformats.org/officeDocument/2006/relationships/image" Target="../media/image5.png"/><Relationship Id="rId4" Type="http://schemas.openxmlformats.org/officeDocument/2006/relationships/image" Target="../media/image11.png"/><Relationship Id="rId5" Type="http://schemas.openxmlformats.org/officeDocument/2006/relationships/image" Target="../media/image34.png"/><Relationship Id="rId6" Type="http://schemas.openxmlformats.org/officeDocument/2006/relationships/image" Target="../media/image20.pn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87.png"/><Relationship Id="rId3" Type="http://schemas.openxmlformats.org/officeDocument/2006/relationships/image" Target="../media/image64.png"/><Relationship Id="rId4" Type="http://schemas.openxmlformats.org/officeDocument/2006/relationships/image" Target="../media/image88.png"/><Relationship Id="rId5" Type="http://schemas.openxmlformats.org/officeDocument/2006/relationships/image" Target="../media/image65.png"/><Relationship Id="rId6" Type="http://schemas.openxmlformats.org/officeDocument/2006/relationships/image" Target="../media/image89.png"/><Relationship Id="rId7" Type="http://schemas.openxmlformats.org/officeDocument/2006/relationships/image" Target="../media/image90.png"/><Relationship Id="rId8" Type="http://schemas.openxmlformats.org/officeDocument/2006/relationships/image" Target="../media/image91.pn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e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2.png"/><Relationship Id="rId3" Type="http://schemas.openxmlformats.org/officeDocument/2006/relationships/image" Target="../media/image92.png"/><Relationship Id="rId4" Type="http://schemas.openxmlformats.org/officeDocument/2006/relationships/image" Target="../media/image48.png"/><Relationship Id="rId5" Type="http://schemas.openxmlformats.org/officeDocument/2006/relationships/image" Target="../media/image81.png"/><Relationship Id="rId6" Type="http://schemas.openxmlformats.org/officeDocument/2006/relationships/image" Target="../media/image7.png"/><Relationship Id="rId7" Type="http://schemas.openxmlformats.org/officeDocument/2006/relationships/image" Target="../media/image20.png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93.png"/><Relationship Id="rId3" Type="http://schemas.openxmlformats.org/officeDocument/2006/relationships/image" Target="../media/image64.png"/><Relationship Id="rId4" Type="http://schemas.openxmlformats.org/officeDocument/2006/relationships/image" Target="../media/image94.png"/><Relationship Id="rId5" Type="http://schemas.openxmlformats.org/officeDocument/2006/relationships/image" Target="../media/image92.png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8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4.png"/><Relationship Id="rId3" Type="http://schemas.openxmlformats.org/officeDocument/2006/relationships/image" Target="../media/image7.png"/><Relationship Id="rId4" Type="http://schemas.openxmlformats.org/officeDocument/2006/relationships/image" Target="../media/image20.png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92.png"/><Relationship Id="rId3" Type="http://schemas.openxmlformats.org/officeDocument/2006/relationships/image" Target="../media/image85.png"/><Relationship Id="rId4" Type="http://schemas.openxmlformats.org/officeDocument/2006/relationships/image" Target="../media/image21.png"/><Relationship Id="rId5" Type="http://schemas.openxmlformats.org/officeDocument/2006/relationships/image" Target="../media/image75.png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95.png"/><Relationship Id="rId3" Type="http://schemas.openxmlformats.org/officeDocument/2006/relationships/image" Target="../media/image96.png"/><Relationship Id="rId4" Type="http://schemas.openxmlformats.org/officeDocument/2006/relationships/image" Target="../media/image34.png"/><Relationship Id="rId5" Type="http://schemas.openxmlformats.org/officeDocument/2006/relationships/image" Target="../media/image82.png"/><Relationship Id="rId6" Type="http://schemas.openxmlformats.org/officeDocument/2006/relationships/image" Target="../media/image5.png"/><Relationship Id="rId7" Type="http://schemas.openxmlformats.org/officeDocument/2006/relationships/image" Target="../media/image97.png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98.png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99.png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eg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00.png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00.png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00.png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00.png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00.png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01.png"/><Relationship Id="rId3" Type="http://schemas.openxmlformats.org/officeDocument/2006/relationships/image" Target="../media/image102.png"/><Relationship Id="rId4" Type="http://schemas.openxmlformats.org/officeDocument/2006/relationships/image" Target="../media/image103.png"/><Relationship Id="rId5" Type="http://schemas.openxmlformats.org/officeDocument/2006/relationships/image" Target="../media/image98.png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1.png"/><Relationship Id="rId3" Type="http://schemas.openxmlformats.org/officeDocument/2006/relationships/image" Target="../media/image34.png"/><Relationship Id="rId4" Type="http://schemas.openxmlformats.org/officeDocument/2006/relationships/image" Target="../media/image8.png"/><Relationship Id="rId5" Type="http://schemas.openxmlformats.org/officeDocument/2006/relationships/image" Target="../media/image104.png"/><Relationship Id="rId6" Type="http://schemas.openxmlformats.org/officeDocument/2006/relationships/image" Target="../media/image105.png"/><Relationship Id="rId7" Type="http://schemas.openxmlformats.org/officeDocument/2006/relationships/image" Target="../media/image106.png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4" name="מחבר ישר 3"/>
          <p:cNvCxnSpPr/>
          <p:nvPr/>
        </p:nvCxnSpPr>
        <p:spPr>
          <a:xfrm flipV="1">
            <a:off x="3033632" y="3390312"/>
            <a:ext cx="6241601" cy="1877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527048" y="3456432"/>
            <a:ext cx="9144000" cy="731520"/>
          </a:xfrm>
          <a:prstGeom prst="rect">
            <a:avLst/>
          </a:prstGeom>
          <a:noFill/>
        </p:spPr>
        <p:txBody>
          <a:bodyPr wrap="square" rtlCol="1"/>
          <a:lstStyle/>
          <a:p>
            <a:pPr algn="ctr" rtl="1"/>
            <a:r>
              <a:rPr lang="he-IL" sz="4000" dirty="0">
                <a:solidFill>
                  <a:srgbClr val="0081C8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תורת הבטון</a:t>
            </a:r>
          </a:p>
        </p:txBody>
      </p:sp>
      <p:sp>
        <p:nvSpPr>
          <p:cNvPr id="8" name="מלבן 7"/>
          <p:cNvSpPr/>
          <p:nvPr/>
        </p:nvSpPr>
        <p:spPr>
          <a:xfrm>
            <a:off x="386499" y="5693789"/>
            <a:ext cx="11528981" cy="100866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9" name="מציין מיקום תוכן 2"/>
          <p:cNvSpPr txBox="1">
            <a:spLocks/>
          </p:cNvSpPr>
          <p:nvPr/>
        </p:nvSpPr>
        <p:spPr>
          <a:xfrm>
            <a:off x="292608" y="6198123"/>
            <a:ext cx="2377440" cy="339536"/>
          </a:xfrm>
          <a:prstGeom prst="rect">
            <a:avLst/>
          </a:prstGeom>
        </p:spPr>
        <p:txBody>
          <a:bodyPr vert="horz" lIns="91440" tIns="45720" rIns="91440" bIns="45720" rtlCol="1" wrap="square"/>
          <a:lstStyle>
            <a:lvl1pPr marL="228600" indent="-228600" algn="r" defTabSz="914400" rtl="1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accent6">
                    <a:lumMod val="75000"/>
                  </a:schemeClr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 marL="6858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 Unicode MS" panose="020B0604020202020204" pitchFamily="34" charset="-128"/>
              <a:buChar char="₋"/>
              <a:defRPr sz="1800" kern="1200">
                <a:solidFill>
                  <a:schemeClr val="accent6">
                    <a:lumMod val="75000"/>
                  </a:schemeClr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 marL="11430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 Unicode MS" panose="020B0604020202020204" pitchFamily="34" charset="-128"/>
              <a:buChar char="₋"/>
              <a:defRPr sz="1600" kern="1200">
                <a:solidFill>
                  <a:schemeClr val="accent6">
                    <a:lumMod val="75000"/>
                  </a:schemeClr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 marL="16002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accent6">
                    <a:lumMod val="75000"/>
                  </a:schemeClr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 marL="20574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accent6">
                    <a:lumMod val="75000"/>
                  </a:schemeClr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 rtl="1">
              <a:buSzPct val="80000"/>
              <a:buNone/>
            </a:pPr>
            <a:r>
              <a:rPr lang="he-IL" sz="1200" dirty="0">
                <a:solidFill>
                  <a:srgbClr val="5F6B76"/>
                </a:solidFill>
                <a:latin typeface="Arial Unicode MS"/>
                <a:ea typeface="Arial Unicode MS"/>
                <a:cs typeface="Arial Unicode MS"/>
              </a:rPr>
              <a:t>אוקטובר 2026</a:t>
            </a:r>
          </a:p>
        </p:txBody>
      </p:sp>
      <p:pic>
        <p:nvPicPr>
          <p:cNvPr id="7" name="תמונה 6">
            <a:extLst>
              <a:ext uri="{FF2B5EF4-FFF2-40B4-BE49-F238E27FC236}">
                <a16:creationId xmlns:a16="http://schemas.microsoft.com/office/drawing/2014/main" id="{9C0450FA-88A1-4150-9ABF-2C16CCC2B898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28379" y="1677714"/>
            <a:ext cx="3821659" cy="164324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527048" y="4206240"/>
            <a:ext cx="9144000" cy="411480"/>
          </a:xfrm>
          <a:prstGeom prst="rect">
            <a:avLst/>
          </a:prstGeom>
          <a:noFill/>
        </p:spPr>
        <p:txBody>
          <a:bodyPr wrap="square" lIns="0" rIns="0" tIns="0" bIns="0" anchor="t" rtlCol="1">
            <a:spAutoFit/>
          </a:bodyPr>
          <a:lstStyle/>
          <a:p>
            <a:pPr algn="ctr" rtl="1" marL="0" indent="0">
              <a:spcAft>
                <a:spcPts val="400"/>
              </a:spcAft>
              <a:buNone/>
            </a:pPr>
            <a:r>
              <a:rPr lang="he-IL" sz="2200" b="0">
                <a:solidFill>
                  <a:srgbClr val="003973"/>
                </a:solidFill>
                <a:latin typeface="Arial Unicode MS"/>
                <a:ea typeface="Arial Unicode MS"/>
                <a:cs typeface="Arial Unicode MS"/>
              </a:rPr>
              <a:t>יסודות, איכות ומצוינות מקצועית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27048" y="4626864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 anchor="t" rtlCol="1">
            <a:spAutoFit/>
          </a:bodyPr>
          <a:lstStyle/>
          <a:p>
            <a:pPr algn="ctr" rtl="1" marL="0" indent="0">
              <a:spcAft>
                <a:spcPts val="400"/>
              </a:spcAft>
              <a:buNone/>
            </a:pPr>
            <a:r>
              <a:rPr lang="he-IL" sz="1300" b="0">
                <a:solidFill>
                  <a:srgbClr val="5F6B76"/>
                </a:solidFill>
                <a:latin typeface="Arial Unicode MS"/>
                <a:ea typeface="Arial Unicode MS"/>
                <a:cs typeface="Arial Unicode MS"/>
              </a:rPr>
              <a:t>Concrete Technology Fundamentals  |  אקדמיית טכנולוגיה ואיכות</a:t>
            </a:r>
          </a:p>
        </p:txBody>
      </p:sp>
      <p:pic>
        <p:nvPicPr>
          <p:cNvPr id="12" name="Picture 11" descr="skyl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74519" y="5074920"/>
            <a:ext cx="8412480" cy="135936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>
                <a:latin typeface="Arial Unicode MS"/>
                <a:ea typeface="Arial Unicode MS"/>
                <a:cs typeface="Arial Unicode MS"/>
              </a:rPr>
              <a:t>מטרות ההדרכה</a:t>
            </a:r>
          </a:p>
        </p:txBody>
      </p:sp>
      <p:sp>
        <p:nvSpPr>
          <p:cNvPr id="3" name="Oval 2"/>
          <p:cNvSpPr/>
          <p:nvPr/>
        </p:nvSpPr>
        <p:spPr>
          <a:xfrm>
            <a:off x="868680" y="1280160"/>
            <a:ext cx="3931920" cy="3931920"/>
          </a:xfrm>
          <a:prstGeom prst="ellipse">
            <a:avLst/>
          </a:prstGeom>
          <a:solidFill>
            <a:srgbClr val="DCE6F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325880" y="1737360"/>
            <a:ext cx="3017520" cy="3017520"/>
          </a:xfrm>
          <a:prstGeom prst="ellipse">
            <a:avLst/>
          </a:prstGeom>
          <a:solidFill>
            <a:srgbClr val="A9C6E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783080" y="2194560"/>
            <a:ext cx="2103120" cy="2103120"/>
          </a:xfrm>
          <a:prstGeom prst="ellipse">
            <a:avLst/>
          </a:prstGeom>
          <a:solidFill>
            <a:srgbClr val="0081C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286000" y="2697479"/>
            <a:ext cx="1097280" cy="1097280"/>
          </a:xfrm>
          <a:prstGeom prst="ellipse">
            <a:avLst/>
          </a:prstGeom>
          <a:solidFill>
            <a:srgbClr val="00397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7" name="Picture 6" descr="FaBullseye_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2032" y="2953512"/>
            <a:ext cx="585216" cy="585216"/>
          </a:xfrm>
          <a:prstGeom prst="rect">
            <a:avLst/>
          </a:prstGeom>
        </p:spPr>
      </p:pic>
      <p:cxnSp>
        <p:nvCxnSpPr>
          <p:cNvPr id="8" name="Connector 7"/>
          <p:cNvCxnSpPr/>
          <p:nvPr/>
        </p:nvCxnSpPr>
        <p:spPr>
          <a:xfrm flipH="1">
            <a:off x="3063240" y="1508760"/>
            <a:ext cx="2057400" cy="1554479"/>
          </a:xfrm>
          <a:prstGeom prst="line">
            <a:avLst/>
          </a:prstGeom>
          <a:ln w="50800">
            <a:solidFill>
              <a:srgbClr val="7E8F12"/>
            </a:solidFill>
            <a:tailEnd type="triangle"/>
          </a:ln>
        </p:spPr>
      </p:cxnSp>
      <p:sp>
        <p:nvSpPr>
          <p:cNvPr id="9" name="TextBox 8"/>
          <p:cNvSpPr txBox="1"/>
          <p:nvPr/>
        </p:nvSpPr>
        <p:spPr>
          <a:xfrm>
            <a:off x="822960" y="5440680"/>
            <a:ext cx="4023360" cy="548640"/>
          </a:xfrm>
          <a:prstGeom prst="rect">
            <a:avLst/>
          </a:prstGeom>
          <a:noFill/>
        </p:spPr>
        <p:txBody>
          <a:bodyPr wrap="square" lIns="0" rIns="0" tIns="0" bIns="0" anchor="t" rtlCol="1">
            <a:spAutoFit/>
          </a:bodyPr>
          <a:lstStyle/>
          <a:p>
            <a:pPr algn="ctr" rtl="1" marL="0" indent="0">
              <a:spcAft>
                <a:spcPts val="400"/>
              </a:spcAft>
              <a:buNone/>
            </a:pPr>
            <a:r>
              <a:rPr lang="he-IL" sz="1400" b="0">
                <a:solidFill>
                  <a:srgbClr val="5F6B76"/>
                </a:solidFill>
                <a:latin typeface="Arial Unicode MS"/>
                <a:ea typeface="Arial Unicode MS"/>
                <a:cs typeface="Arial Unicode MS"/>
              </a:rPr>
              <a:t>מטרה: משתתף שמבין את החומר — ומונע כשלים לפני שהם קורים</a:t>
            </a:r>
          </a:p>
        </p:txBody>
      </p:sp>
      <p:sp>
        <p:nvSpPr>
          <p:cNvPr id="10" name="Oval 9"/>
          <p:cNvSpPr/>
          <p:nvPr/>
        </p:nvSpPr>
        <p:spPr>
          <a:xfrm>
            <a:off x="10835640" y="1143000"/>
            <a:ext cx="640080" cy="640080"/>
          </a:xfrm>
          <a:prstGeom prst="ellipse">
            <a:avLst/>
          </a:prstGeom>
          <a:solidFill>
            <a:srgbClr val="0081C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Picture 10" descr="FaFlask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89259" y="1296619"/>
            <a:ext cx="332841" cy="332841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669280" y="1115568"/>
            <a:ext cx="5029200" cy="384048"/>
          </a:xfrm>
          <a:prstGeom prst="rect">
            <a:avLst/>
          </a:prstGeom>
          <a:noFill/>
        </p:spPr>
        <p:txBody>
          <a:bodyPr wrap="square" lIns="0" rIns="0" tIns="0" bIns="0" anchor="t" rtlCol="1">
            <a:spAutoFit/>
          </a:bodyPr>
          <a:lstStyle/>
          <a:p>
            <a:pPr algn="r" rtl="1" marL="0" indent="0">
              <a:spcAft>
                <a:spcPts val="400"/>
              </a:spcAft>
              <a:buNone/>
            </a:pPr>
            <a:r>
              <a:rPr lang="he-IL" sz="1900" b="1">
                <a:solidFill>
                  <a:srgbClr val="003973"/>
                </a:solidFill>
                <a:latin typeface="Arial Unicode MS"/>
                <a:ea typeface="Arial Unicode MS"/>
                <a:cs typeface="Arial Unicode MS"/>
              </a:rPr>
              <a:t>להבין כיצד נוצר בטון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0" y="1508760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 anchor="t" rtlCol="1">
            <a:spAutoFit/>
          </a:bodyPr>
          <a:lstStyle/>
          <a:p>
            <a:pPr algn="r" rtl="1" marL="0" indent="0">
              <a:spcAft>
                <a:spcPts val="400"/>
              </a:spcAft>
              <a:buNone/>
            </a:pPr>
            <a:r>
              <a:rPr lang="he-IL" sz="1500" b="0">
                <a:solidFill>
                  <a:srgbClr val="5F6B76"/>
                </a:solidFill>
                <a:latin typeface="Arial Unicode MS"/>
                <a:ea typeface="Arial Unicode MS"/>
                <a:cs typeface="Arial Unicode MS"/>
              </a:rPr>
              <a:t>מרכיבים, הידרציה ומבנה</a:t>
            </a:r>
          </a:p>
        </p:txBody>
      </p:sp>
      <p:sp>
        <p:nvSpPr>
          <p:cNvPr id="14" name="Oval 13"/>
          <p:cNvSpPr/>
          <p:nvPr/>
        </p:nvSpPr>
        <p:spPr>
          <a:xfrm>
            <a:off x="10835640" y="2039111"/>
            <a:ext cx="640080" cy="640080"/>
          </a:xfrm>
          <a:prstGeom prst="ellipse">
            <a:avLst/>
          </a:prstGeom>
          <a:solidFill>
            <a:srgbClr val="0081C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5" name="Picture 14" descr="FaCogs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89259" y="2192731"/>
            <a:ext cx="332841" cy="332841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669280" y="2011679"/>
            <a:ext cx="5029200" cy="384048"/>
          </a:xfrm>
          <a:prstGeom prst="rect">
            <a:avLst/>
          </a:prstGeom>
          <a:noFill/>
        </p:spPr>
        <p:txBody>
          <a:bodyPr wrap="square" lIns="0" rIns="0" tIns="0" bIns="0" anchor="t" rtlCol="1">
            <a:spAutoFit/>
          </a:bodyPr>
          <a:lstStyle/>
          <a:p>
            <a:pPr algn="r" rtl="1" marL="0" indent="0">
              <a:spcAft>
                <a:spcPts val="400"/>
              </a:spcAft>
              <a:buNone/>
            </a:pPr>
            <a:r>
              <a:rPr lang="he-IL" sz="1900" b="1">
                <a:solidFill>
                  <a:srgbClr val="003973"/>
                </a:solidFill>
                <a:latin typeface="Arial Unicode MS"/>
                <a:ea typeface="Arial Unicode MS"/>
                <a:cs typeface="Arial Unicode MS"/>
              </a:rPr>
              <a:t>להבין את גורמי האיכות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0" y="2404872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 anchor="t" rtlCol="1">
            <a:spAutoFit/>
          </a:bodyPr>
          <a:lstStyle/>
          <a:p>
            <a:pPr algn="r" rtl="1" marL="0" indent="0">
              <a:spcAft>
                <a:spcPts val="400"/>
              </a:spcAft>
              <a:buNone/>
            </a:pPr>
            <a:r>
              <a:rPr lang="he-IL" sz="1500" b="0">
                <a:solidFill>
                  <a:srgbClr val="5F6B76"/>
                </a:solidFill>
                <a:latin typeface="Arial Unicode MS"/>
                <a:ea typeface="Arial Unicode MS"/>
                <a:cs typeface="Arial Unicode MS"/>
              </a:rPr>
              <a:t>W/C, חומרי גלם, אשפרה</a:t>
            </a:r>
          </a:p>
        </p:txBody>
      </p:sp>
      <p:sp>
        <p:nvSpPr>
          <p:cNvPr id="18" name="Oval 17"/>
          <p:cNvSpPr/>
          <p:nvPr/>
        </p:nvSpPr>
        <p:spPr>
          <a:xfrm>
            <a:off x="10835640" y="2935224"/>
            <a:ext cx="640080" cy="640080"/>
          </a:xfrm>
          <a:prstGeom prst="ellipse">
            <a:avLst/>
          </a:prstGeom>
          <a:solidFill>
            <a:srgbClr val="0081C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9" name="Picture 18" descr="FaExclamationTriangle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89259" y="3088843"/>
            <a:ext cx="332841" cy="332841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5669280" y="2907792"/>
            <a:ext cx="5029200" cy="384048"/>
          </a:xfrm>
          <a:prstGeom prst="rect">
            <a:avLst/>
          </a:prstGeom>
          <a:noFill/>
        </p:spPr>
        <p:txBody>
          <a:bodyPr wrap="square" lIns="0" rIns="0" tIns="0" bIns="0" anchor="t" rtlCol="1">
            <a:spAutoFit/>
          </a:bodyPr>
          <a:lstStyle/>
          <a:p>
            <a:pPr algn="r" rtl="1" marL="0" indent="0">
              <a:spcAft>
                <a:spcPts val="400"/>
              </a:spcAft>
              <a:buNone/>
            </a:pPr>
            <a:r>
              <a:rPr lang="he-IL" sz="1900" b="1">
                <a:solidFill>
                  <a:srgbClr val="003973"/>
                </a:solidFill>
                <a:latin typeface="Arial Unicode MS"/>
                <a:ea typeface="Arial Unicode MS"/>
                <a:cs typeface="Arial Unicode MS"/>
              </a:rPr>
              <a:t>לזהות כשלים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0" y="3300984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 anchor="t" rtlCol="1">
            <a:spAutoFit/>
          </a:bodyPr>
          <a:lstStyle/>
          <a:p>
            <a:pPr algn="r" rtl="1" marL="0" indent="0">
              <a:spcAft>
                <a:spcPts val="400"/>
              </a:spcAft>
              <a:buNone/>
            </a:pPr>
            <a:r>
              <a:rPr lang="he-IL" sz="1500" b="0">
                <a:solidFill>
                  <a:srgbClr val="5F6B76"/>
                </a:solidFill>
                <a:latin typeface="Arial Unicode MS"/>
                <a:ea typeface="Arial Unicode MS"/>
                <a:cs typeface="Arial Unicode MS"/>
              </a:rPr>
              <a:t>סגרגציה, דימום, קיני חצץ, סדיקה</a:t>
            </a:r>
          </a:p>
        </p:txBody>
      </p:sp>
      <p:sp>
        <p:nvSpPr>
          <p:cNvPr id="22" name="Oval 21"/>
          <p:cNvSpPr/>
          <p:nvPr/>
        </p:nvSpPr>
        <p:spPr>
          <a:xfrm>
            <a:off x="10835640" y="3831336"/>
            <a:ext cx="640080" cy="640080"/>
          </a:xfrm>
          <a:prstGeom prst="ellipse">
            <a:avLst/>
          </a:prstGeom>
          <a:solidFill>
            <a:srgbClr val="0081C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Picture 22" descr="FaClipboardCheck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89259" y="3984955"/>
            <a:ext cx="332841" cy="332841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5669280" y="3803903"/>
            <a:ext cx="5029200" cy="384048"/>
          </a:xfrm>
          <a:prstGeom prst="rect">
            <a:avLst/>
          </a:prstGeom>
          <a:noFill/>
        </p:spPr>
        <p:txBody>
          <a:bodyPr wrap="square" lIns="0" rIns="0" tIns="0" bIns="0" anchor="t" rtlCol="1">
            <a:spAutoFit/>
          </a:bodyPr>
          <a:lstStyle/>
          <a:p>
            <a:pPr algn="r" rtl="1" marL="0" indent="0">
              <a:spcAft>
                <a:spcPts val="400"/>
              </a:spcAft>
              <a:buNone/>
            </a:pPr>
            <a:r>
              <a:rPr lang="he-IL" sz="1900" b="1">
                <a:solidFill>
                  <a:srgbClr val="003973"/>
                </a:solidFill>
                <a:latin typeface="Arial Unicode MS"/>
                <a:ea typeface="Arial Unicode MS"/>
                <a:cs typeface="Arial Unicode MS"/>
              </a:rPr>
              <a:t>לבצע בקרת איכות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0" y="4197096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 anchor="t" rtlCol="1">
            <a:spAutoFit/>
          </a:bodyPr>
          <a:lstStyle/>
          <a:p>
            <a:pPr algn="r" rtl="1" marL="0" indent="0">
              <a:spcAft>
                <a:spcPts val="400"/>
              </a:spcAft>
              <a:buNone/>
            </a:pPr>
            <a:r>
              <a:rPr lang="he-IL" sz="1500" b="0">
                <a:solidFill>
                  <a:srgbClr val="5F6B76"/>
                </a:solidFill>
                <a:latin typeface="Arial Unicode MS"/>
                <a:ea typeface="Arial Unicode MS"/>
                <a:cs typeface="Arial Unicode MS"/>
              </a:rPr>
              <a:t>בדיקות טרי, קשוח וחומרי גלם</a:t>
            </a:r>
          </a:p>
        </p:txBody>
      </p:sp>
      <p:sp>
        <p:nvSpPr>
          <p:cNvPr id="26" name="Oval 25"/>
          <p:cNvSpPr/>
          <p:nvPr/>
        </p:nvSpPr>
        <p:spPr>
          <a:xfrm>
            <a:off x="10835640" y="4727448"/>
            <a:ext cx="640080" cy="640080"/>
          </a:xfrm>
          <a:prstGeom prst="ellipse">
            <a:avLst/>
          </a:prstGeom>
          <a:solidFill>
            <a:srgbClr val="0081C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7" name="Picture 26" descr="FaBook_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989259" y="4881067"/>
            <a:ext cx="332841" cy="332841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5669280" y="4700016"/>
            <a:ext cx="5029200" cy="384048"/>
          </a:xfrm>
          <a:prstGeom prst="rect">
            <a:avLst/>
          </a:prstGeom>
          <a:noFill/>
        </p:spPr>
        <p:txBody>
          <a:bodyPr wrap="square" lIns="0" rIns="0" tIns="0" bIns="0" anchor="t" rtlCol="1">
            <a:spAutoFit/>
          </a:bodyPr>
          <a:lstStyle/>
          <a:p>
            <a:pPr algn="r" rtl="1" marL="0" indent="0">
              <a:spcAft>
                <a:spcPts val="400"/>
              </a:spcAft>
              <a:buNone/>
            </a:pPr>
            <a:r>
              <a:rPr lang="he-IL" sz="1900" b="1">
                <a:solidFill>
                  <a:srgbClr val="003973"/>
                </a:solidFill>
                <a:latin typeface="Arial Unicode MS"/>
                <a:ea typeface="Arial Unicode MS"/>
                <a:cs typeface="Arial Unicode MS"/>
              </a:rPr>
              <a:t>להכיר תקנים ודרישות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69280" y="5093208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 anchor="t" rtlCol="1">
            <a:spAutoFit/>
          </a:bodyPr>
          <a:lstStyle/>
          <a:p>
            <a:pPr algn="r" rtl="1" marL="0" indent="0">
              <a:spcAft>
                <a:spcPts val="400"/>
              </a:spcAft>
              <a:buNone/>
            </a:pPr>
            <a:r>
              <a:rPr lang="he-IL" sz="1500" b="0">
                <a:solidFill>
                  <a:srgbClr val="5F6B76"/>
                </a:solidFill>
                <a:latin typeface="Arial Unicode MS"/>
                <a:ea typeface="Arial Unicode MS"/>
                <a:cs typeface="Arial Unicode MS"/>
              </a:rPr>
              <a:t>ת"י, EN ו-ASTM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>
                <a:latin typeface="Arial Unicode MS"/>
                <a:ea typeface="Arial Unicode MS"/>
                <a:cs typeface="Arial Unicode MS"/>
              </a:rPr>
              <a:t>שרשרת הערך של הבטון</a:t>
            </a:r>
          </a:p>
        </p:txBody>
      </p:sp>
      <p:sp>
        <p:nvSpPr>
          <p:cNvPr id="3" name="Oval 2"/>
          <p:cNvSpPr/>
          <p:nvPr/>
        </p:nvSpPr>
        <p:spPr>
          <a:xfrm>
            <a:off x="10355580" y="1325880"/>
            <a:ext cx="914400" cy="914400"/>
          </a:xfrm>
          <a:prstGeom prst="ellipse">
            <a:avLst/>
          </a:prstGeom>
          <a:solidFill>
            <a:srgbClr val="0081C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4" name="Picture 3" descr="FaMountain_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5036" y="1545336"/>
            <a:ext cx="475488" cy="47548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104120" y="2377440"/>
            <a:ext cx="1417320" cy="384048"/>
          </a:xfrm>
          <a:prstGeom prst="rect">
            <a:avLst/>
          </a:prstGeom>
          <a:noFill/>
        </p:spPr>
        <p:txBody>
          <a:bodyPr wrap="square" lIns="0" rIns="0" tIns="0" bIns="0" anchor="t" rtlCol="1">
            <a:spAutoFit/>
          </a:bodyPr>
          <a:lstStyle/>
          <a:p>
            <a:pPr algn="ctr" rtl="1" marL="0" indent="0">
              <a:spcAft>
                <a:spcPts val="400"/>
              </a:spcAft>
              <a:buNone/>
            </a:pPr>
            <a:r>
              <a:rPr lang="he-IL" sz="1700" b="1">
                <a:solidFill>
                  <a:srgbClr val="003973"/>
                </a:solidFill>
                <a:latin typeface="Arial Unicode MS"/>
                <a:ea typeface="Arial Unicode MS"/>
                <a:cs typeface="Arial Unicode MS"/>
              </a:rPr>
              <a:t>מחצבה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04120" y="2761488"/>
            <a:ext cx="1417320" cy="731520"/>
          </a:xfrm>
          <a:prstGeom prst="rect">
            <a:avLst/>
          </a:prstGeom>
          <a:noFill/>
        </p:spPr>
        <p:txBody>
          <a:bodyPr wrap="square" lIns="0" rIns="0" tIns="0" bIns="0" anchor="t" rtlCol="1">
            <a:spAutoFit/>
          </a:bodyPr>
          <a:lstStyle/>
          <a:p>
            <a:pPr algn="ctr" rtl="1" marL="0" indent="0">
              <a:spcAft>
                <a:spcPts val="400"/>
              </a:spcAft>
              <a:buNone/>
            </a:pPr>
            <a:r>
              <a:rPr lang="he-IL" sz="1300" b="0">
                <a:solidFill>
                  <a:srgbClr val="5F6B76"/>
                </a:solidFill>
                <a:latin typeface="Arial Unicode MS"/>
                <a:ea typeface="Arial Unicode MS"/>
                <a:cs typeface="Arial Unicode MS"/>
              </a:rPr>
              <a:t>סוג הסלע וניקיונו</a:t>
            </a:r>
          </a:p>
        </p:txBody>
      </p:sp>
      <p:cxnSp>
        <p:nvCxnSpPr>
          <p:cNvPr id="7" name="Connector 6"/>
          <p:cNvCxnSpPr/>
          <p:nvPr/>
        </p:nvCxnSpPr>
        <p:spPr>
          <a:xfrm flipH="1">
            <a:off x="9939528" y="1783080"/>
            <a:ext cx="192024" cy="0"/>
          </a:xfrm>
          <a:prstGeom prst="line">
            <a:avLst/>
          </a:prstGeom>
          <a:ln w="31750">
            <a:solidFill>
              <a:srgbClr val="A3B1BA"/>
            </a:solidFill>
            <a:tailEnd type="triangle"/>
          </a:ln>
        </p:spPr>
      </p:cxnSp>
      <p:sp>
        <p:nvSpPr>
          <p:cNvPr id="8" name="Oval 7"/>
          <p:cNvSpPr/>
          <p:nvPr/>
        </p:nvSpPr>
        <p:spPr>
          <a:xfrm>
            <a:off x="8801100" y="1325880"/>
            <a:ext cx="914400" cy="914400"/>
          </a:xfrm>
          <a:prstGeom prst="ellipse">
            <a:avLst/>
          </a:prstGeom>
          <a:solidFill>
            <a:srgbClr val="0081C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9" name="Picture 8" descr="FaFilter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20556" y="1545336"/>
            <a:ext cx="475488" cy="47548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549640" y="2377440"/>
            <a:ext cx="1417320" cy="384048"/>
          </a:xfrm>
          <a:prstGeom prst="rect">
            <a:avLst/>
          </a:prstGeom>
          <a:noFill/>
        </p:spPr>
        <p:txBody>
          <a:bodyPr wrap="square" lIns="0" rIns="0" tIns="0" bIns="0" anchor="t" rtlCol="1">
            <a:spAutoFit/>
          </a:bodyPr>
          <a:lstStyle/>
          <a:p>
            <a:pPr algn="ctr" rtl="1" marL="0" indent="0">
              <a:spcAft>
                <a:spcPts val="400"/>
              </a:spcAft>
              <a:buNone/>
            </a:pPr>
            <a:r>
              <a:rPr lang="he-IL" sz="1700" b="1">
                <a:solidFill>
                  <a:srgbClr val="003973"/>
                </a:solidFill>
                <a:latin typeface="Arial Unicode MS"/>
                <a:ea typeface="Arial Unicode MS"/>
                <a:cs typeface="Arial Unicode MS"/>
              </a:rPr>
              <a:t>מפעל אגרגטים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49640" y="2761488"/>
            <a:ext cx="1417320" cy="731520"/>
          </a:xfrm>
          <a:prstGeom prst="rect">
            <a:avLst/>
          </a:prstGeom>
          <a:noFill/>
        </p:spPr>
        <p:txBody>
          <a:bodyPr wrap="square" lIns="0" rIns="0" tIns="0" bIns="0" anchor="t" rtlCol="1">
            <a:spAutoFit/>
          </a:bodyPr>
          <a:lstStyle/>
          <a:p>
            <a:pPr algn="ctr" rtl="1" marL="0" indent="0">
              <a:spcAft>
                <a:spcPts val="400"/>
              </a:spcAft>
              <a:buNone/>
            </a:pPr>
            <a:r>
              <a:rPr lang="he-IL" sz="1300" b="0">
                <a:solidFill>
                  <a:srgbClr val="5F6B76"/>
                </a:solidFill>
                <a:latin typeface="Arial Unicode MS"/>
                <a:ea typeface="Arial Unicode MS"/>
                <a:cs typeface="Arial Unicode MS"/>
              </a:rPr>
              <a:t>גריסה, ניפוי, שטיפה</a:t>
            </a:r>
          </a:p>
        </p:txBody>
      </p:sp>
      <p:cxnSp>
        <p:nvCxnSpPr>
          <p:cNvPr id="12" name="Connector 11"/>
          <p:cNvCxnSpPr/>
          <p:nvPr/>
        </p:nvCxnSpPr>
        <p:spPr>
          <a:xfrm flipH="1">
            <a:off x="8385048" y="1783080"/>
            <a:ext cx="192024" cy="0"/>
          </a:xfrm>
          <a:prstGeom prst="line">
            <a:avLst/>
          </a:prstGeom>
          <a:ln w="31750">
            <a:solidFill>
              <a:srgbClr val="A3B1BA"/>
            </a:solidFill>
            <a:tailEnd type="triangle"/>
          </a:ln>
        </p:spPr>
      </p:cxnSp>
      <p:sp>
        <p:nvSpPr>
          <p:cNvPr id="13" name="Oval 12"/>
          <p:cNvSpPr/>
          <p:nvPr/>
        </p:nvSpPr>
        <p:spPr>
          <a:xfrm>
            <a:off x="7246620" y="1325880"/>
            <a:ext cx="914400" cy="914400"/>
          </a:xfrm>
          <a:prstGeom prst="ellipse">
            <a:avLst/>
          </a:prstGeom>
          <a:solidFill>
            <a:srgbClr val="0081C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Picture 13" descr="FaWarehouse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66076" y="1545336"/>
            <a:ext cx="475488" cy="47548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995160" y="2377440"/>
            <a:ext cx="1417320" cy="384048"/>
          </a:xfrm>
          <a:prstGeom prst="rect">
            <a:avLst/>
          </a:prstGeom>
          <a:noFill/>
        </p:spPr>
        <p:txBody>
          <a:bodyPr wrap="square" lIns="0" rIns="0" tIns="0" bIns="0" anchor="t" rtlCol="1">
            <a:spAutoFit/>
          </a:bodyPr>
          <a:lstStyle/>
          <a:p>
            <a:pPr algn="ctr" rtl="1" marL="0" indent="0">
              <a:spcAft>
                <a:spcPts val="400"/>
              </a:spcAft>
              <a:buNone/>
            </a:pPr>
            <a:r>
              <a:rPr lang="he-IL" sz="1700" b="1">
                <a:solidFill>
                  <a:srgbClr val="003973"/>
                </a:solidFill>
                <a:latin typeface="Arial Unicode MS"/>
                <a:ea typeface="Arial Unicode MS"/>
                <a:cs typeface="Arial Unicode MS"/>
              </a:rPr>
              <a:t>צמנט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95160" y="2761488"/>
            <a:ext cx="1417320" cy="731520"/>
          </a:xfrm>
          <a:prstGeom prst="rect">
            <a:avLst/>
          </a:prstGeom>
          <a:noFill/>
        </p:spPr>
        <p:txBody>
          <a:bodyPr wrap="square" lIns="0" rIns="0" tIns="0" bIns="0" anchor="t" rtlCol="1">
            <a:spAutoFit/>
          </a:bodyPr>
          <a:lstStyle/>
          <a:p>
            <a:pPr algn="ctr" rtl="1" marL="0" indent="0">
              <a:spcAft>
                <a:spcPts val="400"/>
              </a:spcAft>
              <a:buNone/>
            </a:pPr>
            <a:r>
              <a:rPr lang="he-IL" sz="1300" b="0">
                <a:solidFill>
                  <a:srgbClr val="5F6B76"/>
                </a:solidFill>
                <a:latin typeface="Arial Unicode MS"/>
                <a:ea typeface="Arial Unicode MS"/>
                <a:cs typeface="Arial Unicode MS"/>
              </a:rPr>
              <a:t>סוג, חוזק, אחידות</a:t>
            </a:r>
          </a:p>
        </p:txBody>
      </p:sp>
      <p:cxnSp>
        <p:nvCxnSpPr>
          <p:cNvPr id="17" name="Connector 16"/>
          <p:cNvCxnSpPr/>
          <p:nvPr/>
        </p:nvCxnSpPr>
        <p:spPr>
          <a:xfrm flipH="1">
            <a:off x="6830568" y="1783080"/>
            <a:ext cx="192024" cy="0"/>
          </a:xfrm>
          <a:prstGeom prst="line">
            <a:avLst/>
          </a:prstGeom>
          <a:ln w="31750">
            <a:solidFill>
              <a:srgbClr val="A3B1BA"/>
            </a:solidFill>
            <a:tailEnd type="triangle"/>
          </a:ln>
        </p:spPr>
      </p:cxnSp>
      <p:sp>
        <p:nvSpPr>
          <p:cNvPr id="18" name="Oval 17"/>
          <p:cNvSpPr/>
          <p:nvPr/>
        </p:nvSpPr>
        <p:spPr>
          <a:xfrm>
            <a:off x="5692140" y="1325880"/>
            <a:ext cx="914400" cy="914400"/>
          </a:xfrm>
          <a:prstGeom prst="ellipse">
            <a:avLst/>
          </a:prstGeom>
          <a:solidFill>
            <a:srgbClr val="00397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9" name="Picture 18" descr="FaIndustry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11596" y="1545336"/>
            <a:ext cx="475488" cy="47548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5440680" y="2377440"/>
            <a:ext cx="1417320" cy="384048"/>
          </a:xfrm>
          <a:prstGeom prst="rect">
            <a:avLst/>
          </a:prstGeom>
          <a:noFill/>
        </p:spPr>
        <p:txBody>
          <a:bodyPr wrap="square" lIns="0" rIns="0" tIns="0" bIns="0" anchor="t" rtlCol="1">
            <a:spAutoFit/>
          </a:bodyPr>
          <a:lstStyle/>
          <a:p>
            <a:pPr algn="ctr" rtl="1" marL="0" indent="0">
              <a:spcAft>
                <a:spcPts val="400"/>
              </a:spcAft>
              <a:buNone/>
            </a:pPr>
            <a:r>
              <a:rPr lang="he-IL" sz="1700" b="1">
                <a:solidFill>
                  <a:srgbClr val="003973"/>
                </a:solidFill>
                <a:latin typeface="Arial Unicode MS"/>
                <a:ea typeface="Arial Unicode MS"/>
                <a:cs typeface="Arial Unicode MS"/>
              </a:rPr>
              <a:t>מפעל בטון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40680" y="2761488"/>
            <a:ext cx="1417320" cy="731520"/>
          </a:xfrm>
          <a:prstGeom prst="rect">
            <a:avLst/>
          </a:prstGeom>
          <a:noFill/>
        </p:spPr>
        <p:txBody>
          <a:bodyPr wrap="square" lIns="0" rIns="0" tIns="0" bIns="0" anchor="t" rtlCol="1">
            <a:spAutoFit/>
          </a:bodyPr>
          <a:lstStyle/>
          <a:p>
            <a:pPr algn="ctr" rtl="1" marL="0" indent="0">
              <a:spcAft>
                <a:spcPts val="400"/>
              </a:spcAft>
              <a:buNone/>
            </a:pPr>
            <a:r>
              <a:rPr lang="he-IL" sz="1300" b="0">
                <a:solidFill>
                  <a:srgbClr val="5F6B76"/>
                </a:solidFill>
                <a:latin typeface="Arial Unicode MS"/>
                <a:ea typeface="Arial Unicode MS"/>
                <a:cs typeface="Arial Unicode MS"/>
              </a:rPr>
              <a:t>תכן תערובת, שקילה, ערבוב</a:t>
            </a:r>
          </a:p>
        </p:txBody>
      </p:sp>
      <p:cxnSp>
        <p:nvCxnSpPr>
          <p:cNvPr id="22" name="Connector 21"/>
          <p:cNvCxnSpPr/>
          <p:nvPr/>
        </p:nvCxnSpPr>
        <p:spPr>
          <a:xfrm flipH="1">
            <a:off x="5276088" y="1783080"/>
            <a:ext cx="192024" cy="0"/>
          </a:xfrm>
          <a:prstGeom prst="line">
            <a:avLst/>
          </a:prstGeom>
          <a:ln w="31750">
            <a:solidFill>
              <a:srgbClr val="A3B1BA"/>
            </a:solidFill>
            <a:tailEnd type="triangle"/>
          </a:ln>
        </p:spPr>
      </p:cxnSp>
      <p:sp>
        <p:nvSpPr>
          <p:cNvPr id="23" name="Oval 22"/>
          <p:cNvSpPr/>
          <p:nvPr/>
        </p:nvSpPr>
        <p:spPr>
          <a:xfrm>
            <a:off x="4137660" y="1325880"/>
            <a:ext cx="914400" cy="914400"/>
          </a:xfrm>
          <a:prstGeom prst="ellipse">
            <a:avLst/>
          </a:prstGeom>
          <a:solidFill>
            <a:srgbClr val="0081C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4" name="Picture 23" descr="FaTruck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57116" y="1545336"/>
            <a:ext cx="475488" cy="475488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3886200" y="2377440"/>
            <a:ext cx="1417320" cy="384048"/>
          </a:xfrm>
          <a:prstGeom prst="rect">
            <a:avLst/>
          </a:prstGeom>
          <a:noFill/>
        </p:spPr>
        <p:txBody>
          <a:bodyPr wrap="square" lIns="0" rIns="0" tIns="0" bIns="0" anchor="t" rtlCol="1">
            <a:spAutoFit/>
          </a:bodyPr>
          <a:lstStyle/>
          <a:p>
            <a:pPr algn="ctr" rtl="1" marL="0" indent="0">
              <a:spcAft>
                <a:spcPts val="400"/>
              </a:spcAft>
              <a:buNone/>
            </a:pPr>
            <a:r>
              <a:rPr lang="he-IL" sz="1700" b="1">
                <a:solidFill>
                  <a:srgbClr val="003973"/>
                </a:solidFill>
                <a:latin typeface="Arial Unicode MS"/>
                <a:ea typeface="Arial Unicode MS"/>
                <a:cs typeface="Arial Unicode MS"/>
              </a:rPr>
              <a:t>הובלה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886200" y="2761488"/>
            <a:ext cx="1417320" cy="731520"/>
          </a:xfrm>
          <a:prstGeom prst="rect">
            <a:avLst/>
          </a:prstGeom>
          <a:noFill/>
        </p:spPr>
        <p:txBody>
          <a:bodyPr wrap="square" lIns="0" rIns="0" tIns="0" bIns="0" anchor="t" rtlCol="1">
            <a:spAutoFit/>
          </a:bodyPr>
          <a:lstStyle/>
          <a:p>
            <a:pPr algn="ctr" rtl="1" marL="0" indent="0">
              <a:spcAft>
                <a:spcPts val="400"/>
              </a:spcAft>
              <a:buNone/>
            </a:pPr>
            <a:r>
              <a:rPr lang="he-IL" sz="1300" b="0">
                <a:solidFill>
                  <a:srgbClr val="5F6B76"/>
                </a:solidFill>
                <a:latin typeface="Arial Unicode MS"/>
                <a:ea typeface="Arial Unicode MS"/>
                <a:cs typeface="Arial Unicode MS"/>
              </a:rPr>
              <a:t>זמן, טמפרטורה, ללא תוספת מים</a:t>
            </a:r>
          </a:p>
        </p:txBody>
      </p:sp>
      <p:cxnSp>
        <p:nvCxnSpPr>
          <p:cNvPr id="27" name="Connector 26"/>
          <p:cNvCxnSpPr/>
          <p:nvPr/>
        </p:nvCxnSpPr>
        <p:spPr>
          <a:xfrm flipH="1">
            <a:off x="3721608" y="1783080"/>
            <a:ext cx="192024" cy="0"/>
          </a:xfrm>
          <a:prstGeom prst="line">
            <a:avLst/>
          </a:prstGeom>
          <a:ln w="31750">
            <a:solidFill>
              <a:srgbClr val="A3B1BA"/>
            </a:solidFill>
            <a:tailEnd type="triangle"/>
          </a:ln>
        </p:spPr>
      </p:cxnSp>
      <p:sp>
        <p:nvSpPr>
          <p:cNvPr id="28" name="Oval 27"/>
          <p:cNvSpPr/>
          <p:nvPr/>
        </p:nvSpPr>
        <p:spPr>
          <a:xfrm>
            <a:off x="2583180" y="1325880"/>
            <a:ext cx="914400" cy="914400"/>
          </a:xfrm>
          <a:prstGeom prst="ellipse">
            <a:avLst/>
          </a:prstGeom>
          <a:solidFill>
            <a:srgbClr val="0081C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9" name="Picture 28" descr="FaHardHat_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02636" y="1545336"/>
            <a:ext cx="475488" cy="475488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331720" y="2377440"/>
            <a:ext cx="1417320" cy="384048"/>
          </a:xfrm>
          <a:prstGeom prst="rect">
            <a:avLst/>
          </a:prstGeom>
          <a:noFill/>
        </p:spPr>
        <p:txBody>
          <a:bodyPr wrap="square" lIns="0" rIns="0" tIns="0" bIns="0" anchor="t" rtlCol="1">
            <a:spAutoFit/>
          </a:bodyPr>
          <a:lstStyle/>
          <a:p>
            <a:pPr algn="ctr" rtl="1" marL="0" indent="0">
              <a:spcAft>
                <a:spcPts val="400"/>
              </a:spcAft>
              <a:buNone/>
            </a:pPr>
            <a:r>
              <a:rPr lang="he-IL" sz="1700" b="1">
                <a:solidFill>
                  <a:srgbClr val="003973"/>
                </a:solidFill>
                <a:latin typeface="Arial Unicode MS"/>
                <a:ea typeface="Arial Unicode MS"/>
                <a:cs typeface="Arial Unicode MS"/>
              </a:rPr>
              <a:t>אתר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331720" y="2761488"/>
            <a:ext cx="1417320" cy="731520"/>
          </a:xfrm>
          <a:prstGeom prst="rect">
            <a:avLst/>
          </a:prstGeom>
          <a:noFill/>
        </p:spPr>
        <p:txBody>
          <a:bodyPr wrap="square" lIns="0" rIns="0" tIns="0" bIns="0" anchor="t" rtlCol="1">
            <a:spAutoFit/>
          </a:bodyPr>
          <a:lstStyle/>
          <a:p>
            <a:pPr algn="ctr" rtl="1" marL="0" indent="0">
              <a:spcAft>
                <a:spcPts val="400"/>
              </a:spcAft>
              <a:buNone/>
            </a:pPr>
            <a:r>
              <a:rPr lang="he-IL" sz="1300" b="0">
                <a:solidFill>
                  <a:srgbClr val="5F6B76"/>
                </a:solidFill>
                <a:latin typeface="Arial Unicode MS"/>
                <a:ea typeface="Arial Unicode MS"/>
                <a:cs typeface="Arial Unicode MS"/>
              </a:rPr>
              <a:t>יציקה, ריטוט, אשפרה</a:t>
            </a:r>
          </a:p>
        </p:txBody>
      </p:sp>
      <p:cxnSp>
        <p:nvCxnSpPr>
          <p:cNvPr id="32" name="Connector 31"/>
          <p:cNvCxnSpPr/>
          <p:nvPr/>
        </p:nvCxnSpPr>
        <p:spPr>
          <a:xfrm flipH="1">
            <a:off x="2167128" y="1783080"/>
            <a:ext cx="192024" cy="0"/>
          </a:xfrm>
          <a:prstGeom prst="line">
            <a:avLst/>
          </a:prstGeom>
          <a:ln w="31750">
            <a:solidFill>
              <a:srgbClr val="A3B1BA"/>
            </a:solidFill>
            <a:tailEnd type="triangle"/>
          </a:ln>
        </p:spPr>
      </p:cxnSp>
      <p:sp>
        <p:nvSpPr>
          <p:cNvPr id="33" name="Oval 32"/>
          <p:cNvSpPr/>
          <p:nvPr/>
        </p:nvSpPr>
        <p:spPr>
          <a:xfrm>
            <a:off x="1028700" y="1325880"/>
            <a:ext cx="914400" cy="914400"/>
          </a:xfrm>
          <a:prstGeom prst="ellipse">
            <a:avLst/>
          </a:prstGeom>
          <a:solidFill>
            <a:srgbClr val="0081C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4" name="Picture 33" descr="FaBuilding_w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48156" y="1545336"/>
            <a:ext cx="475488" cy="475488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777240" y="2377440"/>
            <a:ext cx="1417320" cy="384048"/>
          </a:xfrm>
          <a:prstGeom prst="rect">
            <a:avLst/>
          </a:prstGeom>
          <a:noFill/>
        </p:spPr>
        <p:txBody>
          <a:bodyPr wrap="square" lIns="0" rIns="0" tIns="0" bIns="0" anchor="t" rtlCol="1">
            <a:spAutoFit/>
          </a:bodyPr>
          <a:lstStyle/>
          <a:p>
            <a:pPr algn="ctr" rtl="1" marL="0" indent="0">
              <a:spcAft>
                <a:spcPts val="400"/>
              </a:spcAft>
              <a:buNone/>
            </a:pPr>
            <a:r>
              <a:rPr lang="he-IL" sz="1700" b="1">
                <a:solidFill>
                  <a:srgbClr val="003973"/>
                </a:solidFill>
                <a:latin typeface="Arial Unicode MS"/>
                <a:ea typeface="Arial Unicode MS"/>
                <a:cs typeface="Arial Unicode MS"/>
              </a:rPr>
              <a:t>לקוח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7240" y="2761488"/>
            <a:ext cx="1417320" cy="731520"/>
          </a:xfrm>
          <a:prstGeom prst="rect">
            <a:avLst/>
          </a:prstGeom>
          <a:noFill/>
        </p:spPr>
        <p:txBody>
          <a:bodyPr wrap="square" lIns="0" rIns="0" tIns="0" bIns="0" anchor="t" rtlCol="1">
            <a:spAutoFit/>
          </a:bodyPr>
          <a:lstStyle/>
          <a:p>
            <a:pPr algn="ctr" rtl="1" marL="0" indent="0">
              <a:spcAft>
                <a:spcPts val="400"/>
              </a:spcAft>
              <a:buNone/>
            </a:pPr>
            <a:r>
              <a:rPr lang="he-IL" sz="1300" b="0">
                <a:solidFill>
                  <a:srgbClr val="5F6B76"/>
                </a:solidFill>
                <a:latin typeface="Arial Unicode MS"/>
                <a:ea typeface="Arial Unicode MS"/>
                <a:cs typeface="Arial Unicode MS"/>
              </a:rPr>
              <a:t>מבנה עמיד לעשרות שנים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22960" y="3703320"/>
            <a:ext cx="10652760" cy="1325880"/>
          </a:xfrm>
          <a:prstGeom prst="roundRect">
            <a:avLst>
              <a:gd name="adj" fmla="val 8000"/>
            </a:avLst>
          </a:prstGeom>
          <a:solidFill>
            <a:srgbClr val="F3F5F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0927080" y="3886200"/>
            <a:ext cx="457200" cy="457200"/>
          </a:xfrm>
          <a:prstGeom prst="ellipse">
            <a:avLst/>
          </a:prstGeom>
          <a:solidFill>
            <a:srgbClr val="00397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9" name="Picture 38" descr="FaSearch_w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036807" y="3995928"/>
            <a:ext cx="237744" cy="237744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8001000" y="3931920"/>
            <a:ext cx="2834640" cy="365760"/>
          </a:xfrm>
          <a:prstGeom prst="rect">
            <a:avLst/>
          </a:prstGeom>
          <a:noFill/>
        </p:spPr>
        <p:txBody>
          <a:bodyPr wrap="square" lIns="0" rIns="0" tIns="0" bIns="0" anchor="t" rtlCol="1">
            <a:spAutoFit/>
          </a:bodyPr>
          <a:lstStyle/>
          <a:p>
            <a:pPr algn="r" rtl="1" marL="0" indent="0">
              <a:spcAft>
                <a:spcPts val="400"/>
              </a:spcAft>
              <a:buNone/>
            </a:pPr>
            <a:r>
              <a:rPr lang="he-IL" sz="1600" b="1">
                <a:solidFill>
                  <a:srgbClr val="003973"/>
                </a:solidFill>
                <a:latin typeface="Arial Unicode MS"/>
                <a:ea typeface="Arial Unicode MS"/>
                <a:cs typeface="Arial Unicode MS"/>
              </a:rPr>
              <a:t>כל חוליה משפיעה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001000" y="4297680"/>
            <a:ext cx="2834640" cy="685800"/>
          </a:xfrm>
          <a:prstGeom prst="rect">
            <a:avLst/>
          </a:prstGeom>
          <a:noFill/>
        </p:spPr>
        <p:txBody>
          <a:bodyPr wrap="square" lIns="0" rIns="0" tIns="0" bIns="0" anchor="t" rtlCol="1">
            <a:spAutoFit/>
          </a:bodyPr>
          <a:lstStyle/>
          <a:p>
            <a:pPr algn="r" rtl="1" marL="0" indent="0">
              <a:spcAft>
                <a:spcPts val="400"/>
              </a:spcAft>
              <a:buNone/>
            </a:pPr>
            <a:r>
              <a:rPr lang="he-IL" sz="1300" b="0">
                <a:solidFill>
                  <a:srgbClr val="333F4A"/>
                </a:solidFill>
                <a:latin typeface="Arial Unicode MS"/>
                <a:ea typeface="Arial Unicode MS"/>
                <a:cs typeface="Arial Unicode MS"/>
              </a:rPr>
              <a:t>אגרגט מלוכלך במחצבה = בעיית חוזק ועבידות במפעל</a:t>
            </a:r>
          </a:p>
        </p:txBody>
      </p:sp>
      <p:sp>
        <p:nvSpPr>
          <p:cNvPr id="42" name="Oval 41"/>
          <p:cNvSpPr/>
          <p:nvPr/>
        </p:nvSpPr>
        <p:spPr>
          <a:xfrm>
            <a:off x="7360920" y="3886200"/>
            <a:ext cx="457200" cy="457200"/>
          </a:xfrm>
          <a:prstGeom prst="ellipse">
            <a:avLst/>
          </a:prstGeom>
          <a:solidFill>
            <a:srgbClr val="00397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43" name="Picture 42" descr="FaLink_w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470648" y="3995928"/>
            <a:ext cx="237744" cy="237744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4434840" y="3931920"/>
            <a:ext cx="2834640" cy="365760"/>
          </a:xfrm>
          <a:prstGeom prst="rect">
            <a:avLst/>
          </a:prstGeom>
          <a:noFill/>
        </p:spPr>
        <p:txBody>
          <a:bodyPr wrap="square" lIns="0" rIns="0" tIns="0" bIns="0" anchor="t" rtlCol="1">
            <a:spAutoFit/>
          </a:bodyPr>
          <a:lstStyle/>
          <a:p>
            <a:pPr algn="r" rtl="1" marL="0" indent="0">
              <a:spcAft>
                <a:spcPts val="400"/>
              </a:spcAft>
              <a:buNone/>
            </a:pPr>
            <a:r>
              <a:rPr lang="he-IL" sz="1600" b="1">
                <a:solidFill>
                  <a:srgbClr val="003973"/>
                </a:solidFill>
                <a:latin typeface="Arial Unicode MS"/>
                <a:ea typeface="Arial Unicode MS"/>
                <a:cs typeface="Arial Unicode MS"/>
              </a:rPr>
              <a:t>האחריות משותפת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434840" y="4297680"/>
            <a:ext cx="2834640" cy="685800"/>
          </a:xfrm>
          <a:prstGeom prst="rect">
            <a:avLst/>
          </a:prstGeom>
          <a:noFill/>
        </p:spPr>
        <p:txBody>
          <a:bodyPr wrap="square" lIns="0" rIns="0" tIns="0" bIns="0" anchor="t" rtlCol="1">
            <a:spAutoFit/>
          </a:bodyPr>
          <a:lstStyle/>
          <a:p>
            <a:pPr algn="r" rtl="1" marL="0" indent="0">
              <a:spcAft>
                <a:spcPts val="400"/>
              </a:spcAft>
              <a:buNone/>
            </a:pPr>
            <a:r>
              <a:rPr lang="he-IL" sz="1300" b="0">
                <a:solidFill>
                  <a:srgbClr val="333F4A"/>
                </a:solidFill>
                <a:latin typeface="Arial Unicode MS"/>
                <a:ea typeface="Arial Unicode MS"/>
                <a:cs typeface="Arial Unicode MS"/>
              </a:rPr>
              <a:t>מספק חומרי הגלם ועד הצוות שמאשפר באתר</a:t>
            </a:r>
          </a:p>
        </p:txBody>
      </p:sp>
      <p:sp>
        <p:nvSpPr>
          <p:cNvPr id="46" name="Oval 45"/>
          <p:cNvSpPr/>
          <p:nvPr/>
        </p:nvSpPr>
        <p:spPr>
          <a:xfrm>
            <a:off x="3794760" y="3886200"/>
            <a:ext cx="457200" cy="457200"/>
          </a:xfrm>
          <a:prstGeom prst="ellipse">
            <a:avLst/>
          </a:prstGeom>
          <a:solidFill>
            <a:srgbClr val="00397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47" name="Picture 46" descr="FaChartLine_w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904488" y="3995928"/>
            <a:ext cx="237744" cy="237744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868680" y="3931920"/>
            <a:ext cx="2834640" cy="365760"/>
          </a:xfrm>
          <a:prstGeom prst="rect">
            <a:avLst/>
          </a:prstGeom>
          <a:noFill/>
        </p:spPr>
        <p:txBody>
          <a:bodyPr wrap="square" lIns="0" rIns="0" tIns="0" bIns="0" anchor="t" rtlCol="1">
            <a:spAutoFit/>
          </a:bodyPr>
          <a:lstStyle/>
          <a:p>
            <a:pPr algn="r" rtl="1" marL="0" indent="0">
              <a:spcAft>
                <a:spcPts val="400"/>
              </a:spcAft>
              <a:buNone/>
            </a:pPr>
            <a:r>
              <a:rPr lang="he-IL" sz="1600" b="1">
                <a:solidFill>
                  <a:srgbClr val="003973"/>
                </a:solidFill>
                <a:latin typeface="Arial Unicode MS"/>
                <a:ea typeface="Arial Unicode MS"/>
                <a:cs typeface="Arial Unicode MS"/>
              </a:rPr>
              <a:t>בקרה לאורך השרשרת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68680" y="4297680"/>
            <a:ext cx="2834640" cy="685800"/>
          </a:xfrm>
          <a:prstGeom prst="rect">
            <a:avLst/>
          </a:prstGeom>
          <a:noFill/>
        </p:spPr>
        <p:txBody>
          <a:bodyPr wrap="square" lIns="0" rIns="0" tIns="0" bIns="0" anchor="t" rtlCol="1">
            <a:spAutoFit/>
          </a:bodyPr>
          <a:lstStyle/>
          <a:p>
            <a:pPr algn="r" rtl="1" marL="0" indent="0">
              <a:spcAft>
                <a:spcPts val="400"/>
              </a:spcAft>
              <a:buNone/>
            </a:pPr>
            <a:r>
              <a:rPr lang="he-IL" sz="1300" b="0">
                <a:solidFill>
                  <a:srgbClr val="333F4A"/>
                </a:solidFill>
                <a:latin typeface="Arial Unicode MS"/>
                <a:ea typeface="Arial Unicode MS"/>
                <a:cs typeface="Arial Unicode MS"/>
              </a:rPr>
              <a:t>בדיקה בכל מעבר — לא רק בקוביות של 28 יום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22960" y="5285232"/>
            <a:ext cx="8183879" cy="640080"/>
          </a:xfrm>
          <a:prstGeom prst="roundRect">
            <a:avLst>
              <a:gd name="adj" fmla="val 8000"/>
            </a:avLst>
          </a:prstGeom>
          <a:solidFill>
            <a:srgbClr val="00397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8394192" y="5376672"/>
            <a:ext cx="457200" cy="457200"/>
          </a:xfrm>
          <a:prstGeom prst="ellipse">
            <a:avLst/>
          </a:prstGeom>
          <a:solidFill>
            <a:srgbClr val="C4D8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52" name="Picture 51" descr="FaLightbulb_n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503919" y="5486400"/>
            <a:ext cx="237744" cy="237744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1051560" y="5285232"/>
            <a:ext cx="7269479" cy="640080"/>
          </a:xfrm>
          <a:prstGeom prst="rect">
            <a:avLst/>
          </a:prstGeom>
          <a:noFill/>
        </p:spPr>
        <p:txBody>
          <a:bodyPr wrap="square" lIns="0" rIns="0" tIns="0" bIns="0" anchor="ctr" rtlCol="1">
            <a:spAutoFit/>
          </a:bodyPr>
          <a:lstStyle/>
          <a:p>
            <a:pPr algn="r" rtl="1" marL="0" indent="0">
              <a:spcAft>
                <a:spcPts val="400"/>
              </a:spcAft>
              <a:buNone/>
            </a:pPr>
            <a:r>
              <a:rPr lang="he-IL" sz="17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איכות הבטון נקבעת לאורך כל שרשרת הערך — חוליה חלשה אחת מספיקה לכשל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6" name="תמונה 5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1"/>
          <a:stretch/>
        </p:blipFill>
        <p:spPr>
          <a:xfrm flipH="1">
            <a:off x="0" y="0"/>
            <a:ext cx="10306050" cy="6858000"/>
          </a:xfrm>
          <a:prstGeom prst="rect">
            <a:avLst/>
          </a:prstGeom>
        </p:spPr>
      </p:pic>
      <p:sp>
        <p:nvSpPr>
          <p:cNvPr id="4" name="מלבן 3"/>
          <p:cNvSpPr/>
          <p:nvPr/>
        </p:nvSpPr>
        <p:spPr>
          <a:xfrm>
            <a:off x="6115050" y="0"/>
            <a:ext cx="6076950" cy="6858000"/>
          </a:xfrm>
          <a:prstGeom prst="rect">
            <a:avLst/>
          </a:prstGeom>
          <a:solidFill>
            <a:srgbClr val="2C9EE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>
              <a:solidFill>
                <a:prstClr val="white"/>
              </a:solidFill>
            </a:endParaRPr>
          </a:p>
        </p:txBody>
      </p:sp>
      <p:sp>
        <p:nvSpPr>
          <p:cNvPr id="7" name="משולש שווה שוקיים 6"/>
          <p:cNvSpPr/>
          <p:nvPr/>
        </p:nvSpPr>
        <p:spPr>
          <a:xfrm rot="16200000" flipH="1">
            <a:off x="5324475" y="3143250"/>
            <a:ext cx="1123950" cy="609600"/>
          </a:xfrm>
          <a:prstGeom prst="triangle">
            <a:avLst/>
          </a:prstGeom>
          <a:solidFill>
            <a:srgbClr val="2C9EE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>
              <a:solidFill>
                <a:prstClr val="white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720840" y="2514600"/>
            <a:ext cx="4937760" cy="914400"/>
          </a:xfrm>
          <a:prstGeom prst="rect">
            <a:avLst/>
          </a:prstGeom>
          <a:noFill/>
        </p:spPr>
        <p:txBody>
          <a:bodyPr wrap="square" rtlCol="1" anchor="ctr"/>
          <a:lstStyle/>
          <a:p>
            <a:pPr algn="ctr" rtl="1"/>
            <a:r>
              <a:rPr lang="he-IL" sz="3600" dirty="0">
                <a:solidFill>
                  <a:prstClr val="white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מרכיבי הבטון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20840" y="1874519"/>
            <a:ext cx="4937760" cy="457200"/>
          </a:xfrm>
          <a:prstGeom prst="rect">
            <a:avLst/>
          </a:prstGeom>
          <a:noFill/>
        </p:spPr>
        <p:txBody>
          <a:bodyPr wrap="square" lIns="0" rIns="0" tIns="0" bIns="0" anchor="t" rtlCol="1">
            <a:spAutoFit/>
          </a:bodyPr>
          <a:lstStyle/>
          <a:p>
            <a:pPr algn="ctr" rtl="1" marL="0" indent="0">
              <a:spcAft>
                <a:spcPts val="400"/>
              </a:spcAft>
              <a:buNone/>
            </a:pPr>
            <a:r>
              <a:rPr lang="he-IL" sz="2000" b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פרק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86600" y="3611880"/>
            <a:ext cx="4206240" cy="2011680"/>
          </a:xfrm>
          <a:prstGeom prst="rect">
            <a:avLst/>
          </a:prstGeom>
          <a:noFill/>
        </p:spPr>
        <p:txBody>
          <a:bodyPr wrap="square" lIns="0" rIns="0" tIns="0" bIns="0" anchor="t" rtlCol="1">
            <a:spAutoFit/>
          </a:bodyPr>
          <a:lstStyle/>
          <a:p>
            <a:pPr algn="ctr" rtl="1" marL="0" indent="0">
              <a:lnSpc>
                <a:spcPct val="115000"/>
              </a:lnSpc>
              <a:spcAft>
                <a:spcPts val="400"/>
              </a:spcAft>
              <a:buNone/>
            </a:pPr>
            <a:r>
              <a:rPr lang="he-IL" sz="1600" b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אגרגטים · צמנט · מים · מוספים ותוספים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>
                <a:latin typeface="Arial Unicode MS"/>
                <a:ea typeface="Arial Unicode MS"/>
                <a:cs typeface="Arial Unicode MS"/>
              </a:rPr>
              <a:t>מהו בטון?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120640" y="1051560"/>
            <a:ext cx="6355080" cy="685800"/>
          </a:xfrm>
          <a:prstGeom prst="rect">
            <a:avLst/>
          </a:prstGeom>
          <a:noFill/>
        </p:spPr>
        <p:txBody>
          <a:bodyPr wrap="square" lIns="0" rIns="0" tIns="0" bIns="0" anchor="t" rtlCol="1">
            <a:spAutoFit/>
          </a:bodyPr>
          <a:lstStyle/>
          <a:p>
            <a:pPr algn="r" rtl="1" marL="0" indent="0">
              <a:spcAft>
                <a:spcPts val="400"/>
              </a:spcAft>
              <a:buNone/>
            </a:pPr>
            <a:r>
              <a:rPr lang="he-IL" sz="1700" b="0">
                <a:solidFill>
                  <a:srgbClr val="5F6B76"/>
                </a:solidFill>
                <a:latin typeface="Arial Unicode MS"/>
                <a:ea typeface="Arial Unicode MS"/>
                <a:cs typeface="Arial Unicode MS"/>
              </a:rPr>
              <a:t>חומר מרוכב: שלד של אגרגטים שמשחת צמנט ומים מלכדת לגוף אחד מוצק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822960" y="1051560"/>
          <a:ext cx="4206240" cy="38404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965960" y="2606040"/>
            <a:ext cx="1920240" cy="640080"/>
          </a:xfrm>
          <a:prstGeom prst="rect">
            <a:avLst/>
          </a:prstGeom>
          <a:noFill/>
        </p:spPr>
        <p:txBody>
          <a:bodyPr wrap="square" lIns="0" rIns="0" tIns="0" bIns="0" anchor="t" rtlCol="1">
            <a:spAutoFit/>
          </a:bodyPr>
          <a:lstStyle/>
          <a:p>
            <a:pPr algn="ctr" rtl="1" marL="0" indent="0">
              <a:spcAft>
                <a:spcPts val="400"/>
              </a:spcAft>
              <a:buNone/>
            </a:pPr>
            <a:r>
              <a:rPr lang="he-IL" sz="2600" b="1">
                <a:solidFill>
                  <a:srgbClr val="003973"/>
                </a:solidFill>
                <a:latin typeface="Arial Unicode MS"/>
                <a:ea typeface="Arial Unicode MS"/>
                <a:cs typeface="Arial Unicode MS"/>
              </a:rPr>
              <a:t>כ-70%</a:t>
            </a:r>
          </a:p>
          <a:p>
            <a:pPr algn="ctr" rtl="1" marL="0" indent="0">
              <a:spcAft>
                <a:spcPts val="400"/>
              </a:spcAft>
              <a:buNone/>
            </a:pPr>
            <a:r>
              <a:rPr lang="he-IL" sz="1400" b="0">
                <a:solidFill>
                  <a:srgbClr val="5F6B76"/>
                </a:solidFill>
                <a:latin typeface="Arial Unicode MS"/>
                <a:ea typeface="Arial Unicode MS"/>
                <a:cs typeface="Arial Unicode MS"/>
              </a:rPr>
              <a:t>אגרגטים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892040"/>
            <a:ext cx="4206240" cy="274320"/>
          </a:xfrm>
          <a:prstGeom prst="rect">
            <a:avLst/>
          </a:prstGeom>
          <a:noFill/>
        </p:spPr>
        <p:txBody>
          <a:bodyPr wrap="square" lIns="0" rIns="0" tIns="0" bIns="0" anchor="t" rtlCol="1">
            <a:spAutoFit/>
          </a:bodyPr>
          <a:lstStyle/>
          <a:p>
            <a:pPr algn="ctr" rtl="1" marL="0" indent="0">
              <a:spcAft>
                <a:spcPts val="400"/>
              </a:spcAft>
              <a:buNone/>
            </a:pPr>
            <a:r>
              <a:rPr lang="he-IL" sz="1100" b="0">
                <a:solidFill>
                  <a:srgbClr val="5F6B76"/>
                </a:solidFill>
                <a:latin typeface="Arial Unicode MS"/>
                <a:ea typeface="Arial Unicode MS"/>
                <a:cs typeface="Arial Unicode MS"/>
              </a:rPr>
              <a:t>חלוקת נפח טיפוסית בבטון רגיל (להמחשה)</a:t>
            </a:r>
          </a:p>
        </p:txBody>
      </p:sp>
      <p:sp>
        <p:nvSpPr>
          <p:cNvPr id="7" name="Oval 6"/>
          <p:cNvSpPr/>
          <p:nvPr/>
        </p:nvSpPr>
        <p:spPr>
          <a:xfrm>
            <a:off x="10890504" y="1792224"/>
            <a:ext cx="530352" cy="530352"/>
          </a:xfrm>
          <a:prstGeom prst="ellipse">
            <a:avLst/>
          </a:prstGeom>
          <a:solidFill>
            <a:srgbClr val="00397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Picture 7" descr="FaCubes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17788" y="1919508"/>
            <a:ext cx="275783" cy="275783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394960" y="1801368"/>
            <a:ext cx="5349240" cy="548640"/>
          </a:xfrm>
          <a:prstGeom prst="rect">
            <a:avLst/>
          </a:prstGeom>
          <a:noFill/>
        </p:spPr>
        <p:txBody>
          <a:bodyPr wrap="square" lIns="0" rIns="0" tIns="0" bIns="0" anchor="ctr" rtlCol="1">
            <a:spAutoFit/>
          </a:bodyPr>
          <a:lstStyle/>
          <a:p>
            <a:pPr algn="r" rtl="1" marL="0" indent="0">
              <a:spcAft>
                <a:spcPts val="400"/>
              </a:spcAft>
              <a:buNone/>
            </a:pPr>
            <a:r>
              <a:rPr lang="he-IL" sz="1700" b="1">
                <a:solidFill>
                  <a:srgbClr val="003973"/>
                </a:solidFill>
                <a:latin typeface="Arial Unicode MS"/>
                <a:ea typeface="Arial Unicode MS"/>
                <a:cs typeface="Arial Unicode MS"/>
              </a:rPr>
              <a:t>אגרגטים  </a:t>
            </a:r>
            <a:r>
              <a:rPr lang="he-IL" sz="1500" b="0">
                <a:solidFill>
                  <a:srgbClr val="333F4A"/>
                </a:solidFill>
                <a:latin typeface="Arial Unicode MS"/>
                <a:ea typeface="Arial Unicode MS"/>
                <a:cs typeface="Arial Unicode MS"/>
              </a:rPr>
              <a:t>חצץ וחול — השלד הנושא של הבטון</a:t>
            </a:r>
          </a:p>
        </p:txBody>
      </p:sp>
      <p:sp>
        <p:nvSpPr>
          <p:cNvPr id="10" name="Oval 9"/>
          <p:cNvSpPr/>
          <p:nvPr/>
        </p:nvSpPr>
        <p:spPr>
          <a:xfrm>
            <a:off x="10890504" y="2450591"/>
            <a:ext cx="530352" cy="530352"/>
          </a:xfrm>
          <a:prstGeom prst="ellipse">
            <a:avLst/>
          </a:prstGeom>
          <a:solidFill>
            <a:srgbClr val="A3B1B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Picture 10" descr="FaWarehouse_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17788" y="2577876"/>
            <a:ext cx="275783" cy="275783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394960" y="2459736"/>
            <a:ext cx="5349240" cy="548640"/>
          </a:xfrm>
          <a:prstGeom prst="rect">
            <a:avLst/>
          </a:prstGeom>
          <a:noFill/>
        </p:spPr>
        <p:txBody>
          <a:bodyPr wrap="square" lIns="0" rIns="0" tIns="0" bIns="0" anchor="ctr" rtlCol="1">
            <a:spAutoFit/>
          </a:bodyPr>
          <a:lstStyle/>
          <a:p>
            <a:pPr algn="r" rtl="1" marL="0" indent="0">
              <a:spcAft>
                <a:spcPts val="400"/>
              </a:spcAft>
              <a:buNone/>
            </a:pPr>
            <a:r>
              <a:rPr lang="he-IL" sz="1700" b="1">
                <a:solidFill>
                  <a:srgbClr val="003973"/>
                </a:solidFill>
                <a:latin typeface="Arial Unicode MS"/>
                <a:ea typeface="Arial Unicode MS"/>
                <a:cs typeface="Arial Unicode MS"/>
              </a:rPr>
              <a:t>צמנט  </a:t>
            </a:r>
            <a:r>
              <a:rPr lang="he-IL" sz="1500" b="0">
                <a:solidFill>
                  <a:srgbClr val="333F4A"/>
                </a:solidFill>
                <a:latin typeface="Arial Unicode MS"/>
                <a:ea typeface="Arial Unicode MS"/>
                <a:cs typeface="Arial Unicode MS"/>
              </a:rPr>
              <a:t>החומר הקושר: מגיב עם מים ויוצר את הדבק</a:t>
            </a:r>
          </a:p>
        </p:txBody>
      </p:sp>
      <p:sp>
        <p:nvSpPr>
          <p:cNvPr id="13" name="Oval 12"/>
          <p:cNvSpPr/>
          <p:nvPr/>
        </p:nvSpPr>
        <p:spPr>
          <a:xfrm>
            <a:off x="10890504" y="3108959"/>
            <a:ext cx="530352" cy="530352"/>
          </a:xfrm>
          <a:prstGeom prst="ellipse">
            <a:avLst/>
          </a:prstGeom>
          <a:solidFill>
            <a:srgbClr val="7FC3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Picture 13" descr="FaTint_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17788" y="3236244"/>
            <a:ext cx="275783" cy="275783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394960" y="3118103"/>
            <a:ext cx="5349240" cy="548640"/>
          </a:xfrm>
          <a:prstGeom prst="rect">
            <a:avLst/>
          </a:prstGeom>
          <a:noFill/>
        </p:spPr>
        <p:txBody>
          <a:bodyPr wrap="square" lIns="0" rIns="0" tIns="0" bIns="0" anchor="ctr" rtlCol="1">
            <a:spAutoFit/>
          </a:bodyPr>
          <a:lstStyle/>
          <a:p>
            <a:pPr algn="r" rtl="1" marL="0" indent="0">
              <a:spcAft>
                <a:spcPts val="400"/>
              </a:spcAft>
              <a:buNone/>
            </a:pPr>
            <a:r>
              <a:rPr lang="he-IL" sz="1700" b="1">
                <a:solidFill>
                  <a:srgbClr val="003973"/>
                </a:solidFill>
                <a:latin typeface="Arial Unicode MS"/>
                <a:ea typeface="Arial Unicode MS"/>
                <a:cs typeface="Arial Unicode MS"/>
              </a:rPr>
              <a:t>מים  </a:t>
            </a:r>
            <a:r>
              <a:rPr lang="he-IL" sz="1500" b="0">
                <a:solidFill>
                  <a:srgbClr val="333F4A"/>
                </a:solidFill>
                <a:latin typeface="Arial Unicode MS"/>
                <a:ea typeface="Arial Unicode MS"/>
                <a:cs typeface="Arial Unicode MS"/>
              </a:rPr>
              <a:t>מניעים את ההידרציה ומעניקים עבידות</a:t>
            </a:r>
          </a:p>
        </p:txBody>
      </p:sp>
      <p:sp>
        <p:nvSpPr>
          <p:cNvPr id="16" name="Oval 15"/>
          <p:cNvSpPr/>
          <p:nvPr/>
        </p:nvSpPr>
        <p:spPr>
          <a:xfrm>
            <a:off x="10890504" y="3767328"/>
            <a:ext cx="530352" cy="530352"/>
          </a:xfrm>
          <a:prstGeom prst="ellipse">
            <a:avLst/>
          </a:prstGeom>
          <a:solidFill>
            <a:srgbClr val="0081C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7" name="Picture 16" descr="FaVial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017788" y="3894612"/>
            <a:ext cx="275783" cy="275783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394960" y="3776472"/>
            <a:ext cx="5349240" cy="548640"/>
          </a:xfrm>
          <a:prstGeom prst="rect">
            <a:avLst/>
          </a:prstGeom>
          <a:noFill/>
        </p:spPr>
        <p:txBody>
          <a:bodyPr wrap="square" lIns="0" rIns="0" tIns="0" bIns="0" anchor="ctr" rtlCol="1">
            <a:spAutoFit/>
          </a:bodyPr>
          <a:lstStyle/>
          <a:p>
            <a:pPr algn="r" rtl="1" marL="0" indent="0">
              <a:spcAft>
                <a:spcPts val="400"/>
              </a:spcAft>
              <a:buNone/>
            </a:pPr>
            <a:r>
              <a:rPr lang="he-IL" sz="1700" b="1">
                <a:solidFill>
                  <a:srgbClr val="003973"/>
                </a:solidFill>
                <a:latin typeface="Arial Unicode MS"/>
                <a:ea typeface="Arial Unicode MS"/>
                <a:cs typeface="Arial Unicode MS"/>
              </a:rPr>
              <a:t>מוספים  </a:t>
            </a:r>
            <a:r>
              <a:rPr lang="he-IL" sz="1500" b="0">
                <a:solidFill>
                  <a:srgbClr val="333F4A"/>
                </a:solidFill>
                <a:latin typeface="Arial Unicode MS"/>
                <a:ea typeface="Arial Unicode MS"/>
                <a:cs typeface="Arial Unicode MS"/>
              </a:rPr>
              <a:t>כימיקלים במינון נמוך שמשנים התנהגות</a:t>
            </a:r>
          </a:p>
        </p:txBody>
      </p:sp>
      <p:sp>
        <p:nvSpPr>
          <p:cNvPr id="19" name="Oval 18"/>
          <p:cNvSpPr/>
          <p:nvPr/>
        </p:nvSpPr>
        <p:spPr>
          <a:xfrm>
            <a:off x="10890504" y="4425696"/>
            <a:ext cx="530352" cy="530352"/>
          </a:xfrm>
          <a:prstGeom prst="ellipse">
            <a:avLst/>
          </a:prstGeom>
          <a:solidFill>
            <a:srgbClr val="C4D8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0" name="Picture 19" descr="FaRecycle_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017788" y="4552980"/>
            <a:ext cx="275783" cy="275783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5394960" y="4434840"/>
            <a:ext cx="5349240" cy="548640"/>
          </a:xfrm>
          <a:prstGeom prst="rect">
            <a:avLst/>
          </a:prstGeom>
          <a:noFill/>
        </p:spPr>
        <p:txBody>
          <a:bodyPr wrap="square" lIns="0" rIns="0" tIns="0" bIns="0" anchor="ctr" rtlCol="1">
            <a:spAutoFit/>
          </a:bodyPr>
          <a:lstStyle/>
          <a:p>
            <a:pPr algn="r" rtl="1" marL="0" indent="0">
              <a:spcAft>
                <a:spcPts val="400"/>
              </a:spcAft>
              <a:buNone/>
            </a:pPr>
            <a:r>
              <a:rPr lang="he-IL" sz="1700" b="1">
                <a:solidFill>
                  <a:srgbClr val="003973"/>
                </a:solidFill>
                <a:latin typeface="Arial Unicode MS"/>
                <a:ea typeface="Arial Unicode MS"/>
                <a:cs typeface="Arial Unicode MS"/>
              </a:rPr>
              <a:t>תוספים  </a:t>
            </a:r>
            <a:r>
              <a:rPr lang="he-IL" sz="1500" b="0">
                <a:solidFill>
                  <a:srgbClr val="333F4A"/>
                </a:solidFill>
                <a:latin typeface="Arial Unicode MS"/>
                <a:ea typeface="Arial Unicode MS"/>
                <a:cs typeface="Arial Unicode MS"/>
              </a:rPr>
              <a:t>חומרים מינרליים פעילים במקום חלק מהצמנט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" y="5303520"/>
            <a:ext cx="8183879" cy="566928"/>
          </a:xfrm>
          <a:prstGeom prst="roundRect">
            <a:avLst>
              <a:gd name="adj" fmla="val 8000"/>
            </a:avLst>
          </a:prstGeom>
          <a:solidFill>
            <a:srgbClr val="00397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394192" y="5358383"/>
            <a:ext cx="457200" cy="457200"/>
          </a:xfrm>
          <a:prstGeom prst="ellipse">
            <a:avLst/>
          </a:prstGeom>
          <a:solidFill>
            <a:srgbClr val="C4D8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4" name="Picture 23" descr="FaLightbulb_n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03919" y="5468112"/>
            <a:ext cx="237744" cy="237744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051560" y="5303520"/>
            <a:ext cx="7269479" cy="566928"/>
          </a:xfrm>
          <a:prstGeom prst="rect">
            <a:avLst/>
          </a:prstGeom>
          <a:noFill/>
        </p:spPr>
        <p:txBody>
          <a:bodyPr wrap="square" lIns="0" rIns="0" tIns="0" bIns="0" anchor="ctr" rtlCol="1">
            <a:spAutoFit/>
          </a:bodyPr>
          <a:lstStyle/>
          <a:p>
            <a:pPr algn="r" rtl="1" marL="0" indent="0">
              <a:spcAft>
                <a:spcPts val="400"/>
              </a:spcAft>
              <a:buNone/>
            </a:pPr>
            <a:r>
              <a:rPr lang="he-IL" sz="17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בטון טוב = חומרי גלם טובים × תכן נכון × ביצוע נכון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>
                <a:latin typeface="Arial Unicode MS"/>
                <a:ea typeface="Arial Unicode MS"/>
                <a:cs typeface="Arial Unicode MS"/>
              </a:rPr>
              <a:t>תפקיד האגרגטים</a:t>
            </a:r>
          </a:p>
        </p:txBody>
      </p:sp>
      <p:pic>
        <p:nvPicPr>
          <p:cNvPr id="3" name="Picture 2" descr="aggregat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099072"/>
            <a:ext cx="6035040" cy="415693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5303520"/>
            <a:ext cx="6035040" cy="274320"/>
          </a:xfrm>
          <a:prstGeom prst="rect">
            <a:avLst/>
          </a:prstGeom>
          <a:noFill/>
        </p:spPr>
        <p:txBody>
          <a:bodyPr wrap="square" lIns="0" rIns="0" tIns="0" bIns="0" anchor="t" rtlCol="1">
            <a:spAutoFit/>
          </a:bodyPr>
          <a:lstStyle/>
          <a:p>
            <a:pPr algn="ctr" rtl="1" marL="0" indent="0">
              <a:spcAft>
                <a:spcPts val="400"/>
              </a:spcAft>
              <a:buNone/>
            </a:pPr>
            <a:r>
              <a:rPr lang="he-IL" sz="1100" b="0">
                <a:solidFill>
                  <a:srgbClr val="5F6B76"/>
                </a:solidFill>
                <a:latin typeface="Arial Unicode MS"/>
                <a:ea typeface="Arial Unicode MS"/>
                <a:cs typeface="Arial Unicode MS"/>
              </a:rPr>
              <a:t>חתך בטון: האגרגטים (מסומנים) הם רוב הנפח, ומשחת הצמנט ממלאת את החללים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23760" y="1051560"/>
            <a:ext cx="4251960" cy="1097280"/>
          </a:xfrm>
          <a:prstGeom prst="rect">
            <a:avLst/>
          </a:prstGeom>
          <a:noFill/>
        </p:spPr>
        <p:txBody>
          <a:bodyPr wrap="square" lIns="0" rIns="0" tIns="0" bIns="0" anchor="t" rtlCol="1">
            <a:spAutoFit/>
          </a:bodyPr>
          <a:lstStyle/>
          <a:p>
            <a:pPr algn="r" rtl="1" marL="0" indent="0">
              <a:spcAft>
                <a:spcPts val="400"/>
              </a:spcAft>
              <a:buNone/>
            </a:pPr>
            <a:r>
              <a:rPr lang="he-IL" sz="5400" b="1">
                <a:solidFill>
                  <a:srgbClr val="0081C8"/>
                </a:solidFill>
                <a:latin typeface="Arial Unicode MS"/>
                <a:ea typeface="Arial Unicode MS"/>
                <a:cs typeface="Arial Unicode MS"/>
              </a:rPr>
              <a:t>70-80%</a:t>
            </a:r>
          </a:p>
          <a:p>
            <a:pPr algn="r" rtl="1" marL="0" indent="0">
              <a:spcAft>
                <a:spcPts val="400"/>
              </a:spcAft>
              <a:buNone/>
            </a:pPr>
            <a:r>
              <a:rPr lang="he-IL" sz="1800" b="0">
                <a:solidFill>
                  <a:srgbClr val="5F6B76"/>
                </a:solidFill>
                <a:latin typeface="Arial Unicode MS"/>
                <a:ea typeface="Arial Unicode MS"/>
                <a:cs typeface="Arial Unicode MS"/>
              </a:rPr>
              <a:t>מנפח הבטון</a:t>
            </a:r>
          </a:p>
        </p:txBody>
      </p:sp>
      <p:sp>
        <p:nvSpPr>
          <p:cNvPr id="6" name="Oval 5"/>
          <p:cNvSpPr/>
          <p:nvPr/>
        </p:nvSpPr>
        <p:spPr>
          <a:xfrm>
            <a:off x="10927080" y="2404872"/>
            <a:ext cx="548640" cy="548640"/>
          </a:xfrm>
          <a:prstGeom prst="ellipse">
            <a:avLst/>
          </a:prstGeom>
          <a:solidFill>
            <a:srgbClr val="0081C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7" name="Picture 6" descr="FaWeightHanging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58753" y="2536545"/>
            <a:ext cx="285292" cy="28529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223760" y="2377440"/>
            <a:ext cx="3611880" cy="347472"/>
          </a:xfrm>
          <a:prstGeom prst="rect">
            <a:avLst/>
          </a:prstGeom>
          <a:noFill/>
        </p:spPr>
        <p:txBody>
          <a:bodyPr wrap="square" lIns="0" rIns="0" tIns="0" bIns="0" anchor="t" rtlCol="1">
            <a:spAutoFit/>
          </a:bodyPr>
          <a:lstStyle/>
          <a:p>
            <a:pPr algn="r" rtl="1" marL="0" indent="0">
              <a:spcAft>
                <a:spcPts val="400"/>
              </a:spcAft>
              <a:buNone/>
            </a:pPr>
            <a:r>
              <a:rPr lang="he-IL" sz="1800" b="1">
                <a:solidFill>
                  <a:srgbClr val="003973"/>
                </a:solidFill>
                <a:latin typeface="Arial Unicode MS"/>
                <a:ea typeface="Arial Unicode MS"/>
                <a:cs typeface="Arial Unicode MS"/>
              </a:rPr>
              <a:t>שלד נושא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23760" y="2743200"/>
            <a:ext cx="3611880" cy="594360"/>
          </a:xfrm>
          <a:prstGeom prst="rect">
            <a:avLst/>
          </a:prstGeom>
          <a:noFill/>
        </p:spPr>
        <p:txBody>
          <a:bodyPr wrap="square" lIns="0" rIns="0" tIns="0" bIns="0" anchor="t" rtlCol="1">
            <a:spAutoFit/>
          </a:bodyPr>
          <a:lstStyle/>
          <a:p>
            <a:pPr algn="r" rtl="1" marL="0" indent="0">
              <a:spcAft>
                <a:spcPts val="400"/>
              </a:spcAft>
              <a:buNone/>
            </a:pPr>
            <a:r>
              <a:rPr lang="he-IL" sz="1400" b="0">
                <a:solidFill>
                  <a:srgbClr val="333F4A"/>
                </a:solidFill>
                <a:latin typeface="Arial Unicode MS"/>
                <a:ea typeface="Arial Unicode MS"/>
                <a:cs typeface="Arial Unicode MS"/>
              </a:rPr>
              <a:t>תורמים לחוזק ולמודול האלסטיות; אגרגט חזק ונקי = בטון חזק</a:t>
            </a:r>
          </a:p>
        </p:txBody>
      </p:sp>
      <p:sp>
        <p:nvSpPr>
          <p:cNvPr id="10" name="Oval 9"/>
          <p:cNvSpPr/>
          <p:nvPr/>
        </p:nvSpPr>
        <p:spPr>
          <a:xfrm>
            <a:off x="10927080" y="3392424"/>
            <a:ext cx="548640" cy="548640"/>
          </a:xfrm>
          <a:prstGeom prst="ellipse">
            <a:avLst/>
          </a:prstGeom>
          <a:solidFill>
            <a:srgbClr val="0081C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Picture 10" descr="FaShieldAlt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58753" y="3524097"/>
            <a:ext cx="285292" cy="28529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223760" y="3364992"/>
            <a:ext cx="3611880" cy="347472"/>
          </a:xfrm>
          <a:prstGeom prst="rect">
            <a:avLst/>
          </a:prstGeom>
          <a:noFill/>
        </p:spPr>
        <p:txBody>
          <a:bodyPr wrap="square" lIns="0" rIns="0" tIns="0" bIns="0" anchor="t" rtlCol="1">
            <a:spAutoFit/>
          </a:bodyPr>
          <a:lstStyle/>
          <a:p>
            <a:pPr algn="r" rtl="1" marL="0" indent="0">
              <a:spcAft>
                <a:spcPts val="400"/>
              </a:spcAft>
              <a:buNone/>
            </a:pPr>
            <a:r>
              <a:rPr lang="he-IL" sz="1800" b="1">
                <a:solidFill>
                  <a:srgbClr val="003973"/>
                </a:solidFill>
                <a:latin typeface="Arial Unicode MS"/>
                <a:ea typeface="Arial Unicode MS"/>
                <a:cs typeface="Arial Unicode MS"/>
              </a:rPr>
              <a:t>עמידות ויציבות נפחית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23760" y="3730752"/>
            <a:ext cx="3611880" cy="594360"/>
          </a:xfrm>
          <a:prstGeom prst="rect">
            <a:avLst/>
          </a:prstGeom>
          <a:noFill/>
        </p:spPr>
        <p:txBody>
          <a:bodyPr wrap="square" lIns="0" rIns="0" tIns="0" bIns="0" anchor="t" rtlCol="1">
            <a:spAutoFit/>
          </a:bodyPr>
          <a:lstStyle/>
          <a:p>
            <a:pPr algn="r" rtl="1" marL="0" indent="0">
              <a:spcAft>
                <a:spcPts val="400"/>
              </a:spcAft>
              <a:buNone/>
            </a:pPr>
            <a:r>
              <a:rPr lang="he-IL" sz="1400" b="0">
                <a:solidFill>
                  <a:srgbClr val="333F4A"/>
                </a:solidFill>
                <a:latin typeface="Arial Unicode MS"/>
                <a:ea typeface="Arial Unicode MS"/>
                <a:cs typeface="Arial Unicode MS"/>
              </a:rPr>
              <a:t>מקטינים התכווצות, זחילה וחום הידרציה</a:t>
            </a:r>
          </a:p>
        </p:txBody>
      </p:sp>
      <p:sp>
        <p:nvSpPr>
          <p:cNvPr id="14" name="Oval 13"/>
          <p:cNvSpPr/>
          <p:nvPr/>
        </p:nvSpPr>
        <p:spPr>
          <a:xfrm>
            <a:off x="10927080" y="4379976"/>
            <a:ext cx="548640" cy="548640"/>
          </a:xfrm>
          <a:prstGeom prst="ellipse">
            <a:avLst/>
          </a:prstGeom>
          <a:solidFill>
            <a:srgbClr val="0081C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5" name="Picture 14" descr="FaCoins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58753" y="4511649"/>
            <a:ext cx="285292" cy="285292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223760" y="4352544"/>
            <a:ext cx="3611880" cy="347472"/>
          </a:xfrm>
          <a:prstGeom prst="rect">
            <a:avLst/>
          </a:prstGeom>
          <a:noFill/>
        </p:spPr>
        <p:txBody>
          <a:bodyPr wrap="square" lIns="0" rIns="0" tIns="0" bIns="0" anchor="t" rtlCol="1">
            <a:spAutoFit/>
          </a:bodyPr>
          <a:lstStyle/>
          <a:p>
            <a:pPr algn="r" rtl="1" marL="0" indent="0">
              <a:spcAft>
                <a:spcPts val="400"/>
              </a:spcAft>
              <a:buNone/>
            </a:pPr>
            <a:r>
              <a:rPr lang="he-IL" sz="1800" b="1">
                <a:solidFill>
                  <a:srgbClr val="003973"/>
                </a:solidFill>
                <a:latin typeface="Arial Unicode MS"/>
                <a:ea typeface="Arial Unicode MS"/>
                <a:cs typeface="Arial Unicode MS"/>
              </a:rPr>
              <a:t>כלכליות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23760" y="4718304"/>
            <a:ext cx="3611880" cy="594360"/>
          </a:xfrm>
          <a:prstGeom prst="rect">
            <a:avLst/>
          </a:prstGeom>
          <a:noFill/>
        </p:spPr>
        <p:txBody>
          <a:bodyPr wrap="square" lIns="0" rIns="0" tIns="0" bIns="0" anchor="t" rtlCol="1">
            <a:spAutoFit/>
          </a:bodyPr>
          <a:lstStyle/>
          <a:p>
            <a:pPr algn="r" rtl="1" marL="0" indent="0">
              <a:spcAft>
                <a:spcPts val="400"/>
              </a:spcAft>
              <a:buNone/>
            </a:pPr>
            <a:r>
              <a:rPr lang="he-IL" sz="1400" b="0">
                <a:solidFill>
                  <a:srgbClr val="333F4A"/>
                </a:solidFill>
                <a:latin typeface="Arial Unicode MS"/>
                <a:ea typeface="Arial Unicode MS"/>
                <a:cs typeface="Arial Unicode MS"/>
              </a:rPr>
              <a:t>זולים מהצמנט — גרדציה טובה חוסכת משחה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>
                <a:latin typeface="Arial Unicode MS"/>
                <a:ea typeface="Arial Unicode MS"/>
                <a:cs typeface="Arial Unicode MS"/>
              </a:rPr>
              <a:t>תפקיד הצמנט</a:t>
            </a:r>
          </a:p>
        </p:txBody>
      </p:sp>
      <p:pic>
        <p:nvPicPr>
          <p:cNvPr id="3" name="Picture 2" descr="hydr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267114"/>
            <a:ext cx="6766560" cy="212921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3520440"/>
            <a:ext cx="2103120" cy="320040"/>
          </a:xfrm>
          <a:prstGeom prst="rect">
            <a:avLst/>
          </a:prstGeom>
          <a:noFill/>
        </p:spPr>
        <p:txBody>
          <a:bodyPr wrap="square" lIns="0" rIns="0" tIns="0" bIns="0" anchor="t" rtlCol="1">
            <a:spAutoFit/>
          </a:bodyPr>
          <a:lstStyle/>
          <a:p>
            <a:pPr algn="ctr" rtl="1" marL="0" indent="0">
              <a:spcAft>
                <a:spcPts val="400"/>
              </a:spcAft>
              <a:buNone/>
            </a:pPr>
            <a:r>
              <a:rPr lang="he-IL" sz="1500" b="1">
                <a:solidFill>
                  <a:srgbClr val="003973"/>
                </a:solidFill>
                <a:latin typeface="Arial Unicode MS"/>
                <a:ea typeface="Arial Unicode MS"/>
                <a:cs typeface="Arial Unicode MS"/>
              </a:rPr>
              <a:t>גרגרי צמנט במים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840480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t" rtlCol="1">
            <a:spAutoFit/>
          </a:bodyPr>
          <a:lstStyle/>
          <a:p>
            <a:pPr algn="ctr" rtl="1" marL="0" indent="0">
              <a:spcAft>
                <a:spcPts val="400"/>
              </a:spcAft>
              <a:buNone/>
            </a:pPr>
            <a:r>
              <a:rPr lang="he-IL" sz="1300" b="0">
                <a:solidFill>
                  <a:srgbClr val="5F6B76"/>
                </a:solidFill>
                <a:latin typeface="Arial Unicode MS"/>
                <a:ea typeface="Arial Unicode MS"/>
                <a:cs typeface="Arial Unicode MS"/>
              </a:rPr>
              <a:t>דקות 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36391" y="3520440"/>
            <a:ext cx="2103120" cy="320040"/>
          </a:xfrm>
          <a:prstGeom prst="rect">
            <a:avLst/>
          </a:prstGeom>
          <a:noFill/>
        </p:spPr>
        <p:txBody>
          <a:bodyPr wrap="square" lIns="0" rIns="0" tIns="0" bIns="0" anchor="t" rtlCol="1">
            <a:spAutoFit/>
          </a:bodyPr>
          <a:lstStyle/>
          <a:p>
            <a:pPr algn="ctr" rtl="1" marL="0" indent="0">
              <a:spcAft>
                <a:spcPts val="400"/>
              </a:spcAft>
              <a:buNone/>
            </a:pPr>
            <a:r>
              <a:rPr lang="he-IL" sz="1500" b="1">
                <a:solidFill>
                  <a:srgbClr val="003973"/>
                </a:solidFill>
                <a:latin typeface="Arial Unicode MS"/>
                <a:ea typeface="Arial Unicode MS"/>
                <a:cs typeface="Arial Unicode MS"/>
              </a:rPr>
              <a:t>תחילת הידרציה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36391" y="3840480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t" rtlCol="1">
            <a:spAutoFit/>
          </a:bodyPr>
          <a:lstStyle/>
          <a:p>
            <a:pPr algn="ctr" rtl="1" marL="0" indent="0">
              <a:spcAft>
                <a:spcPts val="400"/>
              </a:spcAft>
              <a:buNone/>
            </a:pPr>
            <a:r>
              <a:rPr lang="he-IL" sz="1300" b="0">
                <a:solidFill>
                  <a:srgbClr val="5F6B76"/>
                </a:solidFill>
                <a:latin typeface="Arial Unicode MS"/>
                <a:ea typeface="Arial Unicode MS"/>
                <a:cs typeface="Arial Unicode MS"/>
              </a:rPr>
              <a:t>שעות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49824" y="3520440"/>
            <a:ext cx="2103120" cy="320040"/>
          </a:xfrm>
          <a:prstGeom prst="rect">
            <a:avLst/>
          </a:prstGeom>
          <a:noFill/>
        </p:spPr>
        <p:txBody>
          <a:bodyPr wrap="square" lIns="0" rIns="0" tIns="0" bIns="0" anchor="t" rtlCol="1">
            <a:spAutoFit/>
          </a:bodyPr>
          <a:lstStyle/>
          <a:p>
            <a:pPr algn="ctr" rtl="1" marL="0" indent="0">
              <a:spcAft>
                <a:spcPts val="400"/>
              </a:spcAft>
              <a:buNone/>
            </a:pPr>
            <a:r>
              <a:rPr lang="he-IL" sz="1500" b="1">
                <a:solidFill>
                  <a:srgbClr val="003973"/>
                </a:solidFill>
                <a:latin typeface="Arial Unicode MS"/>
                <a:ea typeface="Arial Unicode MS"/>
                <a:cs typeface="Arial Unicode MS"/>
              </a:rPr>
              <a:t>רשת C-S-H מלכדת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49824" y="3840480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t" rtlCol="1">
            <a:spAutoFit/>
          </a:bodyPr>
          <a:lstStyle/>
          <a:p>
            <a:pPr algn="ctr" rtl="1" marL="0" indent="0">
              <a:spcAft>
                <a:spcPts val="400"/>
              </a:spcAft>
              <a:buNone/>
            </a:pPr>
            <a:r>
              <a:rPr lang="he-IL" sz="1300" b="0">
                <a:solidFill>
                  <a:srgbClr val="5F6B76"/>
                </a:solidFill>
                <a:latin typeface="Arial Unicode MS"/>
                <a:ea typeface="Arial Unicode MS"/>
                <a:cs typeface="Arial Unicode MS"/>
              </a:rPr>
              <a:t>ימים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4343400"/>
            <a:ext cx="6766560" cy="777240"/>
          </a:xfrm>
          <a:prstGeom prst="roundRect">
            <a:avLst>
              <a:gd name="adj" fmla="val 8000"/>
            </a:avLst>
          </a:prstGeom>
          <a:solidFill>
            <a:srgbClr val="F3F5F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389120"/>
            <a:ext cx="6400800" cy="685800"/>
          </a:xfrm>
          <a:prstGeom prst="rect">
            <a:avLst/>
          </a:prstGeom>
          <a:noFill/>
        </p:spPr>
        <p:txBody>
          <a:bodyPr wrap="square" lIns="0" rIns="0" tIns="0" bIns="0" anchor="ctr" rtlCol="1">
            <a:spAutoFit/>
          </a:bodyPr>
          <a:lstStyle/>
          <a:p>
            <a:pPr algn="r" rtl="1" marL="0" indent="0">
              <a:spcAft>
                <a:spcPts val="200"/>
              </a:spcAft>
              <a:buNone/>
            </a:pPr>
            <a:r>
              <a:rPr lang="he-IL" sz="1400" b="1">
                <a:solidFill>
                  <a:srgbClr val="003973"/>
                </a:solidFill>
                <a:latin typeface="Arial Unicode MS"/>
                <a:ea typeface="Arial Unicode MS"/>
                <a:cs typeface="Arial Unicode MS"/>
              </a:rPr>
              <a:t>מרכיבי הקלינקר:  </a:t>
            </a:r>
            <a:r>
              <a:rPr lang="he-IL" sz="1400" b="0">
                <a:solidFill>
                  <a:srgbClr val="333F4A"/>
                </a:solidFill>
                <a:latin typeface="Arial Unicode MS"/>
                <a:ea typeface="Arial Unicode MS"/>
                <a:cs typeface="Arial Unicode MS"/>
              </a:rPr>
              <a:t>C₃S, C₂S, C₃A, C₄AF</a:t>
            </a:r>
          </a:p>
          <a:p>
            <a:pPr algn="r" rtl="1" marL="0" indent="0">
              <a:spcAft>
                <a:spcPts val="200"/>
              </a:spcAft>
              <a:buNone/>
            </a:pPr>
            <a:r>
              <a:rPr lang="he-IL" sz="1400" b="1">
                <a:solidFill>
                  <a:srgbClr val="003973"/>
                </a:solidFill>
                <a:latin typeface="Arial Unicode MS"/>
                <a:ea typeface="Arial Unicode MS"/>
                <a:cs typeface="Arial Unicode MS"/>
              </a:rPr>
              <a:t>סוגי צמנט:  </a:t>
            </a:r>
            <a:r>
              <a:rPr lang="he-IL" sz="1400" b="0">
                <a:solidFill>
                  <a:srgbClr val="333F4A"/>
                </a:solidFill>
                <a:latin typeface="Arial Unicode MS"/>
                <a:ea typeface="Arial Unicode MS"/>
                <a:cs typeface="Arial Unicode MS"/>
              </a:rPr>
              <a:t>CEM I עד CEM V, לפי ת"י 1</a:t>
            </a:r>
          </a:p>
        </p:txBody>
      </p:sp>
      <p:sp>
        <p:nvSpPr>
          <p:cNvPr id="12" name="Oval 11"/>
          <p:cNvSpPr/>
          <p:nvPr/>
        </p:nvSpPr>
        <p:spPr>
          <a:xfrm>
            <a:off x="10917936" y="1225295"/>
            <a:ext cx="566928" cy="566928"/>
          </a:xfrm>
          <a:prstGeom prst="ellipse">
            <a:avLst/>
          </a:prstGeom>
          <a:solidFill>
            <a:srgbClr val="0081C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3" name="Picture 12" descr="FaLink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53998" y="1361358"/>
            <a:ext cx="294802" cy="29480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955279" y="1188720"/>
            <a:ext cx="2880360" cy="365760"/>
          </a:xfrm>
          <a:prstGeom prst="rect">
            <a:avLst/>
          </a:prstGeom>
          <a:noFill/>
        </p:spPr>
        <p:txBody>
          <a:bodyPr wrap="square" lIns="0" rIns="0" tIns="0" bIns="0" anchor="t" rtlCol="1">
            <a:spAutoFit/>
          </a:bodyPr>
          <a:lstStyle/>
          <a:p>
            <a:pPr algn="r" rtl="1" marL="0" indent="0">
              <a:spcAft>
                <a:spcPts val="400"/>
              </a:spcAft>
              <a:buNone/>
            </a:pPr>
            <a:r>
              <a:rPr lang="he-IL" sz="1800" b="1">
                <a:solidFill>
                  <a:srgbClr val="003973"/>
                </a:solidFill>
                <a:latin typeface="Arial Unicode MS"/>
                <a:ea typeface="Arial Unicode MS"/>
                <a:cs typeface="Arial Unicode MS"/>
              </a:rPr>
              <a:t>החומר הקושר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55279" y="1572768"/>
            <a:ext cx="2880360" cy="685800"/>
          </a:xfrm>
          <a:prstGeom prst="rect">
            <a:avLst/>
          </a:prstGeom>
          <a:noFill/>
        </p:spPr>
        <p:txBody>
          <a:bodyPr wrap="square" lIns="0" rIns="0" tIns="0" bIns="0" anchor="t" rtlCol="1">
            <a:spAutoFit/>
          </a:bodyPr>
          <a:lstStyle/>
          <a:p>
            <a:pPr algn="r" rtl="1" marL="0" indent="0">
              <a:spcAft>
                <a:spcPts val="400"/>
              </a:spcAft>
              <a:buNone/>
            </a:pPr>
            <a:r>
              <a:rPr lang="he-IL" sz="1400" b="0">
                <a:solidFill>
                  <a:srgbClr val="333F4A"/>
                </a:solidFill>
                <a:latin typeface="Arial Unicode MS"/>
                <a:ea typeface="Arial Unicode MS"/>
                <a:cs typeface="Arial Unicode MS"/>
              </a:rPr>
              <a:t>המרכיב היחיד שהופך את התערובת לגוף מוצק</a:t>
            </a:r>
          </a:p>
        </p:txBody>
      </p:sp>
      <p:sp>
        <p:nvSpPr>
          <p:cNvPr id="16" name="Oval 15"/>
          <p:cNvSpPr/>
          <p:nvPr/>
        </p:nvSpPr>
        <p:spPr>
          <a:xfrm>
            <a:off x="10917936" y="2322576"/>
            <a:ext cx="566928" cy="566928"/>
          </a:xfrm>
          <a:prstGeom prst="ellipse">
            <a:avLst/>
          </a:prstGeom>
          <a:solidFill>
            <a:srgbClr val="0081C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7" name="Picture 16" descr="FaLayerGroup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53998" y="2458638"/>
            <a:ext cx="294802" cy="294802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955279" y="2286000"/>
            <a:ext cx="2880360" cy="365760"/>
          </a:xfrm>
          <a:prstGeom prst="rect">
            <a:avLst/>
          </a:prstGeom>
          <a:noFill/>
        </p:spPr>
        <p:txBody>
          <a:bodyPr wrap="square" lIns="0" rIns="0" tIns="0" bIns="0" anchor="t" rtlCol="1">
            <a:spAutoFit/>
          </a:bodyPr>
          <a:lstStyle/>
          <a:p>
            <a:pPr algn="r" rtl="1" marL="0" indent="0">
              <a:spcAft>
                <a:spcPts val="400"/>
              </a:spcAft>
              <a:buNone/>
            </a:pPr>
            <a:r>
              <a:rPr lang="he-IL" sz="1800" b="1">
                <a:solidFill>
                  <a:srgbClr val="003973"/>
                </a:solidFill>
                <a:latin typeface="Arial Unicode MS"/>
                <a:ea typeface="Arial Unicode MS"/>
                <a:cs typeface="Arial Unicode MS"/>
              </a:rPr>
              <a:t>יוצר את משחת הצמנט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55279" y="2670048"/>
            <a:ext cx="2880360" cy="685800"/>
          </a:xfrm>
          <a:prstGeom prst="rect">
            <a:avLst/>
          </a:prstGeom>
          <a:noFill/>
        </p:spPr>
        <p:txBody>
          <a:bodyPr wrap="square" lIns="0" rIns="0" tIns="0" bIns="0" anchor="t" rtlCol="1">
            <a:spAutoFit/>
          </a:bodyPr>
          <a:lstStyle/>
          <a:p>
            <a:pPr algn="r" rtl="1" marL="0" indent="0">
              <a:spcAft>
                <a:spcPts val="400"/>
              </a:spcAft>
              <a:buNone/>
            </a:pPr>
            <a:r>
              <a:rPr lang="he-IL" sz="1400" b="0">
                <a:solidFill>
                  <a:srgbClr val="333F4A"/>
                </a:solidFill>
                <a:latin typeface="Arial Unicode MS"/>
                <a:ea typeface="Arial Unicode MS"/>
                <a:cs typeface="Arial Unicode MS"/>
              </a:rPr>
              <a:t>צמנט + מים עוטפים את האגרגטים וממלאים חללים</a:t>
            </a:r>
          </a:p>
        </p:txBody>
      </p:sp>
      <p:sp>
        <p:nvSpPr>
          <p:cNvPr id="20" name="Oval 19"/>
          <p:cNvSpPr/>
          <p:nvPr/>
        </p:nvSpPr>
        <p:spPr>
          <a:xfrm>
            <a:off x="10917936" y="3419856"/>
            <a:ext cx="566928" cy="566928"/>
          </a:xfrm>
          <a:prstGeom prst="ellipse">
            <a:avLst/>
          </a:prstGeom>
          <a:solidFill>
            <a:srgbClr val="0081C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1" name="Picture 20" descr="FaChartLine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53998" y="3555918"/>
            <a:ext cx="294802" cy="294802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7955279" y="3383280"/>
            <a:ext cx="2880360" cy="365760"/>
          </a:xfrm>
          <a:prstGeom prst="rect">
            <a:avLst/>
          </a:prstGeom>
          <a:noFill/>
        </p:spPr>
        <p:txBody>
          <a:bodyPr wrap="square" lIns="0" rIns="0" tIns="0" bIns="0" anchor="t" rtlCol="1">
            <a:spAutoFit/>
          </a:bodyPr>
          <a:lstStyle/>
          <a:p>
            <a:pPr algn="r" rtl="1" marL="0" indent="0">
              <a:spcAft>
                <a:spcPts val="400"/>
              </a:spcAft>
              <a:buNone/>
            </a:pPr>
            <a:r>
              <a:rPr lang="he-IL" sz="1800" b="1">
                <a:solidFill>
                  <a:srgbClr val="003973"/>
                </a:solidFill>
                <a:latin typeface="Arial Unicode MS"/>
                <a:ea typeface="Arial Unicode MS"/>
                <a:cs typeface="Arial Unicode MS"/>
              </a:rPr>
              <a:t>מפתח חוזק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55279" y="3767328"/>
            <a:ext cx="2880360" cy="685800"/>
          </a:xfrm>
          <a:prstGeom prst="rect">
            <a:avLst/>
          </a:prstGeom>
          <a:noFill/>
        </p:spPr>
        <p:txBody>
          <a:bodyPr wrap="square" lIns="0" rIns="0" tIns="0" bIns="0" anchor="t" rtlCol="1">
            <a:spAutoFit/>
          </a:bodyPr>
          <a:lstStyle/>
          <a:p>
            <a:pPr algn="r" rtl="1" marL="0" indent="0">
              <a:spcAft>
                <a:spcPts val="400"/>
              </a:spcAft>
              <a:buNone/>
            </a:pPr>
            <a:r>
              <a:rPr lang="he-IL" sz="1400" b="0">
                <a:solidFill>
                  <a:srgbClr val="333F4A"/>
                </a:solidFill>
                <a:latin typeface="Arial Unicode MS"/>
                <a:ea typeface="Arial Unicode MS"/>
                <a:cs typeface="Arial Unicode MS"/>
              </a:rPr>
              <a:t>התגובה נמשכת שבועות וחודשים כל עוד יש לחות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2960" y="5349240"/>
            <a:ext cx="8183879" cy="566928"/>
          </a:xfrm>
          <a:prstGeom prst="roundRect">
            <a:avLst>
              <a:gd name="adj" fmla="val 8000"/>
            </a:avLst>
          </a:prstGeom>
          <a:solidFill>
            <a:srgbClr val="00397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394192" y="5404103"/>
            <a:ext cx="457200" cy="457200"/>
          </a:xfrm>
          <a:prstGeom prst="ellipse">
            <a:avLst/>
          </a:prstGeom>
          <a:solidFill>
            <a:srgbClr val="C4D8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6" name="Picture 25" descr="FaLightbulb_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03919" y="5513831"/>
            <a:ext cx="237744" cy="237744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1051560" y="5349240"/>
            <a:ext cx="7269479" cy="566928"/>
          </a:xfrm>
          <a:prstGeom prst="rect">
            <a:avLst/>
          </a:prstGeom>
          <a:noFill/>
        </p:spPr>
        <p:txBody>
          <a:bodyPr wrap="square" lIns="0" rIns="0" tIns="0" bIns="0" anchor="ctr" rtlCol="1">
            <a:spAutoFit/>
          </a:bodyPr>
          <a:lstStyle/>
          <a:p>
            <a:pPr algn="r" rtl="1" marL="0" indent="0">
              <a:spcAft>
                <a:spcPts val="400"/>
              </a:spcAft>
              <a:buNone/>
            </a:pPr>
            <a:r>
              <a:rPr lang="he-IL" sz="17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צמנט אינו "דבק" שמתייבש — הוא מגיב כימית עם מים ומתקשה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>
                <a:latin typeface="Arial Unicode MS"/>
                <a:ea typeface="Arial Unicode MS"/>
                <a:cs typeface="Arial Unicode MS"/>
              </a:rPr>
              <a:t>תפקיד המים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097280"/>
            <a:ext cx="6858000" cy="365760"/>
          </a:xfrm>
          <a:prstGeom prst="rect">
            <a:avLst/>
          </a:prstGeom>
          <a:noFill/>
        </p:spPr>
        <p:txBody>
          <a:bodyPr wrap="square" lIns="0" rIns="0" tIns="0" bIns="0" anchor="t" rtlCol="1">
            <a:spAutoFit/>
          </a:bodyPr>
          <a:lstStyle/>
          <a:p>
            <a:pPr algn="r" rtl="1" marL="0" indent="0">
              <a:spcAft>
                <a:spcPts val="400"/>
              </a:spcAft>
              <a:buNone/>
            </a:pPr>
            <a:r>
              <a:rPr lang="he-IL" sz="1700" b="1">
                <a:solidFill>
                  <a:srgbClr val="003973"/>
                </a:solidFill>
                <a:latin typeface="Arial Unicode MS"/>
                <a:ea typeface="Arial Unicode MS"/>
                <a:cs typeface="Arial Unicode MS"/>
              </a:rPr>
              <a:t>יחס מים-צמנט (W/C) — סקאלת השפעה</a:t>
            </a:r>
          </a:p>
        </p:txBody>
      </p:sp>
      <p:sp>
        <p:nvSpPr>
          <p:cNvPr id="4" name="Rectangle 3"/>
          <p:cNvSpPr/>
          <p:nvPr/>
        </p:nvSpPr>
        <p:spPr>
          <a:xfrm>
            <a:off x="6156959" y="1645920"/>
            <a:ext cx="1487424" cy="594360"/>
          </a:xfrm>
          <a:prstGeom prst="rect">
            <a:avLst/>
          </a:prstGeom>
          <a:solidFill>
            <a:srgbClr val="003973"/>
          </a:solidFill>
          <a:ln>
            <a:noFill/>
          </a:ln>
        </p:spPr>
        <p:txBody>
          <a:bodyPr rtlCol="0" anchor="ctr" wrap="square" lIns="45720" rIns="45720" tIns="18288" bIns="18288"/>
          <a:lstStyle/>
          <a:p>
            <a:pPr algn="ctr" rtl="1" marL="0" indent="0">
              <a:buNone/>
            </a:pPr>
            <a:r>
              <a:rPr lang="he-IL" sz="13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חוזק גבוה מאוד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56959" y="2286000"/>
            <a:ext cx="1487424" cy="274320"/>
          </a:xfrm>
          <a:prstGeom prst="rect">
            <a:avLst/>
          </a:prstGeom>
          <a:noFill/>
        </p:spPr>
        <p:txBody>
          <a:bodyPr wrap="square" lIns="0" rIns="0" tIns="0" bIns="0" anchor="t" rtlCol="1">
            <a:spAutoFit/>
          </a:bodyPr>
          <a:lstStyle/>
          <a:p>
            <a:pPr algn="ctr" rtl="1" marL="0" indent="0">
              <a:spcAft>
                <a:spcPts val="400"/>
              </a:spcAft>
              <a:buNone/>
            </a:pPr>
            <a:r>
              <a:rPr lang="he-IL" sz="1200" b="0">
                <a:solidFill>
                  <a:srgbClr val="5F6B76"/>
                </a:solidFill>
                <a:latin typeface="Arial Unicode MS"/>
                <a:ea typeface="Arial Unicode MS"/>
                <a:cs typeface="Arial Unicode MS"/>
              </a:rPr>
              <a:t>דורש סופר-פלסטיצייזר</a:t>
            </a:r>
          </a:p>
        </p:txBody>
      </p:sp>
      <p:sp>
        <p:nvSpPr>
          <p:cNvPr id="6" name="Rectangle 5"/>
          <p:cNvSpPr/>
          <p:nvPr/>
        </p:nvSpPr>
        <p:spPr>
          <a:xfrm>
            <a:off x="4632960" y="1645920"/>
            <a:ext cx="1487423" cy="594360"/>
          </a:xfrm>
          <a:prstGeom prst="rect">
            <a:avLst/>
          </a:prstGeom>
          <a:solidFill>
            <a:srgbClr val="0081C8"/>
          </a:solidFill>
          <a:ln>
            <a:noFill/>
          </a:ln>
        </p:spPr>
        <p:txBody>
          <a:bodyPr rtlCol="0" anchor="ctr" wrap="square" lIns="45720" rIns="45720" tIns="18288" bIns="18288"/>
          <a:lstStyle/>
          <a:p>
            <a:pPr algn="ctr" rtl="1" marL="0" indent="0">
              <a:buNone/>
            </a:pPr>
            <a:r>
              <a:rPr lang="he-IL" sz="13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בטון מבני איכותי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32960" y="2286000"/>
            <a:ext cx="1487423" cy="274320"/>
          </a:xfrm>
          <a:prstGeom prst="rect">
            <a:avLst/>
          </a:prstGeom>
          <a:noFill/>
        </p:spPr>
        <p:txBody>
          <a:bodyPr wrap="square" lIns="0" rIns="0" tIns="0" bIns="0" anchor="t" rtlCol="1">
            <a:spAutoFit/>
          </a:bodyPr>
          <a:lstStyle/>
          <a:p>
            <a:pPr algn="ctr" rtl="1" marL="0" indent="0">
              <a:spcAft>
                <a:spcPts val="400"/>
              </a:spcAft>
              <a:buNone/>
            </a:pPr>
            <a:r>
              <a:rPr lang="he-IL" sz="1200" b="0">
                <a:solidFill>
                  <a:srgbClr val="5F6B76"/>
                </a:solidFill>
                <a:latin typeface="Arial Unicode MS"/>
                <a:ea typeface="Arial Unicode MS"/>
                <a:cs typeface="Arial Unicode MS"/>
              </a:rPr>
              <a:t>עמידות טובה</a:t>
            </a:r>
          </a:p>
        </p:txBody>
      </p:sp>
      <p:sp>
        <p:nvSpPr>
          <p:cNvPr id="8" name="Rectangle 7"/>
          <p:cNvSpPr/>
          <p:nvPr/>
        </p:nvSpPr>
        <p:spPr>
          <a:xfrm>
            <a:off x="3108960" y="1645920"/>
            <a:ext cx="1487423" cy="594360"/>
          </a:xfrm>
          <a:prstGeom prst="rect">
            <a:avLst/>
          </a:prstGeom>
          <a:solidFill>
            <a:srgbClr val="7FC3EA"/>
          </a:solidFill>
          <a:ln>
            <a:noFill/>
          </a:ln>
        </p:spPr>
        <p:txBody>
          <a:bodyPr rtlCol="0" anchor="ctr" wrap="square" lIns="45720" rIns="45720" tIns="18288" bIns="18288"/>
          <a:lstStyle/>
          <a:p>
            <a:pPr algn="ctr" rtl="1" marL="0" indent="0">
              <a:buNone/>
            </a:pPr>
            <a:r>
              <a:rPr lang="he-IL" sz="1300" b="1">
                <a:solidFill>
                  <a:srgbClr val="003973"/>
                </a:solidFill>
                <a:latin typeface="Arial Unicode MS"/>
                <a:ea typeface="Arial Unicode MS"/>
                <a:cs typeface="Arial Unicode MS"/>
              </a:rPr>
              <a:t>בטון רגיל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08960" y="2286000"/>
            <a:ext cx="1487423" cy="274320"/>
          </a:xfrm>
          <a:prstGeom prst="rect">
            <a:avLst/>
          </a:prstGeom>
          <a:noFill/>
        </p:spPr>
        <p:txBody>
          <a:bodyPr wrap="square" lIns="0" rIns="0" tIns="0" bIns="0" anchor="t" rtlCol="1">
            <a:spAutoFit/>
          </a:bodyPr>
          <a:lstStyle/>
          <a:p>
            <a:pPr algn="ctr" rtl="1" marL="0" indent="0">
              <a:spcAft>
                <a:spcPts val="400"/>
              </a:spcAft>
              <a:buNone/>
            </a:pPr>
            <a:r>
              <a:rPr lang="he-IL" sz="1200" b="0">
                <a:solidFill>
                  <a:srgbClr val="5F6B76"/>
                </a:solidFill>
                <a:latin typeface="Arial Unicode MS"/>
                <a:ea typeface="Arial Unicode MS"/>
                <a:cs typeface="Arial Unicode MS"/>
              </a:rPr>
              <a:t>רגיש לאשפרה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1645920"/>
            <a:ext cx="2249424" cy="594360"/>
          </a:xfrm>
          <a:prstGeom prst="rect">
            <a:avLst/>
          </a:prstGeom>
          <a:solidFill>
            <a:srgbClr val="A3B1BA"/>
          </a:solidFill>
          <a:ln>
            <a:noFill/>
          </a:ln>
        </p:spPr>
        <p:txBody>
          <a:bodyPr rtlCol="0" anchor="ctr" wrap="square" lIns="45720" rIns="45720" tIns="18288" bIns="18288"/>
          <a:lstStyle/>
          <a:p>
            <a:pPr algn="ctr" rtl="1" marL="0" indent="0">
              <a:buNone/>
            </a:pPr>
            <a:r>
              <a:rPr lang="he-IL" sz="1300" b="1">
                <a:solidFill>
                  <a:srgbClr val="003973"/>
                </a:solidFill>
                <a:latin typeface="Arial Unicode MS"/>
                <a:ea typeface="Arial Unicode MS"/>
                <a:cs typeface="Arial Unicode MS"/>
              </a:rPr>
              <a:t>בטון חלש וחדיר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286000"/>
            <a:ext cx="2249424" cy="274320"/>
          </a:xfrm>
          <a:prstGeom prst="rect">
            <a:avLst/>
          </a:prstGeom>
          <a:noFill/>
        </p:spPr>
        <p:txBody>
          <a:bodyPr wrap="square" lIns="0" rIns="0" tIns="0" bIns="0" anchor="t" rtlCol="1">
            <a:spAutoFit/>
          </a:bodyPr>
          <a:lstStyle/>
          <a:p>
            <a:pPr algn="ctr" rtl="1" marL="0" indent="0">
              <a:spcAft>
                <a:spcPts val="400"/>
              </a:spcAft>
              <a:buNone/>
            </a:pPr>
            <a:r>
              <a:rPr lang="he-IL" sz="1200" b="0">
                <a:solidFill>
                  <a:srgbClr val="5F6B76"/>
                </a:solidFill>
                <a:latin typeface="Arial Unicode MS"/>
                <a:ea typeface="Arial Unicode MS"/>
                <a:cs typeface="Arial Unicode MS"/>
              </a:rPr>
              <a:t>סיכון לעמידות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06640" y="260604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algn="ctr" rtl="0" marL="0" indent="0">
              <a:spcAft>
                <a:spcPts val="400"/>
              </a:spcAft>
              <a:buNone/>
            </a:pPr>
            <a:r>
              <a:rPr lang="he-IL" sz="1300" b="0">
                <a:solidFill>
                  <a:srgbClr val="333F4A"/>
                </a:solidFill>
                <a:latin typeface="Arial Unicode MS"/>
                <a:ea typeface="Arial Unicode MS"/>
                <a:cs typeface="Arial Unicode MS"/>
              </a:rPr>
              <a:t>0.30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82639" y="260604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algn="ctr" rtl="0" marL="0" indent="0">
              <a:spcAft>
                <a:spcPts val="400"/>
              </a:spcAft>
              <a:buNone/>
            </a:pPr>
            <a:r>
              <a:rPr lang="he-IL" sz="1300" b="0">
                <a:solidFill>
                  <a:srgbClr val="333F4A"/>
                </a:solidFill>
                <a:latin typeface="Arial Unicode MS"/>
                <a:ea typeface="Arial Unicode MS"/>
                <a:cs typeface="Arial Unicode MS"/>
              </a:rPr>
              <a:t>0.40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58640" y="260604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algn="ctr" rtl="0" marL="0" indent="0">
              <a:spcAft>
                <a:spcPts val="400"/>
              </a:spcAft>
              <a:buNone/>
            </a:pPr>
            <a:r>
              <a:rPr lang="he-IL" sz="1300" b="0">
                <a:solidFill>
                  <a:srgbClr val="333F4A"/>
                </a:solidFill>
                <a:latin typeface="Arial Unicode MS"/>
                <a:ea typeface="Arial Unicode MS"/>
                <a:cs typeface="Arial Unicode MS"/>
              </a:rPr>
              <a:t>0.50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34640" y="260604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algn="ctr" rtl="0" marL="0" indent="0">
              <a:spcAft>
                <a:spcPts val="400"/>
              </a:spcAft>
              <a:buNone/>
            </a:pPr>
            <a:r>
              <a:rPr lang="he-IL" sz="1300" b="0">
                <a:solidFill>
                  <a:srgbClr val="333F4A"/>
                </a:solidFill>
                <a:latin typeface="Arial Unicode MS"/>
                <a:ea typeface="Arial Unicode MS"/>
                <a:cs typeface="Arial Unicode MS"/>
              </a:rPr>
              <a:t>0.60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260604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algn="ctr" rtl="0" marL="0" indent="0">
              <a:spcAft>
                <a:spcPts val="400"/>
              </a:spcAft>
              <a:buNone/>
            </a:pPr>
            <a:r>
              <a:rPr lang="he-IL" sz="1300" b="0">
                <a:solidFill>
                  <a:srgbClr val="333F4A"/>
                </a:solidFill>
                <a:latin typeface="Arial Unicode MS"/>
                <a:ea typeface="Arial Unicode MS"/>
                <a:cs typeface="Arial Unicode MS"/>
              </a:rPr>
              <a:t>0.75</a:t>
            </a:r>
          </a:p>
        </p:txBody>
      </p:sp>
      <p:cxnSp>
        <p:nvCxnSpPr>
          <p:cNvPr id="17" name="Connector 16"/>
          <p:cNvCxnSpPr/>
          <p:nvPr/>
        </p:nvCxnSpPr>
        <p:spPr>
          <a:xfrm flipH="1">
            <a:off x="1005840" y="3063240"/>
            <a:ext cx="6492239" cy="0"/>
          </a:xfrm>
          <a:prstGeom prst="line">
            <a:avLst/>
          </a:prstGeom>
          <a:ln w="19050">
            <a:solidFill>
              <a:srgbClr val="5F6B76"/>
            </a:solidFill>
            <a:tailEnd type="triangle"/>
          </a:ln>
        </p:spPr>
      </p:cxnSp>
      <p:sp>
        <p:nvSpPr>
          <p:cNvPr id="18" name="TextBox 17"/>
          <p:cNvSpPr txBox="1"/>
          <p:nvPr/>
        </p:nvSpPr>
        <p:spPr>
          <a:xfrm>
            <a:off x="822960" y="3127248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t" rtlCol="1">
            <a:spAutoFit/>
          </a:bodyPr>
          <a:lstStyle/>
          <a:p>
            <a:pPr algn="ctr" rtl="1" marL="0" indent="0">
              <a:spcAft>
                <a:spcPts val="400"/>
              </a:spcAft>
              <a:buNone/>
            </a:pPr>
            <a:r>
              <a:rPr lang="he-IL" sz="1300" b="0">
                <a:solidFill>
                  <a:srgbClr val="5F6B76"/>
                </a:solidFill>
                <a:latin typeface="Arial Unicode MS"/>
                <a:ea typeface="Arial Unicode MS"/>
                <a:cs typeface="Arial Unicode MS"/>
              </a:rPr>
              <a:t>חוזק ועמידות יורדים  ←  יותר מים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3657600"/>
            <a:ext cx="3291840" cy="1417320"/>
          </a:xfrm>
          <a:prstGeom prst="roundRect">
            <a:avLst>
              <a:gd name="adj" fmla="val 8000"/>
            </a:avLst>
          </a:prstGeom>
          <a:solidFill>
            <a:srgbClr val="EAF3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3730752"/>
            <a:ext cx="3017520" cy="1325880"/>
          </a:xfrm>
          <a:prstGeom prst="rect">
            <a:avLst/>
          </a:prstGeom>
          <a:noFill/>
        </p:spPr>
        <p:txBody>
          <a:bodyPr wrap="square" lIns="0" rIns="0" tIns="0" bIns="0" anchor="t" rtlCol="1">
            <a:spAutoFit/>
          </a:bodyPr>
          <a:lstStyle/>
          <a:p>
            <a:pPr algn="ctr" rtl="1" marL="0" indent="0">
              <a:spcAft>
                <a:spcPts val="400"/>
              </a:spcAft>
              <a:buNone/>
            </a:pPr>
            <a:r>
              <a:rPr lang="he-IL" sz="3200" b="1">
                <a:solidFill>
                  <a:srgbClr val="0081C8"/>
                </a:solidFill>
                <a:latin typeface="Arial Unicode MS"/>
                <a:ea typeface="Arial Unicode MS"/>
                <a:cs typeface="Arial Unicode MS"/>
              </a:rPr>
              <a:t>0.25</a:t>
            </a:r>
          </a:p>
          <a:p>
            <a:pPr algn="ctr" rtl="1" marL="0" indent="0">
              <a:spcAft>
                <a:spcPts val="400"/>
              </a:spcAft>
              <a:buNone/>
            </a:pPr>
            <a:r>
              <a:rPr lang="he-IL" sz="1400" b="0">
                <a:solidFill>
                  <a:srgbClr val="333F4A"/>
                </a:solidFill>
                <a:latin typeface="Arial Unicode MS"/>
                <a:ea typeface="Arial Unicode MS"/>
                <a:cs typeface="Arial Unicode MS"/>
              </a:rPr>
              <a:t>W/C שנדרש כימית להידרציה מלאה (בקירוב)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89120" y="3657600"/>
            <a:ext cx="3291840" cy="1417320"/>
          </a:xfrm>
          <a:prstGeom prst="roundRect">
            <a:avLst>
              <a:gd name="adj" fmla="val 8000"/>
            </a:avLst>
          </a:prstGeom>
          <a:solidFill>
            <a:srgbClr val="EAF3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26280" y="3730752"/>
            <a:ext cx="3017520" cy="1325880"/>
          </a:xfrm>
          <a:prstGeom prst="rect">
            <a:avLst/>
          </a:prstGeom>
          <a:noFill/>
        </p:spPr>
        <p:txBody>
          <a:bodyPr wrap="square" lIns="0" rIns="0" tIns="0" bIns="0" anchor="t" rtlCol="1">
            <a:spAutoFit/>
          </a:bodyPr>
          <a:lstStyle/>
          <a:p>
            <a:pPr algn="ctr" rtl="1" marL="0" indent="0">
              <a:spcAft>
                <a:spcPts val="400"/>
              </a:spcAft>
              <a:buNone/>
            </a:pPr>
            <a:r>
              <a:rPr lang="he-IL" sz="3200" b="1">
                <a:solidFill>
                  <a:srgbClr val="003973"/>
                </a:solidFill>
                <a:latin typeface="Arial Unicode MS"/>
                <a:ea typeface="Arial Unicode MS"/>
                <a:cs typeface="Arial Unicode MS"/>
              </a:rPr>
              <a:t>0.45-0.55</a:t>
            </a:r>
          </a:p>
          <a:p>
            <a:pPr algn="ctr" rtl="1" marL="0" indent="0">
              <a:spcAft>
                <a:spcPts val="400"/>
              </a:spcAft>
              <a:buNone/>
            </a:pPr>
            <a:r>
              <a:rPr lang="he-IL" sz="1400" b="0">
                <a:solidFill>
                  <a:srgbClr val="333F4A"/>
                </a:solidFill>
                <a:latin typeface="Arial Unicode MS"/>
                <a:ea typeface="Arial Unicode MS"/>
                <a:cs typeface="Arial Unicode MS"/>
              </a:rPr>
              <a:t>W/C טיפוסי בבטון מבני — העודף הוא "מי עבידות"</a:t>
            </a:r>
          </a:p>
        </p:txBody>
      </p:sp>
      <p:sp>
        <p:nvSpPr>
          <p:cNvPr id="23" name="Oval 22"/>
          <p:cNvSpPr/>
          <p:nvPr/>
        </p:nvSpPr>
        <p:spPr>
          <a:xfrm>
            <a:off x="10917936" y="1225295"/>
            <a:ext cx="566928" cy="566928"/>
          </a:xfrm>
          <a:prstGeom prst="ellipse">
            <a:avLst/>
          </a:prstGeom>
          <a:solidFill>
            <a:srgbClr val="0081C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4" name="Picture 23" descr="FaFlask_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53998" y="1361358"/>
            <a:ext cx="294802" cy="294802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8046720" y="1188720"/>
            <a:ext cx="2788920" cy="365760"/>
          </a:xfrm>
          <a:prstGeom prst="rect">
            <a:avLst/>
          </a:prstGeom>
          <a:noFill/>
        </p:spPr>
        <p:txBody>
          <a:bodyPr wrap="square" lIns="0" rIns="0" tIns="0" bIns="0" anchor="t" rtlCol="1">
            <a:spAutoFit/>
          </a:bodyPr>
          <a:lstStyle/>
          <a:p>
            <a:pPr algn="r" rtl="1" marL="0" indent="0">
              <a:spcAft>
                <a:spcPts val="400"/>
              </a:spcAft>
              <a:buNone/>
            </a:pPr>
            <a:r>
              <a:rPr lang="he-IL" sz="1800" b="1">
                <a:solidFill>
                  <a:srgbClr val="003973"/>
                </a:solidFill>
                <a:latin typeface="Arial Unicode MS"/>
                <a:ea typeface="Arial Unicode MS"/>
                <a:cs typeface="Arial Unicode MS"/>
              </a:rPr>
              <a:t>יצירת הידרציה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46720" y="1572768"/>
            <a:ext cx="2788920" cy="777240"/>
          </a:xfrm>
          <a:prstGeom prst="rect">
            <a:avLst/>
          </a:prstGeom>
          <a:noFill/>
        </p:spPr>
        <p:txBody>
          <a:bodyPr wrap="square" lIns="0" rIns="0" tIns="0" bIns="0" anchor="t" rtlCol="1">
            <a:spAutoFit/>
          </a:bodyPr>
          <a:lstStyle/>
          <a:p>
            <a:pPr algn="r" rtl="1" marL="0" indent="0">
              <a:spcAft>
                <a:spcPts val="400"/>
              </a:spcAft>
              <a:buNone/>
            </a:pPr>
            <a:r>
              <a:rPr lang="he-IL" sz="1400" b="0">
                <a:solidFill>
                  <a:srgbClr val="333F4A"/>
                </a:solidFill>
                <a:latin typeface="Arial Unicode MS"/>
                <a:ea typeface="Arial Unicode MS"/>
                <a:cs typeface="Arial Unicode MS"/>
              </a:rPr>
              <a:t>המים מגיבים עם הצמנט ויוצרים את מוצרי ההידרציה</a:t>
            </a:r>
          </a:p>
        </p:txBody>
      </p:sp>
      <p:sp>
        <p:nvSpPr>
          <p:cNvPr id="27" name="Oval 26"/>
          <p:cNvSpPr/>
          <p:nvPr/>
        </p:nvSpPr>
        <p:spPr>
          <a:xfrm>
            <a:off x="10917936" y="2414016"/>
            <a:ext cx="566928" cy="566928"/>
          </a:xfrm>
          <a:prstGeom prst="ellipse">
            <a:avLst/>
          </a:prstGeom>
          <a:solidFill>
            <a:srgbClr val="0081C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8" name="Picture 27" descr="FaHandPaper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53998" y="2550078"/>
            <a:ext cx="294802" cy="294802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8046720" y="2377440"/>
            <a:ext cx="2788920" cy="365760"/>
          </a:xfrm>
          <a:prstGeom prst="rect">
            <a:avLst/>
          </a:prstGeom>
          <a:noFill/>
        </p:spPr>
        <p:txBody>
          <a:bodyPr wrap="square" lIns="0" rIns="0" tIns="0" bIns="0" anchor="t" rtlCol="1">
            <a:spAutoFit/>
          </a:bodyPr>
          <a:lstStyle/>
          <a:p>
            <a:pPr algn="r" rtl="1" marL="0" indent="0">
              <a:spcAft>
                <a:spcPts val="400"/>
              </a:spcAft>
              <a:buNone/>
            </a:pPr>
            <a:r>
              <a:rPr lang="he-IL" sz="1800" b="1">
                <a:solidFill>
                  <a:srgbClr val="003973"/>
                </a:solidFill>
                <a:latin typeface="Arial Unicode MS"/>
                <a:ea typeface="Arial Unicode MS"/>
                <a:cs typeface="Arial Unicode MS"/>
              </a:rPr>
              <a:t>השפעה על עבידות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46720" y="2761488"/>
            <a:ext cx="2788920" cy="777240"/>
          </a:xfrm>
          <a:prstGeom prst="rect">
            <a:avLst/>
          </a:prstGeom>
          <a:noFill/>
        </p:spPr>
        <p:txBody>
          <a:bodyPr wrap="square" lIns="0" rIns="0" tIns="0" bIns="0" anchor="t" rtlCol="1">
            <a:spAutoFit/>
          </a:bodyPr>
          <a:lstStyle/>
          <a:p>
            <a:pPr algn="r" rtl="1" marL="0" indent="0">
              <a:spcAft>
                <a:spcPts val="400"/>
              </a:spcAft>
              <a:buNone/>
            </a:pPr>
            <a:r>
              <a:rPr lang="he-IL" sz="1400" b="0">
                <a:solidFill>
                  <a:srgbClr val="333F4A"/>
                </a:solidFill>
                <a:latin typeface="Arial Unicode MS"/>
                <a:ea typeface="Arial Unicode MS"/>
                <a:cs typeface="Arial Unicode MS"/>
              </a:rPr>
              <a:t>מאפשרים שאיבה, יציקה וריטוט</a:t>
            </a:r>
          </a:p>
        </p:txBody>
      </p:sp>
      <p:sp>
        <p:nvSpPr>
          <p:cNvPr id="31" name="Oval 30"/>
          <p:cNvSpPr/>
          <p:nvPr/>
        </p:nvSpPr>
        <p:spPr>
          <a:xfrm>
            <a:off x="10917936" y="3602736"/>
            <a:ext cx="566928" cy="566928"/>
          </a:xfrm>
          <a:prstGeom prst="ellipse">
            <a:avLst/>
          </a:prstGeom>
          <a:solidFill>
            <a:srgbClr val="0081C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2" name="Picture 31" descr="FaArrowDown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53998" y="3738798"/>
            <a:ext cx="294802" cy="294802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8046720" y="3566160"/>
            <a:ext cx="2788920" cy="365760"/>
          </a:xfrm>
          <a:prstGeom prst="rect">
            <a:avLst/>
          </a:prstGeom>
          <a:noFill/>
        </p:spPr>
        <p:txBody>
          <a:bodyPr wrap="square" lIns="0" rIns="0" tIns="0" bIns="0" anchor="t" rtlCol="1">
            <a:spAutoFit/>
          </a:bodyPr>
          <a:lstStyle/>
          <a:p>
            <a:pPr algn="r" rtl="1" marL="0" indent="0">
              <a:spcAft>
                <a:spcPts val="400"/>
              </a:spcAft>
              <a:buNone/>
            </a:pPr>
            <a:r>
              <a:rPr lang="he-IL" sz="1800" b="1">
                <a:solidFill>
                  <a:srgbClr val="003973"/>
                </a:solidFill>
                <a:latin typeface="Arial Unicode MS"/>
                <a:ea typeface="Arial Unicode MS"/>
                <a:cs typeface="Arial Unicode MS"/>
              </a:rPr>
              <a:t>השפעה על חוזק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46720" y="3950208"/>
            <a:ext cx="2788920" cy="777240"/>
          </a:xfrm>
          <a:prstGeom prst="rect">
            <a:avLst/>
          </a:prstGeom>
          <a:noFill/>
        </p:spPr>
        <p:txBody>
          <a:bodyPr wrap="square" lIns="0" rIns="0" tIns="0" bIns="0" anchor="t" rtlCol="1">
            <a:spAutoFit/>
          </a:bodyPr>
          <a:lstStyle/>
          <a:p>
            <a:pPr algn="r" rtl="1" marL="0" indent="0">
              <a:spcAft>
                <a:spcPts val="400"/>
              </a:spcAft>
              <a:buNone/>
            </a:pPr>
            <a:r>
              <a:rPr lang="he-IL" sz="1400" b="0">
                <a:solidFill>
                  <a:srgbClr val="333F4A"/>
                </a:solidFill>
                <a:latin typeface="Arial Unicode MS"/>
                <a:ea typeface="Arial Unicode MS"/>
                <a:cs typeface="Arial Unicode MS"/>
              </a:rPr>
              <a:t>כל ליטר עודף משאיר נקבוביות ומחליש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22960" y="5349240"/>
            <a:ext cx="8183879" cy="566928"/>
          </a:xfrm>
          <a:prstGeom prst="roundRect">
            <a:avLst>
              <a:gd name="adj" fmla="val 8000"/>
            </a:avLst>
          </a:prstGeom>
          <a:solidFill>
            <a:srgbClr val="00397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8394192" y="5404103"/>
            <a:ext cx="457200" cy="457200"/>
          </a:xfrm>
          <a:prstGeom prst="ellipse">
            <a:avLst/>
          </a:prstGeom>
          <a:solidFill>
            <a:srgbClr val="C4D8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7" name="Picture 36" descr="FaLightbulb_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03919" y="5513831"/>
            <a:ext cx="237744" cy="237744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1051560" y="5349240"/>
            <a:ext cx="7269479" cy="566928"/>
          </a:xfrm>
          <a:prstGeom prst="rect">
            <a:avLst/>
          </a:prstGeom>
          <a:noFill/>
        </p:spPr>
        <p:txBody>
          <a:bodyPr wrap="square" lIns="0" rIns="0" tIns="0" bIns="0" anchor="ctr" rtlCol="1">
            <a:spAutoFit/>
          </a:bodyPr>
          <a:lstStyle/>
          <a:p>
            <a:pPr algn="r" rtl="1" marL="0" indent="0">
              <a:spcAft>
                <a:spcPts val="400"/>
              </a:spcAft>
              <a:buNone/>
            </a:pPr>
            <a:r>
              <a:rPr lang="he-IL" sz="17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המים הנוספים מעבר לנדרש כימית — הם שמשאירים את הנקבוביות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>
                <a:latin typeface="Arial Unicode MS"/>
                <a:ea typeface="Arial Unicode MS"/>
                <a:cs typeface="Arial Unicode MS"/>
              </a:rPr>
              <a:t>מוספים ותוספים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263640" y="1051560"/>
            <a:ext cx="5212080" cy="731520"/>
          </a:xfrm>
          <a:prstGeom prst="roundRect">
            <a:avLst>
              <a:gd name="adj" fmla="val 8000"/>
            </a:avLst>
          </a:prstGeom>
          <a:solidFill>
            <a:srgbClr val="EAF3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858500" y="1165860"/>
            <a:ext cx="502920" cy="502920"/>
          </a:xfrm>
          <a:prstGeom prst="ellipse">
            <a:avLst/>
          </a:prstGeom>
          <a:solidFill>
            <a:srgbClr val="0081C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5" name="Picture 4" descr="FaVial_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9200" y="1286560"/>
            <a:ext cx="261518" cy="26151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0" y="1097280"/>
            <a:ext cx="4343400" cy="640080"/>
          </a:xfrm>
          <a:prstGeom prst="rect">
            <a:avLst/>
          </a:prstGeom>
          <a:noFill/>
        </p:spPr>
        <p:txBody>
          <a:bodyPr wrap="square" lIns="0" rIns="0" tIns="0" bIns="0" anchor="ctr" rtlCol="1">
            <a:spAutoFit/>
          </a:bodyPr>
          <a:lstStyle/>
          <a:p>
            <a:pPr algn="r" rtl="1" marL="0" indent="0">
              <a:spcAft>
                <a:spcPts val="400"/>
              </a:spcAft>
              <a:buNone/>
            </a:pPr>
            <a:r>
              <a:rPr lang="he-IL" sz="1400" b="1">
                <a:solidFill>
                  <a:srgbClr val="003973"/>
                </a:solidFill>
                <a:latin typeface="Arial Unicode MS"/>
                <a:ea typeface="Arial Unicode MS"/>
                <a:cs typeface="Arial Unicode MS"/>
              </a:rPr>
              <a:t>מוספים (Admixtures): </a:t>
            </a:r>
            <a:r>
              <a:rPr lang="he-IL" sz="1400" b="0">
                <a:solidFill>
                  <a:srgbClr val="333F4A"/>
                </a:solidFill>
                <a:latin typeface="Arial Unicode MS"/>
                <a:ea typeface="Arial Unicode MS"/>
                <a:cs typeface="Arial Unicode MS"/>
              </a:rPr>
              <a:t>כימיקלים, מינון קטן מ-5% ממשקל הצמנט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051560"/>
            <a:ext cx="5212080" cy="731520"/>
          </a:xfrm>
          <a:prstGeom prst="roundRect">
            <a:avLst>
              <a:gd name="adj" fmla="val 8000"/>
            </a:avLst>
          </a:prstGeom>
          <a:solidFill>
            <a:srgbClr val="F3F7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417820" y="1165860"/>
            <a:ext cx="502920" cy="502920"/>
          </a:xfrm>
          <a:prstGeom prst="ellipse">
            <a:avLst/>
          </a:prstGeom>
          <a:solidFill>
            <a:srgbClr val="C4D8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9" name="Picture 8" descr="FaRecycle_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8520" y="1286560"/>
            <a:ext cx="261518" cy="26151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60120" y="1097280"/>
            <a:ext cx="4343400" cy="640080"/>
          </a:xfrm>
          <a:prstGeom prst="rect">
            <a:avLst/>
          </a:prstGeom>
          <a:noFill/>
        </p:spPr>
        <p:txBody>
          <a:bodyPr wrap="square" lIns="0" rIns="0" tIns="0" bIns="0" anchor="ctr" rtlCol="1">
            <a:spAutoFit/>
          </a:bodyPr>
          <a:lstStyle/>
          <a:p>
            <a:pPr algn="r" rtl="1" marL="0" indent="0">
              <a:spcAft>
                <a:spcPts val="400"/>
              </a:spcAft>
              <a:buNone/>
            </a:pPr>
            <a:r>
              <a:rPr lang="he-IL" sz="1400" b="1">
                <a:solidFill>
                  <a:srgbClr val="003973"/>
                </a:solidFill>
                <a:latin typeface="Arial Unicode MS"/>
                <a:ea typeface="Arial Unicode MS"/>
                <a:cs typeface="Arial Unicode MS"/>
              </a:rPr>
              <a:t>תוספים (Additions): </a:t>
            </a:r>
            <a:r>
              <a:rPr lang="he-IL" sz="1400" b="0">
                <a:solidFill>
                  <a:srgbClr val="333F4A"/>
                </a:solidFill>
                <a:latin typeface="Arial Unicode MS"/>
                <a:ea typeface="Arial Unicode MS"/>
                <a:cs typeface="Arial Unicode MS"/>
              </a:rPr>
              <a:t>חומרים מינרליים פעילים, מחליפים חלק מהצמנט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822960" y="1965960"/>
          <a:ext cx="10652760" cy="331012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703320"/>
                <a:gridCol w="4023360"/>
                <a:gridCol w="2011680"/>
                <a:gridCol w="914400"/>
              </a:tblGrid>
              <a:tr h="457200">
                <a:tc>
                  <a:txBody>
                    <a:bodyPr wrap="square"/>
                    <a:lstStyle/>
                    <a:p>
                      <a:pPr algn="ctr" rtl="1" marL="0" indent="0">
                        <a:buNone/>
                      </a:pPr>
                      <a:r>
                        <a:rPr lang="he-IL" sz="130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מתי משתמשים</a:t>
                      </a:r>
                    </a:p>
                  </a:txBody>
                  <a:tcPr marL="73152" marR="73152" marT="36576" marB="36576" anchor="ctr">
                    <a:solidFill>
                      <a:srgbClr val="0081C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 marL="0" indent="0">
                        <a:buNone/>
                      </a:pPr>
                      <a:r>
                        <a:rPr lang="he-IL" sz="130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פעולה עיקרית</a:t>
                      </a:r>
                    </a:p>
                  </a:txBody>
                  <a:tcPr marL="73152" marR="73152" marT="36576" marB="36576" anchor="ctr">
                    <a:solidFill>
                      <a:srgbClr val="0081C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 marL="0" indent="0">
                        <a:buNone/>
                      </a:pPr>
                      <a:r>
                        <a:rPr lang="he-IL" sz="130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חומר</a:t>
                      </a:r>
                    </a:p>
                  </a:txBody>
                  <a:tcPr marL="73152" marR="73152" marT="36576" marB="36576" anchor="ctr">
                    <a:solidFill>
                      <a:srgbClr val="0081C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 marL="0" indent="0">
                        <a:buNone/>
                      </a:pPr>
                      <a:r>
                        <a:rPr lang="he-IL" sz="130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סוג</a:t>
                      </a:r>
                    </a:p>
                  </a:txBody>
                  <a:tcPr marL="73152" marR="73152" marT="36576" marB="36576" anchor="ctr">
                    <a:solidFill>
                      <a:srgbClr val="0081C8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r" rtl="1" marL="0" indent="0">
                        <a:buNone/>
                      </a:pPr>
                      <a:r>
                        <a:rPr lang="he-IL" sz="1300" b="0">
                          <a:solidFill>
                            <a:srgbClr val="333F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חוזק גבוה, בטון זורם, W/C נמוך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 marL="0" indent="0">
                        <a:buNone/>
                      </a:pPr>
                      <a:r>
                        <a:rPr lang="he-IL" sz="1300" b="0">
                          <a:solidFill>
                            <a:srgbClr val="333F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מפזר את גרגרי הצמנט; מפחית מים ב-12-30%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 marL="0" indent="0">
                        <a:buNone/>
                      </a:pPr>
                      <a:r>
                        <a:rPr lang="he-IL" sz="1300" b="0">
                          <a:solidFill>
                            <a:srgbClr val="333F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סופר-פלסטיצייזר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 marL="0" indent="0">
                        <a:buNone/>
                      </a:pPr>
                      <a:r>
                        <a:rPr lang="he-IL" sz="1300" b="1">
                          <a:solidFill>
                            <a:srgbClr val="333F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מוסף</a:t>
                      </a:r>
                    </a:p>
                  </a:txBody>
                  <a:tcPr marL="73152" marR="73152" marT="36576" marB="36576" anchor="ctr">
                    <a:solidFill>
                      <a:srgbClr val="EAF3FA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r" rtl="1" marL="0" indent="0">
                        <a:buNone/>
                      </a:pPr>
                      <a:r>
                        <a:rPr lang="he-IL" sz="1300" b="0">
                          <a:solidFill>
                            <a:srgbClr val="333F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קיץ, הובלה ארוכה, יציקות רציפות</a:t>
                      </a:r>
                    </a:p>
                  </a:txBody>
                  <a:tcPr marL="73152" marR="73152" marT="36576" marB="36576" anchor="ctr">
                    <a:solidFill>
                      <a:srgbClr val="F3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 marL="0" indent="0">
                        <a:buNone/>
                      </a:pPr>
                      <a:r>
                        <a:rPr lang="he-IL" sz="1300" b="0">
                          <a:solidFill>
                            <a:srgbClr val="333F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דוחה את תחילת ההתקשרות</a:t>
                      </a:r>
                    </a:p>
                  </a:txBody>
                  <a:tcPr marL="73152" marR="73152" marT="36576" marB="36576" anchor="ctr">
                    <a:solidFill>
                      <a:srgbClr val="F3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 marL="0" indent="0">
                        <a:buNone/>
                      </a:pPr>
                      <a:r>
                        <a:rPr lang="he-IL" sz="1300" b="0">
                          <a:solidFill>
                            <a:srgbClr val="333F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מעכב</a:t>
                      </a:r>
                    </a:p>
                  </a:txBody>
                  <a:tcPr marL="73152" marR="73152" marT="36576" marB="36576" anchor="ctr">
                    <a:solidFill>
                      <a:srgbClr val="F3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 marL="0" indent="0">
                        <a:buNone/>
                      </a:pPr>
                      <a:r>
                        <a:rPr lang="he-IL" sz="1300" b="1">
                          <a:solidFill>
                            <a:srgbClr val="333F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מוסף</a:t>
                      </a:r>
                    </a:p>
                  </a:txBody>
                  <a:tcPr marL="73152" marR="73152" marT="36576" marB="36576" anchor="ctr">
                    <a:solidFill>
                      <a:srgbClr val="EAF3FA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r" rtl="1" marL="0" indent="0">
                        <a:buNone/>
                      </a:pPr>
                      <a:r>
                        <a:rPr lang="he-IL" sz="1300" b="0">
                          <a:solidFill>
                            <a:srgbClr val="333F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חורף, טרום, פירוק תבניות מוקדם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 marL="0" indent="0">
                        <a:buNone/>
                      </a:pPr>
                      <a:r>
                        <a:rPr lang="he-IL" sz="1300" b="0">
                          <a:solidFill>
                            <a:srgbClr val="333F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מזרז התקשרות והתפתחות חוזק מוקדם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 marL="0" indent="0">
                        <a:buNone/>
                      </a:pPr>
                      <a:r>
                        <a:rPr lang="he-IL" sz="1300" b="0">
                          <a:solidFill>
                            <a:srgbClr val="333F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מאיץ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 marL="0" indent="0">
                        <a:buNone/>
                      </a:pPr>
                      <a:r>
                        <a:rPr lang="he-IL" sz="1300" b="1">
                          <a:solidFill>
                            <a:srgbClr val="333F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מוסף</a:t>
                      </a:r>
                    </a:p>
                  </a:txBody>
                  <a:tcPr marL="73152" marR="73152" marT="36576" marB="36576" anchor="ctr">
                    <a:solidFill>
                      <a:srgbClr val="EAF3FA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r" rtl="1" marL="0" indent="0">
                        <a:buNone/>
                      </a:pPr>
                      <a:r>
                        <a:rPr lang="he-IL" sz="1300" b="0">
                          <a:solidFill>
                            <a:srgbClr val="333F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יציקות מסיביות, עמידות לכלורידים</a:t>
                      </a:r>
                    </a:p>
                  </a:txBody>
                  <a:tcPr marL="73152" marR="73152" marT="36576" marB="36576" anchor="ctr">
                    <a:solidFill>
                      <a:srgbClr val="F3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 marL="0" indent="0">
                        <a:buNone/>
                      </a:pPr>
                      <a:r>
                        <a:rPr lang="he-IL" sz="1300" b="0">
                          <a:solidFill>
                            <a:srgbClr val="333F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תגובה פוצולנית; עבידות ועמידות</a:t>
                      </a:r>
                    </a:p>
                  </a:txBody>
                  <a:tcPr marL="73152" marR="73152" marT="36576" marB="36576" anchor="ctr">
                    <a:solidFill>
                      <a:srgbClr val="F3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 marL="0" indent="0">
                        <a:buNone/>
                      </a:pPr>
                      <a:r>
                        <a:rPr lang="he-IL" sz="1300" b="0">
                          <a:solidFill>
                            <a:srgbClr val="333F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אפר פחם (Fly Ash)</a:t>
                      </a:r>
                    </a:p>
                  </a:txBody>
                  <a:tcPr marL="73152" marR="73152" marT="36576" marB="36576" anchor="ctr">
                    <a:solidFill>
                      <a:srgbClr val="F3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 marL="0" indent="0">
                        <a:buNone/>
                      </a:pPr>
                      <a:r>
                        <a:rPr lang="he-IL" sz="1300" b="1">
                          <a:solidFill>
                            <a:srgbClr val="333F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תוסף</a:t>
                      </a:r>
                    </a:p>
                  </a:txBody>
                  <a:tcPr marL="73152" marR="73152" marT="36576" marB="36576" anchor="ctr">
                    <a:solidFill>
                      <a:srgbClr val="F3F7D9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r" rtl="1" marL="0" indent="0">
                        <a:buNone/>
                      </a:pPr>
                      <a:r>
                        <a:rPr lang="he-IL" sz="1300" b="0">
                          <a:solidFill>
                            <a:srgbClr val="333F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בטון בחוזק גבוה, סביבה ימית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 marL="0" indent="0">
                        <a:buNone/>
                      </a:pPr>
                      <a:r>
                        <a:rPr lang="he-IL" sz="1300" b="0">
                          <a:solidFill>
                            <a:srgbClr val="333F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חלקיקים זעירים שממלאים חללים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 marL="0" indent="0">
                        <a:buNone/>
                      </a:pPr>
                      <a:r>
                        <a:rPr lang="he-IL" sz="1300" b="0">
                          <a:solidFill>
                            <a:srgbClr val="333F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מיקרוסיליקה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 marL="0" indent="0">
                        <a:buNone/>
                      </a:pPr>
                      <a:r>
                        <a:rPr lang="he-IL" sz="1300" b="1">
                          <a:solidFill>
                            <a:srgbClr val="333F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תוסף</a:t>
                      </a:r>
                    </a:p>
                  </a:txBody>
                  <a:tcPr marL="73152" marR="73152" marT="36576" marB="36576" anchor="ctr">
                    <a:solidFill>
                      <a:srgbClr val="F3F7D9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r" rtl="1" marL="0" indent="0">
                        <a:buNone/>
                      </a:pPr>
                      <a:r>
                        <a:rPr lang="he-IL" sz="1300" b="0">
                          <a:solidFill>
                            <a:srgbClr val="333F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מבנים ימיים, סולפטים, מסיבי</a:t>
                      </a:r>
                    </a:p>
                  </a:txBody>
                  <a:tcPr marL="73152" marR="73152" marT="36576" marB="36576" anchor="ctr">
                    <a:solidFill>
                      <a:srgbClr val="F3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 marL="0" indent="0">
                        <a:buNone/>
                      </a:pPr>
                      <a:r>
                        <a:rPr lang="he-IL" sz="1300" b="0">
                          <a:solidFill>
                            <a:srgbClr val="333F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חום הידרציה נמוך, עמידות כימית</a:t>
                      </a:r>
                    </a:p>
                  </a:txBody>
                  <a:tcPr marL="73152" marR="73152" marT="36576" marB="36576" anchor="ctr">
                    <a:solidFill>
                      <a:srgbClr val="F3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 marL="0" indent="0">
                        <a:buNone/>
                      </a:pPr>
                      <a:r>
                        <a:rPr lang="he-IL" sz="1300" b="0">
                          <a:solidFill>
                            <a:srgbClr val="333F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סיגים (GGBS)</a:t>
                      </a:r>
                    </a:p>
                  </a:txBody>
                  <a:tcPr marL="73152" marR="73152" marT="36576" marB="36576" anchor="ctr">
                    <a:solidFill>
                      <a:srgbClr val="F3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 marL="0" indent="0">
                        <a:buNone/>
                      </a:pPr>
                      <a:r>
                        <a:rPr lang="he-IL" sz="1300" b="1">
                          <a:solidFill>
                            <a:srgbClr val="333F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תוסף</a:t>
                      </a:r>
                    </a:p>
                  </a:txBody>
                  <a:tcPr marL="73152" marR="73152" marT="36576" marB="36576" anchor="ctr">
                    <a:solidFill>
                      <a:srgbClr val="F3F7D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6" name="תמונה 5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1"/>
          <a:stretch/>
        </p:blipFill>
        <p:spPr>
          <a:xfrm flipH="1">
            <a:off x="0" y="0"/>
            <a:ext cx="10306050" cy="6858000"/>
          </a:xfrm>
          <a:prstGeom prst="rect">
            <a:avLst/>
          </a:prstGeom>
        </p:spPr>
      </p:pic>
      <p:sp>
        <p:nvSpPr>
          <p:cNvPr id="4" name="מלבן 3"/>
          <p:cNvSpPr/>
          <p:nvPr/>
        </p:nvSpPr>
        <p:spPr>
          <a:xfrm>
            <a:off x="6115050" y="0"/>
            <a:ext cx="6076950" cy="6858000"/>
          </a:xfrm>
          <a:prstGeom prst="rect">
            <a:avLst/>
          </a:prstGeom>
          <a:solidFill>
            <a:srgbClr val="2C9EE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>
              <a:solidFill>
                <a:prstClr val="white"/>
              </a:solidFill>
            </a:endParaRPr>
          </a:p>
        </p:txBody>
      </p:sp>
      <p:sp>
        <p:nvSpPr>
          <p:cNvPr id="7" name="משולש שווה שוקיים 6"/>
          <p:cNvSpPr/>
          <p:nvPr/>
        </p:nvSpPr>
        <p:spPr>
          <a:xfrm rot="16200000" flipH="1">
            <a:off x="5324475" y="3143250"/>
            <a:ext cx="1123950" cy="609600"/>
          </a:xfrm>
          <a:prstGeom prst="triangle">
            <a:avLst/>
          </a:prstGeom>
          <a:solidFill>
            <a:srgbClr val="2C9EE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>
              <a:solidFill>
                <a:prstClr val="white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720840" y="2514600"/>
            <a:ext cx="4937760" cy="914400"/>
          </a:xfrm>
          <a:prstGeom prst="rect">
            <a:avLst/>
          </a:prstGeom>
          <a:noFill/>
        </p:spPr>
        <p:txBody>
          <a:bodyPr wrap="square" rtlCol="1" anchor="ctr"/>
          <a:lstStyle/>
          <a:p>
            <a:pPr algn="ctr" rtl="1"/>
            <a:r>
              <a:rPr lang="he-IL" sz="3600" dirty="0">
                <a:solidFill>
                  <a:prstClr val="white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הידרציה ומבנה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20840" y="1874519"/>
            <a:ext cx="4937760" cy="457200"/>
          </a:xfrm>
          <a:prstGeom prst="rect">
            <a:avLst/>
          </a:prstGeom>
          <a:noFill/>
        </p:spPr>
        <p:txBody>
          <a:bodyPr wrap="square" lIns="0" rIns="0" tIns="0" bIns="0" anchor="t" rtlCol="1">
            <a:spAutoFit/>
          </a:bodyPr>
          <a:lstStyle/>
          <a:p>
            <a:pPr algn="ctr" rtl="1" marL="0" indent="0">
              <a:spcAft>
                <a:spcPts val="400"/>
              </a:spcAft>
              <a:buNone/>
            </a:pPr>
            <a:r>
              <a:rPr lang="he-IL" sz="2000" b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פרק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86600" y="3611880"/>
            <a:ext cx="4206240" cy="2011680"/>
          </a:xfrm>
          <a:prstGeom prst="rect">
            <a:avLst/>
          </a:prstGeom>
          <a:noFill/>
        </p:spPr>
        <p:txBody>
          <a:bodyPr wrap="square" lIns="0" rIns="0" tIns="0" bIns="0" anchor="t" rtlCol="1">
            <a:spAutoFit/>
          </a:bodyPr>
          <a:lstStyle/>
          <a:p>
            <a:pPr algn="ctr" rtl="1" marL="0" indent="0">
              <a:lnSpc>
                <a:spcPct val="115000"/>
              </a:lnSpc>
              <a:spcAft>
                <a:spcPts val="400"/>
              </a:spcAft>
              <a:buNone/>
            </a:pPr>
            <a:r>
              <a:rPr lang="he-IL" sz="1600" b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תהליך ההידרציה · מיקרו-מבנה · גורמים משפיעים · התפתחות המבנה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>
                <a:latin typeface="Arial Unicode MS"/>
                <a:ea typeface="Arial Unicode MS"/>
                <a:cs typeface="Arial Unicode MS"/>
              </a:rPr>
              <a:t>מהי הידרציה?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915400" y="1188720"/>
            <a:ext cx="2514600" cy="2468880"/>
          </a:xfrm>
          <a:prstGeom prst="roundRect">
            <a:avLst>
              <a:gd name="adj" fmla="val 8000"/>
            </a:avLst>
          </a:prstGeom>
          <a:solidFill>
            <a:srgbClr val="EAF3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784080" y="1394460"/>
            <a:ext cx="777240" cy="777240"/>
          </a:xfrm>
          <a:prstGeom prst="ellipse">
            <a:avLst/>
          </a:prstGeom>
          <a:solidFill>
            <a:srgbClr val="0081C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5" name="Picture 4" descr="FaTint_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70617" y="1580997"/>
            <a:ext cx="404164" cy="40416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052560" y="2331720"/>
            <a:ext cx="2240280" cy="411480"/>
          </a:xfrm>
          <a:prstGeom prst="rect">
            <a:avLst/>
          </a:prstGeom>
          <a:noFill/>
        </p:spPr>
        <p:txBody>
          <a:bodyPr wrap="square" lIns="0" rIns="0" tIns="0" bIns="0" anchor="t" rtlCol="1">
            <a:spAutoFit/>
          </a:bodyPr>
          <a:lstStyle/>
          <a:p>
            <a:pPr algn="ctr" rtl="1" marL="0" indent="0">
              <a:spcAft>
                <a:spcPts val="400"/>
              </a:spcAft>
              <a:buNone/>
            </a:pPr>
            <a:r>
              <a:rPr lang="he-IL" sz="2000" b="1">
                <a:solidFill>
                  <a:srgbClr val="003973"/>
                </a:solidFill>
                <a:latin typeface="Arial Unicode MS"/>
                <a:ea typeface="Arial Unicode MS"/>
                <a:cs typeface="Arial Unicode MS"/>
              </a:rPr>
              <a:t>מים + צמנט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2560" y="2788920"/>
            <a:ext cx="2240280" cy="777240"/>
          </a:xfrm>
          <a:prstGeom prst="rect">
            <a:avLst/>
          </a:prstGeom>
          <a:noFill/>
        </p:spPr>
        <p:txBody>
          <a:bodyPr wrap="square" lIns="0" rIns="0" tIns="0" bIns="0" anchor="t" rtlCol="1">
            <a:spAutoFit/>
          </a:bodyPr>
          <a:lstStyle/>
          <a:p>
            <a:pPr algn="ctr" rtl="1" marL="0" indent="0">
              <a:spcAft>
                <a:spcPts val="400"/>
              </a:spcAft>
              <a:buNone/>
            </a:pPr>
            <a:r>
              <a:rPr lang="he-IL" sz="1400" b="0">
                <a:solidFill>
                  <a:srgbClr val="333F4A"/>
                </a:solidFill>
                <a:latin typeface="Arial Unicode MS"/>
                <a:ea typeface="Arial Unicode MS"/>
                <a:cs typeface="Arial Unicode MS"/>
              </a:rPr>
              <a:t>מגע ראשוני, תחילת פירוק המינרלים</a:t>
            </a:r>
          </a:p>
        </p:txBody>
      </p:sp>
      <p:cxnSp>
        <p:nvCxnSpPr>
          <p:cNvPr id="8" name="Connector 7"/>
          <p:cNvCxnSpPr/>
          <p:nvPr/>
        </p:nvCxnSpPr>
        <p:spPr>
          <a:xfrm flipH="1">
            <a:off x="8750808" y="2423160"/>
            <a:ext cx="146304" cy="0"/>
          </a:xfrm>
          <a:prstGeom prst="line">
            <a:avLst/>
          </a:prstGeom>
          <a:ln w="38100">
            <a:solidFill>
              <a:srgbClr val="0081C8"/>
            </a:solidFill>
            <a:tailEnd type="triangle"/>
          </a:ln>
        </p:spPr>
      </p:cxnSp>
      <p:sp>
        <p:nvSpPr>
          <p:cNvPr id="9" name="Rounded Rectangle 8"/>
          <p:cNvSpPr/>
          <p:nvPr/>
        </p:nvSpPr>
        <p:spPr>
          <a:xfrm>
            <a:off x="6217920" y="1188720"/>
            <a:ext cx="2514600" cy="2468880"/>
          </a:xfrm>
          <a:prstGeom prst="roundRect">
            <a:avLst>
              <a:gd name="adj" fmla="val 8000"/>
            </a:avLst>
          </a:prstGeom>
          <a:solidFill>
            <a:srgbClr val="EAF3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086600" y="1394460"/>
            <a:ext cx="777240" cy="777240"/>
          </a:xfrm>
          <a:prstGeom prst="ellipse">
            <a:avLst/>
          </a:prstGeom>
          <a:solidFill>
            <a:srgbClr val="0081C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Picture 10" descr="FaBolt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73137" y="1580997"/>
            <a:ext cx="404164" cy="40416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355080" y="2331720"/>
            <a:ext cx="2240280" cy="411480"/>
          </a:xfrm>
          <a:prstGeom prst="rect">
            <a:avLst/>
          </a:prstGeom>
          <a:noFill/>
        </p:spPr>
        <p:txBody>
          <a:bodyPr wrap="square" lIns="0" rIns="0" tIns="0" bIns="0" anchor="t" rtlCol="1">
            <a:spAutoFit/>
          </a:bodyPr>
          <a:lstStyle/>
          <a:p>
            <a:pPr algn="ctr" rtl="1" marL="0" indent="0">
              <a:spcAft>
                <a:spcPts val="400"/>
              </a:spcAft>
              <a:buNone/>
            </a:pPr>
            <a:r>
              <a:rPr lang="he-IL" sz="2000" b="1">
                <a:solidFill>
                  <a:srgbClr val="003973"/>
                </a:solidFill>
                <a:latin typeface="Arial Unicode MS"/>
                <a:ea typeface="Arial Unicode MS"/>
                <a:cs typeface="Arial Unicode MS"/>
              </a:rPr>
              <a:t>תגובה כימית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2788920"/>
            <a:ext cx="2240280" cy="777240"/>
          </a:xfrm>
          <a:prstGeom prst="rect">
            <a:avLst/>
          </a:prstGeom>
          <a:noFill/>
        </p:spPr>
        <p:txBody>
          <a:bodyPr wrap="square" lIns="0" rIns="0" tIns="0" bIns="0" anchor="t" rtlCol="1">
            <a:spAutoFit/>
          </a:bodyPr>
          <a:lstStyle/>
          <a:p>
            <a:pPr algn="ctr" rtl="1" marL="0" indent="0">
              <a:spcAft>
                <a:spcPts val="400"/>
              </a:spcAft>
              <a:buNone/>
            </a:pPr>
            <a:r>
              <a:rPr lang="he-IL" sz="1400" b="0">
                <a:solidFill>
                  <a:srgbClr val="333F4A"/>
                </a:solidFill>
                <a:latin typeface="Arial Unicode MS"/>
                <a:ea typeface="Arial Unicode MS"/>
                <a:cs typeface="Arial Unicode MS"/>
              </a:rPr>
              <a:t>אקסותרמית — משחררת חום</a:t>
            </a:r>
          </a:p>
        </p:txBody>
      </p:sp>
      <p:cxnSp>
        <p:nvCxnSpPr>
          <p:cNvPr id="14" name="Connector 13"/>
          <p:cNvCxnSpPr/>
          <p:nvPr/>
        </p:nvCxnSpPr>
        <p:spPr>
          <a:xfrm flipH="1">
            <a:off x="6053328" y="2423160"/>
            <a:ext cx="146304" cy="0"/>
          </a:xfrm>
          <a:prstGeom prst="line">
            <a:avLst/>
          </a:prstGeom>
          <a:ln w="38100">
            <a:solidFill>
              <a:srgbClr val="0081C8"/>
            </a:solidFill>
            <a:tailEnd type="triangle"/>
          </a:ln>
        </p:spPr>
      </p:cxnSp>
      <p:sp>
        <p:nvSpPr>
          <p:cNvPr id="15" name="Rounded Rectangle 14"/>
          <p:cNvSpPr/>
          <p:nvPr/>
        </p:nvSpPr>
        <p:spPr>
          <a:xfrm>
            <a:off x="3520439" y="1188720"/>
            <a:ext cx="2514600" cy="2468880"/>
          </a:xfrm>
          <a:prstGeom prst="roundRect">
            <a:avLst>
              <a:gd name="adj" fmla="val 8000"/>
            </a:avLst>
          </a:prstGeom>
          <a:solidFill>
            <a:srgbClr val="00397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389120" y="1394460"/>
            <a:ext cx="777240" cy="777240"/>
          </a:xfrm>
          <a:prstGeom prst="ellipse">
            <a:avLst/>
          </a:prstGeom>
          <a:solidFill>
            <a:srgbClr val="C4D8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7" name="Picture 16" descr="FaLayerGroup_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5657" y="1580997"/>
            <a:ext cx="404164" cy="404164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3657599" y="2331720"/>
            <a:ext cx="2240280" cy="411480"/>
          </a:xfrm>
          <a:prstGeom prst="rect">
            <a:avLst/>
          </a:prstGeom>
          <a:noFill/>
        </p:spPr>
        <p:txBody>
          <a:bodyPr wrap="square" lIns="0" rIns="0" tIns="0" bIns="0" anchor="t" rtlCol="1">
            <a:spAutoFit/>
          </a:bodyPr>
          <a:lstStyle/>
          <a:p>
            <a:pPr algn="ctr" rtl="1" marL="0" indent="0">
              <a:spcAft>
                <a:spcPts val="400"/>
              </a:spcAft>
              <a:buNone/>
            </a:pPr>
            <a:r>
              <a:rPr lang="he-IL" sz="20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C-S-H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599" y="2788920"/>
            <a:ext cx="2240280" cy="777240"/>
          </a:xfrm>
          <a:prstGeom prst="rect">
            <a:avLst/>
          </a:prstGeom>
          <a:noFill/>
        </p:spPr>
        <p:txBody>
          <a:bodyPr wrap="square" lIns="0" rIns="0" tIns="0" bIns="0" anchor="t" rtlCol="1">
            <a:spAutoFit/>
          </a:bodyPr>
          <a:lstStyle/>
          <a:p>
            <a:pPr algn="ctr" rtl="1" marL="0" indent="0">
              <a:spcAft>
                <a:spcPts val="400"/>
              </a:spcAft>
              <a:buNone/>
            </a:pPr>
            <a:r>
              <a:rPr lang="he-IL" sz="1400" b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סיליקט סידן מוהדר: "הדבק" של הבטון</a:t>
            </a:r>
          </a:p>
        </p:txBody>
      </p:sp>
      <p:cxnSp>
        <p:nvCxnSpPr>
          <p:cNvPr id="20" name="Connector 19"/>
          <p:cNvCxnSpPr/>
          <p:nvPr/>
        </p:nvCxnSpPr>
        <p:spPr>
          <a:xfrm flipH="1">
            <a:off x="3355847" y="2423160"/>
            <a:ext cx="146304" cy="0"/>
          </a:xfrm>
          <a:prstGeom prst="line">
            <a:avLst/>
          </a:prstGeom>
          <a:ln w="38100">
            <a:solidFill>
              <a:srgbClr val="0081C8"/>
            </a:solidFill>
            <a:tailEnd type="triangle"/>
          </a:ln>
        </p:spPr>
      </p:cxnSp>
      <p:sp>
        <p:nvSpPr>
          <p:cNvPr id="21" name="Rounded Rectangle 20"/>
          <p:cNvSpPr/>
          <p:nvPr/>
        </p:nvSpPr>
        <p:spPr>
          <a:xfrm>
            <a:off x="822959" y="1188720"/>
            <a:ext cx="2514600" cy="2468880"/>
          </a:xfrm>
          <a:prstGeom prst="roundRect">
            <a:avLst>
              <a:gd name="adj" fmla="val 8000"/>
            </a:avLst>
          </a:prstGeom>
          <a:solidFill>
            <a:srgbClr val="EAF3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691639" y="1394460"/>
            <a:ext cx="777240" cy="777240"/>
          </a:xfrm>
          <a:prstGeom prst="ellipse">
            <a:avLst/>
          </a:prstGeom>
          <a:solidFill>
            <a:srgbClr val="0081C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Picture 22" descr="FaChartLine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78177" y="1580997"/>
            <a:ext cx="404164" cy="404164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960119" y="2331720"/>
            <a:ext cx="2240280" cy="411480"/>
          </a:xfrm>
          <a:prstGeom prst="rect">
            <a:avLst/>
          </a:prstGeom>
          <a:noFill/>
        </p:spPr>
        <p:txBody>
          <a:bodyPr wrap="square" lIns="0" rIns="0" tIns="0" bIns="0" anchor="t" rtlCol="1">
            <a:spAutoFit/>
          </a:bodyPr>
          <a:lstStyle/>
          <a:p>
            <a:pPr algn="ctr" rtl="1" marL="0" indent="0">
              <a:spcAft>
                <a:spcPts val="400"/>
              </a:spcAft>
              <a:buNone/>
            </a:pPr>
            <a:r>
              <a:rPr lang="he-IL" sz="2000" b="1">
                <a:solidFill>
                  <a:srgbClr val="003973"/>
                </a:solidFill>
                <a:latin typeface="Arial Unicode MS"/>
                <a:ea typeface="Arial Unicode MS"/>
                <a:cs typeface="Arial Unicode MS"/>
              </a:rPr>
              <a:t>התפתחות חוזק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19" y="2788920"/>
            <a:ext cx="2240280" cy="777240"/>
          </a:xfrm>
          <a:prstGeom prst="rect">
            <a:avLst/>
          </a:prstGeom>
          <a:noFill/>
        </p:spPr>
        <p:txBody>
          <a:bodyPr wrap="square" lIns="0" rIns="0" tIns="0" bIns="0" anchor="t" rtlCol="1">
            <a:spAutoFit/>
          </a:bodyPr>
          <a:lstStyle/>
          <a:p>
            <a:pPr algn="ctr" rtl="1" marL="0" indent="0">
              <a:spcAft>
                <a:spcPts val="400"/>
              </a:spcAft>
              <a:buNone/>
            </a:pPr>
            <a:r>
              <a:rPr lang="he-IL" sz="1400" b="0">
                <a:solidFill>
                  <a:srgbClr val="333F4A"/>
                </a:solidFill>
                <a:latin typeface="Arial Unicode MS"/>
                <a:ea typeface="Arial Unicode MS"/>
                <a:cs typeface="Arial Unicode MS"/>
              </a:rPr>
              <a:t>הרשת מתעבה והחללים מתמלאים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2960" y="3931920"/>
            <a:ext cx="10652760" cy="1097280"/>
          </a:xfrm>
          <a:prstGeom prst="roundRect">
            <a:avLst>
              <a:gd name="adj" fmla="val 8000"/>
            </a:avLst>
          </a:prstGeom>
          <a:solidFill>
            <a:srgbClr val="F3F5F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05840" y="3977639"/>
            <a:ext cx="5029200" cy="1005840"/>
          </a:xfrm>
          <a:prstGeom prst="rect">
            <a:avLst/>
          </a:prstGeom>
          <a:noFill/>
        </p:spPr>
        <p:txBody>
          <a:bodyPr wrap="square" lIns="0" rIns="0" tIns="0" bIns="0" anchor="ctr" rtlCol="1">
            <a:spAutoFit/>
          </a:bodyPr>
          <a:lstStyle/>
          <a:p>
            <a:pPr algn="ctr" rtl="1" marL="0" indent="0">
              <a:spcAft>
                <a:spcPts val="400"/>
              </a:spcAft>
              <a:buNone/>
            </a:pPr>
            <a:r>
              <a:rPr lang="he-IL" sz="2200" b="1">
                <a:solidFill>
                  <a:srgbClr val="003973"/>
                </a:solidFill>
                <a:latin typeface="Arial Unicode MS"/>
                <a:ea typeface="Arial Unicode MS"/>
                <a:cs typeface="Arial Unicode MS"/>
              </a:rPr>
              <a:t>C₃S / C₂S + H₂O  →  C-S-H + CH</a:t>
            </a:r>
          </a:p>
          <a:p>
            <a:pPr algn="ctr" rtl="1" marL="0" indent="0">
              <a:spcAft>
                <a:spcPts val="400"/>
              </a:spcAft>
              <a:buNone/>
            </a:pPr>
            <a:r>
              <a:rPr lang="he-IL" sz="1300" b="0">
                <a:solidFill>
                  <a:srgbClr val="333F4A"/>
                </a:solidFill>
                <a:latin typeface="Arial Unicode MS"/>
                <a:ea typeface="Arial Unicode MS"/>
                <a:cs typeface="Arial Unicode MS"/>
              </a:rPr>
              <a:t>תוצר משני: סידן הידרוקסידי — שומר על pH גבוה ומגן על הזיון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9360" y="4023360"/>
            <a:ext cx="4983480" cy="960120"/>
          </a:xfrm>
          <a:prstGeom prst="rect">
            <a:avLst/>
          </a:prstGeom>
          <a:noFill/>
        </p:spPr>
        <p:txBody>
          <a:bodyPr wrap="square" lIns="0" rIns="0" tIns="0" bIns="0" anchor="t" rtlCol="1">
            <a:spAutoFit/>
          </a:bodyPr>
          <a:lstStyle/>
          <a:p>
            <a:pPr algn="r" rtl="1" marL="228600" indent="-228600">
              <a:spcAft>
                <a:spcPts val="400"/>
              </a:spcAft>
              <a:buFont typeface="Arial"/>
              <a:buChar char="•"/>
            </a:pPr>
            <a:r>
              <a:rPr lang="he-IL" sz="1500" b="0">
                <a:solidFill>
                  <a:srgbClr val="333F4A"/>
                </a:solidFill>
                <a:latin typeface="Arial Unicode MS"/>
                <a:ea typeface="Arial Unicode MS"/>
                <a:cs typeface="Arial Unicode MS"/>
              </a:rPr>
              <a:t>50-60% מנפח המשחה המוקשה הוא C-S-H</a:t>
            </a:r>
          </a:p>
          <a:p>
            <a:pPr algn="r" rtl="1" marL="228600" indent="-228600">
              <a:spcAft>
                <a:spcPts val="400"/>
              </a:spcAft>
              <a:buFont typeface="Arial"/>
              <a:buChar char="•"/>
            </a:pPr>
            <a:r>
              <a:rPr lang="he-IL" sz="1500" b="0">
                <a:solidFill>
                  <a:srgbClr val="333F4A"/>
                </a:solidFill>
                <a:latin typeface="Arial Unicode MS"/>
                <a:ea typeface="Arial Unicode MS"/>
                <a:cs typeface="Arial Unicode MS"/>
              </a:rPr>
              <a:t>ההידרציה צורכת מים — בלי לחות היא נעצרת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22960" y="5303520"/>
            <a:ext cx="8183879" cy="594360"/>
          </a:xfrm>
          <a:prstGeom prst="roundRect">
            <a:avLst>
              <a:gd name="adj" fmla="val 8000"/>
            </a:avLst>
          </a:prstGeom>
          <a:solidFill>
            <a:srgbClr val="00397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394192" y="5372100"/>
            <a:ext cx="457200" cy="457200"/>
          </a:xfrm>
          <a:prstGeom prst="ellipse">
            <a:avLst/>
          </a:prstGeom>
          <a:solidFill>
            <a:srgbClr val="C4D8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1" name="Picture 30" descr="FaLightbulb_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03919" y="5481828"/>
            <a:ext cx="237744" cy="237744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1051560" y="5303520"/>
            <a:ext cx="7269479" cy="594360"/>
          </a:xfrm>
          <a:prstGeom prst="rect">
            <a:avLst/>
          </a:prstGeom>
          <a:noFill/>
        </p:spPr>
        <p:txBody>
          <a:bodyPr wrap="square" lIns="0" rIns="0" tIns="0" bIns="0" anchor="ctr" rtlCol="1">
            <a:spAutoFit/>
          </a:bodyPr>
          <a:lstStyle/>
          <a:p>
            <a:pPr algn="r" rtl="1" marL="0" indent="0">
              <a:spcAft>
                <a:spcPts val="400"/>
              </a:spcAft>
              <a:buNone/>
            </a:pPr>
            <a:r>
              <a:rPr lang="he-IL" sz="17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אין הידרציה — אין חוזק. לכן האשפרה היא חלק מהתהליך, לא תוספת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>
                <a:latin typeface="Arial Unicode MS"/>
                <a:ea typeface="Arial Unicode MS"/>
                <a:cs typeface="Arial Unicode MS"/>
              </a:rPr>
              <a:t>מיקרו-מבנה של בטון</a:t>
            </a:r>
          </a:p>
        </p:txBody>
      </p:sp>
      <p:pic>
        <p:nvPicPr>
          <p:cNvPr id="3" name="Picture 2" descr="mic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051560"/>
            <a:ext cx="6766560" cy="433079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726679" y="3774643"/>
            <a:ext cx="3749039" cy="365760"/>
          </a:xfrm>
          <a:prstGeom prst="rect">
            <a:avLst/>
          </a:prstGeom>
          <a:noFill/>
        </p:spPr>
        <p:txBody>
          <a:bodyPr wrap="square" lIns="0" rIns="0" tIns="0" bIns="0" anchor="t" rtlCol="1">
            <a:spAutoFit/>
          </a:bodyPr>
          <a:lstStyle/>
          <a:p>
            <a:pPr algn="r" rtl="1" marL="0" indent="0">
              <a:spcAft>
                <a:spcPts val="400"/>
              </a:spcAft>
              <a:buNone/>
            </a:pPr>
            <a:r>
              <a:rPr lang="he-IL" sz="1800" b="1">
                <a:solidFill>
                  <a:srgbClr val="003973"/>
                </a:solidFill>
                <a:latin typeface="Arial Unicode MS"/>
                <a:ea typeface="Arial Unicode MS"/>
                <a:cs typeface="Arial Unicode MS"/>
              </a:rPr>
              <a:t>אגרגט</a:t>
            </a:r>
            <a:r>
              <a:rPr lang="he-IL" sz="1200" b="0">
                <a:solidFill>
                  <a:srgbClr val="5F6B76"/>
                </a:solidFill>
                <a:latin typeface="Arial Unicode MS"/>
                <a:ea typeface="Arial Unicode MS"/>
                <a:cs typeface="Arial Unicode MS"/>
              </a:rPr>
              <a:t>   Aggregate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26679" y="4140403"/>
            <a:ext cx="3749039" cy="411480"/>
          </a:xfrm>
          <a:prstGeom prst="rect">
            <a:avLst/>
          </a:prstGeom>
          <a:noFill/>
        </p:spPr>
        <p:txBody>
          <a:bodyPr wrap="square" lIns="0" rIns="0" tIns="0" bIns="0" anchor="t" rtlCol="1">
            <a:spAutoFit/>
          </a:bodyPr>
          <a:lstStyle/>
          <a:p>
            <a:pPr algn="r" rtl="1" marL="0" indent="0">
              <a:spcAft>
                <a:spcPts val="400"/>
              </a:spcAft>
              <a:buNone/>
            </a:pPr>
            <a:r>
              <a:rPr lang="he-IL" sz="1400" b="0">
                <a:solidFill>
                  <a:srgbClr val="333F4A"/>
                </a:solidFill>
                <a:latin typeface="Arial Unicode MS"/>
                <a:ea typeface="Arial Unicode MS"/>
                <a:cs typeface="Arial Unicode MS"/>
              </a:rPr>
              <a:t>השלד: חזק וצפוף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26679" y="2624328"/>
            <a:ext cx="3749039" cy="365760"/>
          </a:xfrm>
          <a:prstGeom prst="rect">
            <a:avLst/>
          </a:prstGeom>
          <a:noFill/>
        </p:spPr>
        <p:txBody>
          <a:bodyPr wrap="square" lIns="0" rIns="0" tIns="0" bIns="0" anchor="t" rtlCol="1">
            <a:spAutoFit/>
          </a:bodyPr>
          <a:lstStyle/>
          <a:p>
            <a:pPr algn="r" rtl="1" marL="0" indent="0">
              <a:spcAft>
                <a:spcPts val="400"/>
              </a:spcAft>
              <a:buNone/>
            </a:pPr>
            <a:r>
              <a:rPr lang="he-IL" sz="1800" b="1">
                <a:solidFill>
                  <a:srgbClr val="7E8F12"/>
                </a:solidFill>
                <a:latin typeface="Arial Unicode MS"/>
                <a:ea typeface="Arial Unicode MS"/>
                <a:cs typeface="Arial Unicode MS"/>
              </a:rPr>
              <a:t>ITZ — אזור המגע</a:t>
            </a:r>
            <a:r>
              <a:rPr lang="he-IL" sz="1200" b="0">
                <a:solidFill>
                  <a:srgbClr val="5F6B76"/>
                </a:solidFill>
                <a:latin typeface="Arial Unicode MS"/>
                <a:ea typeface="Arial Unicode MS"/>
                <a:cs typeface="Arial Unicode MS"/>
              </a:rPr>
              <a:t>   Interfacial Transition Zone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26679" y="2990088"/>
            <a:ext cx="3749039" cy="411480"/>
          </a:xfrm>
          <a:prstGeom prst="rect">
            <a:avLst/>
          </a:prstGeom>
          <a:noFill/>
        </p:spPr>
        <p:txBody>
          <a:bodyPr wrap="square" lIns="0" rIns="0" tIns="0" bIns="0" anchor="t" rtlCol="1">
            <a:spAutoFit/>
          </a:bodyPr>
          <a:lstStyle/>
          <a:p>
            <a:pPr algn="r" rtl="1" marL="0" indent="0">
              <a:spcAft>
                <a:spcPts val="400"/>
              </a:spcAft>
              <a:buNone/>
            </a:pPr>
            <a:r>
              <a:rPr lang="he-IL" sz="1400" b="0">
                <a:solidFill>
                  <a:srgbClr val="333F4A"/>
                </a:solidFill>
                <a:latin typeface="Arial Unicode MS"/>
                <a:ea typeface="Arial Unicode MS"/>
                <a:cs typeface="Arial Unicode MS"/>
              </a:rPr>
              <a:t>10-50 מיקרון, נקבובי יותר — החוליה החלשה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26679" y="4586630"/>
            <a:ext cx="3749039" cy="365760"/>
          </a:xfrm>
          <a:prstGeom prst="rect">
            <a:avLst/>
          </a:prstGeom>
          <a:noFill/>
        </p:spPr>
        <p:txBody>
          <a:bodyPr wrap="square" lIns="0" rIns="0" tIns="0" bIns="0" anchor="t" rtlCol="1">
            <a:spAutoFit/>
          </a:bodyPr>
          <a:lstStyle/>
          <a:p>
            <a:pPr algn="r" rtl="1" marL="0" indent="0">
              <a:spcAft>
                <a:spcPts val="400"/>
              </a:spcAft>
              <a:buNone/>
            </a:pPr>
            <a:r>
              <a:rPr lang="he-IL" sz="1800" b="1">
                <a:solidFill>
                  <a:srgbClr val="333F4A"/>
                </a:solidFill>
                <a:latin typeface="Arial Unicode MS"/>
                <a:ea typeface="Arial Unicode MS"/>
                <a:cs typeface="Arial Unicode MS"/>
              </a:rPr>
              <a:t>משחת צמנט</a:t>
            </a:r>
            <a:r>
              <a:rPr lang="he-IL" sz="1200" b="0">
                <a:solidFill>
                  <a:srgbClr val="5F6B76"/>
                </a:solidFill>
                <a:latin typeface="Arial Unicode MS"/>
                <a:ea typeface="Arial Unicode MS"/>
                <a:cs typeface="Arial Unicode MS"/>
              </a:rPr>
              <a:t>   Cement Paste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26679" y="4952390"/>
            <a:ext cx="3749039" cy="411480"/>
          </a:xfrm>
          <a:prstGeom prst="rect">
            <a:avLst/>
          </a:prstGeom>
          <a:noFill/>
        </p:spPr>
        <p:txBody>
          <a:bodyPr wrap="square" lIns="0" rIns="0" tIns="0" bIns="0" anchor="t" rtlCol="1">
            <a:spAutoFit/>
          </a:bodyPr>
          <a:lstStyle/>
          <a:p>
            <a:pPr algn="r" rtl="1" marL="0" indent="0">
              <a:spcAft>
                <a:spcPts val="400"/>
              </a:spcAft>
              <a:buNone/>
            </a:pPr>
            <a:r>
              <a:rPr lang="he-IL" sz="1400" b="0">
                <a:solidFill>
                  <a:srgbClr val="333F4A"/>
                </a:solidFill>
                <a:latin typeface="Arial Unicode MS"/>
                <a:ea typeface="Arial Unicode MS"/>
                <a:cs typeface="Arial Unicode MS"/>
              </a:rPr>
              <a:t>C-S-H, CH ונקבוביות קפילריות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5349240"/>
            <a:ext cx="8183879" cy="566928"/>
          </a:xfrm>
          <a:prstGeom prst="roundRect">
            <a:avLst>
              <a:gd name="adj" fmla="val 8000"/>
            </a:avLst>
          </a:prstGeom>
          <a:solidFill>
            <a:srgbClr val="00397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394192" y="5404103"/>
            <a:ext cx="457200" cy="457200"/>
          </a:xfrm>
          <a:prstGeom prst="ellipse">
            <a:avLst/>
          </a:prstGeom>
          <a:solidFill>
            <a:srgbClr val="C4D8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2" name="Picture 11" descr="FaLightbulb_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19" y="5513831"/>
            <a:ext cx="237744" cy="23774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51560" y="5349240"/>
            <a:ext cx="7269479" cy="566928"/>
          </a:xfrm>
          <a:prstGeom prst="rect">
            <a:avLst/>
          </a:prstGeom>
          <a:noFill/>
        </p:spPr>
        <p:txBody>
          <a:bodyPr wrap="square" lIns="0" rIns="0" tIns="0" bIns="0" anchor="ctr" rtlCol="1">
            <a:spAutoFit/>
          </a:bodyPr>
          <a:lstStyle/>
          <a:p>
            <a:pPr algn="r" rtl="1" marL="0" indent="0">
              <a:spcAft>
                <a:spcPts val="400"/>
              </a:spcAft>
              <a:buNone/>
            </a:pPr>
            <a:r>
              <a:rPr lang="he-IL" sz="17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שיפור ה-ITZ (W/C נמוך, מיקרוסיליקה, אגרגט נקי) = בטון חזק ועמיד יותר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>
                <a:latin typeface="Arial Unicode MS"/>
                <a:ea typeface="Arial Unicode MS"/>
                <a:cs typeface="Arial Unicode MS"/>
              </a:rPr>
              <a:t>גורמים המשפיעים על הידרציה</a:t>
            </a:r>
          </a:p>
        </p:txBody>
      </p:sp>
      <p:sp>
        <p:nvSpPr>
          <p:cNvPr id="3" name="Oval 2"/>
          <p:cNvSpPr/>
          <p:nvPr/>
        </p:nvSpPr>
        <p:spPr>
          <a:xfrm>
            <a:off x="5093208" y="2103120"/>
            <a:ext cx="2103120" cy="2103120"/>
          </a:xfrm>
          <a:prstGeom prst="ellipse">
            <a:avLst/>
          </a:prstGeom>
          <a:solidFill>
            <a:srgbClr val="00397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138927" y="2788920"/>
            <a:ext cx="2011680" cy="731520"/>
          </a:xfrm>
          <a:prstGeom prst="rect">
            <a:avLst/>
          </a:prstGeom>
          <a:noFill/>
        </p:spPr>
        <p:txBody>
          <a:bodyPr wrap="square" lIns="0" rIns="0" tIns="0" bIns="0" anchor="ctr" rtlCol="1">
            <a:spAutoFit/>
          </a:bodyPr>
          <a:lstStyle/>
          <a:p>
            <a:pPr algn="ctr" rtl="1" marL="0" indent="0">
              <a:spcAft>
                <a:spcPts val="400"/>
              </a:spcAft>
              <a:buNone/>
            </a:pPr>
            <a:r>
              <a:rPr lang="he-IL" sz="24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הידרציה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0" y="1097280"/>
            <a:ext cx="3246120" cy="1737360"/>
          </a:xfrm>
          <a:prstGeom prst="roundRect">
            <a:avLst>
              <a:gd name="adj" fmla="val 8000"/>
            </a:avLst>
          </a:prstGeom>
          <a:solidFill>
            <a:srgbClr val="EAF3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721340" y="1257300"/>
            <a:ext cx="594360" cy="594360"/>
          </a:xfrm>
          <a:prstGeom prst="ellipse">
            <a:avLst/>
          </a:prstGeom>
          <a:solidFill>
            <a:srgbClr val="0081C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7" name="Picture 6" descr="FaThermometerHalf_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63986" y="1399946"/>
            <a:ext cx="309067" cy="30906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412480" y="1325880"/>
            <a:ext cx="2194560" cy="411480"/>
          </a:xfrm>
          <a:prstGeom prst="rect">
            <a:avLst/>
          </a:prstGeom>
          <a:noFill/>
        </p:spPr>
        <p:txBody>
          <a:bodyPr wrap="square" lIns="0" rIns="0" tIns="0" bIns="0" anchor="t" rtlCol="1">
            <a:spAutoFit/>
          </a:bodyPr>
          <a:lstStyle/>
          <a:p>
            <a:pPr algn="r" rtl="1" marL="0" indent="0">
              <a:spcAft>
                <a:spcPts val="400"/>
              </a:spcAft>
              <a:buNone/>
            </a:pPr>
            <a:r>
              <a:rPr lang="he-IL" sz="1900" b="1">
                <a:solidFill>
                  <a:srgbClr val="003973"/>
                </a:solidFill>
                <a:latin typeface="Arial Unicode MS"/>
                <a:ea typeface="Arial Unicode MS"/>
                <a:cs typeface="Arial Unicode MS"/>
              </a:rPr>
              <a:t>טמפרטורה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0" y="1874519"/>
            <a:ext cx="2880360" cy="914400"/>
          </a:xfrm>
          <a:prstGeom prst="rect">
            <a:avLst/>
          </a:prstGeom>
          <a:noFill/>
        </p:spPr>
        <p:txBody>
          <a:bodyPr wrap="square" lIns="0" rIns="0" tIns="0" bIns="0" anchor="t" rtlCol="1">
            <a:spAutoFit/>
          </a:bodyPr>
          <a:lstStyle/>
          <a:p>
            <a:pPr algn="r" rtl="1" marL="0" indent="0">
              <a:spcAft>
                <a:spcPts val="400"/>
              </a:spcAft>
              <a:buNone/>
            </a:pPr>
            <a:r>
              <a:rPr lang="he-IL" sz="1400" b="0">
                <a:solidFill>
                  <a:srgbClr val="333F4A"/>
                </a:solidFill>
                <a:latin typeface="Arial Unicode MS"/>
                <a:ea typeface="Arial Unicode MS"/>
                <a:cs typeface="Arial Unicode MS"/>
              </a:rPr>
              <a:t>חום מאיץ את התגובה המוקדמת אך פוגע בחוזק הסופי; מתחת ל-5°C היא כמעט נעצרת</a:t>
            </a:r>
          </a:p>
        </p:txBody>
      </p:sp>
      <p:cxnSp>
        <p:nvCxnSpPr>
          <p:cNvPr id="10" name="Connector 9"/>
          <p:cNvCxnSpPr/>
          <p:nvPr/>
        </p:nvCxnSpPr>
        <p:spPr>
          <a:xfrm flipV="1">
            <a:off x="7150608" y="1965960"/>
            <a:ext cx="1078992" cy="731520"/>
          </a:xfrm>
          <a:prstGeom prst="line">
            <a:avLst/>
          </a:prstGeom>
          <a:ln w="25400">
            <a:solidFill>
              <a:srgbClr val="A3B1BA"/>
            </a:solidFill>
          </a:ln>
        </p:spPr>
      </p:cxnSp>
      <p:sp>
        <p:nvSpPr>
          <p:cNvPr id="11" name="Rounded Rectangle 10"/>
          <p:cNvSpPr/>
          <p:nvPr/>
        </p:nvSpPr>
        <p:spPr>
          <a:xfrm>
            <a:off x="822960" y="1097280"/>
            <a:ext cx="3246120" cy="1737360"/>
          </a:xfrm>
          <a:prstGeom prst="roundRect">
            <a:avLst>
              <a:gd name="adj" fmla="val 8000"/>
            </a:avLst>
          </a:prstGeom>
          <a:solidFill>
            <a:srgbClr val="EAF3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314700" y="1257300"/>
            <a:ext cx="594360" cy="594360"/>
          </a:xfrm>
          <a:prstGeom prst="ellipse">
            <a:avLst/>
          </a:prstGeom>
          <a:solidFill>
            <a:srgbClr val="0081C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3" name="Picture 12" descr="FaTint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57346" y="1399946"/>
            <a:ext cx="309067" cy="309067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005840" y="1325880"/>
            <a:ext cx="2194560" cy="411480"/>
          </a:xfrm>
          <a:prstGeom prst="rect">
            <a:avLst/>
          </a:prstGeom>
          <a:noFill/>
        </p:spPr>
        <p:txBody>
          <a:bodyPr wrap="square" lIns="0" rIns="0" tIns="0" bIns="0" anchor="t" rtlCol="1">
            <a:spAutoFit/>
          </a:bodyPr>
          <a:lstStyle/>
          <a:p>
            <a:pPr algn="r" rtl="1" marL="0" indent="0">
              <a:spcAft>
                <a:spcPts val="400"/>
              </a:spcAft>
              <a:buNone/>
            </a:pPr>
            <a:r>
              <a:rPr lang="he-IL" sz="1900" b="1">
                <a:solidFill>
                  <a:srgbClr val="003973"/>
                </a:solidFill>
                <a:latin typeface="Arial Unicode MS"/>
                <a:ea typeface="Arial Unicode MS"/>
                <a:cs typeface="Arial Unicode MS"/>
              </a:rPr>
              <a:t>יחס W/C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1874519"/>
            <a:ext cx="2880360" cy="914400"/>
          </a:xfrm>
          <a:prstGeom prst="rect">
            <a:avLst/>
          </a:prstGeom>
          <a:noFill/>
        </p:spPr>
        <p:txBody>
          <a:bodyPr wrap="square" lIns="0" rIns="0" tIns="0" bIns="0" anchor="t" rtlCol="1">
            <a:spAutoFit/>
          </a:bodyPr>
          <a:lstStyle/>
          <a:p>
            <a:pPr algn="r" rtl="1" marL="0" indent="0">
              <a:spcAft>
                <a:spcPts val="400"/>
              </a:spcAft>
              <a:buNone/>
            </a:pPr>
            <a:r>
              <a:rPr lang="he-IL" sz="1400" b="0">
                <a:solidFill>
                  <a:srgbClr val="333F4A"/>
                </a:solidFill>
                <a:latin typeface="Arial Unicode MS"/>
                <a:ea typeface="Arial Unicode MS"/>
                <a:cs typeface="Arial Unicode MS"/>
              </a:rPr>
              <a:t>קובע כמה מים זמינים וכמה חללים יישארו</a:t>
            </a:r>
          </a:p>
        </p:txBody>
      </p:sp>
      <p:cxnSp>
        <p:nvCxnSpPr>
          <p:cNvPr id="16" name="Connector 15"/>
          <p:cNvCxnSpPr/>
          <p:nvPr/>
        </p:nvCxnSpPr>
        <p:spPr>
          <a:xfrm flipH="1" flipV="1">
            <a:off x="4069080" y="1965960"/>
            <a:ext cx="1069847" cy="731520"/>
          </a:xfrm>
          <a:prstGeom prst="line">
            <a:avLst/>
          </a:prstGeom>
          <a:ln w="25400">
            <a:solidFill>
              <a:srgbClr val="A3B1BA"/>
            </a:solidFill>
          </a:ln>
        </p:spPr>
      </p:cxnSp>
      <p:sp>
        <p:nvSpPr>
          <p:cNvPr id="17" name="Rounded Rectangle 16"/>
          <p:cNvSpPr/>
          <p:nvPr/>
        </p:nvSpPr>
        <p:spPr>
          <a:xfrm>
            <a:off x="8229600" y="3520440"/>
            <a:ext cx="3246120" cy="1737360"/>
          </a:xfrm>
          <a:prstGeom prst="roundRect">
            <a:avLst>
              <a:gd name="adj" fmla="val 8000"/>
            </a:avLst>
          </a:prstGeom>
          <a:solidFill>
            <a:srgbClr val="EAF3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721340" y="3680459"/>
            <a:ext cx="594360" cy="594360"/>
          </a:xfrm>
          <a:prstGeom prst="ellipse">
            <a:avLst/>
          </a:prstGeom>
          <a:solidFill>
            <a:srgbClr val="0081C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9" name="Picture 18" descr="FaWarehouse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63986" y="3823106"/>
            <a:ext cx="309067" cy="309067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8412480" y="3749039"/>
            <a:ext cx="2194560" cy="411480"/>
          </a:xfrm>
          <a:prstGeom prst="rect">
            <a:avLst/>
          </a:prstGeom>
          <a:noFill/>
        </p:spPr>
        <p:txBody>
          <a:bodyPr wrap="square" lIns="0" rIns="0" tIns="0" bIns="0" anchor="t" rtlCol="1">
            <a:spAutoFit/>
          </a:bodyPr>
          <a:lstStyle/>
          <a:p>
            <a:pPr algn="r" rtl="1" marL="0" indent="0">
              <a:spcAft>
                <a:spcPts val="400"/>
              </a:spcAft>
              <a:buNone/>
            </a:pPr>
            <a:r>
              <a:rPr lang="he-IL" sz="1900" b="1">
                <a:solidFill>
                  <a:srgbClr val="003973"/>
                </a:solidFill>
                <a:latin typeface="Arial Unicode MS"/>
                <a:ea typeface="Arial Unicode MS"/>
                <a:cs typeface="Arial Unicode MS"/>
              </a:rPr>
              <a:t>סוג הצמנט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0" y="4297680"/>
            <a:ext cx="2880360" cy="914400"/>
          </a:xfrm>
          <a:prstGeom prst="rect">
            <a:avLst/>
          </a:prstGeom>
          <a:noFill/>
        </p:spPr>
        <p:txBody>
          <a:bodyPr wrap="square" lIns="0" rIns="0" tIns="0" bIns="0" anchor="t" rtlCol="1">
            <a:spAutoFit/>
          </a:bodyPr>
          <a:lstStyle/>
          <a:p>
            <a:pPr algn="r" rtl="1" marL="0" indent="0">
              <a:spcAft>
                <a:spcPts val="400"/>
              </a:spcAft>
              <a:buNone/>
            </a:pPr>
            <a:r>
              <a:rPr lang="he-IL" sz="1400" b="0">
                <a:solidFill>
                  <a:srgbClr val="333F4A"/>
                </a:solidFill>
                <a:latin typeface="Arial Unicode MS"/>
                <a:ea typeface="Arial Unicode MS"/>
                <a:cs typeface="Arial Unicode MS"/>
              </a:rPr>
              <a:t>דקות טחינה והרכב: CEM I מהיר, CEM III עם סיגים איטי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150608" y="3611880"/>
            <a:ext cx="1078992" cy="777240"/>
          </a:xfrm>
          <a:prstGeom prst="line">
            <a:avLst/>
          </a:prstGeom>
          <a:ln w="25400">
            <a:solidFill>
              <a:srgbClr val="A3B1BA"/>
            </a:solidFill>
          </a:ln>
        </p:spPr>
      </p:cxnSp>
      <p:sp>
        <p:nvSpPr>
          <p:cNvPr id="23" name="Rounded Rectangle 22"/>
          <p:cNvSpPr/>
          <p:nvPr/>
        </p:nvSpPr>
        <p:spPr>
          <a:xfrm>
            <a:off x="822960" y="3520440"/>
            <a:ext cx="3246120" cy="1737360"/>
          </a:xfrm>
          <a:prstGeom prst="roundRect">
            <a:avLst>
              <a:gd name="adj" fmla="val 8000"/>
            </a:avLst>
          </a:prstGeom>
          <a:solidFill>
            <a:srgbClr val="EAF3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3314700" y="3680459"/>
            <a:ext cx="594360" cy="594360"/>
          </a:xfrm>
          <a:prstGeom prst="ellipse">
            <a:avLst/>
          </a:prstGeom>
          <a:solidFill>
            <a:srgbClr val="0081C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5" name="Picture 24" descr="FaClock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57346" y="3823106"/>
            <a:ext cx="309067" cy="309067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1005840" y="3749039"/>
            <a:ext cx="2194560" cy="411480"/>
          </a:xfrm>
          <a:prstGeom prst="rect">
            <a:avLst/>
          </a:prstGeom>
          <a:noFill/>
        </p:spPr>
        <p:txBody>
          <a:bodyPr wrap="square" lIns="0" rIns="0" tIns="0" bIns="0" anchor="t" rtlCol="1">
            <a:spAutoFit/>
          </a:bodyPr>
          <a:lstStyle/>
          <a:p>
            <a:pPr algn="r" rtl="1" marL="0" indent="0">
              <a:spcAft>
                <a:spcPts val="400"/>
              </a:spcAft>
              <a:buNone/>
            </a:pPr>
            <a:r>
              <a:rPr lang="he-IL" sz="1900" b="1">
                <a:solidFill>
                  <a:srgbClr val="003973"/>
                </a:solidFill>
                <a:latin typeface="Arial Unicode MS"/>
                <a:ea typeface="Arial Unicode MS"/>
                <a:cs typeface="Arial Unicode MS"/>
              </a:rPr>
              <a:t>זמן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" y="4297680"/>
            <a:ext cx="2880360" cy="914400"/>
          </a:xfrm>
          <a:prstGeom prst="rect">
            <a:avLst/>
          </a:prstGeom>
          <a:noFill/>
        </p:spPr>
        <p:txBody>
          <a:bodyPr wrap="square" lIns="0" rIns="0" tIns="0" bIns="0" anchor="t" rtlCol="1">
            <a:spAutoFit/>
          </a:bodyPr>
          <a:lstStyle/>
          <a:p>
            <a:pPr algn="r" rtl="1" marL="0" indent="0">
              <a:spcAft>
                <a:spcPts val="400"/>
              </a:spcAft>
              <a:buNone/>
            </a:pPr>
            <a:r>
              <a:rPr lang="he-IL" sz="1400" b="0">
                <a:solidFill>
                  <a:srgbClr val="333F4A"/>
                </a:solidFill>
                <a:latin typeface="Arial Unicode MS"/>
                <a:ea typeface="Arial Unicode MS"/>
                <a:cs typeface="Arial Unicode MS"/>
              </a:rPr>
              <a:t>ההידרציה נמשכת חודשים — כל עוד יש לחות</a:t>
            </a:r>
          </a:p>
        </p:txBody>
      </p:sp>
      <p:cxnSp>
        <p:nvCxnSpPr>
          <p:cNvPr id="28" name="Connector 27"/>
          <p:cNvCxnSpPr/>
          <p:nvPr/>
        </p:nvCxnSpPr>
        <p:spPr>
          <a:xfrm flipH="1">
            <a:off x="4069080" y="3611880"/>
            <a:ext cx="1069847" cy="777240"/>
          </a:xfrm>
          <a:prstGeom prst="line">
            <a:avLst/>
          </a:prstGeom>
          <a:ln w="25400">
            <a:solidFill>
              <a:srgbClr val="A3B1BA"/>
            </a:solidFill>
          </a:ln>
        </p:spPr>
      </p:cxn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>
                <a:latin typeface="Arial Unicode MS"/>
                <a:ea typeface="Arial Unicode MS"/>
                <a:cs typeface="Arial Unicode MS"/>
              </a:rPr>
              <a:t>התפתחות המבנה: מבטון טרי לבטון קשוח</a:t>
            </a:r>
          </a:p>
        </p:txBody>
      </p:sp>
      <p:sp>
        <p:nvSpPr>
          <p:cNvPr id="3" name="Rectangle 2"/>
          <p:cNvSpPr/>
          <p:nvPr/>
        </p:nvSpPr>
        <p:spPr>
          <a:xfrm>
            <a:off x="8830818" y="1828800"/>
            <a:ext cx="2626614" cy="685800"/>
          </a:xfrm>
          <a:prstGeom prst="rect">
            <a:avLst/>
          </a:prstGeom>
          <a:solidFill>
            <a:srgbClr val="7FC3EA"/>
          </a:solidFill>
          <a:ln>
            <a:noFill/>
          </a:ln>
        </p:spPr>
        <p:txBody>
          <a:bodyPr rtlCol="0" anchor="ctr" wrap="square" lIns="45720" rIns="45720" tIns="18288" bIns="18288"/>
          <a:lstStyle/>
          <a:p>
            <a:pPr algn="ctr" rtl="1" marL="0" indent="0">
              <a:buNone/>
            </a:pPr>
            <a:r>
              <a:rPr lang="he-IL" sz="19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פלסטי</a:t>
            </a:r>
          </a:p>
        </p:txBody>
      </p:sp>
      <p:sp>
        <p:nvSpPr>
          <p:cNvPr id="4" name="Oval 3"/>
          <p:cNvSpPr/>
          <p:nvPr/>
        </p:nvSpPr>
        <p:spPr>
          <a:xfrm>
            <a:off x="10904220" y="1165860"/>
            <a:ext cx="502920" cy="502920"/>
          </a:xfrm>
          <a:prstGeom prst="ellipse">
            <a:avLst/>
          </a:prstGeom>
          <a:solidFill>
            <a:srgbClr val="C4D82E"/>
          </a:solidFill>
          <a:ln>
            <a:noFill/>
          </a:ln>
        </p:spPr>
        <p:txBody>
          <a:bodyPr rtlCol="0" anchor="ctr" wrap="square" lIns="0" rIns="0" tIns="18288" bIns="18288"/>
          <a:lstStyle/>
          <a:p>
            <a:pPr algn="ctr" rtl="1" marL="0" indent="0">
              <a:buNone/>
            </a:pPr>
            <a:r>
              <a:rPr lang="he-IL" sz="1600" b="1">
                <a:solidFill>
                  <a:srgbClr val="003973"/>
                </a:solidFill>
                <a:latin typeface="Arial Unicode MS"/>
                <a:ea typeface="Arial Unicode MS"/>
                <a:cs typeface="Arial Unicode MS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03970" y="2606040"/>
            <a:ext cx="2480310" cy="320040"/>
          </a:xfrm>
          <a:prstGeom prst="rect">
            <a:avLst/>
          </a:prstGeom>
          <a:noFill/>
        </p:spPr>
        <p:txBody>
          <a:bodyPr wrap="square" lIns="0" rIns="0" tIns="0" bIns="0" anchor="t" rtlCol="1">
            <a:spAutoFit/>
          </a:bodyPr>
          <a:lstStyle/>
          <a:p>
            <a:pPr algn="ctr" rtl="1" marL="0" indent="0">
              <a:spcAft>
                <a:spcPts val="400"/>
              </a:spcAft>
              <a:buNone/>
            </a:pPr>
            <a:r>
              <a:rPr lang="he-IL" sz="1500" b="1">
                <a:solidFill>
                  <a:srgbClr val="0081C8"/>
                </a:solidFill>
                <a:latin typeface="Arial Unicode MS"/>
                <a:ea typeface="Arial Unicode MS"/>
                <a:cs typeface="Arial Unicode MS"/>
              </a:rPr>
              <a:t>0-2 שעות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49690" y="2971800"/>
            <a:ext cx="2388870" cy="1005840"/>
          </a:xfrm>
          <a:prstGeom prst="rect">
            <a:avLst/>
          </a:prstGeom>
          <a:noFill/>
        </p:spPr>
        <p:txBody>
          <a:bodyPr wrap="square" lIns="0" rIns="0" tIns="0" bIns="0" anchor="t" rtlCol="1">
            <a:spAutoFit/>
          </a:bodyPr>
          <a:lstStyle/>
          <a:p>
            <a:pPr algn="ctr" rtl="1" marL="0" indent="0">
              <a:spcAft>
                <a:spcPts val="400"/>
              </a:spcAft>
              <a:buNone/>
            </a:pPr>
            <a:r>
              <a:rPr lang="he-IL" sz="1400" b="0">
                <a:solidFill>
                  <a:srgbClr val="333F4A"/>
                </a:solidFill>
                <a:latin typeface="Arial Unicode MS"/>
                <a:ea typeface="Arial Unicode MS"/>
                <a:cs typeface="Arial Unicode MS"/>
              </a:rPr>
              <a:t>ניתן להובלה, שאיבה, יציקה וריטוט</a:t>
            </a:r>
          </a:p>
        </p:txBody>
      </p:sp>
      <p:sp>
        <p:nvSpPr>
          <p:cNvPr id="7" name="Rectangle 6"/>
          <p:cNvSpPr/>
          <p:nvPr/>
        </p:nvSpPr>
        <p:spPr>
          <a:xfrm>
            <a:off x="6167628" y="1828800"/>
            <a:ext cx="2626614" cy="685800"/>
          </a:xfrm>
          <a:prstGeom prst="rect">
            <a:avLst/>
          </a:prstGeom>
          <a:solidFill>
            <a:srgbClr val="0081C8"/>
          </a:solidFill>
          <a:ln>
            <a:noFill/>
          </a:ln>
        </p:spPr>
        <p:txBody>
          <a:bodyPr rtlCol="0" anchor="ctr" wrap="square" lIns="45720" rIns="45720" tIns="18288" bIns="18288"/>
          <a:lstStyle/>
          <a:p>
            <a:pPr algn="ctr" rtl="1" marL="0" indent="0">
              <a:buNone/>
            </a:pPr>
            <a:r>
              <a:rPr lang="he-IL" sz="19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תחילת התקשרות</a:t>
            </a:r>
          </a:p>
        </p:txBody>
      </p:sp>
      <p:sp>
        <p:nvSpPr>
          <p:cNvPr id="8" name="Oval 7"/>
          <p:cNvSpPr/>
          <p:nvPr/>
        </p:nvSpPr>
        <p:spPr>
          <a:xfrm>
            <a:off x="8241030" y="1165860"/>
            <a:ext cx="502920" cy="502920"/>
          </a:xfrm>
          <a:prstGeom prst="ellipse">
            <a:avLst/>
          </a:prstGeom>
          <a:solidFill>
            <a:srgbClr val="C4D82E"/>
          </a:solidFill>
          <a:ln>
            <a:noFill/>
          </a:ln>
        </p:spPr>
        <p:txBody>
          <a:bodyPr rtlCol="0" anchor="ctr" wrap="square" lIns="0" rIns="0" tIns="18288" bIns="18288"/>
          <a:lstStyle/>
          <a:p>
            <a:pPr algn="ctr" rtl="1" marL="0" indent="0">
              <a:buNone/>
            </a:pPr>
            <a:r>
              <a:rPr lang="he-IL" sz="1600" b="1">
                <a:solidFill>
                  <a:srgbClr val="003973"/>
                </a:solidFill>
                <a:latin typeface="Arial Unicode MS"/>
                <a:ea typeface="Arial Unicode MS"/>
                <a:cs typeface="Arial Unicode MS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40780" y="2606040"/>
            <a:ext cx="2480310" cy="320040"/>
          </a:xfrm>
          <a:prstGeom prst="rect">
            <a:avLst/>
          </a:prstGeom>
          <a:noFill/>
        </p:spPr>
        <p:txBody>
          <a:bodyPr wrap="square" lIns="0" rIns="0" tIns="0" bIns="0" anchor="t" rtlCol="1">
            <a:spAutoFit/>
          </a:bodyPr>
          <a:lstStyle/>
          <a:p>
            <a:pPr algn="ctr" rtl="1" marL="0" indent="0">
              <a:spcAft>
                <a:spcPts val="400"/>
              </a:spcAft>
              <a:buNone/>
            </a:pPr>
            <a:r>
              <a:rPr lang="he-IL" sz="1500" b="1">
                <a:solidFill>
                  <a:srgbClr val="0081C8"/>
                </a:solidFill>
                <a:latin typeface="Arial Unicode MS"/>
                <a:ea typeface="Arial Unicode MS"/>
                <a:cs typeface="Arial Unicode MS"/>
              </a:rPr>
              <a:t>2-4 שעות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86500" y="2971800"/>
            <a:ext cx="2388870" cy="1005840"/>
          </a:xfrm>
          <a:prstGeom prst="rect">
            <a:avLst/>
          </a:prstGeom>
          <a:noFill/>
        </p:spPr>
        <p:txBody>
          <a:bodyPr wrap="square" lIns="0" rIns="0" tIns="0" bIns="0" anchor="t" rtlCol="1">
            <a:spAutoFit/>
          </a:bodyPr>
          <a:lstStyle/>
          <a:p>
            <a:pPr algn="ctr" rtl="1" marL="0" indent="0">
              <a:spcAft>
                <a:spcPts val="400"/>
              </a:spcAft>
              <a:buNone/>
            </a:pPr>
            <a:r>
              <a:rPr lang="he-IL" sz="1400" b="0">
                <a:solidFill>
                  <a:srgbClr val="333F4A"/>
                </a:solidFill>
                <a:latin typeface="Arial Unicode MS"/>
                <a:ea typeface="Arial Unicode MS"/>
                <a:cs typeface="Arial Unicode MS"/>
              </a:rPr>
              <a:t>סוף חלון הריטוט; אסור להוסיף מים או לערבב מחדש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504438" y="1828800"/>
            <a:ext cx="2626614" cy="685800"/>
          </a:xfrm>
          <a:prstGeom prst="rect">
            <a:avLst/>
          </a:prstGeom>
          <a:solidFill>
            <a:srgbClr val="1F5A94"/>
          </a:solidFill>
          <a:ln>
            <a:noFill/>
          </a:ln>
        </p:spPr>
        <p:txBody>
          <a:bodyPr rtlCol="0" anchor="ctr" wrap="square" lIns="45720" rIns="45720" tIns="18288" bIns="18288"/>
          <a:lstStyle/>
          <a:p>
            <a:pPr algn="ctr" rtl="1" marL="0" indent="0">
              <a:buNone/>
            </a:pPr>
            <a:r>
              <a:rPr lang="he-IL" sz="19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התקשות</a:t>
            </a:r>
          </a:p>
        </p:txBody>
      </p:sp>
      <p:sp>
        <p:nvSpPr>
          <p:cNvPr id="12" name="Oval 11"/>
          <p:cNvSpPr/>
          <p:nvPr/>
        </p:nvSpPr>
        <p:spPr>
          <a:xfrm>
            <a:off x="5577840" y="1165860"/>
            <a:ext cx="502920" cy="502920"/>
          </a:xfrm>
          <a:prstGeom prst="ellipse">
            <a:avLst/>
          </a:prstGeom>
          <a:solidFill>
            <a:srgbClr val="C4D82E"/>
          </a:solidFill>
          <a:ln>
            <a:noFill/>
          </a:ln>
        </p:spPr>
        <p:txBody>
          <a:bodyPr rtlCol="0" anchor="ctr" wrap="square" lIns="0" rIns="0" tIns="18288" bIns="18288"/>
          <a:lstStyle/>
          <a:p>
            <a:pPr algn="ctr" rtl="1" marL="0" indent="0">
              <a:buNone/>
            </a:pPr>
            <a:r>
              <a:rPr lang="he-IL" sz="1600" b="1">
                <a:solidFill>
                  <a:srgbClr val="003973"/>
                </a:solidFill>
                <a:latin typeface="Arial Unicode MS"/>
                <a:ea typeface="Arial Unicode MS"/>
                <a:cs typeface="Arial Unicode MS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77590" y="2606040"/>
            <a:ext cx="2480310" cy="320040"/>
          </a:xfrm>
          <a:prstGeom prst="rect">
            <a:avLst/>
          </a:prstGeom>
          <a:noFill/>
        </p:spPr>
        <p:txBody>
          <a:bodyPr wrap="square" lIns="0" rIns="0" tIns="0" bIns="0" anchor="t" rtlCol="1">
            <a:spAutoFit/>
          </a:bodyPr>
          <a:lstStyle/>
          <a:p>
            <a:pPr algn="ctr" rtl="1" marL="0" indent="0">
              <a:spcAft>
                <a:spcPts val="400"/>
              </a:spcAft>
              <a:buNone/>
            </a:pPr>
            <a:r>
              <a:rPr lang="he-IL" sz="1500" b="1">
                <a:solidFill>
                  <a:srgbClr val="0081C8"/>
                </a:solidFill>
                <a:latin typeface="Arial Unicode MS"/>
                <a:ea typeface="Arial Unicode MS"/>
                <a:cs typeface="Arial Unicode MS"/>
              </a:rPr>
              <a:t>4-10 שעות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23310" y="2971800"/>
            <a:ext cx="2388870" cy="1005840"/>
          </a:xfrm>
          <a:prstGeom prst="rect">
            <a:avLst/>
          </a:prstGeom>
          <a:noFill/>
        </p:spPr>
        <p:txBody>
          <a:bodyPr wrap="square" lIns="0" rIns="0" tIns="0" bIns="0" anchor="t" rtlCol="1">
            <a:spAutoFit/>
          </a:bodyPr>
          <a:lstStyle/>
          <a:p>
            <a:pPr algn="ctr" rtl="1" marL="0" indent="0">
              <a:spcAft>
                <a:spcPts val="400"/>
              </a:spcAft>
              <a:buNone/>
            </a:pPr>
            <a:r>
              <a:rPr lang="he-IL" sz="1400" b="0">
                <a:solidFill>
                  <a:srgbClr val="333F4A"/>
                </a:solidFill>
                <a:latin typeface="Arial Unicode MS"/>
                <a:ea typeface="Arial Unicode MS"/>
                <a:cs typeface="Arial Unicode MS"/>
              </a:rPr>
              <a:t>סוף התקשרות; מתחילה עבודת החלקה והגנה מהתאדות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41248" y="1828800"/>
            <a:ext cx="2626614" cy="685800"/>
          </a:xfrm>
          <a:prstGeom prst="rect">
            <a:avLst/>
          </a:prstGeom>
          <a:solidFill>
            <a:srgbClr val="003973"/>
          </a:solidFill>
          <a:ln>
            <a:noFill/>
          </a:ln>
        </p:spPr>
        <p:txBody>
          <a:bodyPr rtlCol="0" anchor="ctr" wrap="square" lIns="45720" rIns="45720" tIns="18288" bIns="18288"/>
          <a:lstStyle/>
          <a:p>
            <a:pPr algn="ctr" rtl="1" marL="0" indent="0">
              <a:buNone/>
            </a:pPr>
            <a:r>
              <a:rPr lang="he-IL" sz="19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קשיח</a:t>
            </a:r>
          </a:p>
        </p:txBody>
      </p:sp>
      <p:sp>
        <p:nvSpPr>
          <p:cNvPr id="16" name="Oval 15"/>
          <p:cNvSpPr/>
          <p:nvPr/>
        </p:nvSpPr>
        <p:spPr>
          <a:xfrm>
            <a:off x="2914650" y="1165860"/>
            <a:ext cx="502920" cy="502920"/>
          </a:xfrm>
          <a:prstGeom prst="ellipse">
            <a:avLst/>
          </a:prstGeom>
          <a:solidFill>
            <a:srgbClr val="C4D82E"/>
          </a:solidFill>
          <a:ln>
            <a:noFill/>
          </a:ln>
        </p:spPr>
        <p:txBody>
          <a:bodyPr rtlCol="0" anchor="ctr" wrap="square" lIns="0" rIns="0" tIns="18288" bIns="18288"/>
          <a:lstStyle/>
          <a:p>
            <a:pPr algn="ctr" rtl="1" marL="0" indent="0">
              <a:buNone/>
            </a:pPr>
            <a:r>
              <a:rPr lang="he-IL" sz="1600" b="1">
                <a:solidFill>
                  <a:srgbClr val="003973"/>
                </a:solidFill>
                <a:latin typeface="Arial Unicode MS"/>
                <a:ea typeface="Arial Unicode MS"/>
                <a:cs typeface="Arial Unicode MS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2606040"/>
            <a:ext cx="2480310" cy="320040"/>
          </a:xfrm>
          <a:prstGeom prst="rect">
            <a:avLst/>
          </a:prstGeom>
          <a:noFill/>
        </p:spPr>
        <p:txBody>
          <a:bodyPr wrap="square" lIns="0" rIns="0" tIns="0" bIns="0" anchor="t" rtlCol="1">
            <a:spAutoFit/>
          </a:bodyPr>
          <a:lstStyle/>
          <a:p>
            <a:pPr algn="ctr" rtl="1" marL="0" indent="0">
              <a:spcAft>
                <a:spcPts val="400"/>
              </a:spcAft>
              <a:buNone/>
            </a:pPr>
            <a:r>
              <a:rPr lang="he-IL" sz="1500" b="1">
                <a:solidFill>
                  <a:srgbClr val="0081C8"/>
                </a:solidFill>
                <a:latin typeface="Arial Unicode MS"/>
                <a:ea typeface="Arial Unicode MS"/>
                <a:cs typeface="Arial Unicode MS"/>
              </a:rPr>
              <a:t>מ-24 שעות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2971800"/>
            <a:ext cx="2388870" cy="1005840"/>
          </a:xfrm>
          <a:prstGeom prst="rect">
            <a:avLst/>
          </a:prstGeom>
          <a:noFill/>
        </p:spPr>
        <p:txBody>
          <a:bodyPr wrap="square" lIns="0" rIns="0" tIns="0" bIns="0" anchor="t" rtlCol="1">
            <a:spAutoFit/>
          </a:bodyPr>
          <a:lstStyle/>
          <a:p>
            <a:pPr algn="ctr" rtl="1" marL="0" indent="0">
              <a:spcAft>
                <a:spcPts val="400"/>
              </a:spcAft>
              <a:buNone/>
            </a:pPr>
            <a:r>
              <a:rPr lang="he-IL" sz="1400" b="0">
                <a:solidFill>
                  <a:srgbClr val="333F4A"/>
                </a:solidFill>
                <a:latin typeface="Arial Unicode MS"/>
                <a:ea typeface="Arial Unicode MS"/>
                <a:cs typeface="Arial Unicode MS"/>
              </a:rPr>
              <a:t>צובר חוזק; פירוק תבניות לפי חוזק בפועל</a:t>
            </a:r>
          </a:p>
        </p:txBody>
      </p:sp>
      <p:cxnSp>
        <p:nvCxnSpPr>
          <p:cNvPr id="19" name="Connector 18"/>
          <p:cNvCxnSpPr/>
          <p:nvPr/>
        </p:nvCxnSpPr>
        <p:spPr>
          <a:xfrm flipH="1">
            <a:off x="868680" y="4069080"/>
            <a:ext cx="10607040" cy="0"/>
          </a:xfrm>
          <a:prstGeom prst="line">
            <a:avLst/>
          </a:prstGeom>
          <a:ln w="25400">
            <a:solidFill>
              <a:srgbClr val="5F6B76"/>
            </a:solidFill>
            <a:tailEnd type="triangle"/>
          </a:ln>
        </p:spPr>
      </p:cxnSp>
      <p:sp>
        <p:nvSpPr>
          <p:cNvPr id="20" name="TextBox 19"/>
          <p:cNvSpPr txBox="1"/>
          <p:nvPr/>
        </p:nvSpPr>
        <p:spPr>
          <a:xfrm>
            <a:off x="822960" y="4133087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 rtlCol="1">
            <a:spAutoFit/>
          </a:bodyPr>
          <a:lstStyle/>
          <a:p>
            <a:pPr algn="l" rtl="1" marL="0" indent="0">
              <a:spcAft>
                <a:spcPts val="400"/>
              </a:spcAft>
              <a:buNone/>
            </a:pPr>
            <a:r>
              <a:rPr lang="he-IL" sz="1300" b="0">
                <a:solidFill>
                  <a:srgbClr val="5F6B76"/>
                </a:solidFill>
                <a:latin typeface="Arial Unicode MS"/>
                <a:ea typeface="Arial Unicode MS"/>
                <a:cs typeface="Arial Unicode MS"/>
              </a:rPr>
              <a:t>זמן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4434840"/>
            <a:ext cx="10652760" cy="274320"/>
          </a:xfrm>
          <a:prstGeom prst="rect">
            <a:avLst/>
          </a:prstGeom>
          <a:noFill/>
        </p:spPr>
        <p:txBody>
          <a:bodyPr wrap="square" lIns="0" rIns="0" tIns="0" bIns="0" anchor="t" rtlCol="1">
            <a:spAutoFit/>
          </a:bodyPr>
          <a:lstStyle/>
          <a:p>
            <a:pPr algn="r" rtl="1" marL="0" indent="0">
              <a:spcAft>
                <a:spcPts val="400"/>
              </a:spcAft>
              <a:buNone/>
            </a:pPr>
            <a:r>
              <a:rPr lang="he-IL" sz="1100" b="0">
                <a:solidFill>
                  <a:srgbClr val="5F6B76"/>
                </a:solidFill>
                <a:latin typeface="Arial Unicode MS"/>
                <a:ea typeface="Arial Unicode MS"/>
                <a:cs typeface="Arial Unicode MS"/>
              </a:rPr>
              <a:t>הזמנים טיפוסיים ל-20°C וצמנט רגיל; חום ומאיצים מקצרים, קור ומעכבים מאריכים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" y="5074920"/>
            <a:ext cx="8183879" cy="594360"/>
          </a:xfrm>
          <a:prstGeom prst="roundRect">
            <a:avLst>
              <a:gd name="adj" fmla="val 8000"/>
            </a:avLst>
          </a:prstGeom>
          <a:solidFill>
            <a:srgbClr val="00397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394192" y="5143500"/>
            <a:ext cx="457200" cy="457200"/>
          </a:xfrm>
          <a:prstGeom prst="ellipse">
            <a:avLst/>
          </a:prstGeom>
          <a:solidFill>
            <a:srgbClr val="C4D8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4" name="Picture 23" descr="FaLightbulb_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3919" y="5253228"/>
            <a:ext cx="237744" cy="237744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051560" y="5074920"/>
            <a:ext cx="7269479" cy="594360"/>
          </a:xfrm>
          <a:prstGeom prst="rect">
            <a:avLst/>
          </a:prstGeom>
          <a:noFill/>
        </p:spPr>
        <p:txBody>
          <a:bodyPr wrap="square" lIns="0" rIns="0" tIns="0" bIns="0" anchor="ctr" rtlCol="1">
            <a:spAutoFit/>
          </a:bodyPr>
          <a:lstStyle/>
          <a:p>
            <a:pPr algn="r" rtl="1" marL="0" indent="0">
              <a:spcAft>
                <a:spcPts val="400"/>
              </a:spcAft>
              <a:buNone/>
            </a:pPr>
            <a:r>
              <a:rPr lang="he-IL" sz="17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שגיאה בשלב הפלסטי (מים, ריטוט מאוחר) אינה ניתנת לתיקון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6" name="תמונה 5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1"/>
          <a:stretch/>
        </p:blipFill>
        <p:spPr>
          <a:xfrm flipH="1">
            <a:off x="0" y="0"/>
            <a:ext cx="10306050" cy="6858000"/>
          </a:xfrm>
          <a:prstGeom prst="rect">
            <a:avLst/>
          </a:prstGeom>
        </p:spPr>
      </p:pic>
      <p:sp>
        <p:nvSpPr>
          <p:cNvPr id="4" name="מלבן 3"/>
          <p:cNvSpPr/>
          <p:nvPr/>
        </p:nvSpPr>
        <p:spPr>
          <a:xfrm>
            <a:off x="6115050" y="0"/>
            <a:ext cx="6076950" cy="6858000"/>
          </a:xfrm>
          <a:prstGeom prst="rect">
            <a:avLst/>
          </a:prstGeom>
          <a:solidFill>
            <a:srgbClr val="2C9EE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>
              <a:solidFill>
                <a:prstClr val="white"/>
              </a:solidFill>
            </a:endParaRPr>
          </a:p>
        </p:txBody>
      </p:sp>
      <p:sp>
        <p:nvSpPr>
          <p:cNvPr id="7" name="משולש שווה שוקיים 6"/>
          <p:cNvSpPr/>
          <p:nvPr/>
        </p:nvSpPr>
        <p:spPr>
          <a:xfrm rot="16200000" flipH="1">
            <a:off x="5324475" y="3143250"/>
            <a:ext cx="1123950" cy="609600"/>
          </a:xfrm>
          <a:prstGeom prst="triangle">
            <a:avLst/>
          </a:prstGeom>
          <a:solidFill>
            <a:srgbClr val="2C9EE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>
              <a:solidFill>
                <a:prstClr val="white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720840" y="2514600"/>
            <a:ext cx="4937760" cy="914400"/>
          </a:xfrm>
          <a:prstGeom prst="rect">
            <a:avLst/>
          </a:prstGeom>
          <a:noFill/>
        </p:spPr>
        <p:txBody>
          <a:bodyPr wrap="square" rtlCol="1" anchor="ctr"/>
          <a:lstStyle/>
          <a:p>
            <a:pPr algn="ctr" rtl="1"/>
            <a:r>
              <a:rPr lang="he-IL" sz="3600" dirty="0">
                <a:solidFill>
                  <a:prstClr val="white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חוזק הבטון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20840" y="1874519"/>
            <a:ext cx="4937760" cy="457200"/>
          </a:xfrm>
          <a:prstGeom prst="rect">
            <a:avLst/>
          </a:prstGeom>
          <a:noFill/>
        </p:spPr>
        <p:txBody>
          <a:bodyPr wrap="square" lIns="0" rIns="0" tIns="0" bIns="0" anchor="t" rtlCol="1">
            <a:spAutoFit/>
          </a:bodyPr>
          <a:lstStyle/>
          <a:p>
            <a:pPr algn="ctr" rtl="1" marL="0" indent="0">
              <a:spcAft>
                <a:spcPts val="400"/>
              </a:spcAft>
              <a:buNone/>
            </a:pPr>
            <a:r>
              <a:rPr lang="he-IL" sz="2000" b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פרק 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86600" y="3611880"/>
            <a:ext cx="4206240" cy="2011680"/>
          </a:xfrm>
          <a:prstGeom prst="rect">
            <a:avLst/>
          </a:prstGeom>
          <a:noFill/>
        </p:spPr>
        <p:txBody>
          <a:bodyPr wrap="square" lIns="0" rIns="0" tIns="0" bIns="0" anchor="t" rtlCol="1">
            <a:spAutoFit/>
          </a:bodyPr>
          <a:lstStyle/>
          <a:p>
            <a:pPr algn="ctr" rtl="1" marL="0" indent="0">
              <a:lnSpc>
                <a:spcPct val="115000"/>
              </a:lnSpc>
              <a:spcAft>
                <a:spcPts val="400"/>
              </a:spcAft>
              <a:buNone/>
            </a:pPr>
            <a:r>
              <a:rPr lang="he-IL" sz="1600" b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הגדרה · התפתחות · גורמים · אשפרה · דרגות חוזק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>
                <a:latin typeface="Arial Unicode MS"/>
                <a:ea typeface="Arial Unicode MS"/>
                <a:cs typeface="Arial Unicode MS"/>
              </a:rPr>
              <a:t>מהו חוזק?</a:t>
            </a:r>
          </a:p>
        </p:txBody>
      </p:sp>
      <p:pic>
        <p:nvPicPr>
          <p:cNvPr id="3" name="Picture 2" descr="cube_lo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131221"/>
            <a:ext cx="3840480" cy="4138356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5120640" y="1188720"/>
            <a:ext cx="6355080" cy="1371600"/>
          </a:xfrm>
          <a:prstGeom prst="roundRect">
            <a:avLst>
              <a:gd name="adj" fmla="val 8000"/>
            </a:avLst>
          </a:prstGeom>
          <a:solidFill>
            <a:srgbClr val="00397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49240" y="1234440"/>
            <a:ext cx="5897880" cy="1280160"/>
          </a:xfrm>
          <a:prstGeom prst="rect">
            <a:avLst/>
          </a:prstGeom>
          <a:noFill/>
        </p:spPr>
        <p:txBody>
          <a:bodyPr wrap="square" lIns="0" rIns="0" tIns="0" bIns="0" anchor="ctr" rtlCol="1">
            <a:spAutoFit/>
          </a:bodyPr>
          <a:lstStyle/>
          <a:p>
            <a:pPr algn="ctr" rtl="1" marL="0" indent="0">
              <a:spcAft>
                <a:spcPts val="400"/>
              </a:spcAft>
              <a:buNone/>
            </a:pPr>
            <a:r>
              <a:rPr lang="he-IL" sz="26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יכולת הבטון לשאת עומסי לחיצה ללא כשל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120640" y="2788920"/>
            <a:ext cx="3017520" cy="1600200"/>
          </a:xfrm>
          <a:prstGeom prst="roundRect">
            <a:avLst>
              <a:gd name="adj" fmla="val 8000"/>
            </a:avLst>
          </a:prstGeom>
          <a:solidFill>
            <a:srgbClr val="EAF3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212080" y="2880360"/>
            <a:ext cx="2834640" cy="1463040"/>
          </a:xfrm>
          <a:prstGeom prst="rect">
            <a:avLst/>
          </a:prstGeom>
          <a:noFill/>
        </p:spPr>
        <p:txBody>
          <a:bodyPr wrap="square" lIns="0" rIns="0" tIns="0" bIns="0" anchor="ctr" rtlCol="1">
            <a:spAutoFit/>
          </a:bodyPr>
          <a:lstStyle/>
          <a:p>
            <a:pPr algn="ctr" rtl="1" marL="0" indent="0">
              <a:spcAft>
                <a:spcPts val="400"/>
              </a:spcAft>
              <a:buNone/>
            </a:pPr>
            <a:r>
              <a:rPr lang="he-IL" sz="3000" b="1">
                <a:solidFill>
                  <a:srgbClr val="0081C8"/>
                </a:solidFill>
                <a:latin typeface="Arial Unicode MS"/>
                <a:ea typeface="Arial Unicode MS"/>
                <a:cs typeface="Arial Unicode MS"/>
              </a:rPr>
              <a:t>f = F / A</a:t>
            </a:r>
          </a:p>
          <a:p>
            <a:pPr algn="ctr" rtl="1" marL="0" indent="0">
              <a:spcAft>
                <a:spcPts val="400"/>
              </a:spcAft>
              <a:buNone/>
            </a:pPr>
            <a:r>
              <a:rPr lang="he-IL" sz="1400" b="0">
                <a:solidFill>
                  <a:srgbClr val="333F4A"/>
                </a:solidFill>
                <a:latin typeface="Arial Unicode MS"/>
                <a:ea typeface="Arial Unicode MS"/>
                <a:cs typeface="Arial Unicode MS"/>
              </a:rPr>
              <a:t>כוח השבר חלקי שטח החתך</a:t>
            </a:r>
          </a:p>
          <a:p>
            <a:pPr algn="ctr" rtl="1" marL="0" indent="0">
              <a:spcAft>
                <a:spcPts val="400"/>
              </a:spcAft>
              <a:buNone/>
            </a:pPr>
            <a:r>
              <a:rPr lang="he-IL" sz="1300" b="0">
                <a:solidFill>
                  <a:srgbClr val="5F6B76"/>
                </a:solidFill>
                <a:latin typeface="Arial Unicode MS"/>
                <a:ea typeface="Arial Unicode MS"/>
                <a:cs typeface="Arial Unicode MS"/>
              </a:rPr>
              <a:t>MPa = N/mm²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458200" y="2788920"/>
            <a:ext cx="3017520" cy="1600200"/>
          </a:xfrm>
          <a:prstGeom prst="roundRect">
            <a:avLst>
              <a:gd name="adj" fmla="val 8000"/>
            </a:avLst>
          </a:prstGeom>
          <a:solidFill>
            <a:srgbClr val="EAF3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49640" y="2880360"/>
            <a:ext cx="2834640" cy="1463040"/>
          </a:xfrm>
          <a:prstGeom prst="rect">
            <a:avLst/>
          </a:prstGeom>
          <a:noFill/>
        </p:spPr>
        <p:txBody>
          <a:bodyPr wrap="square" lIns="0" rIns="0" tIns="0" bIns="0" anchor="ctr" rtlCol="1">
            <a:spAutoFit/>
          </a:bodyPr>
          <a:lstStyle/>
          <a:p>
            <a:pPr algn="ctr" rtl="1" marL="0" indent="0">
              <a:spcAft>
                <a:spcPts val="400"/>
              </a:spcAft>
              <a:buNone/>
            </a:pPr>
            <a:r>
              <a:rPr lang="he-IL" sz="1500" b="1">
                <a:solidFill>
                  <a:srgbClr val="003973"/>
                </a:solidFill>
                <a:latin typeface="Arial Unicode MS"/>
                <a:ea typeface="Arial Unicode MS"/>
                <a:cs typeface="Arial Unicode MS"/>
              </a:rPr>
              <a:t>דוגמה</a:t>
            </a:r>
          </a:p>
          <a:p>
            <a:pPr algn="ctr" rtl="1" marL="0" indent="0">
              <a:spcAft>
                <a:spcPts val="400"/>
              </a:spcAft>
              <a:buNone/>
            </a:pPr>
            <a:r>
              <a:rPr lang="he-IL" sz="1400" b="0">
                <a:solidFill>
                  <a:srgbClr val="333F4A"/>
                </a:solidFill>
                <a:latin typeface="Arial Unicode MS"/>
                <a:ea typeface="Arial Unicode MS"/>
                <a:cs typeface="Arial Unicode MS"/>
              </a:rPr>
              <a:t>קובייה 150 מ"מ נשברה ב-675 kN</a:t>
            </a:r>
          </a:p>
          <a:p>
            <a:pPr algn="ctr" rtl="1" marL="0" indent="0">
              <a:spcAft>
                <a:spcPts val="400"/>
              </a:spcAft>
              <a:buNone/>
            </a:pPr>
            <a:r>
              <a:rPr lang="he-IL" sz="1500" b="1">
                <a:solidFill>
                  <a:srgbClr val="0081C8"/>
                </a:solidFill>
                <a:latin typeface="Arial Unicode MS"/>
                <a:ea typeface="Arial Unicode MS"/>
                <a:cs typeface="Arial Unicode MS"/>
              </a:rPr>
              <a:t>675,000 / 22,500 = 30 MPa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20640" y="4617720"/>
            <a:ext cx="6355080" cy="731520"/>
          </a:xfrm>
          <a:prstGeom prst="rect">
            <a:avLst/>
          </a:prstGeom>
          <a:noFill/>
        </p:spPr>
        <p:txBody>
          <a:bodyPr wrap="square" lIns="0" rIns="0" tIns="0" bIns="0" anchor="t" rtlCol="1">
            <a:spAutoFit/>
          </a:bodyPr>
          <a:lstStyle/>
          <a:p>
            <a:pPr algn="r" rtl="1" marL="0" indent="0">
              <a:spcAft>
                <a:spcPts val="400"/>
              </a:spcAft>
              <a:buNone/>
            </a:pPr>
            <a:r>
              <a:rPr lang="he-IL" sz="1500" b="0">
                <a:solidFill>
                  <a:srgbClr val="5F6B76"/>
                </a:solidFill>
                <a:latin typeface="Arial Unicode MS"/>
                <a:ea typeface="Arial Unicode MS"/>
                <a:cs typeface="Arial Unicode MS"/>
              </a:rPr>
              <a:t>חוזק הלחיצה הוא המדד המרכזי לאיכות הבטון, אבל לא היחיד: עמידות וחדירות נבדקות בנפרד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>
                <a:latin typeface="Arial Unicode MS"/>
                <a:ea typeface="Arial Unicode MS"/>
                <a:cs typeface="Arial Unicode MS"/>
              </a:rPr>
              <a:t>התפתחות חוזק לאורך זמן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822960" y="1051560"/>
          <a:ext cx="7315200" cy="44348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822960" y="55321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 rtlCol="1">
            <a:spAutoFit/>
          </a:bodyPr>
          <a:lstStyle/>
          <a:p>
            <a:pPr algn="r" rtl="1" marL="0" indent="0">
              <a:spcAft>
                <a:spcPts val="400"/>
              </a:spcAft>
              <a:buNone/>
            </a:pPr>
            <a:r>
              <a:rPr lang="he-IL" sz="1100" b="0">
                <a:solidFill>
                  <a:srgbClr val="5F6B76"/>
                </a:solidFill>
                <a:latin typeface="Arial Unicode MS"/>
                <a:ea typeface="Arial Unicode MS"/>
                <a:cs typeface="Arial Unicode MS"/>
              </a:rPr>
              <a:t>52.5R: חוזק מוקדם גבוה · CEM II: עם אבן גיר / אפר פחם · CEM III: עם סיגים. ערכים טיפוסיים להמחשה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1188720"/>
            <a:ext cx="3063240" cy="502920"/>
          </a:xfrm>
          <a:prstGeom prst="rect">
            <a:avLst/>
          </a:prstGeom>
          <a:noFill/>
        </p:spPr>
        <p:txBody>
          <a:bodyPr wrap="square" lIns="0" rIns="0" tIns="0" bIns="0" anchor="t" rtlCol="1">
            <a:spAutoFit/>
          </a:bodyPr>
          <a:lstStyle/>
          <a:p>
            <a:pPr algn="r" rtl="1" marL="0" indent="0">
              <a:spcAft>
                <a:spcPts val="400"/>
              </a:spcAft>
              <a:buNone/>
            </a:pPr>
            <a:r>
              <a:rPr lang="he-IL" sz="3000" b="1">
                <a:solidFill>
                  <a:srgbClr val="0081C8"/>
                </a:solidFill>
                <a:latin typeface="Arial Unicode MS"/>
                <a:ea typeface="Arial Unicode MS"/>
                <a:cs typeface="Arial Unicode MS"/>
              </a:rPr>
              <a:t>28 </a:t>
            </a:r>
            <a:r>
              <a:rPr lang="he-IL" sz="1500" b="1">
                <a:solidFill>
                  <a:srgbClr val="003973"/>
                </a:solidFill>
                <a:latin typeface="Arial Unicode MS"/>
                <a:ea typeface="Arial Unicode MS"/>
                <a:cs typeface="Arial Unicode MS"/>
              </a:rPr>
              <a:t>יום — גיל הייחוס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1737360"/>
            <a:ext cx="3063240" cy="731520"/>
          </a:xfrm>
          <a:prstGeom prst="rect">
            <a:avLst/>
          </a:prstGeom>
          <a:noFill/>
        </p:spPr>
        <p:txBody>
          <a:bodyPr wrap="square" lIns="0" rIns="0" tIns="0" bIns="0" anchor="t" rtlCol="1">
            <a:spAutoFit/>
          </a:bodyPr>
          <a:lstStyle/>
          <a:p>
            <a:pPr algn="r" rtl="1" marL="0" indent="0">
              <a:spcAft>
                <a:spcPts val="400"/>
              </a:spcAft>
              <a:buNone/>
            </a:pPr>
            <a:r>
              <a:rPr lang="he-IL" sz="1400" b="0">
                <a:solidFill>
                  <a:srgbClr val="333F4A"/>
                </a:solidFill>
                <a:latin typeface="Arial Unicode MS"/>
                <a:ea typeface="Arial Unicode MS"/>
                <a:cs typeface="Arial Unicode MS"/>
              </a:rPr>
              <a:t>החוזק המוזמן (ב-30, C30/37) נבדק בגיל 28 יום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0" y="2560320"/>
            <a:ext cx="3063240" cy="502920"/>
          </a:xfrm>
          <a:prstGeom prst="rect">
            <a:avLst/>
          </a:prstGeom>
          <a:noFill/>
        </p:spPr>
        <p:txBody>
          <a:bodyPr wrap="square" lIns="0" rIns="0" tIns="0" bIns="0" anchor="t" rtlCol="1">
            <a:spAutoFit/>
          </a:bodyPr>
          <a:lstStyle/>
          <a:p>
            <a:pPr algn="r" rtl="1" marL="0" indent="0">
              <a:spcAft>
                <a:spcPts val="400"/>
              </a:spcAft>
              <a:buNone/>
            </a:pPr>
            <a:r>
              <a:rPr lang="he-IL" sz="3000" b="1">
                <a:solidFill>
                  <a:srgbClr val="0081C8"/>
                </a:solidFill>
                <a:latin typeface="Arial Unicode MS"/>
                <a:ea typeface="Arial Unicode MS"/>
                <a:cs typeface="Arial Unicode MS"/>
              </a:rPr>
              <a:t>7 </a:t>
            </a:r>
            <a:r>
              <a:rPr lang="he-IL" sz="1500" b="1">
                <a:solidFill>
                  <a:srgbClr val="003973"/>
                </a:solidFill>
                <a:latin typeface="Arial Unicode MS"/>
                <a:ea typeface="Arial Unicode MS"/>
                <a:cs typeface="Arial Unicode MS"/>
              </a:rPr>
              <a:t>ימים — אינדיקציה מוקדמת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0" y="3108960"/>
            <a:ext cx="3063240" cy="731520"/>
          </a:xfrm>
          <a:prstGeom prst="rect">
            <a:avLst/>
          </a:prstGeom>
          <a:noFill/>
        </p:spPr>
        <p:txBody>
          <a:bodyPr wrap="square" lIns="0" rIns="0" tIns="0" bIns="0" anchor="t" rtlCol="1">
            <a:spAutoFit/>
          </a:bodyPr>
          <a:lstStyle/>
          <a:p>
            <a:pPr algn="r" rtl="1" marL="0" indent="0">
              <a:spcAft>
                <a:spcPts val="400"/>
              </a:spcAft>
              <a:buNone/>
            </a:pPr>
            <a:r>
              <a:rPr lang="he-IL" sz="1400" b="0">
                <a:solidFill>
                  <a:srgbClr val="333F4A"/>
                </a:solidFill>
                <a:latin typeface="Arial Unicode MS"/>
                <a:ea typeface="Arial Unicode MS"/>
                <a:cs typeface="Arial Unicode MS"/>
              </a:rPr>
              <a:t>כ-65-75% מחוזק 28 בצמנט רגיל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0" y="3931920"/>
            <a:ext cx="3063240" cy="502920"/>
          </a:xfrm>
          <a:prstGeom prst="rect">
            <a:avLst/>
          </a:prstGeom>
          <a:noFill/>
        </p:spPr>
        <p:txBody>
          <a:bodyPr wrap="square" lIns="0" rIns="0" tIns="0" bIns="0" anchor="t" rtlCol="1">
            <a:spAutoFit/>
          </a:bodyPr>
          <a:lstStyle/>
          <a:p>
            <a:pPr algn="r" rtl="1" marL="0" indent="0">
              <a:spcAft>
                <a:spcPts val="400"/>
              </a:spcAft>
              <a:buNone/>
            </a:pPr>
            <a:r>
              <a:rPr lang="he-IL" sz="3000" b="1">
                <a:solidFill>
                  <a:srgbClr val="0081C8"/>
                </a:solidFill>
                <a:latin typeface="Arial Unicode MS"/>
                <a:ea typeface="Arial Unicode MS"/>
                <a:cs typeface="Arial Unicode MS"/>
              </a:rPr>
              <a:t>90 </a:t>
            </a:r>
            <a:r>
              <a:rPr lang="he-IL" sz="1500" b="1">
                <a:solidFill>
                  <a:srgbClr val="003973"/>
                </a:solidFill>
                <a:latin typeface="Arial Unicode MS"/>
                <a:ea typeface="Arial Unicode MS"/>
                <a:cs typeface="Arial Unicode MS"/>
              </a:rPr>
              <a:t>יום — המשך עלייה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0" y="4480559"/>
            <a:ext cx="3063240" cy="731520"/>
          </a:xfrm>
          <a:prstGeom prst="rect">
            <a:avLst/>
          </a:prstGeom>
          <a:noFill/>
        </p:spPr>
        <p:txBody>
          <a:bodyPr wrap="square" lIns="0" rIns="0" tIns="0" bIns="0" anchor="t" rtlCol="1">
            <a:spAutoFit/>
          </a:bodyPr>
          <a:lstStyle/>
          <a:p>
            <a:pPr algn="r" rtl="1" marL="0" indent="0">
              <a:spcAft>
                <a:spcPts val="400"/>
              </a:spcAft>
              <a:buNone/>
            </a:pPr>
            <a:r>
              <a:rPr lang="he-IL" sz="1400" b="0">
                <a:solidFill>
                  <a:srgbClr val="333F4A"/>
                </a:solidFill>
                <a:latin typeface="Arial Unicode MS"/>
                <a:ea typeface="Arial Unicode MS"/>
                <a:cs typeface="Arial Unicode MS"/>
              </a:rPr>
              <a:t>צמנטים עם תוספים ממשיכים לצבור חוזק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>
                <a:latin typeface="Arial Unicode MS"/>
                <a:ea typeface="Arial Unicode MS"/>
                <a:cs typeface="Arial Unicode MS"/>
              </a:rPr>
              <a:t>גורמים המשפיעים על החוזק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263640" y="1143000"/>
            <a:ext cx="5212080" cy="1783080"/>
          </a:xfrm>
          <a:prstGeom prst="roundRect">
            <a:avLst>
              <a:gd name="adj" fmla="val 8000"/>
            </a:avLst>
          </a:prstGeom>
          <a:solidFill>
            <a:srgbClr val="EAF3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561320" y="1325880"/>
            <a:ext cx="731520" cy="731520"/>
          </a:xfrm>
          <a:prstGeom prst="ellipse">
            <a:avLst/>
          </a:prstGeom>
          <a:solidFill>
            <a:srgbClr val="00397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5" name="Picture 4" descr="FaTint_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36884" y="1501444"/>
            <a:ext cx="380390" cy="38039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92240" y="1417320"/>
            <a:ext cx="4023360" cy="457200"/>
          </a:xfrm>
          <a:prstGeom prst="rect">
            <a:avLst/>
          </a:prstGeom>
          <a:noFill/>
        </p:spPr>
        <p:txBody>
          <a:bodyPr wrap="square" lIns="0" rIns="0" tIns="0" bIns="0" anchor="t" rtlCol="1">
            <a:spAutoFit/>
          </a:bodyPr>
          <a:lstStyle/>
          <a:p>
            <a:pPr algn="r" rtl="1" marL="0" indent="0">
              <a:spcAft>
                <a:spcPts val="400"/>
              </a:spcAft>
              <a:buNone/>
            </a:pPr>
            <a:r>
              <a:rPr lang="he-IL" sz="2100" b="1">
                <a:solidFill>
                  <a:srgbClr val="003973"/>
                </a:solidFill>
                <a:latin typeface="Arial Unicode MS"/>
                <a:ea typeface="Arial Unicode MS"/>
                <a:cs typeface="Arial Unicode MS"/>
              </a:rPr>
              <a:t>יחס W/C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92240" y="1965960"/>
            <a:ext cx="4023360" cy="868680"/>
          </a:xfrm>
          <a:prstGeom prst="rect">
            <a:avLst/>
          </a:prstGeom>
          <a:noFill/>
        </p:spPr>
        <p:txBody>
          <a:bodyPr wrap="square" lIns="0" rIns="0" tIns="0" bIns="0" anchor="t" rtlCol="1">
            <a:spAutoFit/>
          </a:bodyPr>
          <a:lstStyle/>
          <a:p>
            <a:pPr algn="r" rtl="1" marL="0" indent="0">
              <a:spcAft>
                <a:spcPts val="400"/>
              </a:spcAft>
              <a:buNone/>
            </a:pPr>
            <a:r>
              <a:rPr lang="he-IL" sz="1500" b="0">
                <a:solidFill>
                  <a:srgbClr val="333F4A"/>
                </a:solidFill>
                <a:latin typeface="Arial Unicode MS"/>
                <a:ea typeface="Arial Unicode MS"/>
                <a:cs typeface="Arial Unicode MS"/>
              </a:rPr>
              <a:t>הגורם הדומיננטי: W/C נמוך יותר = חוזק גבוה יותר (חוק אברמס)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143000"/>
            <a:ext cx="5212080" cy="1783080"/>
          </a:xfrm>
          <a:prstGeom prst="roundRect">
            <a:avLst>
              <a:gd name="adj" fmla="val 8000"/>
            </a:avLst>
          </a:prstGeom>
          <a:solidFill>
            <a:srgbClr val="EAF3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5120640" y="1325880"/>
            <a:ext cx="731520" cy="731520"/>
          </a:xfrm>
          <a:prstGeom prst="ellipse">
            <a:avLst/>
          </a:prstGeom>
          <a:solidFill>
            <a:srgbClr val="0081C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0" name="Picture 9" descr="FaWarehouse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96204" y="1501444"/>
            <a:ext cx="380390" cy="38039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051560" y="1417320"/>
            <a:ext cx="4023360" cy="457200"/>
          </a:xfrm>
          <a:prstGeom prst="rect">
            <a:avLst/>
          </a:prstGeom>
          <a:noFill/>
        </p:spPr>
        <p:txBody>
          <a:bodyPr wrap="square" lIns="0" rIns="0" tIns="0" bIns="0" anchor="t" rtlCol="1">
            <a:spAutoFit/>
          </a:bodyPr>
          <a:lstStyle/>
          <a:p>
            <a:pPr algn="r" rtl="1" marL="0" indent="0">
              <a:spcAft>
                <a:spcPts val="400"/>
              </a:spcAft>
              <a:buNone/>
            </a:pPr>
            <a:r>
              <a:rPr lang="he-IL" sz="2100" b="1">
                <a:solidFill>
                  <a:srgbClr val="003973"/>
                </a:solidFill>
                <a:latin typeface="Arial Unicode MS"/>
                <a:ea typeface="Arial Unicode MS"/>
                <a:cs typeface="Arial Unicode MS"/>
              </a:rPr>
              <a:t>צמנט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1965960"/>
            <a:ext cx="4023360" cy="868680"/>
          </a:xfrm>
          <a:prstGeom prst="rect">
            <a:avLst/>
          </a:prstGeom>
          <a:noFill/>
        </p:spPr>
        <p:txBody>
          <a:bodyPr wrap="square" lIns="0" rIns="0" tIns="0" bIns="0" anchor="t" rtlCol="1">
            <a:spAutoFit/>
          </a:bodyPr>
          <a:lstStyle/>
          <a:p>
            <a:pPr algn="r" rtl="1" marL="0" indent="0">
              <a:spcAft>
                <a:spcPts val="400"/>
              </a:spcAft>
              <a:buNone/>
            </a:pPr>
            <a:r>
              <a:rPr lang="he-IL" sz="1500" b="0">
                <a:solidFill>
                  <a:srgbClr val="333F4A"/>
                </a:solidFill>
                <a:latin typeface="Arial Unicode MS"/>
                <a:ea typeface="Arial Unicode MS"/>
                <a:cs typeface="Arial Unicode MS"/>
              </a:rPr>
              <a:t>סוג, דרגת חוזק (42.5 / 52.5) ותכולה בתערובת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3108960"/>
            <a:ext cx="5212080" cy="1783080"/>
          </a:xfrm>
          <a:prstGeom prst="roundRect">
            <a:avLst>
              <a:gd name="adj" fmla="val 8000"/>
            </a:avLst>
          </a:prstGeom>
          <a:solidFill>
            <a:srgbClr val="EAF3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561320" y="3291840"/>
            <a:ext cx="731520" cy="731520"/>
          </a:xfrm>
          <a:prstGeom prst="ellipse">
            <a:avLst/>
          </a:prstGeom>
          <a:solidFill>
            <a:srgbClr val="0081C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5" name="Picture 14" descr="FaCubes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36884" y="3467404"/>
            <a:ext cx="380390" cy="38039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492240" y="3383279"/>
            <a:ext cx="4023360" cy="457200"/>
          </a:xfrm>
          <a:prstGeom prst="rect">
            <a:avLst/>
          </a:prstGeom>
          <a:noFill/>
        </p:spPr>
        <p:txBody>
          <a:bodyPr wrap="square" lIns="0" rIns="0" tIns="0" bIns="0" anchor="t" rtlCol="1">
            <a:spAutoFit/>
          </a:bodyPr>
          <a:lstStyle/>
          <a:p>
            <a:pPr algn="r" rtl="1" marL="0" indent="0">
              <a:spcAft>
                <a:spcPts val="400"/>
              </a:spcAft>
              <a:buNone/>
            </a:pPr>
            <a:r>
              <a:rPr lang="he-IL" sz="2100" b="1">
                <a:solidFill>
                  <a:srgbClr val="003973"/>
                </a:solidFill>
                <a:latin typeface="Arial Unicode MS"/>
                <a:ea typeface="Arial Unicode MS"/>
                <a:cs typeface="Arial Unicode MS"/>
              </a:rPr>
              <a:t>אגרגטים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3931920"/>
            <a:ext cx="4023360" cy="868680"/>
          </a:xfrm>
          <a:prstGeom prst="rect">
            <a:avLst/>
          </a:prstGeom>
          <a:noFill/>
        </p:spPr>
        <p:txBody>
          <a:bodyPr wrap="square" lIns="0" rIns="0" tIns="0" bIns="0" anchor="t" rtlCol="1">
            <a:spAutoFit/>
          </a:bodyPr>
          <a:lstStyle/>
          <a:p>
            <a:pPr algn="r" rtl="1" marL="0" indent="0">
              <a:spcAft>
                <a:spcPts val="400"/>
              </a:spcAft>
              <a:buNone/>
            </a:pPr>
            <a:r>
              <a:rPr lang="he-IL" sz="1500" b="0">
                <a:solidFill>
                  <a:srgbClr val="333F4A"/>
                </a:solidFill>
                <a:latin typeface="Arial Unicode MS"/>
                <a:ea typeface="Arial Unicode MS"/>
                <a:cs typeface="Arial Unicode MS"/>
              </a:rPr>
              <a:t>חוזק הסלע, צורה, ניקיון, גרדציה וגודל מקסימלי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3108960"/>
            <a:ext cx="5212080" cy="1783080"/>
          </a:xfrm>
          <a:prstGeom prst="roundRect">
            <a:avLst>
              <a:gd name="adj" fmla="val 8000"/>
            </a:avLst>
          </a:prstGeom>
          <a:solidFill>
            <a:srgbClr val="EAF3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120640" y="3291840"/>
            <a:ext cx="731520" cy="731520"/>
          </a:xfrm>
          <a:prstGeom prst="ellipse">
            <a:avLst/>
          </a:prstGeom>
          <a:solidFill>
            <a:srgbClr val="00397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0" name="Picture 19" descr="FaShieldAlt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96204" y="3467404"/>
            <a:ext cx="380390" cy="38039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051560" y="3383279"/>
            <a:ext cx="4023360" cy="457200"/>
          </a:xfrm>
          <a:prstGeom prst="rect">
            <a:avLst/>
          </a:prstGeom>
          <a:noFill/>
        </p:spPr>
        <p:txBody>
          <a:bodyPr wrap="square" lIns="0" rIns="0" tIns="0" bIns="0" anchor="t" rtlCol="1">
            <a:spAutoFit/>
          </a:bodyPr>
          <a:lstStyle/>
          <a:p>
            <a:pPr algn="r" rtl="1" marL="0" indent="0">
              <a:spcAft>
                <a:spcPts val="400"/>
              </a:spcAft>
              <a:buNone/>
            </a:pPr>
            <a:r>
              <a:rPr lang="he-IL" sz="2100" b="1">
                <a:solidFill>
                  <a:srgbClr val="003973"/>
                </a:solidFill>
                <a:latin typeface="Arial Unicode MS"/>
                <a:ea typeface="Arial Unicode MS"/>
                <a:cs typeface="Arial Unicode MS"/>
              </a:rPr>
              <a:t>אשפרה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" y="3931920"/>
            <a:ext cx="4023360" cy="868680"/>
          </a:xfrm>
          <a:prstGeom prst="rect">
            <a:avLst/>
          </a:prstGeom>
          <a:noFill/>
        </p:spPr>
        <p:txBody>
          <a:bodyPr wrap="square" lIns="0" rIns="0" tIns="0" bIns="0" anchor="t" rtlCol="1">
            <a:spAutoFit/>
          </a:bodyPr>
          <a:lstStyle/>
          <a:p>
            <a:pPr algn="r" rtl="1" marL="0" indent="0">
              <a:spcAft>
                <a:spcPts val="400"/>
              </a:spcAft>
              <a:buNone/>
            </a:pPr>
            <a:r>
              <a:rPr lang="he-IL" sz="1500" b="0">
                <a:solidFill>
                  <a:srgbClr val="333F4A"/>
                </a:solidFill>
                <a:latin typeface="Arial Unicode MS"/>
                <a:ea typeface="Arial Unicode MS"/>
                <a:cs typeface="Arial Unicode MS"/>
              </a:rPr>
              <a:t>בטון ללא אשפרה עלול להגיע לכ-50-60% בלבד מהחוזק הפוטנציאלי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2960" y="5257800"/>
            <a:ext cx="8183879" cy="594360"/>
          </a:xfrm>
          <a:prstGeom prst="roundRect">
            <a:avLst>
              <a:gd name="adj" fmla="val 8000"/>
            </a:avLst>
          </a:prstGeom>
          <a:solidFill>
            <a:srgbClr val="00397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394192" y="5326380"/>
            <a:ext cx="457200" cy="457200"/>
          </a:xfrm>
          <a:prstGeom prst="ellipse">
            <a:avLst/>
          </a:prstGeom>
          <a:solidFill>
            <a:srgbClr val="C4D8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5" name="Picture 24" descr="FaLightbulb_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03919" y="5436108"/>
            <a:ext cx="237744" cy="237744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1051560" y="5257800"/>
            <a:ext cx="7269479" cy="594360"/>
          </a:xfrm>
          <a:prstGeom prst="rect">
            <a:avLst/>
          </a:prstGeom>
          <a:noFill/>
        </p:spPr>
        <p:txBody>
          <a:bodyPr wrap="square" lIns="0" rIns="0" tIns="0" bIns="0" anchor="ctr" rtlCol="1">
            <a:spAutoFit/>
          </a:bodyPr>
          <a:lstStyle/>
          <a:p>
            <a:pPr algn="r" rtl="1" marL="0" indent="0">
              <a:spcAft>
                <a:spcPts val="400"/>
              </a:spcAft>
              <a:buNone/>
            </a:pPr>
            <a:r>
              <a:rPr lang="he-IL" sz="17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שלושה מתוך ארבעה גורמים נקבעים במפעל — האשפרה נקבעת באתר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>
                <a:latin typeface="Arial Unicode MS"/>
                <a:ea typeface="Arial Unicode MS"/>
                <a:cs typeface="Arial Unicode MS"/>
              </a:rPr>
              <a:t>אשפרה: הגורם שנשכח</a:t>
            </a:r>
          </a:p>
        </p:txBody>
      </p:sp>
      <p:pic>
        <p:nvPicPr>
          <p:cNvPr id="3" name="Picture 2" descr="cur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058490"/>
            <a:ext cx="4206240" cy="2546458"/>
          </a:xfrm>
          <a:prstGeom prst="rect">
            <a:avLst/>
          </a:prstGeom>
        </p:spPr>
      </p:pic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257800" y="1051560"/>
          <a:ext cx="6217920" cy="265176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257800" y="3703320"/>
            <a:ext cx="6217920" cy="274320"/>
          </a:xfrm>
          <a:prstGeom prst="rect">
            <a:avLst/>
          </a:prstGeom>
          <a:noFill/>
        </p:spPr>
        <p:txBody>
          <a:bodyPr wrap="square" lIns="0" rIns="0" tIns="0" bIns="0" anchor="t" rtlCol="1">
            <a:spAutoFit/>
          </a:bodyPr>
          <a:lstStyle/>
          <a:p>
            <a:pPr algn="r" rtl="1" marL="0" indent="0">
              <a:spcAft>
                <a:spcPts val="400"/>
              </a:spcAft>
              <a:buNone/>
            </a:pPr>
            <a:r>
              <a:rPr lang="he-IL" sz="1100" b="0">
                <a:solidFill>
                  <a:srgbClr val="5F6B76"/>
                </a:solidFill>
                <a:latin typeface="Arial Unicode MS"/>
                <a:ea typeface="Arial Unicode MS"/>
                <a:cs typeface="Arial Unicode MS"/>
              </a:rPr>
              <a:t>אשפרה קצרה = 3 ימים. מגמה טיפוסית לפי מחקרים קלאסיים (PCA) — להמחשה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869680" y="4114800"/>
            <a:ext cx="2560320" cy="1143000"/>
          </a:xfrm>
          <a:prstGeom prst="roundRect">
            <a:avLst>
              <a:gd name="adj" fmla="val 8000"/>
            </a:avLst>
          </a:prstGeom>
          <a:solidFill>
            <a:srgbClr val="EAF3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853928" y="4233672"/>
            <a:ext cx="457200" cy="457200"/>
          </a:xfrm>
          <a:prstGeom prst="ellipse">
            <a:avLst/>
          </a:prstGeom>
          <a:solidFill>
            <a:srgbClr val="0081C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Picture 7" descr="FaWater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63655" y="4343400"/>
            <a:ext cx="237744" cy="23774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006840" y="4224528"/>
            <a:ext cx="1828800" cy="411480"/>
          </a:xfrm>
          <a:prstGeom prst="rect">
            <a:avLst/>
          </a:prstGeom>
          <a:noFill/>
        </p:spPr>
        <p:txBody>
          <a:bodyPr wrap="square" lIns="0" rIns="0" tIns="0" bIns="0" anchor="t" rtlCol="1">
            <a:spAutoFit/>
          </a:bodyPr>
          <a:lstStyle/>
          <a:p>
            <a:pPr algn="r" rtl="1" marL="0" indent="0">
              <a:spcAft>
                <a:spcPts val="400"/>
              </a:spcAft>
              <a:buNone/>
            </a:pPr>
            <a:r>
              <a:rPr lang="he-IL" sz="1600" b="1">
                <a:solidFill>
                  <a:srgbClr val="003973"/>
                </a:solidFill>
                <a:latin typeface="Arial Unicode MS"/>
                <a:ea typeface="Arial Unicode MS"/>
                <a:cs typeface="Arial Unicode MS"/>
              </a:rPr>
              <a:t>הרטבה רציפה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06840" y="4663440"/>
            <a:ext cx="2286000" cy="566928"/>
          </a:xfrm>
          <a:prstGeom prst="rect">
            <a:avLst/>
          </a:prstGeom>
          <a:noFill/>
        </p:spPr>
        <p:txBody>
          <a:bodyPr wrap="square" lIns="0" rIns="0" tIns="0" bIns="0" anchor="t" rtlCol="1">
            <a:spAutoFit/>
          </a:bodyPr>
          <a:lstStyle/>
          <a:p>
            <a:pPr algn="r" rtl="1" marL="0" indent="0">
              <a:spcAft>
                <a:spcPts val="400"/>
              </a:spcAft>
              <a:buNone/>
            </a:pPr>
            <a:r>
              <a:rPr lang="he-IL" sz="1300" b="0">
                <a:solidFill>
                  <a:srgbClr val="333F4A"/>
                </a:solidFill>
                <a:latin typeface="Arial Unicode MS"/>
                <a:ea typeface="Arial Unicode MS"/>
                <a:cs typeface="Arial Unicode MS"/>
              </a:rPr>
              <a:t>המטרה, הצפה, יוטה רטובה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4114800"/>
            <a:ext cx="2560320" cy="1143000"/>
          </a:xfrm>
          <a:prstGeom prst="roundRect">
            <a:avLst>
              <a:gd name="adj" fmla="val 8000"/>
            </a:avLst>
          </a:prstGeom>
          <a:solidFill>
            <a:srgbClr val="EAF3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174736" y="4233672"/>
            <a:ext cx="457200" cy="457200"/>
          </a:xfrm>
          <a:prstGeom prst="ellipse">
            <a:avLst/>
          </a:prstGeom>
          <a:solidFill>
            <a:srgbClr val="0081C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3" name="Picture 12" descr="FaLayerGroup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84463" y="4343400"/>
            <a:ext cx="237744" cy="23774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327648" y="4224528"/>
            <a:ext cx="1828800" cy="411480"/>
          </a:xfrm>
          <a:prstGeom prst="rect">
            <a:avLst/>
          </a:prstGeom>
          <a:noFill/>
        </p:spPr>
        <p:txBody>
          <a:bodyPr wrap="square" lIns="0" rIns="0" tIns="0" bIns="0" anchor="t" rtlCol="1">
            <a:spAutoFit/>
          </a:bodyPr>
          <a:lstStyle/>
          <a:p>
            <a:pPr algn="r" rtl="1" marL="0" indent="0">
              <a:spcAft>
                <a:spcPts val="400"/>
              </a:spcAft>
              <a:buNone/>
            </a:pPr>
            <a:r>
              <a:rPr lang="he-IL" sz="1600" b="1">
                <a:solidFill>
                  <a:srgbClr val="003973"/>
                </a:solidFill>
                <a:latin typeface="Arial Unicode MS"/>
                <a:ea typeface="Arial Unicode MS"/>
                <a:cs typeface="Arial Unicode MS"/>
              </a:rPr>
              <a:t>כיסוי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27648" y="4663440"/>
            <a:ext cx="2286000" cy="566928"/>
          </a:xfrm>
          <a:prstGeom prst="rect">
            <a:avLst/>
          </a:prstGeom>
          <a:noFill/>
        </p:spPr>
        <p:txBody>
          <a:bodyPr wrap="square" lIns="0" rIns="0" tIns="0" bIns="0" anchor="t" rtlCol="1">
            <a:spAutoFit/>
          </a:bodyPr>
          <a:lstStyle/>
          <a:p>
            <a:pPr algn="r" rtl="1" marL="0" indent="0">
              <a:spcAft>
                <a:spcPts val="400"/>
              </a:spcAft>
              <a:buNone/>
            </a:pPr>
            <a:r>
              <a:rPr lang="he-IL" sz="1300" b="0">
                <a:solidFill>
                  <a:srgbClr val="333F4A"/>
                </a:solidFill>
                <a:latin typeface="Arial Unicode MS"/>
                <a:ea typeface="Arial Unicode MS"/>
                <a:cs typeface="Arial Unicode MS"/>
              </a:rPr>
              <a:t>יריעות פוליאתילן צמודות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511296" y="4114800"/>
            <a:ext cx="2560320" cy="1143000"/>
          </a:xfrm>
          <a:prstGeom prst="roundRect">
            <a:avLst>
              <a:gd name="adj" fmla="val 8000"/>
            </a:avLst>
          </a:prstGeom>
          <a:solidFill>
            <a:srgbClr val="EAF3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495544" y="4233672"/>
            <a:ext cx="457200" cy="457200"/>
          </a:xfrm>
          <a:prstGeom prst="ellipse">
            <a:avLst/>
          </a:prstGeom>
          <a:solidFill>
            <a:srgbClr val="0081C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8" name="Picture 17" descr="FaVial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05272" y="4343400"/>
            <a:ext cx="237744" cy="237744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3648456" y="4224528"/>
            <a:ext cx="1828800" cy="411480"/>
          </a:xfrm>
          <a:prstGeom prst="rect">
            <a:avLst/>
          </a:prstGeom>
          <a:noFill/>
        </p:spPr>
        <p:txBody>
          <a:bodyPr wrap="square" lIns="0" rIns="0" tIns="0" bIns="0" anchor="t" rtlCol="1">
            <a:spAutoFit/>
          </a:bodyPr>
          <a:lstStyle/>
          <a:p>
            <a:pPr algn="r" rtl="1" marL="0" indent="0">
              <a:spcAft>
                <a:spcPts val="400"/>
              </a:spcAft>
              <a:buNone/>
            </a:pPr>
            <a:r>
              <a:rPr lang="he-IL" sz="1600" b="1">
                <a:solidFill>
                  <a:srgbClr val="003973"/>
                </a:solidFill>
                <a:latin typeface="Arial Unicode MS"/>
                <a:ea typeface="Arial Unicode MS"/>
                <a:cs typeface="Arial Unicode MS"/>
              </a:rPr>
              <a:t>חומר אשפרה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48456" y="4663440"/>
            <a:ext cx="2286000" cy="566928"/>
          </a:xfrm>
          <a:prstGeom prst="rect">
            <a:avLst/>
          </a:prstGeom>
          <a:noFill/>
        </p:spPr>
        <p:txBody>
          <a:bodyPr wrap="square" lIns="0" rIns="0" tIns="0" bIns="0" anchor="t" rtlCol="1">
            <a:spAutoFit/>
          </a:bodyPr>
          <a:lstStyle/>
          <a:p>
            <a:pPr algn="r" rtl="1" marL="0" indent="0">
              <a:spcAft>
                <a:spcPts val="400"/>
              </a:spcAft>
              <a:buNone/>
            </a:pPr>
            <a:r>
              <a:rPr lang="he-IL" sz="1300" b="0">
                <a:solidFill>
                  <a:srgbClr val="333F4A"/>
                </a:solidFill>
                <a:latin typeface="Arial Unicode MS"/>
                <a:ea typeface="Arial Unicode MS"/>
                <a:cs typeface="Arial Unicode MS"/>
              </a:rPr>
              <a:t>Curing Compound מיד אחרי ההחלקה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32104" y="4114800"/>
            <a:ext cx="2560320" cy="1143000"/>
          </a:xfrm>
          <a:prstGeom prst="roundRect">
            <a:avLst>
              <a:gd name="adj" fmla="val 8000"/>
            </a:avLst>
          </a:prstGeom>
          <a:solidFill>
            <a:srgbClr val="EAF3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816352" y="4233672"/>
            <a:ext cx="457200" cy="457200"/>
          </a:xfrm>
          <a:prstGeom prst="ellipse">
            <a:avLst/>
          </a:prstGeom>
          <a:solidFill>
            <a:srgbClr val="0081C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Picture 22" descr="FaClock_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926080" y="4343400"/>
            <a:ext cx="237744" cy="237744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969264" y="4224528"/>
            <a:ext cx="1828800" cy="411480"/>
          </a:xfrm>
          <a:prstGeom prst="rect">
            <a:avLst/>
          </a:prstGeom>
          <a:noFill/>
        </p:spPr>
        <p:txBody>
          <a:bodyPr wrap="square" lIns="0" rIns="0" tIns="0" bIns="0" anchor="t" rtlCol="1">
            <a:spAutoFit/>
          </a:bodyPr>
          <a:lstStyle/>
          <a:p>
            <a:pPr algn="r" rtl="1" marL="0" indent="0">
              <a:spcAft>
                <a:spcPts val="400"/>
              </a:spcAft>
              <a:buNone/>
            </a:pPr>
            <a:r>
              <a:rPr lang="he-IL" sz="1600" b="1">
                <a:solidFill>
                  <a:srgbClr val="003973"/>
                </a:solidFill>
                <a:latin typeface="Arial Unicode MS"/>
                <a:ea typeface="Arial Unicode MS"/>
                <a:cs typeface="Arial Unicode MS"/>
              </a:rPr>
              <a:t>משך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9264" y="4663440"/>
            <a:ext cx="2286000" cy="566928"/>
          </a:xfrm>
          <a:prstGeom prst="rect">
            <a:avLst/>
          </a:prstGeom>
          <a:noFill/>
        </p:spPr>
        <p:txBody>
          <a:bodyPr wrap="square" lIns="0" rIns="0" tIns="0" bIns="0" anchor="t" rtlCol="1">
            <a:spAutoFit/>
          </a:bodyPr>
          <a:lstStyle/>
          <a:p>
            <a:pPr algn="r" rtl="1" marL="0" indent="0">
              <a:spcAft>
                <a:spcPts val="400"/>
              </a:spcAft>
              <a:buNone/>
            </a:pPr>
            <a:r>
              <a:rPr lang="he-IL" sz="1300" b="0">
                <a:solidFill>
                  <a:srgbClr val="333F4A"/>
                </a:solidFill>
                <a:latin typeface="Arial Unicode MS"/>
                <a:ea typeface="Arial Unicode MS"/>
                <a:cs typeface="Arial Unicode MS"/>
              </a:rPr>
              <a:t>לפחות 7 ימים; יותר עם סיגים/אפר פחם או בקור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5394960"/>
            <a:ext cx="8138160" cy="548640"/>
          </a:xfrm>
          <a:prstGeom prst="rect">
            <a:avLst/>
          </a:prstGeom>
          <a:noFill/>
        </p:spPr>
        <p:txBody>
          <a:bodyPr wrap="square" lIns="0" rIns="0" tIns="0" bIns="0" anchor="t" rtlCol="1">
            <a:spAutoFit/>
          </a:bodyPr>
          <a:lstStyle/>
          <a:p>
            <a:pPr algn="r" rtl="1" marL="0" indent="0">
              <a:spcAft>
                <a:spcPts val="400"/>
              </a:spcAft>
              <a:buNone/>
            </a:pPr>
            <a:r>
              <a:rPr lang="he-IL" sz="1500" b="1">
                <a:solidFill>
                  <a:srgbClr val="003973"/>
                </a:solidFill>
                <a:latin typeface="Arial Unicode MS"/>
                <a:ea typeface="Arial Unicode MS"/>
                <a:cs typeface="Arial Unicode MS"/>
              </a:rPr>
              <a:t>האשפרה משפיעה בעיקר על שכבת הכיסוי — בדיוק השכבה שמגנה על הזיון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>
                <a:latin typeface="Arial Unicode MS"/>
                <a:ea typeface="Arial Unicode MS"/>
                <a:cs typeface="Arial Unicode MS"/>
              </a:rPr>
              <a:t>דרגות חוזק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005840"/>
            <a:ext cx="10652760" cy="457200"/>
          </a:xfrm>
          <a:prstGeom prst="rect">
            <a:avLst/>
          </a:prstGeom>
          <a:noFill/>
        </p:spPr>
        <p:txBody>
          <a:bodyPr wrap="square" lIns="0" rIns="0" tIns="0" bIns="0" anchor="t" rtlCol="1">
            <a:spAutoFit/>
          </a:bodyPr>
          <a:lstStyle/>
          <a:p>
            <a:pPr algn="r" rtl="1" marL="0" indent="0">
              <a:spcAft>
                <a:spcPts val="400"/>
              </a:spcAft>
              <a:buNone/>
            </a:pPr>
            <a:r>
              <a:rPr lang="he-IL" sz="1600" b="0">
                <a:solidFill>
                  <a:srgbClr val="5F6B76"/>
                </a:solidFill>
                <a:latin typeface="Arial Unicode MS"/>
                <a:ea typeface="Arial Unicode MS"/>
                <a:cs typeface="Arial Unicode MS"/>
              </a:rPr>
              <a:t>באתר ובמפעל מדברים ב"ב-30" — במפרטים ובתקנים האירופיים ב-C30/37. חשוב להכיר את שניהם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22960" y="1600200"/>
          <a:ext cx="10652760" cy="301752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886200"/>
                <a:gridCol w="1645920"/>
                <a:gridCol w="1645920"/>
                <a:gridCol w="2011680"/>
                <a:gridCol w="1463040"/>
              </a:tblGrid>
              <a:tr h="502920">
                <a:tc>
                  <a:txBody>
                    <a:bodyPr wrap="square"/>
                    <a:lstStyle/>
                    <a:p>
                      <a:pPr algn="ctr" rtl="1" marL="0" indent="0">
                        <a:buNone/>
                      </a:pPr>
                      <a:r>
                        <a:rPr lang="he-IL" sz="150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שימושים טיפוסיים</a:t>
                      </a:r>
                    </a:p>
                  </a:txBody>
                  <a:tcPr marL="73152" marR="73152" marT="36576" marB="36576" anchor="ctr">
                    <a:solidFill>
                      <a:srgbClr val="0081C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 marL="0" indent="0">
                        <a:buNone/>
                      </a:pPr>
                      <a:r>
                        <a:rPr lang="he-IL" sz="150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fck קובייה (MPa)</a:t>
                      </a:r>
                    </a:p>
                  </a:txBody>
                  <a:tcPr marL="73152" marR="73152" marT="36576" marB="36576" anchor="ctr">
                    <a:solidFill>
                      <a:srgbClr val="0081C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 marL="0" indent="0">
                        <a:buNone/>
                      </a:pPr>
                      <a:r>
                        <a:rPr lang="he-IL" sz="150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fck גליל (MPa)</a:t>
                      </a:r>
                    </a:p>
                  </a:txBody>
                  <a:tcPr marL="73152" marR="73152" marT="36576" marB="36576" anchor="ctr">
                    <a:solidFill>
                      <a:srgbClr val="0081C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 marL="0" indent="0">
                        <a:buNone/>
                      </a:pPr>
                      <a:r>
                        <a:rPr lang="he-IL" sz="150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המקבילה בת"י 118</a:t>
                      </a:r>
                    </a:p>
                  </a:txBody>
                  <a:tcPr marL="73152" marR="73152" marT="36576" marB="36576" anchor="ctr">
                    <a:solidFill>
                      <a:srgbClr val="0081C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 marL="0" indent="0">
                        <a:buNone/>
                      </a:pPr>
                      <a:r>
                        <a:rPr lang="he-IL" sz="150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EN 206</a:t>
                      </a:r>
                    </a:p>
                  </a:txBody>
                  <a:tcPr marL="73152" marR="73152" marT="36576" marB="36576" anchor="ctr">
                    <a:solidFill>
                      <a:srgbClr val="0081C8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r" rtl="1" marL="0" indent="0">
                        <a:buNone/>
                      </a:pPr>
                      <a:r>
                        <a:rPr lang="he-IL" sz="1500" b="0">
                          <a:solidFill>
                            <a:srgbClr val="333F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יסודות, רצפות, מבני מגורים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 marL="0" indent="0">
                        <a:buNone/>
                      </a:pPr>
                      <a:r>
                        <a:rPr lang="he-IL" sz="1500" b="0">
                          <a:solidFill>
                            <a:srgbClr val="333F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30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 marL="0" indent="0">
                        <a:buNone/>
                      </a:pPr>
                      <a:r>
                        <a:rPr lang="he-IL" sz="1500" b="0">
                          <a:solidFill>
                            <a:srgbClr val="333F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25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 marL="0" indent="0">
                        <a:buNone/>
                      </a:pPr>
                      <a:r>
                        <a:rPr lang="he-IL" sz="1500" b="0">
                          <a:solidFill>
                            <a:srgbClr val="333F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ב-30</a:t>
                      </a:r>
                    </a:p>
                  </a:txBody>
                  <a:tcPr marL="73152" marR="73152" marT="36576" marB="36576" anchor="ctr">
                    <a:solidFill>
                      <a:srgbClr val="F3F7D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 marL="0" indent="0">
                        <a:buNone/>
                      </a:pPr>
                      <a:r>
                        <a:rPr lang="he-IL" sz="1500" b="1">
                          <a:solidFill>
                            <a:srgbClr val="333F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C25/30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r" rtl="1" marL="0" indent="0">
                        <a:buNone/>
                      </a:pPr>
                      <a:r>
                        <a:rPr lang="he-IL" sz="1500" b="0">
                          <a:solidFill>
                            <a:srgbClr val="333F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תקרות, קורות, עמודים</a:t>
                      </a:r>
                    </a:p>
                  </a:txBody>
                  <a:tcPr marL="73152" marR="73152" marT="36576" marB="36576" anchor="ctr">
                    <a:solidFill>
                      <a:srgbClr val="F3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 marL="0" indent="0">
                        <a:buNone/>
                      </a:pPr>
                      <a:r>
                        <a:rPr lang="he-IL" sz="1500" b="0">
                          <a:solidFill>
                            <a:srgbClr val="333F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37</a:t>
                      </a:r>
                    </a:p>
                  </a:txBody>
                  <a:tcPr marL="73152" marR="73152" marT="36576" marB="36576" anchor="ctr">
                    <a:solidFill>
                      <a:srgbClr val="F3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 marL="0" indent="0">
                        <a:buNone/>
                      </a:pPr>
                      <a:r>
                        <a:rPr lang="he-IL" sz="1500" b="0">
                          <a:solidFill>
                            <a:srgbClr val="333F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30</a:t>
                      </a:r>
                    </a:p>
                  </a:txBody>
                  <a:tcPr marL="73152" marR="73152" marT="36576" marB="36576" anchor="ctr">
                    <a:solidFill>
                      <a:srgbClr val="F3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 marL="0" indent="0">
                        <a:buNone/>
                      </a:pPr>
                      <a:r>
                        <a:rPr lang="he-IL" sz="1500" b="0">
                          <a:solidFill>
                            <a:srgbClr val="333F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ב-35 / ב-40</a:t>
                      </a:r>
                    </a:p>
                  </a:txBody>
                  <a:tcPr marL="73152" marR="73152" marT="36576" marB="36576" anchor="ctr">
                    <a:solidFill>
                      <a:srgbClr val="F3F7D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 marL="0" indent="0">
                        <a:buNone/>
                      </a:pPr>
                      <a:r>
                        <a:rPr lang="he-IL" sz="1500" b="1">
                          <a:solidFill>
                            <a:srgbClr val="333F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C30/37</a:t>
                      </a:r>
                    </a:p>
                  </a:txBody>
                  <a:tcPr marL="73152" marR="73152" marT="36576" marB="36576" anchor="ctr">
                    <a:solidFill>
                      <a:srgbClr val="F3F5F7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r" rtl="1" marL="0" indent="0">
                        <a:buNone/>
                      </a:pPr>
                      <a:r>
                        <a:rPr lang="he-IL" sz="1500" b="0">
                          <a:solidFill>
                            <a:srgbClr val="333F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אלמנטים טרומיים, סביבה אגרסיבית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 marL="0" indent="0">
                        <a:buNone/>
                      </a:pPr>
                      <a:r>
                        <a:rPr lang="he-IL" sz="1500" b="0">
                          <a:solidFill>
                            <a:srgbClr val="333F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45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 marL="0" indent="0">
                        <a:buNone/>
                      </a:pPr>
                      <a:r>
                        <a:rPr lang="he-IL" sz="1500" b="0">
                          <a:solidFill>
                            <a:srgbClr val="333F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35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 marL="0" indent="0">
                        <a:buNone/>
                      </a:pPr>
                      <a:r>
                        <a:rPr lang="he-IL" sz="1500" b="0">
                          <a:solidFill>
                            <a:srgbClr val="333F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ב-45</a:t>
                      </a:r>
                    </a:p>
                  </a:txBody>
                  <a:tcPr marL="73152" marR="73152" marT="36576" marB="36576" anchor="ctr">
                    <a:solidFill>
                      <a:srgbClr val="F3F7D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 marL="0" indent="0">
                        <a:buNone/>
                      </a:pPr>
                      <a:r>
                        <a:rPr lang="he-IL" sz="1500" b="1">
                          <a:solidFill>
                            <a:srgbClr val="333F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C35/45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r" rtl="1" marL="0" indent="0">
                        <a:buNone/>
                      </a:pPr>
                      <a:r>
                        <a:rPr lang="he-IL" sz="1500" b="0">
                          <a:solidFill>
                            <a:srgbClr val="333F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גשרים, טרום דרוך</a:t>
                      </a:r>
                    </a:p>
                  </a:txBody>
                  <a:tcPr marL="73152" marR="73152" marT="36576" marB="36576" anchor="ctr">
                    <a:solidFill>
                      <a:srgbClr val="F3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 marL="0" indent="0">
                        <a:buNone/>
                      </a:pPr>
                      <a:r>
                        <a:rPr lang="he-IL" sz="1500" b="0">
                          <a:solidFill>
                            <a:srgbClr val="333F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50</a:t>
                      </a:r>
                    </a:p>
                  </a:txBody>
                  <a:tcPr marL="73152" marR="73152" marT="36576" marB="36576" anchor="ctr">
                    <a:solidFill>
                      <a:srgbClr val="F3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 marL="0" indent="0">
                        <a:buNone/>
                      </a:pPr>
                      <a:r>
                        <a:rPr lang="he-IL" sz="1500" b="0">
                          <a:solidFill>
                            <a:srgbClr val="333F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40</a:t>
                      </a:r>
                    </a:p>
                  </a:txBody>
                  <a:tcPr marL="73152" marR="73152" marT="36576" marB="36576" anchor="ctr">
                    <a:solidFill>
                      <a:srgbClr val="F3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 marL="0" indent="0">
                        <a:buNone/>
                      </a:pPr>
                      <a:r>
                        <a:rPr lang="he-IL" sz="1500" b="0">
                          <a:solidFill>
                            <a:srgbClr val="333F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ב-50</a:t>
                      </a:r>
                    </a:p>
                  </a:txBody>
                  <a:tcPr marL="73152" marR="73152" marT="36576" marB="36576" anchor="ctr">
                    <a:solidFill>
                      <a:srgbClr val="F3F7D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 marL="0" indent="0">
                        <a:buNone/>
                      </a:pPr>
                      <a:r>
                        <a:rPr lang="he-IL" sz="1500" b="1">
                          <a:solidFill>
                            <a:srgbClr val="333F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C40/50</a:t>
                      </a:r>
                    </a:p>
                  </a:txBody>
                  <a:tcPr marL="73152" marR="73152" marT="36576" marB="36576" anchor="ctr">
                    <a:solidFill>
                      <a:srgbClr val="F3F5F7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r" rtl="1" marL="0" indent="0">
                        <a:buNone/>
                      </a:pPr>
                      <a:r>
                        <a:rPr lang="he-IL" sz="1500" b="0">
                          <a:solidFill>
                            <a:srgbClr val="333F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בטון בחוזק גבוה, רבי-קומות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 marL="0" indent="0">
                        <a:buNone/>
                      </a:pPr>
                      <a:r>
                        <a:rPr lang="he-IL" sz="1500" b="0">
                          <a:solidFill>
                            <a:srgbClr val="333F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60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 marL="0" indent="0">
                        <a:buNone/>
                      </a:pPr>
                      <a:r>
                        <a:rPr lang="he-IL" sz="1500" b="0">
                          <a:solidFill>
                            <a:srgbClr val="333F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50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 marL="0" indent="0">
                        <a:buNone/>
                      </a:pPr>
                      <a:r>
                        <a:rPr lang="he-IL" sz="1500" b="0">
                          <a:solidFill>
                            <a:srgbClr val="333F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ב-60</a:t>
                      </a:r>
                    </a:p>
                  </a:txBody>
                  <a:tcPr marL="73152" marR="73152" marT="36576" marB="36576" anchor="ctr">
                    <a:solidFill>
                      <a:srgbClr val="F3F7D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 marL="0" indent="0">
                        <a:buNone/>
                      </a:pPr>
                      <a:r>
                        <a:rPr lang="he-IL" sz="1500" b="1">
                          <a:solidFill>
                            <a:srgbClr val="333F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C50/60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822960" y="4800600"/>
            <a:ext cx="8183879" cy="1097280"/>
          </a:xfrm>
          <a:prstGeom prst="roundRect">
            <a:avLst>
              <a:gd name="adj" fmla="val 8000"/>
            </a:avLst>
          </a:prstGeom>
          <a:solidFill>
            <a:srgbClr val="EAF3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298179" y="5097779"/>
            <a:ext cx="502920" cy="502920"/>
          </a:xfrm>
          <a:prstGeom prst="ellipse">
            <a:avLst/>
          </a:prstGeom>
          <a:solidFill>
            <a:srgbClr val="0081C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7" name="Picture 6" descr="FaLightbulb_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8880" y="5218480"/>
            <a:ext cx="261518" cy="26151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005840" y="4864608"/>
            <a:ext cx="7178040" cy="960120"/>
          </a:xfrm>
          <a:prstGeom prst="rect">
            <a:avLst/>
          </a:prstGeom>
          <a:noFill/>
        </p:spPr>
        <p:txBody>
          <a:bodyPr wrap="square" lIns="0" rIns="0" tIns="0" bIns="0" anchor="ctr" rtlCol="1">
            <a:spAutoFit/>
          </a:bodyPr>
          <a:lstStyle/>
          <a:p>
            <a:pPr algn="r" rtl="1" marL="0" indent="0">
              <a:spcAft>
                <a:spcPts val="400"/>
              </a:spcAft>
              <a:buNone/>
            </a:pPr>
            <a:r>
              <a:rPr lang="he-IL" sz="1400" b="1">
                <a:solidFill>
                  <a:srgbClr val="003973"/>
                </a:solidFill>
                <a:latin typeface="Arial Unicode MS"/>
                <a:ea typeface="Arial Unicode MS"/>
                <a:cs typeface="Arial Unicode MS"/>
              </a:rPr>
              <a:t>המספר בשם הדרגה הישראלית = חוזק אופייני על קוביות.</a:t>
            </a:r>
          </a:p>
          <a:p>
            <a:pPr algn="r" rtl="1" marL="0" indent="0">
              <a:spcAft>
                <a:spcPts val="400"/>
              </a:spcAft>
              <a:buNone/>
            </a:pPr>
            <a:r>
              <a:rPr lang="he-IL" sz="1400" b="0">
                <a:solidFill>
                  <a:srgbClr val="333F4A"/>
                </a:solidFill>
                <a:latin typeface="Arial Unicode MS"/>
                <a:ea typeface="Arial Unicode MS"/>
                <a:cs typeface="Arial Unicode MS"/>
              </a:rPr>
              <a:t>C30/37 נופל בין ב-35 לב-40; ההשוואה לצורך הדרכה בלבד — הדרישה המחייבת היא של המתכנן והמפרט.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>
                <a:latin typeface="Arial Unicode MS"/>
                <a:ea typeface="Arial Unicode MS"/>
                <a:cs typeface="Arial Unicode MS"/>
              </a:rPr>
              <a:t>משמעות החוזק: האיזון בתכן התערובת</a:t>
            </a:r>
          </a:p>
        </p:txBody>
      </p:sp>
      <p:sp>
        <p:nvSpPr>
          <p:cNvPr id="3" name="Isosceles Triangle 2"/>
          <p:cNvSpPr/>
          <p:nvPr/>
        </p:nvSpPr>
        <p:spPr>
          <a:xfrm>
            <a:off x="1463040" y="1280160"/>
            <a:ext cx="4754880" cy="3931920"/>
          </a:xfrm>
          <a:prstGeom prst="triangle">
            <a:avLst/>
          </a:prstGeom>
          <a:solidFill>
            <a:srgbClr val="EAF3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468880" y="3429000"/>
            <a:ext cx="2743200" cy="822960"/>
          </a:xfrm>
          <a:prstGeom prst="rect">
            <a:avLst/>
          </a:prstGeom>
          <a:noFill/>
        </p:spPr>
        <p:txBody>
          <a:bodyPr wrap="square" lIns="0" rIns="0" tIns="0" bIns="0" anchor="t" rtlCol="1">
            <a:spAutoFit/>
          </a:bodyPr>
          <a:lstStyle/>
          <a:p>
            <a:pPr algn="ctr" rtl="1" marL="0" indent="0">
              <a:spcAft>
                <a:spcPts val="400"/>
              </a:spcAft>
              <a:buNone/>
            </a:pPr>
            <a:r>
              <a:rPr lang="he-IL" sz="1800" b="1">
                <a:solidFill>
                  <a:srgbClr val="003973"/>
                </a:solidFill>
                <a:latin typeface="Arial Unicode MS"/>
                <a:ea typeface="Arial Unicode MS"/>
                <a:cs typeface="Arial Unicode MS"/>
              </a:rPr>
              <a:t>תכן תערובת</a:t>
            </a:r>
          </a:p>
          <a:p>
            <a:pPr algn="ctr" rtl="1" marL="0" indent="0">
              <a:spcAft>
                <a:spcPts val="400"/>
              </a:spcAft>
              <a:buNone/>
            </a:pPr>
            <a:r>
              <a:rPr lang="he-IL" sz="1800" b="1">
                <a:solidFill>
                  <a:srgbClr val="003973"/>
                </a:solidFill>
                <a:latin typeface="Arial Unicode MS"/>
                <a:ea typeface="Arial Unicode MS"/>
                <a:cs typeface="Arial Unicode MS"/>
              </a:rPr>
              <a:t>מאוזן</a:t>
            </a:r>
          </a:p>
        </p:txBody>
      </p:sp>
      <p:sp>
        <p:nvSpPr>
          <p:cNvPr id="5" name="Oval 4"/>
          <p:cNvSpPr/>
          <p:nvPr/>
        </p:nvSpPr>
        <p:spPr>
          <a:xfrm>
            <a:off x="3383280" y="777240"/>
            <a:ext cx="914400" cy="914400"/>
          </a:xfrm>
          <a:prstGeom prst="ellipse">
            <a:avLst/>
          </a:prstGeom>
          <a:solidFill>
            <a:srgbClr val="003973"/>
          </a:solidFill>
          <a:ln w="3175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6" name="Picture 5" descr="FaWeightHanging_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2736" y="996696"/>
            <a:ext cx="475488" cy="47548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389120" y="1051560"/>
            <a:ext cx="1463040" cy="365760"/>
          </a:xfrm>
          <a:prstGeom prst="rect">
            <a:avLst/>
          </a:prstGeom>
          <a:noFill/>
        </p:spPr>
        <p:txBody>
          <a:bodyPr wrap="square" lIns="0" rIns="0" tIns="0" bIns="0" anchor="t" rtlCol="1">
            <a:spAutoFit/>
          </a:bodyPr>
          <a:lstStyle/>
          <a:p>
            <a:pPr algn="r" rtl="1" marL="0" indent="0">
              <a:spcAft>
                <a:spcPts val="400"/>
              </a:spcAft>
              <a:buNone/>
            </a:pPr>
            <a:r>
              <a:rPr lang="he-IL" sz="1800" b="1">
                <a:solidFill>
                  <a:srgbClr val="0081C8"/>
                </a:solidFill>
                <a:latin typeface="Arial Unicode MS"/>
                <a:ea typeface="Arial Unicode MS"/>
                <a:cs typeface="Arial Unicode MS"/>
              </a:rPr>
              <a:t>חוזק</a:t>
            </a:r>
          </a:p>
        </p:txBody>
      </p:sp>
      <p:sp>
        <p:nvSpPr>
          <p:cNvPr id="8" name="Oval 7"/>
          <p:cNvSpPr/>
          <p:nvPr/>
        </p:nvSpPr>
        <p:spPr>
          <a:xfrm>
            <a:off x="5760720" y="4709160"/>
            <a:ext cx="914400" cy="914400"/>
          </a:xfrm>
          <a:prstGeom prst="ellipse">
            <a:avLst/>
          </a:prstGeom>
          <a:solidFill>
            <a:srgbClr val="003973"/>
          </a:solidFill>
          <a:ln w="3175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9" name="Picture 8" descr="FaShieldAlt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0176" y="4928616"/>
            <a:ext cx="475488" cy="47548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303520" y="566928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 rtlCol="1">
            <a:spAutoFit/>
          </a:bodyPr>
          <a:lstStyle/>
          <a:p>
            <a:pPr algn="ctr" rtl="1" marL="0" indent="0">
              <a:spcAft>
                <a:spcPts val="400"/>
              </a:spcAft>
              <a:buNone/>
            </a:pPr>
            <a:r>
              <a:rPr lang="he-IL" sz="1800" b="1">
                <a:solidFill>
                  <a:srgbClr val="0081C8"/>
                </a:solidFill>
                <a:latin typeface="Arial Unicode MS"/>
                <a:ea typeface="Arial Unicode MS"/>
                <a:cs typeface="Arial Unicode MS"/>
              </a:rPr>
              <a:t>עמידות</a:t>
            </a:r>
          </a:p>
        </p:txBody>
      </p:sp>
      <p:sp>
        <p:nvSpPr>
          <p:cNvPr id="11" name="Oval 10"/>
          <p:cNvSpPr/>
          <p:nvPr/>
        </p:nvSpPr>
        <p:spPr>
          <a:xfrm>
            <a:off x="1005840" y="4709160"/>
            <a:ext cx="914400" cy="914400"/>
          </a:xfrm>
          <a:prstGeom prst="ellipse">
            <a:avLst/>
          </a:prstGeom>
          <a:solidFill>
            <a:srgbClr val="003973"/>
          </a:solidFill>
          <a:ln w="3175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2" name="Picture 11" descr="FaHandPaper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5296" y="4928616"/>
            <a:ext cx="475488" cy="4754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48640" y="566928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 rtlCol="1">
            <a:spAutoFit/>
          </a:bodyPr>
          <a:lstStyle/>
          <a:p>
            <a:pPr algn="ctr" rtl="1" marL="0" indent="0">
              <a:spcAft>
                <a:spcPts val="400"/>
              </a:spcAft>
              <a:buNone/>
            </a:pPr>
            <a:r>
              <a:rPr lang="he-IL" sz="1800" b="1">
                <a:solidFill>
                  <a:srgbClr val="0081C8"/>
                </a:solidFill>
                <a:latin typeface="Arial Unicode MS"/>
                <a:ea typeface="Arial Unicode MS"/>
                <a:cs typeface="Arial Unicode MS"/>
              </a:rPr>
              <a:t>עבידות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223760" y="1280160"/>
            <a:ext cx="4251960" cy="1143000"/>
          </a:xfrm>
          <a:prstGeom prst="roundRect">
            <a:avLst>
              <a:gd name="adj" fmla="val 8000"/>
            </a:avLst>
          </a:prstGeom>
          <a:solidFill>
            <a:srgbClr val="FBE9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5" name="Picture 14" descr="FaTint_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27080" y="1600200"/>
            <a:ext cx="457200" cy="4572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406640" y="1389888"/>
            <a:ext cx="3383280" cy="411480"/>
          </a:xfrm>
          <a:prstGeom prst="rect">
            <a:avLst/>
          </a:prstGeom>
          <a:noFill/>
        </p:spPr>
        <p:txBody>
          <a:bodyPr wrap="square" lIns="0" rIns="0" tIns="0" bIns="0" anchor="t" rtlCol="1">
            <a:spAutoFit/>
          </a:bodyPr>
          <a:lstStyle/>
          <a:p>
            <a:pPr algn="r" rtl="1" marL="0" indent="0">
              <a:spcAft>
                <a:spcPts val="400"/>
              </a:spcAft>
              <a:buNone/>
            </a:pPr>
            <a:r>
              <a:rPr lang="he-IL" sz="1700" b="1">
                <a:solidFill>
                  <a:srgbClr val="003973"/>
                </a:solidFill>
                <a:latin typeface="Arial Unicode MS"/>
                <a:ea typeface="Arial Unicode MS"/>
                <a:cs typeface="Arial Unicode MS"/>
              </a:rPr>
              <a:t>מוסיפים מים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06640" y="1847088"/>
            <a:ext cx="3383280" cy="457200"/>
          </a:xfrm>
          <a:prstGeom prst="rect">
            <a:avLst/>
          </a:prstGeom>
          <a:noFill/>
        </p:spPr>
        <p:txBody>
          <a:bodyPr wrap="square" lIns="0" rIns="0" tIns="0" bIns="0" anchor="t" rtlCol="1">
            <a:spAutoFit/>
          </a:bodyPr>
          <a:lstStyle/>
          <a:p>
            <a:pPr algn="r" rtl="1" marL="0" indent="0">
              <a:spcAft>
                <a:spcPts val="400"/>
              </a:spcAft>
              <a:buNone/>
            </a:pPr>
            <a:r>
              <a:rPr lang="he-IL" sz="1500" b="1">
                <a:solidFill>
                  <a:srgbClr val="C62828"/>
                </a:solidFill>
                <a:latin typeface="Arial Unicode MS"/>
                <a:ea typeface="Arial Unicode MS"/>
                <a:cs typeface="Arial Unicode MS"/>
              </a:rPr>
              <a:t>עבידות ↑  חוזק ↓  עמידות ↓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223760" y="2606039"/>
            <a:ext cx="4251960" cy="1143000"/>
          </a:xfrm>
          <a:prstGeom prst="roundRect">
            <a:avLst>
              <a:gd name="adj" fmla="val 8000"/>
            </a:avLst>
          </a:prstGeom>
          <a:solidFill>
            <a:srgbClr val="FFF2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9" name="Picture 18" descr="FaWarehouse_b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27080" y="2926079"/>
            <a:ext cx="457200" cy="4572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7406640" y="2715768"/>
            <a:ext cx="3383280" cy="411480"/>
          </a:xfrm>
          <a:prstGeom prst="rect">
            <a:avLst/>
          </a:prstGeom>
          <a:noFill/>
        </p:spPr>
        <p:txBody>
          <a:bodyPr wrap="square" lIns="0" rIns="0" tIns="0" bIns="0" anchor="t" rtlCol="1">
            <a:spAutoFit/>
          </a:bodyPr>
          <a:lstStyle/>
          <a:p>
            <a:pPr algn="r" rtl="1" marL="0" indent="0">
              <a:spcAft>
                <a:spcPts val="400"/>
              </a:spcAft>
              <a:buNone/>
            </a:pPr>
            <a:r>
              <a:rPr lang="he-IL" sz="1700" b="1">
                <a:solidFill>
                  <a:srgbClr val="003973"/>
                </a:solidFill>
                <a:latin typeface="Arial Unicode MS"/>
                <a:ea typeface="Arial Unicode MS"/>
                <a:cs typeface="Arial Unicode MS"/>
              </a:rPr>
              <a:t>מוסיפים צמנט בלבד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06640" y="3172968"/>
            <a:ext cx="3383280" cy="457200"/>
          </a:xfrm>
          <a:prstGeom prst="rect">
            <a:avLst/>
          </a:prstGeom>
          <a:noFill/>
        </p:spPr>
        <p:txBody>
          <a:bodyPr wrap="square" lIns="0" rIns="0" tIns="0" bIns="0" anchor="t" rtlCol="1">
            <a:spAutoFit/>
          </a:bodyPr>
          <a:lstStyle/>
          <a:p>
            <a:pPr algn="r" rtl="1" marL="0" indent="0">
              <a:spcAft>
                <a:spcPts val="400"/>
              </a:spcAft>
              <a:buNone/>
            </a:pPr>
            <a:r>
              <a:rPr lang="he-IL" sz="1500" b="1">
                <a:solidFill>
                  <a:srgbClr val="B26A00"/>
                </a:solidFill>
                <a:latin typeface="Arial Unicode MS"/>
                <a:ea typeface="Arial Unicode MS"/>
                <a:cs typeface="Arial Unicode MS"/>
              </a:rPr>
              <a:t>חוזק ↑  עלות ↑  חום וסדיקה ↑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223760" y="3931920"/>
            <a:ext cx="4251960" cy="1143000"/>
          </a:xfrm>
          <a:prstGeom prst="roundRect">
            <a:avLst>
              <a:gd name="adj" fmla="val 8000"/>
            </a:avLst>
          </a:prstGeom>
          <a:solidFill>
            <a:srgbClr val="E8F3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Picture 22" descr="FaVial_b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927080" y="4251959"/>
            <a:ext cx="457200" cy="45720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7406640" y="4041648"/>
            <a:ext cx="3383280" cy="411480"/>
          </a:xfrm>
          <a:prstGeom prst="rect">
            <a:avLst/>
          </a:prstGeom>
          <a:noFill/>
        </p:spPr>
        <p:txBody>
          <a:bodyPr wrap="square" lIns="0" rIns="0" tIns="0" bIns="0" anchor="t" rtlCol="1">
            <a:spAutoFit/>
          </a:bodyPr>
          <a:lstStyle/>
          <a:p>
            <a:pPr algn="r" rtl="1" marL="0" indent="0">
              <a:spcAft>
                <a:spcPts val="400"/>
              </a:spcAft>
              <a:buNone/>
            </a:pPr>
            <a:r>
              <a:rPr lang="he-IL" sz="1700" b="1">
                <a:solidFill>
                  <a:srgbClr val="003973"/>
                </a:solidFill>
                <a:latin typeface="Arial Unicode MS"/>
                <a:ea typeface="Arial Unicode MS"/>
                <a:cs typeface="Arial Unicode MS"/>
              </a:rPr>
              <a:t>W/C נמוך + סופר-פלסטיצייזר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06640" y="4498848"/>
            <a:ext cx="3383280" cy="457200"/>
          </a:xfrm>
          <a:prstGeom prst="rect">
            <a:avLst/>
          </a:prstGeom>
          <a:noFill/>
        </p:spPr>
        <p:txBody>
          <a:bodyPr wrap="square" lIns="0" rIns="0" tIns="0" bIns="0" anchor="t" rtlCol="1">
            <a:spAutoFit/>
          </a:bodyPr>
          <a:lstStyle/>
          <a:p>
            <a:pPr algn="r" rtl="1" marL="0" indent="0">
              <a:spcAft>
                <a:spcPts val="400"/>
              </a:spcAft>
              <a:buNone/>
            </a:pPr>
            <a:r>
              <a:rPr lang="he-IL" sz="1500" b="1">
                <a:solidFill>
                  <a:srgbClr val="2E7D32"/>
                </a:solidFill>
                <a:latin typeface="Arial Unicode MS"/>
                <a:ea typeface="Arial Unicode MS"/>
                <a:cs typeface="Arial Unicode MS"/>
              </a:rPr>
              <a:t>חוזק ↑  עמידות ↑  עבידות נשמרת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6" name="תמונה 5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1"/>
          <a:stretch/>
        </p:blipFill>
        <p:spPr>
          <a:xfrm flipH="1">
            <a:off x="0" y="0"/>
            <a:ext cx="10306050" cy="6858000"/>
          </a:xfrm>
          <a:prstGeom prst="rect">
            <a:avLst/>
          </a:prstGeom>
        </p:spPr>
      </p:pic>
      <p:sp>
        <p:nvSpPr>
          <p:cNvPr id="4" name="מלבן 3"/>
          <p:cNvSpPr/>
          <p:nvPr/>
        </p:nvSpPr>
        <p:spPr>
          <a:xfrm>
            <a:off x="6115050" y="0"/>
            <a:ext cx="6076950" cy="6858000"/>
          </a:xfrm>
          <a:prstGeom prst="rect">
            <a:avLst/>
          </a:prstGeom>
          <a:solidFill>
            <a:srgbClr val="2C9EE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>
              <a:solidFill>
                <a:prstClr val="white"/>
              </a:solidFill>
            </a:endParaRPr>
          </a:p>
        </p:txBody>
      </p:sp>
      <p:sp>
        <p:nvSpPr>
          <p:cNvPr id="7" name="משולש שווה שוקיים 6"/>
          <p:cNvSpPr/>
          <p:nvPr/>
        </p:nvSpPr>
        <p:spPr>
          <a:xfrm rot="16200000" flipH="1">
            <a:off x="5324475" y="3143250"/>
            <a:ext cx="1123950" cy="609600"/>
          </a:xfrm>
          <a:prstGeom prst="triangle">
            <a:avLst/>
          </a:prstGeom>
          <a:solidFill>
            <a:srgbClr val="2C9EE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>
              <a:solidFill>
                <a:prstClr val="white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720840" y="2514600"/>
            <a:ext cx="4937760" cy="914400"/>
          </a:xfrm>
          <a:prstGeom prst="rect">
            <a:avLst/>
          </a:prstGeom>
          <a:noFill/>
        </p:spPr>
        <p:txBody>
          <a:bodyPr wrap="square" rtlCol="1" anchor="ctr"/>
          <a:lstStyle/>
          <a:p>
            <a:pPr algn="ctr" rtl="1"/>
            <a:r>
              <a:rPr lang="he-IL" sz="3600" dirty="0">
                <a:solidFill>
                  <a:prstClr val="white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יחס מים-צמנט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20840" y="1874519"/>
            <a:ext cx="4937760" cy="457200"/>
          </a:xfrm>
          <a:prstGeom prst="rect">
            <a:avLst/>
          </a:prstGeom>
          <a:noFill/>
        </p:spPr>
        <p:txBody>
          <a:bodyPr wrap="square" lIns="0" rIns="0" tIns="0" bIns="0" anchor="t" rtlCol="1">
            <a:spAutoFit/>
          </a:bodyPr>
          <a:lstStyle/>
          <a:p>
            <a:pPr algn="ctr" rtl="1" marL="0" indent="0">
              <a:spcAft>
                <a:spcPts val="400"/>
              </a:spcAft>
              <a:buNone/>
            </a:pPr>
            <a:r>
              <a:rPr lang="he-IL" sz="2000" b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פרק 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86600" y="3611880"/>
            <a:ext cx="4206240" cy="2011680"/>
          </a:xfrm>
          <a:prstGeom prst="rect">
            <a:avLst/>
          </a:prstGeom>
          <a:noFill/>
        </p:spPr>
        <p:txBody>
          <a:bodyPr wrap="square" lIns="0" rIns="0" tIns="0" bIns="0" anchor="t" rtlCol="1">
            <a:spAutoFit/>
          </a:bodyPr>
          <a:lstStyle/>
          <a:p>
            <a:pPr algn="ctr" rtl="1" marL="0" indent="0">
              <a:lnSpc>
                <a:spcPct val="115000"/>
              </a:lnSpc>
              <a:spcAft>
                <a:spcPts val="400"/>
              </a:spcAft>
              <a:buNone/>
            </a:pPr>
            <a:r>
              <a:rPr lang="he-IL" sz="1600" b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הגדרה · W/C וחוזק · W/C וחדירות · W/C ועמידות · מקרה שטח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>
                <a:latin typeface="Arial Unicode MS"/>
                <a:ea typeface="Arial Unicode MS"/>
                <a:cs typeface="Arial Unicode MS"/>
              </a:rPr>
              <a:t>יחס מים-צמנט (W/C)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108960" y="1143000"/>
            <a:ext cx="8366760" cy="1554480"/>
          </a:xfrm>
          <a:prstGeom prst="roundRect">
            <a:avLst>
              <a:gd name="adj" fmla="val 8000"/>
            </a:avLst>
          </a:prstGeom>
          <a:solidFill>
            <a:srgbClr val="00397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91840" y="1188720"/>
            <a:ext cx="8001000" cy="1463040"/>
          </a:xfrm>
          <a:prstGeom prst="rect">
            <a:avLst/>
          </a:prstGeom>
          <a:noFill/>
        </p:spPr>
        <p:txBody>
          <a:bodyPr wrap="square" lIns="0" rIns="0" tIns="0" bIns="0" anchor="ctr" rtlCol="1">
            <a:spAutoFit/>
          </a:bodyPr>
          <a:lstStyle/>
          <a:p>
            <a:pPr algn="ctr" rtl="1" marL="0" indent="0">
              <a:spcAft>
                <a:spcPts val="400"/>
              </a:spcAft>
              <a:buNone/>
            </a:pPr>
            <a:r>
              <a:rPr lang="he-IL" sz="3400" b="1">
                <a:solidFill>
                  <a:srgbClr val="C4D82E"/>
                </a:solidFill>
                <a:latin typeface="Arial Unicode MS"/>
                <a:ea typeface="Arial Unicode MS"/>
                <a:cs typeface="Arial Unicode MS"/>
              </a:rPr>
              <a:t>W/C  =  </a:t>
            </a:r>
            <a:r>
              <a:rPr lang="he-IL" sz="26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משקל המים (ק"ג)  ÷  משקל הצמנט (ק"ג)</a:t>
            </a:r>
          </a:p>
        </p:txBody>
      </p:sp>
      <p:sp>
        <p:nvSpPr>
          <p:cNvPr id="5" name="Oval 4"/>
          <p:cNvSpPr/>
          <p:nvPr/>
        </p:nvSpPr>
        <p:spPr>
          <a:xfrm>
            <a:off x="1234440" y="1234440"/>
            <a:ext cx="1371600" cy="1371600"/>
          </a:xfrm>
          <a:prstGeom prst="ellipse">
            <a:avLst/>
          </a:prstGeom>
          <a:solidFill>
            <a:srgbClr val="0081C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6" name="Picture 5" descr="FaBalanceScale_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3624" y="1563624"/>
            <a:ext cx="713232" cy="713232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046720" y="3017520"/>
            <a:ext cx="2011680" cy="1234440"/>
          </a:xfrm>
          <a:prstGeom prst="roundRect">
            <a:avLst>
              <a:gd name="adj" fmla="val 8000"/>
            </a:avLst>
          </a:prstGeom>
          <a:solidFill>
            <a:srgbClr val="EAF3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0" y="3063240"/>
            <a:ext cx="2011680" cy="1143000"/>
          </a:xfrm>
          <a:prstGeom prst="rect">
            <a:avLst/>
          </a:prstGeom>
          <a:noFill/>
        </p:spPr>
        <p:txBody>
          <a:bodyPr wrap="square" lIns="0" rIns="0" tIns="0" bIns="0" anchor="ctr" rtlCol="1">
            <a:spAutoFit/>
          </a:bodyPr>
          <a:lstStyle/>
          <a:p>
            <a:pPr algn="ctr" rtl="1" marL="0" indent="0">
              <a:spcAft>
                <a:spcPts val="400"/>
              </a:spcAft>
              <a:buNone/>
            </a:pPr>
            <a:r>
              <a:rPr lang="he-IL" sz="3200" b="1">
                <a:solidFill>
                  <a:srgbClr val="0081C8"/>
                </a:solidFill>
                <a:latin typeface="Arial Unicode MS"/>
                <a:ea typeface="Arial Unicode MS"/>
                <a:cs typeface="Arial Unicode MS"/>
              </a:rPr>
              <a:t>180</a:t>
            </a:r>
          </a:p>
          <a:p>
            <a:pPr algn="ctr" rtl="1" marL="0" indent="0">
              <a:spcAft>
                <a:spcPts val="400"/>
              </a:spcAft>
              <a:buNone/>
            </a:pPr>
            <a:r>
              <a:rPr lang="he-IL" sz="1300" b="0">
                <a:solidFill>
                  <a:srgbClr val="333F4A"/>
                </a:solidFill>
                <a:latin typeface="Arial Unicode MS"/>
                <a:ea typeface="Arial Unicode MS"/>
                <a:cs typeface="Arial Unicode MS"/>
              </a:rPr>
              <a:t>ליטר מים ל-מ"ק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60920" y="3017520"/>
            <a:ext cx="548640" cy="1234440"/>
          </a:xfrm>
          <a:prstGeom prst="rect">
            <a:avLst/>
          </a:prstGeom>
          <a:noFill/>
        </p:spPr>
        <p:txBody>
          <a:bodyPr wrap="square" lIns="0" rIns="0" tIns="0" bIns="0" anchor="ctr" rtlCol="1">
            <a:spAutoFit/>
          </a:bodyPr>
          <a:lstStyle/>
          <a:p>
            <a:pPr algn="ctr" rtl="1" marL="0" indent="0">
              <a:spcAft>
                <a:spcPts val="400"/>
              </a:spcAft>
              <a:buNone/>
            </a:pPr>
            <a:r>
              <a:rPr lang="he-IL" sz="3200" b="1">
                <a:solidFill>
                  <a:srgbClr val="5F6B76"/>
                </a:solidFill>
                <a:latin typeface="Arial Unicode MS"/>
                <a:ea typeface="Arial Unicode MS"/>
                <a:cs typeface="Arial Unicode MS"/>
              </a:rPr>
              <a:t>÷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212080" y="3017520"/>
            <a:ext cx="2011680" cy="1234440"/>
          </a:xfrm>
          <a:prstGeom prst="roundRect">
            <a:avLst>
              <a:gd name="adj" fmla="val 8000"/>
            </a:avLst>
          </a:prstGeom>
          <a:solidFill>
            <a:srgbClr val="EAF3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12080" y="3063240"/>
            <a:ext cx="2011680" cy="1143000"/>
          </a:xfrm>
          <a:prstGeom prst="rect">
            <a:avLst/>
          </a:prstGeom>
          <a:noFill/>
        </p:spPr>
        <p:txBody>
          <a:bodyPr wrap="square" lIns="0" rIns="0" tIns="0" bIns="0" anchor="ctr" rtlCol="1">
            <a:spAutoFit/>
          </a:bodyPr>
          <a:lstStyle/>
          <a:p>
            <a:pPr algn="ctr" rtl="1" marL="0" indent="0">
              <a:spcAft>
                <a:spcPts val="400"/>
              </a:spcAft>
              <a:buNone/>
            </a:pPr>
            <a:r>
              <a:rPr lang="he-IL" sz="3200" b="1">
                <a:solidFill>
                  <a:srgbClr val="0081C8"/>
                </a:solidFill>
                <a:latin typeface="Arial Unicode MS"/>
                <a:ea typeface="Arial Unicode MS"/>
                <a:cs typeface="Arial Unicode MS"/>
              </a:rPr>
              <a:t>360</a:t>
            </a:r>
          </a:p>
          <a:p>
            <a:pPr algn="ctr" rtl="1" marL="0" indent="0">
              <a:spcAft>
                <a:spcPts val="400"/>
              </a:spcAft>
              <a:buNone/>
            </a:pPr>
            <a:r>
              <a:rPr lang="he-IL" sz="1300" b="0">
                <a:solidFill>
                  <a:srgbClr val="333F4A"/>
                </a:solidFill>
                <a:latin typeface="Arial Unicode MS"/>
                <a:ea typeface="Arial Unicode MS"/>
                <a:cs typeface="Arial Unicode MS"/>
              </a:rPr>
              <a:t>ק"ג צמנט ל-מ"ק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80" y="3017520"/>
            <a:ext cx="548640" cy="1234440"/>
          </a:xfrm>
          <a:prstGeom prst="rect">
            <a:avLst/>
          </a:prstGeom>
          <a:noFill/>
        </p:spPr>
        <p:txBody>
          <a:bodyPr wrap="square" lIns="0" rIns="0" tIns="0" bIns="0" anchor="ctr" rtlCol="1">
            <a:spAutoFit/>
          </a:bodyPr>
          <a:lstStyle/>
          <a:p>
            <a:pPr algn="ctr" rtl="1" marL="0" indent="0">
              <a:spcAft>
                <a:spcPts val="400"/>
              </a:spcAft>
              <a:buNone/>
            </a:pPr>
            <a:r>
              <a:rPr lang="he-IL" sz="3200" b="1">
                <a:solidFill>
                  <a:srgbClr val="5F6B76"/>
                </a:solidFill>
                <a:latin typeface="Arial Unicode MS"/>
                <a:ea typeface="Arial Unicode MS"/>
                <a:cs typeface="Arial Unicode MS"/>
              </a:rPr>
              <a:t>=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377439" y="3017520"/>
            <a:ext cx="2011680" cy="1234440"/>
          </a:xfrm>
          <a:prstGeom prst="roundRect">
            <a:avLst>
              <a:gd name="adj" fmla="val 8000"/>
            </a:avLst>
          </a:prstGeom>
          <a:solidFill>
            <a:srgbClr val="EAF3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377439" y="3063240"/>
            <a:ext cx="2011680" cy="1143000"/>
          </a:xfrm>
          <a:prstGeom prst="rect">
            <a:avLst/>
          </a:prstGeom>
          <a:noFill/>
        </p:spPr>
        <p:txBody>
          <a:bodyPr wrap="square" lIns="0" rIns="0" tIns="0" bIns="0" anchor="ctr" rtlCol="1">
            <a:spAutoFit/>
          </a:bodyPr>
          <a:lstStyle/>
          <a:p>
            <a:pPr algn="ctr" rtl="1" marL="0" indent="0">
              <a:spcAft>
                <a:spcPts val="400"/>
              </a:spcAft>
              <a:buNone/>
            </a:pPr>
            <a:r>
              <a:rPr lang="he-IL" sz="3200" b="1">
                <a:solidFill>
                  <a:srgbClr val="003973"/>
                </a:solidFill>
                <a:latin typeface="Arial Unicode MS"/>
                <a:ea typeface="Arial Unicode MS"/>
                <a:cs typeface="Arial Unicode MS"/>
              </a:rPr>
              <a:t>0.50</a:t>
            </a:r>
          </a:p>
          <a:p>
            <a:pPr algn="ctr" rtl="1" marL="0" indent="0">
              <a:spcAft>
                <a:spcPts val="400"/>
              </a:spcAft>
              <a:buNone/>
            </a:pPr>
            <a:r>
              <a:rPr lang="he-IL" sz="1300" b="0">
                <a:solidFill>
                  <a:srgbClr val="333F4A"/>
                </a:solidFill>
                <a:latin typeface="Arial Unicode MS"/>
                <a:ea typeface="Arial Unicode MS"/>
                <a:cs typeface="Arial Unicode MS"/>
              </a:rPr>
              <a:t>W/C</a:t>
            </a:r>
          </a:p>
        </p:txBody>
      </p:sp>
      <p:sp>
        <p:nvSpPr>
          <p:cNvPr id="15" name="Oval 14"/>
          <p:cNvSpPr/>
          <p:nvPr/>
        </p:nvSpPr>
        <p:spPr>
          <a:xfrm>
            <a:off x="10858500" y="4549140"/>
            <a:ext cx="502920" cy="502920"/>
          </a:xfrm>
          <a:prstGeom prst="ellipse">
            <a:avLst/>
          </a:prstGeom>
          <a:solidFill>
            <a:srgbClr val="00397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Picture 15" descr="FaTint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9200" y="4669840"/>
            <a:ext cx="261518" cy="261518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001000" y="452628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 rtlCol="1">
            <a:spAutoFit/>
          </a:bodyPr>
          <a:lstStyle/>
          <a:p>
            <a:pPr algn="r" rtl="1" marL="0" indent="0">
              <a:spcAft>
                <a:spcPts val="400"/>
              </a:spcAft>
              <a:buNone/>
            </a:pPr>
            <a:r>
              <a:rPr lang="he-IL" sz="1600" b="1">
                <a:solidFill>
                  <a:srgbClr val="003973"/>
                </a:solidFill>
                <a:latin typeface="Arial Unicode MS"/>
                <a:ea typeface="Arial Unicode MS"/>
                <a:cs typeface="Arial Unicode MS"/>
              </a:rPr>
              <a:t>סופרים את כל המים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01000" y="4892040"/>
            <a:ext cx="2743200" cy="868680"/>
          </a:xfrm>
          <a:prstGeom prst="rect">
            <a:avLst/>
          </a:prstGeom>
          <a:noFill/>
        </p:spPr>
        <p:txBody>
          <a:bodyPr wrap="square" lIns="0" rIns="0" tIns="0" bIns="0" anchor="t" rtlCol="1">
            <a:spAutoFit/>
          </a:bodyPr>
          <a:lstStyle/>
          <a:p>
            <a:pPr algn="r" rtl="1" marL="0" indent="0">
              <a:spcAft>
                <a:spcPts val="400"/>
              </a:spcAft>
              <a:buNone/>
            </a:pPr>
            <a:r>
              <a:rPr lang="he-IL" sz="1300" b="0">
                <a:solidFill>
                  <a:srgbClr val="333F4A"/>
                </a:solidFill>
                <a:latin typeface="Arial Unicode MS"/>
                <a:ea typeface="Arial Unicode MS"/>
                <a:cs typeface="Arial Unicode MS"/>
              </a:rPr>
              <a:t>כולל הלחות החופשית באגרגטים ומים מהמוספים</a:t>
            </a:r>
          </a:p>
        </p:txBody>
      </p:sp>
      <p:sp>
        <p:nvSpPr>
          <p:cNvPr id="19" name="Oval 18"/>
          <p:cNvSpPr/>
          <p:nvPr/>
        </p:nvSpPr>
        <p:spPr>
          <a:xfrm>
            <a:off x="7310628" y="4549140"/>
            <a:ext cx="502920" cy="502920"/>
          </a:xfrm>
          <a:prstGeom prst="ellipse">
            <a:avLst/>
          </a:prstGeom>
          <a:solidFill>
            <a:srgbClr val="00397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0" name="Picture 19" descr="FaRecycle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31328" y="4669840"/>
            <a:ext cx="261518" cy="261518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4453128" y="452628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 rtlCol="1">
            <a:spAutoFit/>
          </a:bodyPr>
          <a:lstStyle/>
          <a:p>
            <a:pPr algn="r" rtl="1" marL="0" indent="0">
              <a:spcAft>
                <a:spcPts val="400"/>
              </a:spcAft>
              <a:buNone/>
            </a:pPr>
            <a:r>
              <a:rPr lang="he-IL" sz="1600" b="1">
                <a:solidFill>
                  <a:srgbClr val="003973"/>
                </a:solidFill>
                <a:latin typeface="Arial Unicode MS"/>
                <a:ea typeface="Arial Unicode MS"/>
                <a:cs typeface="Arial Unicode MS"/>
              </a:rPr>
              <a:t>W/B — מים לחומר מלכד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53128" y="4892040"/>
            <a:ext cx="2743200" cy="868680"/>
          </a:xfrm>
          <a:prstGeom prst="rect">
            <a:avLst/>
          </a:prstGeom>
          <a:noFill/>
        </p:spPr>
        <p:txBody>
          <a:bodyPr wrap="square" lIns="0" rIns="0" tIns="0" bIns="0" anchor="t" rtlCol="1">
            <a:spAutoFit/>
          </a:bodyPr>
          <a:lstStyle/>
          <a:p>
            <a:pPr algn="r" rtl="1" marL="0" indent="0">
              <a:spcAft>
                <a:spcPts val="400"/>
              </a:spcAft>
              <a:buNone/>
            </a:pPr>
            <a:r>
              <a:rPr lang="he-IL" sz="1300" b="0">
                <a:solidFill>
                  <a:srgbClr val="333F4A"/>
                </a:solidFill>
                <a:latin typeface="Arial Unicode MS"/>
                <a:ea typeface="Arial Unicode MS"/>
                <a:cs typeface="Arial Unicode MS"/>
              </a:rPr>
              <a:t>כשיש תוספים: מחלקים בצמנט + אפר/סיגים/מיקרוסיליקה</a:t>
            </a:r>
          </a:p>
        </p:txBody>
      </p:sp>
      <p:sp>
        <p:nvSpPr>
          <p:cNvPr id="23" name="Oval 22"/>
          <p:cNvSpPr/>
          <p:nvPr/>
        </p:nvSpPr>
        <p:spPr>
          <a:xfrm>
            <a:off x="3762755" y="4549140"/>
            <a:ext cx="502920" cy="502920"/>
          </a:xfrm>
          <a:prstGeom prst="ellipse">
            <a:avLst/>
          </a:prstGeom>
          <a:solidFill>
            <a:srgbClr val="00397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4" name="Picture 23" descr="FaBook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83456" y="4669840"/>
            <a:ext cx="261518" cy="261518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905256" y="452628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 rtlCol="1">
            <a:spAutoFit/>
          </a:bodyPr>
          <a:lstStyle/>
          <a:p>
            <a:pPr algn="r" rtl="1" marL="0" indent="0">
              <a:spcAft>
                <a:spcPts val="400"/>
              </a:spcAft>
              <a:buNone/>
            </a:pPr>
            <a:r>
              <a:rPr lang="he-IL" sz="1600" b="1">
                <a:solidFill>
                  <a:srgbClr val="003973"/>
                </a:solidFill>
                <a:latin typeface="Arial Unicode MS"/>
                <a:ea typeface="Arial Unicode MS"/>
                <a:cs typeface="Arial Unicode MS"/>
              </a:rPr>
              <a:t>מגבלה תקנית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5256" y="4892040"/>
            <a:ext cx="2743200" cy="868680"/>
          </a:xfrm>
          <a:prstGeom prst="rect">
            <a:avLst/>
          </a:prstGeom>
          <a:noFill/>
        </p:spPr>
        <p:txBody>
          <a:bodyPr wrap="square" lIns="0" rIns="0" tIns="0" bIns="0" anchor="t" rtlCol="1">
            <a:spAutoFit/>
          </a:bodyPr>
          <a:lstStyle/>
          <a:p>
            <a:pPr algn="r" rtl="1" marL="0" indent="0">
              <a:spcAft>
                <a:spcPts val="400"/>
              </a:spcAft>
              <a:buNone/>
            </a:pPr>
            <a:r>
              <a:rPr lang="he-IL" sz="1300" b="0">
                <a:solidFill>
                  <a:srgbClr val="333F4A"/>
                </a:solidFill>
                <a:latin typeface="Arial Unicode MS"/>
                <a:ea typeface="Arial Unicode MS"/>
                <a:cs typeface="Arial Unicode MS"/>
              </a:rPr>
              <a:t>EN 206 / ת"י 118 קובעים W/C מרבי לפי דרגת החשיפה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>
                <a:latin typeface="Arial Unicode MS"/>
                <a:ea typeface="Arial Unicode MS"/>
                <a:cs typeface="Arial Unicode MS"/>
              </a:rPr>
              <a:t>W/C וחוזק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822960" y="1051560"/>
          <a:ext cx="6949440" cy="4389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822960" y="5486400"/>
            <a:ext cx="6949440" cy="274320"/>
          </a:xfrm>
          <a:prstGeom prst="rect">
            <a:avLst/>
          </a:prstGeom>
          <a:noFill/>
        </p:spPr>
        <p:txBody>
          <a:bodyPr wrap="square" lIns="0" rIns="0" tIns="0" bIns="0" anchor="t" rtlCol="1">
            <a:spAutoFit/>
          </a:bodyPr>
          <a:lstStyle/>
          <a:p>
            <a:pPr algn="r" rtl="1" marL="0" indent="0">
              <a:spcAft>
                <a:spcPts val="400"/>
              </a:spcAft>
              <a:buNone/>
            </a:pPr>
            <a:r>
              <a:rPr lang="he-IL" sz="1100" b="0">
                <a:solidFill>
                  <a:srgbClr val="5F6B76"/>
                </a:solidFill>
                <a:latin typeface="Arial Unicode MS"/>
                <a:ea typeface="Arial Unicode MS"/>
                <a:cs typeface="Arial Unicode MS"/>
              </a:rPr>
              <a:t>מקור: ACI 211.1, בטון ללא אוויר מוחדר, חוזק גליל 28 יום — טיפוסי, להמחשה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92440" y="1143000"/>
            <a:ext cx="3383280" cy="1737360"/>
          </a:xfrm>
          <a:prstGeom prst="roundRect">
            <a:avLst>
              <a:gd name="adj" fmla="val 8000"/>
            </a:avLst>
          </a:prstGeom>
          <a:solidFill>
            <a:srgbClr val="00397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0" y="1188720"/>
            <a:ext cx="3108960" cy="1645920"/>
          </a:xfrm>
          <a:prstGeom prst="rect">
            <a:avLst/>
          </a:prstGeom>
          <a:noFill/>
        </p:spPr>
        <p:txBody>
          <a:bodyPr wrap="square" lIns="0" rIns="0" tIns="0" bIns="0" anchor="ctr" rtlCol="1">
            <a:spAutoFit/>
          </a:bodyPr>
          <a:lstStyle/>
          <a:p>
            <a:pPr algn="ctr" rtl="1" marL="0" indent="0">
              <a:spcAft>
                <a:spcPts val="400"/>
              </a:spcAft>
              <a:buNone/>
            </a:pPr>
            <a:r>
              <a:rPr lang="he-IL" sz="17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ככל ש-W/C נמוך יותר</a:t>
            </a:r>
          </a:p>
          <a:p>
            <a:pPr algn="ctr" rtl="1" marL="0" indent="0">
              <a:spcAft>
                <a:spcPts val="400"/>
              </a:spcAft>
              <a:buNone/>
            </a:pPr>
            <a:r>
              <a:rPr lang="he-IL" sz="2400" b="1">
                <a:solidFill>
                  <a:srgbClr val="C4D82E"/>
                </a:solidFill>
                <a:latin typeface="Arial Unicode MS"/>
                <a:ea typeface="Arial Unicode MS"/>
                <a:cs typeface="Arial Unicode MS"/>
              </a:rPr>
              <a:t>החוזק גבוה יותר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92440" y="3063240"/>
            <a:ext cx="3383280" cy="1143000"/>
          </a:xfrm>
          <a:prstGeom prst="roundRect">
            <a:avLst>
              <a:gd name="adj" fmla="val 8000"/>
            </a:avLst>
          </a:prstGeom>
          <a:solidFill>
            <a:srgbClr val="EAF3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0" y="3108960"/>
            <a:ext cx="3108960" cy="1051560"/>
          </a:xfrm>
          <a:prstGeom prst="rect">
            <a:avLst/>
          </a:prstGeom>
          <a:noFill/>
        </p:spPr>
        <p:txBody>
          <a:bodyPr wrap="square" lIns="0" rIns="0" tIns="0" bIns="0" anchor="ctr" rtlCol="1">
            <a:spAutoFit/>
          </a:bodyPr>
          <a:lstStyle/>
          <a:p>
            <a:pPr algn="ctr" rtl="0" marL="0" indent="0">
              <a:spcAft>
                <a:spcPts val="400"/>
              </a:spcAft>
              <a:buNone/>
            </a:pPr>
            <a:r>
              <a:rPr lang="he-IL" sz="2200" b="1">
                <a:solidFill>
                  <a:srgbClr val="0081C8"/>
                </a:solidFill>
                <a:latin typeface="Arial Unicode MS"/>
                <a:ea typeface="Arial Unicode MS"/>
                <a:cs typeface="Arial Unicode MS"/>
              </a:rPr>
              <a:t>W/C 0.47 → 0.61</a:t>
            </a:r>
          </a:p>
          <a:p>
            <a:pPr algn="ctr" rtl="1" marL="0" indent="0">
              <a:spcAft>
                <a:spcPts val="400"/>
              </a:spcAft>
              <a:buNone/>
            </a:pPr>
            <a:r>
              <a:rPr lang="he-IL" sz="1400" b="0">
                <a:solidFill>
                  <a:srgbClr val="333F4A"/>
                </a:solidFill>
                <a:latin typeface="Arial Unicode MS"/>
                <a:ea typeface="Arial Unicode MS"/>
                <a:cs typeface="Arial Unicode MS"/>
              </a:rPr>
              <a:t>החוזק יורד בכ-30%, מ-35 ל-25 MPa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92440" y="4389120"/>
            <a:ext cx="3383280" cy="914400"/>
          </a:xfrm>
          <a:prstGeom prst="rect">
            <a:avLst/>
          </a:prstGeom>
          <a:noFill/>
        </p:spPr>
        <p:txBody>
          <a:bodyPr wrap="square" lIns="0" rIns="0" tIns="0" bIns="0" anchor="t" rtlCol="1">
            <a:spAutoFit/>
          </a:bodyPr>
          <a:lstStyle/>
          <a:p>
            <a:pPr algn="r" rtl="1" marL="0" indent="0">
              <a:spcAft>
                <a:spcPts val="400"/>
              </a:spcAft>
              <a:buNone/>
            </a:pPr>
            <a:r>
              <a:rPr lang="he-IL" sz="1300" b="0">
                <a:solidFill>
                  <a:srgbClr val="5F6B76"/>
                </a:solidFill>
                <a:latin typeface="Arial Unicode MS"/>
                <a:ea typeface="Arial Unicode MS"/>
                <a:cs typeface="Arial Unicode MS"/>
              </a:rPr>
              <a:t>חוק אברמס (1918): החוזק תלוי ביחס המים-צמנט — כמעט בלי קשר לכמות הצמנט עצמה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>
                <a:latin typeface="Arial Unicode MS"/>
                <a:ea typeface="Arial Unicode MS"/>
                <a:cs typeface="Arial Unicode MS"/>
              </a:rPr>
              <a:t>W/C וחדירות</a:t>
            </a:r>
          </a:p>
        </p:txBody>
      </p:sp>
      <p:pic>
        <p:nvPicPr>
          <p:cNvPr id="3" name="Picture 2" descr="pores_den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3720" y="1463040"/>
            <a:ext cx="4023360" cy="3017520"/>
          </a:xfrm>
          <a:prstGeom prst="rect">
            <a:avLst/>
          </a:prstGeom>
        </p:spPr>
      </p:pic>
      <p:pic>
        <p:nvPicPr>
          <p:cNvPr id="4" name="Picture 3" descr="pores_op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599" y="1463040"/>
            <a:ext cx="4023360" cy="30175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355080" y="105156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 rtlCol="1">
            <a:spAutoFit/>
          </a:bodyPr>
          <a:lstStyle/>
          <a:p>
            <a:pPr algn="ctr" rtl="1" marL="0" indent="0">
              <a:spcAft>
                <a:spcPts val="400"/>
              </a:spcAft>
              <a:buNone/>
            </a:pPr>
            <a:r>
              <a:rPr lang="he-IL" sz="1900" b="1">
                <a:solidFill>
                  <a:srgbClr val="003973"/>
                </a:solidFill>
                <a:latin typeface="Arial Unicode MS"/>
                <a:ea typeface="Arial Unicode MS"/>
                <a:cs typeface="Arial Unicode MS"/>
              </a:rPr>
              <a:t>W/C 0.40</a:t>
            </a:r>
            <a:r>
              <a:rPr lang="he-IL" sz="1700" b="0">
                <a:solidFill>
                  <a:srgbClr val="333F4A"/>
                </a:solidFill>
                <a:latin typeface="Arial Unicode MS"/>
                <a:ea typeface="Arial Unicode MS"/>
                <a:cs typeface="Arial Unicode MS"/>
              </a:rPr>
              <a:t>  —  משחה צפופה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05156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 rtlCol="1">
            <a:spAutoFit/>
          </a:bodyPr>
          <a:lstStyle/>
          <a:p>
            <a:pPr algn="ctr" rtl="1" marL="0" indent="0">
              <a:spcAft>
                <a:spcPts val="400"/>
              </a:spcAft>
              <a:buNone/>
            </a:pPr>
            <a:r>
              <a:rPr lang="he-IL" sz="1900" b="1">
                <a:solidFill>
                  <a:srgbClr val="C62828"/>
                </a:solidFill>
                <a:latin typeface="Arial Unicode MS"/>
                <a:ea typeface="Arial Unicode MS"/>
                <a:cs typeface="Arial Unicode MS"/>
              </a:rPr>
              <a:t>W/C 0.70</a:t>
            </a:r>
            <a:r>
              <a:rPr lang="he-IL" sz="1700" b="0">
                <a:solidFill>
                  <a:srgbClr val="333F4A"/>
                </a:solidFill>
                <a:latin typeface="Arial Unicode MS"/>
                <a:ea typeface="Arial Unicode MS"/>
                <a:cs typeface="Arial Unicode MS"/>
              </a:rPr>
              <a:t>  —  נקבוביות רציפות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5080" y="4572000"/>
            <a:ext cx="5120640" cy="685800"/>
          </a:xfrm>
          <a:prstGeom prst="rect">
            <a:avLst/>
          </a:prstGeom>
          <a:noFill/>
        </p:spPr>
        <p:txBody>
          <a:bodyPr wrap="square" lIns="0" rIns="0" tIns="0" bIns="0" anchor="t" rtlCol="1">
            <a:spAutoFit/>
          </a:bodyPr>
          <a:lstStyle/>
          <a:p>
            <a:pPr algn="r" rtl="1" marL="228600" indent="-228600">
              <a:spcAft>
                <a:spcPts val="400"/>
              </a:spcAft>
              <a:buFont typeface="Arial"/>
              <a:buChar char="•"/>
            </a:pPr>
            <a:r>
              <a:rPr lang="he-IL" sz="1500" b="0">
                <a:solidFill>
                  <a:srgbClr val="333F4A"/>
                </a:solidFill>
                <a:latin typeface="Arial Unicode MS"/>
                <a:ea typeface="Arial Unicode MS"/>
                <a:cs typeface="Arial Unicode MS"/>
              </a:rPr>
              <a:t>נקבוביות קפילריות מעטות ומבודדות</a:t>
            </a:r>
          </a:p>
          <a:p>
            <a:pPr algn="r" rtl="1" marL="228600" indent="-228600">
              <a:spcAft>
                <a:spcPts val="400"/>
              </a:spcAft>
              <a:buFont typeface="Arial"/>
              <a:buChar char="•"/>
            </a:pPr>
            <a:r>
              <a:rPr lang="he-IL" sz="1500" b="0">
                <a:solidFill>
                  <a:srgbClr val="333F4A"/>
                </a:solidFill>
                <a:latin typeface="Arial Unicode MS"/>
                <a:ea typeface="Arial Unicode MS"/>
                <a:cs typeface="Arial Unicode MS"/>
              </a:rPr>
              <a:t>מים ויונים מתקשים לחדור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572000"/>
            <a:ext cx="5120640" cy="685800"/>
          </a:xfrm>
          <a:prstGeom prst="rect">
            <a:avLst/>
          </a:prstGeom>
          <a:noFill/>
        </p:spPr>
        <p:txBody>
          <a:bodyPr wrap="square" lIns="0" rIns="0" tIns="0" bIns="0" anchor="t" rtlCol="1">
            <a:spAutoFit/>
          </a:bodyPr>
          <a:lstStyle/>
          <a:p>
            <a:pPr algn="r" rtl="1" marL="228600" indent="-228600">
              <a:spcAft>
                <a:spcPts val="400"/>
              </a:spcAft>
              <a:buFont typeface="Arial"/>
              <a:buChar char="•"/>
            </a:pPr>
            <a:r>
              <a:rPr lang="he-IL" sz="1500" b="0">
                <a:solidFill>
                  <a:srgbClr val="333F4A"/>
                </a:solidFill>
                <a:latin typeface="Arial Unicode MS"/>
                <a:ea typeface="Arial Unicode MS"/>
                <a:cs typeface="Arial Unicode MS"/>
              </a:rPr>
              <a:t>רשת תעלות מחוברות לכל העומק</a:t>
            </a:r>
          </a:p>
          <a:p>
            <a:pPr algn="r" rtl="1" marL="228600" indent="-228600">
              <a:spcAft>
                <a:spcPts val="400"/>
              </a:spcAft>
              <a:buFont typeface="Arial"/>
              <a:buChar char="•"/>
            </a:pPr>
            <a:r>
              <a:rPr lang="he-IL" sz="1500" b="0">
                <a:solidFill>
                  <a:srgbClr val="333F4A"/>
                </a:solidFill>
                <a:latin typeface="Arial Unicode MS"/>
                <a:ea typeface="Arial Unicode MS"/>
                <a:cs typeface="Arial Unicode MS"/>
              </a:rPr>
              <a:t>מים, כלורידים ו-CO₂ חודרים בקלות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5349240"/>
            <a:ext cx="8183879" cy="566928"/>
          </a:xfrm>
          <a:prstGeom prst="roundRect">
            <a:avLst>
              <a:gd name="adj" fmla="val 8000"/>
            </a:avLst>
          </a:prstGeom>
          <a:solidFill>
            <a:srgbClr val="00397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394192" y="5404103"/>
            <a:ext cx="457200" cy="457200"/>
          </a:xfrm>
          <a:prstGeom prst="ellipse">
            <a:avLst/>
          </a:prstGeom>
          <a:solidFill>
            <a:srgbClr val="C4D8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Picture 10" descr="FaLightbulb_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03919" y="5513831"/>
            <a:ext cx="237744" cy="23774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051560" y="5349240"/>
            <a:ext cx="7269479" cy="566928"/>
          </a:xfrm>
          <a:prstGeom prst="rect">
            <a:avLst/>
          </a:prstGeom>
          <a:noFill/>
        </p:spPr>
        <p:txBody>
          <a:bodyPr wrap="square" lIns="0" rIns="0" tIns="0" bIns="0" anchor="ctr" rtlCol="1">
            <a:spAutoFit/>
          </a:bodyPr>
          <a:lstStyle/>
          <a:p>
            <a:pPr algn="r" rtl="1" marL="0" indent="0">
              <a:spcAft>
                <a:spcPts val="400"/>
              </a:spcAft>
              <a:buNone/>
            </a:pPr>
            <a:r>
              <a:rPr lang="he-IL" sz="17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מעל W/C ≈ 0.6 הנקבוביות הופכות לרציפות — והחדירות עולה בסדרי גודל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>
                <a:latin typeface="Arial Unicode MS"/>
                <a:ea typeface="Arial Unicode MS"/>
                <a:cs typeface="Arial Unicode MS"/>
              </a:rPr>
              <a:t>W/C ועמידות</a:t>
            </a:r>
          </a:p>
        </p:txBody>
      </p:sp>
      <p:pic>
        <p:nvPicPr>
          <p:cNvPr id="3" name="Picture 2" descr="chlor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133993"/>
            <a:ext cx="6675120" cy="285265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4069080"/>
            <a:ext cx="6675120" cy="548640"/>
          </a:xfrm>
          <a:prstGeom prst="rect">
            <a:avLst/>
          </a:prstGeom>
          <a:noFill/>
        </p:spPr>
        <p:txBody>
          <a:bodyPr wrap="square" lIns="0" rIns="0" tIns="0" bIns="0" anchor="t" rtlCol="1">
            <a:spAutoFit/>
          </a:bodyPr>
          <a:lstStyle/>
          <a:p>
            <a:pPr algn="r" rtl="1" marL="0" indent="0">
              <a:spcAft>
                <a:spcPts val="400"/>
              </a:spcAft>
              <a:buNone/>
            </a:pPr>
            <a:r>
              <a:rPr lang="he-IL" sz="1300" b="0">
                <a:solidFill>
                  <a:srgbClr val="5F6B76"/>
                </a:solidFill>
                <a:latin typeface="Arial Unicode MS"/>
                <a:ea typeface="Arial Unicode MS"/>
                <a:cs typeface="Arial Unicode MS"/>
              </a:rPr>
              <a:t>קו מקווקו = עומק כיסוי הבטון. משמאל: הכלורידים הגיעו לזיון, החלודה מתנפחת ומבקיעה את הבטון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0" y="1143000"/>
            <a:ext cx="3703320" cy="1097280"/>
          </a:xfrm>
          <a:prstGeom prst="roundRect">
            <a:avLst>
              <a:gd name="adj" fmla="val 8000"/>
            </a:avLst>
          </a:prstGeom>
          <a:solidFill>
            <a:srgbClr val="EAF3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735056" y="1408176"/>
            <a:ext cx="566928" cy="566928"/>
          </a:xfrm>
          <a:prstGeom prst="ellipse">
            <a:avLst/>
          </a:prstGeom>
          <a:solidFill>
            <a:srgbClr val="00397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7" name="Picture 6" descr="FaFlask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71118" y="1544238"/>
            <a:ext cx="294802" cy="29480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909560" y="123444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 rtlCol="1">
            <a:spAutoFit/>
          </a:bodyPr>
          <a:lstStyle/>
          <a:p>
            <a:pPr algn="r" rtl="1" marL="0" indent="0">
              <a:spcAft>
                <a:spcPts val="400"/>
              </a:spcAft>
              <a:buNone/>
            </a:pPr>
            <a:r>
              <a:rPr lang="he-IL" sz="1700" b="1">
                <a:solidFill>
                  <a:srgbClr val="003973"/>
                </a:solidFill>
                <a:latin typeface="Arial Unicode MS"/>
                <a:ea typeface="Arial Unicode MS"/>
                <a:cs typeface="Arial Unicode MS"/>
              </a:rPr>
              <a:t>כלורידים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09560" y="1600200"/>
            <a:ext cx="2743200" cy="621792"/>
          </a:xfrm>
          <a:prstGeom prst="rect">
            <a:avLst/>
          </a:prstGeom>
          <a:noFill/>
        </p:spPr>
        <p:txBody>
          <a:bodyPr wrap="square" lIns="0" rIns="0" tIns="0" bIns="0" anchor="t" rtlCol="1">
            <a:spAutoFit/>
          </a:bodyPr>
          <a:lstStyle/>
          <a:p>
            <a:pPr algn="r" rtl="1" marL="0" indent="0">
              <a:spcAft>
                <a:spcPts val="400"/>
              </a:spcAft>
              <a:buNone/>
            </a:pPr>
            <a:r>
              <a:rPr lang="he-IL" sz="1300" b="0">
                <a:solidFill>
                  <a:srgbClr val="333F4A"/>
                </a:solidFill>
                <a:latin typeface="Arial Unicode MS"/>
                <a:ea typeface="Arial Unicode MS"/>
                <a:cs typeface="Arial Unicode MS"/>
              </a:rPr>
              <a:t>חודרים דרך הנקבוביות ומשמידים את שכבת ההגנה של הפלדה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0" y="2377440"/>
            <a:ext cx="3703320" cy="1097280"/>
          </a:xfrm>
          <a:prstGeom prst="roundRect">
            <a:avLst>
              <a:gd name="adj" fmla="val 8000"/>
            </a:avLst>
          </a:prstGeom>
          <a:solidFill>
            <a:srgbClr val="EAF3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735056" y="2642616"/>
            <a:ext cx="566928" cy="566928"/>
          </a:xfrm>
          <a:prstGeom prst="ellipse">
            <a:avLst/>
          </a:prstGeom>
          <a:solidFill>
            <a:srgbClr val="00397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2" name="Picture 11" descr="FaBolt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71118" y="2778678"/>
            <a:ext cx="294802" cy="29480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909560" y="246888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 rtlCol="1">
            <a:spAutoFit/>
          </a:bodyPr>
          <a:lstStyle/>
          <a:p>
            <a:pPr algn="r" rtl="1" marL="0" indent="0">
              <a:spcAft>
                <a:spcPts val="400"/>
              </a:spcAft>
              <a:buNone/>
            </a:pPr>
            <a:r>
              <a:rPr lang="he-IL" sz="1700" b="1">
                <a:solidFill>
                  <a:srgbClr val="003973"/>
                </a:solidFill>
                <a:latin typeface="Arial Unicode MS"/>
                <a:ea typeface="Arial Unicode MS"/>
                <a:cs typeface="Arial Unicode MS"/>
              </a:rPr>
              <a:t>קורוזיה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09560" y="2834640"/>
            <a:ext cx="2743200" cy="621792"/>
          </a:xfrm>
          <a:prstGeom prst="rect">
            <a:avLst/>
          </a:prstGeom>
          <a:noFill/>
        </p:spPr>
        <p:txBody>
          <a:bodyPr wrap="square" lIns="0" rIns="0" tIns="0" bIns="0" anchor="t" rtlCol="1">
            <a:spAutoFit/>
          </a:bodyPr>
          <a:lstStyle/>
          <a:p>
            <a:pPr algn="r" rtl="1" marL="0" indent="0">
              <a:spcAft>
                <a:spcPts val="400"/>
              </a:spcAft>
              <a:buNone/>
            </a:pPr>
            <a:r>
              <a:rPr lang="he-IL" sz="1300" b="0">
                <a:solidFill>
                  <a:srgbClr val="333F4A"/>
                </a:solidFill>
                <a:latin typeface="Arial Unicode MS"/>
                <a:ea typeface="Arial Unicode MS"/>
                <a:cs typeface="Arial Unicode MS"/>
              </a:rPr>
              <a:t>חלודה תופסת פי 2-6 מנפח הפלדה — סדיקה והתפוררות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0" y="3611880"/>
            <a:ext cx="3703320" cy="1097280"/>
          </a:xfrm>
          <a:prstGeom prst="roundRect">
            <a:avLst>
              <a:gd name="adj" fmla="val 8000"/>
            </a:avLst>
          </a:prstGeom>
          <a:solidFill>
            <a:srgbClr val="EAF3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0735056" y="3877056"/>
            <a:ext cx="566928" cy="566928"/>
          </a:xfrm>
          <a:prstGeom prst="ellipse">
            <a:avLst/>
          </a:prstGeom>
          <a:solidFill>
            <a:srgbClr val="00397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7" name="Picture 16" descr="FaTint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71118" y="4013118"/>
            <a:ext cx="294802" cy="294802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909560" y="370332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 rtlCol="1">
            <a:spAutoFit/>
          </a:bodyPr>
          <a:lstStyle/>
          <a:p>
            <a:pPr algn="r" rtl="1" marL="0" indent="0">
              <a:spcAft>
                <a:spcPts val="400"/>
              </a:spcAft>
              <a:buNone/>
            </a:pPr>
            <a:r>
              <a:rPr lang="he-IL" sz="1700" b="1">
                <a:solidFill>
                  <a:srgbClr val="003973"/>
                </a:solidFill>
                <a:latin typeface="Arial Unicode MS"/>
                <a:ea typeface="Arial Unicode MS"/>
                <a:cs typeface="Arial Unicode MS"/>
              </a:rPr>
              <a:t>חדירת מים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09560" y="4069080"/>
            <a:ext cx="2743200" cy="621792"/>
          </a:xfrm>
          <a:prstGeom prst="rect">
            <a:avLst/>
          </a:prstGeom>
          <a:noFill/>
        </p:spPr>
        <p:txBody>
          <a:bodyPr wrap="square" lIns="0" rIns="0" tIns="0" bIns="0" anchor="t" rtlCol="1">
            <a:spAutoFit/>
          </a:bodyPr>
          <a:lstStyle/>
          <a:p>
            <a:pPr algn="r" rtl="1" marL="0" indent="0">
              <a:spcAft>
                <a:spcPts val="400"/>
              </a:spcAft>
              <a:buNone/>
            </a:pPr>
            <a:r>
              <a:rPr lang="he-IL" sz="1300" b="0">
                <a:solidFill>
                  <a:srgbClr val="333F4A"/>
                </a:solidFill>
                <a:latin typeface="Arial Unicode MS"/>
                <a:ea typeface="Arial Unicode MS"/>
                <a:cs typeface="Arial Unicode MS"/>
              </a:rPr>
              <a:t>מובילה מלחים, סולפטים ותגובות אלקלי-סיליקה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" y="4800600"/>
            <a:ext cx="8183879" cy="777240"/>
          </a:xfrm>
          <a:prstGeom prst="roundRect">
            <a:avLst>
              <a:gd name="adj" fmla="val 8000"/>
            </a:avLst>
          </a:prstGeom>
          <a:solidFill>
            <a:srgbClr val="00397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394192" y="4960620"/>
            <a:ext cx="457200" cy="457200"/>
          </a:xfrm>
          <a:prstGeom prst="ellipse">
            <a:avLst/>
          </a:prstGeom>
          <a:solidFill>
            <a:srgbClr val="C4D8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2" name="Picture 21" descr="FaLightbulb_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03919" y="5070348"/>
            <a:ext cx="237744" cy="237744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1051560" y="4800600"/>
            <a:ext cx="7269479" cy="777240"/>
          </a:xfrm>
          <a:prstGeom prst="rect">
            <a:avLst/>
          </a:prstGeom>
          <a:noFill/>
        </p:spPr>
        <p:txBody>
          <a:bodyPr wrap="square" lIns="0" rIns="0" tIns="0" bIns="0" anchor="ctr" rtlCol="1">
            <a:spAutoFit/>
          </a:bodyPr>
          <a:lstStyle/>
          <a:p>
            <a:pPr algn="r" rtl="1" marL="0" indent="0">
              <a:spcAft>
                <a:spcPts val="400"/>
              </a:spcAft>
              <a:buNone/>
            </a:pPr>
            <a:r>
              <a:rPr lang="he-IL" sz="17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בסביבה ימית ובחניונים: W/C מרבי 0.45 וכיסוי בטון לפי התקן — זו ההגנה העיקרית לזיון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>
                <a:latin typeface="Arial Unicode MS"/>
                <a:ea typeface="Arial Unicode MS"/>
                <a:cs typeface="Arial Unicode MS"/>
              </a:rPr>
              <a:t>מקרה שטח: הוספת מים באתר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955280" y="1097280"/>
            <a:ext cx="3520440" cy="2514600"/>
          </a:xfrm>
          <a:prstGeom prst="roundRect">
            <a:avLst>
              <a:gd name="adj" fmla="val 8000"/>
            </a:avLst>
          </a:prstGeom>
          <a:solidFill>
            <a:srgbClr val="FBE9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652760" y="1234440"/>
            <a:ext cx="640080" cy="640080"/>
          </a:xfrm>
          <a:prstGeom prst="ellipse">
            <a:avLst/>
          </a:prstGeom>
          <a:solidFill>
            <a:srgbClr val="C6282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5" name="Picture 4" descr="FaExclamationTriangle_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6379" y="1388059"/>
            <a:ext cx="332841" cy="33284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138160" y="1353312"/>
            <a:ext cx="2377440" cy="411480"/>
          </a:xfrm>
          <a:prstGeom prst="rect">
            <a:avLst/>
          </a:prstGeom>
          <a:noFill/>
        </p:spPr>
        <p:txBody>
          <a:bodyPr wrap="square" lIns="0" rIns="0" tIns="0" bIns="0" anchor="t" rtlCol="1">
            <a:spAutoFit/>
          </a:bodyPr>
          <a:lstStyle/>
          <a:p>
            <a:pPr algn="r" rtl="1" marL="0" indent="0">
              <a:spcAft>
                <a:spcPts val="400"/>
              </a:spcAft>
              <a:buNone/>
            </a:pPr>
            <a:r>
              <a:rPr lang="he-IL" sz="2100" b="1">
                <a:solidFill>
                  <a:srgbClr val="C62828"/>
                </a:solidFill>
                <a:latin typeface="Arial Unicode MS"/>
                <a:ea typeface="Arial Unicode MS"/>
                <a:cs typeface="Arial Unicode MS"/>
              </a:rPr>
              <a:t>הבעיה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38160" y="2011680"/>
            <a:ext cx="3154680" cy="1554480"/>
          </a:xfrm>
          <a:prstGeom prst="rect">
            <a:avLst/>
          </a:prstGeom>
          <a:noFill/>
        </p:spPr>
        <p:txBody>
          <a:bodyPr wrap="square" lIns="0" rIns="0" tIns="0" bIns="0" anchor="t" rtlCol="1">
            <a:spAutoFit/>
          </a:bodyPr>
          <a:lstStyle/>
          <a:p>
            <a:pPr algn="r" rtl="1" marL="228600" indent="-228600">
              <a:spcAft>
                <a:spcPts val="400"/>
              </a:spcAft>
              <a:buFont typeface="Arial"/>
              <a:buChar char="•"/>
            </a:pPr>
            <a:r>
              <a:rPr lang="he-IL" sz="1400" b="0">
                <a:solidFill>
                  <a:srgbClr val="333F4A"/>
                </a:solidFill>
                <a:latin typeface="Arial Unicode MS"/>
                <a:ea typeface="Arial Unicode MS"/>
                <a:cs typeface="Arial Unicode MS"/>
              </a:rPr>
              <a:t>המשאית הגיעה לאחר המתנה ארוכה, בשקיעה נמוכה</a:t>
            </a:r>
          </a:p>
          <a:p>
            <a:pPr algn="r" rtl="1" marL="228600" indent="-228600">
              <a:spcAft>
                <a:spcPts val="400"/>
              </a:spcAft>
              <a:buFont typeface="Arial"/>
              <a:buChar char="•"/>
            </a:pPr>
            <a:r>
              <a:rPr lang="he-IL" sz="1400" b="0">
                <a:solidFill>
                  <a:srgbClr val="333F4A"/>
                </a:solidFill>
                <a:latin typeface="Arial Unicode MS"/>
                <a:ea typeface="Arial Unicode MS"/>
                <a:cs typeface="Arial Unicode MS"/>
              </a:rPr>
              <a:t>הצוות ביקש "להוסיף קצת מים" כדי לשאוב</a:t>
            </a:r>
          </a:p>
        </p:txBody>
      </p:sp>
      <p:cxnSp>
        <p:nvCxnSpPr>
          <p:cNvPr id="8" name="Connector 7"/>
          <p:cNvCxnSpPr/>
          <p:nvPr/>
        </p:nvCxnSpPr>
        <p:spPr>
          <a:xfrm flipH="1">
            <a:off x="7882128" y="2377440"/>
            <a:ext cx="91440" cy="0"/>
          </a:xfrm>
          <a:prstGeom prst="line">
            <a:avLst/>
          </a:prstGeom>
          <a:ln w="38100">
            <a:solidFill>
              <a:srgbClr val="A3B1BA"/>
            </a:solidFill>
            <a:tailEnd type="triangle"/>
          </a:ln>
        </p:spPr>
      </p:cxnSp>
      <p:sp>
        <p:nvSpPr>
          <p:cNvPr id="9" name="Rounded Rectangle 8"/>
          <p:cNvSpPr/>
          <p:nvPr/>
        </p:nvSpPr>
        <p:spPr>
          <a:xfrm>
            <a:off x="4343400" y="1097280"/>
            <a:ext cx="3520440" cy="2514600"/>
          </a:xfrm>
          <a:prstGeom prst="roundRect">
            <a:avLst>
              <a:gd name="adj" fmla="val 8000"/>
            </a:avLst>
          </a:prstGeom>
          <a:solidFill>
            <a:srgbClr val="FFF2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040880" y="1234440"/>
            <a:ext cx="640080" cy="640080"/>
          </a:xfrm>
          <a:prstGeom prst="ellipse">
            <a:avLst/>
          </a:prstGeom>
          <a:solidFill>
            <a:srgbClr val="B26A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Picture 10" descr="FaSearch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4499" y="1388059"/>
            <a:ext cx="332841" cy="332841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526280" y="1353312"/>
            <a:ext cx="2377440" cy="411480"/>
          </a:xfrm>
          <a:prstGeom prst="rect">
            <a:avLst/>
          </a:prstGeom>
          <a:noFill/>
        </p:spPr>
        <p:txBody>
          <a:bodyPr wrap="square" lIns="0" rIns="0" tIns="0" bIns="0" anchor="t" rtlCol="1">
            <a:spAutoFit/>
          </a:bodyPr>
          <a:lstStyle/>
          <a:p>
            <a:pPr algn="r" rtl="1" marL="0" indent="0">
              <a:spcAft>
                <a:spcPts val="400"/>
              </a:spcAft>
              <a:buNone/>
            </a:pPr>
            <a:r>
              <a:rPr lang="he-IL" sz="2100" b="1">
                <a:solidFill>
                  <a:srgbClr val="B26A00"/>
                </a:solidFill>
                <a:latin typeface="Arial Unicode MS"/>
                <a:ea typeface="Arial Unicode MS"/>
                <a:cs typeface="Arial Unicode MS"/>
              </a:rPr>
              <a:t>הגורם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2011680"/>
            <a:ext cx="3154680" cy="1554480"/>
          </a:xfrm>
          <a:prstGeom prst="rect">
            <a:avLst/>
          </a:prstGeom>
          <a:noFill/>
        </p:spPr>
        <p:txBody>
          <a:bodyPr wrap="square" lIns="0" rIns="0" tIns="0" bIns="0" anchor="t" rtlCol="1">
            <a:spAutoFit/>
          </a:bodyPr>
          <a:lstStyle/>
          <a:p>
            <a:pPr algn="r" rtl="1" marL="228600" indent="-228600">
              <a:spcAft>
                <a:spcPts val="400"/>
              </a:spcAft>
              <a:buFont typeface="Arial"/>
              <a:buChar char="•"/>
            </a:pPr>
            <a:r>
              <a:rPr lang="he-IL" sz="1400" b="0">
                <a:solidFill>
                  <a:srgbClr val="333F4A"/>
                </a:solidFill>
                <a:latin typeface="Arial Unicode MS"/>
                <a:ea typeface="Arial Unicode MS"/>
                <a:cs typeface="Arial Unicode MS"/>
              </a:rPr>
              <a:t>תכנון לוגיסטי לקוי וזמן המתנה</a:t>
            </a:r>
          </a:p>
          <a:p>
            <a:pPr algn="r" rtl="1" marL="228600" indent="-228600">
              <a:spcAft>
                <a:spcPts val="400"/>
              </a:spcAft>
              <a:buFont typeface="Arial"/>
              <a:buChar char="•"/>
            </a:pPr>
            <a:r>
              <a:rPr lang="he-IL" sz="1400" b="0">
                <a:solidFill>
                  <a:srgbClr val="333F4A"/>
                </a:solidFill>
                <a:latin typeface="Arial Unicode MS"/>
                <a:ea typeface="Arial Unicode MS"/>
                <a:cs typeface="Arial Unicode MS"/>
              </a:rPr>
              <a:t>אין נוהל לתיקון עבידות במוסף</a:t>
            </a:r>
          </a:p>
          <a:p>
            <a:pPr algn="r" rtl="1" marL="228600" indent="-228600">
              <a:spcAft>
                <a:spcPts val="400"/>
              </a:spcAft>
              <a:buFont typeface="Arial"/>
              <a:buChar char="•"/>
            </a:pPr>
            <a:r>
              <a:rPr lang="he-IL" sz="1400" b="0">
                <a:solidFill>
                  <a:srgbClr val="333F4A"/>
                </a:solidFill>
                <a:latin typeface="Arial Unicode MS"/>
                <a:ea typeface="Arial Unicode MS"/>
                <a:cs typeface="Arial Unicode MS"/>
              </a:rPr>
              <a:t>לחץ זמנים — ללא תיעוד</a:t>
            </a:r>
          </a:p>
        </p:txBody>
      </p:sp>
      <p:cxnSp>
        <p:nvCxnSpPr>
          <p:cNvPr id="14" name="Connector 13"/>
          <p:cNvCxnSpPr/>
          <p:nvPr/>
        </p:nvCxnSpPr>
        <p:spPr>
          <a:xfrm flipH="1">
            <a:off x="4270248" y="2377440"/>
            <a:ext cx="91440" cy="0"/>
          </a:xfrm>
          <a:prstGeom prst="line">
            <a:avLst/>
          </a:prstGeom>
          <a:ln w="38100">
            <a:solidFill>
              <a:srgbClr val="A3B1BA"/>
            </a:solidFill>
            <a:tailEnd type="triangle"/>
          </a:ln>
        </p:spPr>
      </p:cxnSp>
      <p:sp>
        <p:nvSpPr>
          <p:cNvPr id="15" name="Rounded Rectangle 14"/>
          <p:cNvSpPr/>
          <p:nvPr/>
        </p:nvSpPr>
        <p:spPr>
          <a:xfrm>
            <a:off x="731519" y="1097280"/>
            <a:ext cx="3520440" cy="2514600"/>
          </a:xfrm>
          <a:prstGeom prst="roundRect">
            <a:avLst>
              <a:gd name="adj" fmla="val 8000"/>
            </a:avLst>
          </a:prstGeom>
          <a:solidFill>
            <a:srgbClr val="EAF3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428999" y="1234440"/>
            <a:ext cx="640080" cy="640080"/>
          </a:xfrm>
          <a:prstGeom prst="ellipse">
            <a:avLst/>
          </a:prstGeom>
          <a:solidFill>
            <a:srgbClr val="00397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7" name="Picture 16" descr="FaArrowDown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82619" y="1388059"/>
            <a:ext cx="332841" cy="332841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914399" y="1353312"/>
            <a:ext cx="2377440" cy="411480"/>
          </a:xfrm>
          <a:prstGeom prst="rect">
            <a:avLst/>
          </a:prstGeom>
          <a:noFill/>
        </p:spPr>
        <p:txBody>
          <a:bodyPr wrap="square" lIns="0" rIns="0" tIns="0" bIns="0" anchor="t" rtlCol="1">
            <a:spAutoFit/>
          </a:bodyPr>
          <a:lstStyle/>
          <a:p>
            <a:pPr algn="r" rtl="1" marL="0" indent="0">
              <a:spcAft>
                <a:spcPts val="400"/>
              </a:spcAft>
              <a:buNone/>
            </a:pPr>
            <a:r>
              <a:rPr lang="he-IL" sz="2100" b="1">
                <a:solidFill>
                  <a:srgbClr val="003973"/>
                </a:solidFill>
                <a:latin typeface="Arial Unicode MS"/>
                <a:ea typeface="Arial Unicode MS"/>
                <a:cs typeface="Arial Unicode MS"/>
              </a:rPr>
              <a:t>התוצאה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399" y="2011680"/>
            <a:ext cx="3154680" cy="1554480"/>
          </a:xfrm>
          <a:prstGeom prst="rect">
            <a:avLst/>
          </a:prstGeom>
          <a:noFill/>
        </p:spPr>
        <p:txBody>
          <a:bodyPr wrap="square" lIns="0" rIns="0" tIns="0" bIns="0" anchor="t" rtlCol="1">
            <a:spAutoFit/>
          </a:bodyPr>
          <a:lstStyle/>
          <a:p>
            <a:pPr algn="r" rtl="1" marL="228600" indent="-228600">
              <a:spcAft>
                <a:spcPts val="400"/>
              </a:spcAft>
              <a:buFont typeface="Arial"/>
              <a:buChar char="•"/>
            </a:pPr>
            <a:r>
              <a:rPr lang="he-IL" sz="1400" b="0">
                <a:solidFill>
                  <a:srgbClr val="333F4A"/>
                </a:solidFill>
                <a:latin typeface="Arial Unicode MS"/>
                <a:ea typeface="Arial Unicode MS"/>
                <a:cs typeface="Arial Unicode MS"/>
              </a:rPr>
              <a:t>חוזק נמוך מהדרישה בקוביות 28 יום</a:t>
            </a:r>
          </a:p>
          <a:p>
            <a:pPr algn="r" rtl="1" marL="228600" indent="-228600">
              <a:spcAft>
                <a:spcPts val="400"/>
              </a:spcAft>
              <a:buFont typeface="Arial"/>
              <a:buChar char="•"/>
            </a:pPr>
            <a:r>
              <a:rPr lang="he-IL" sz="1400" b="0">
                <a:solidFill>
                  <a:srgbClr val="333F4A"/>
                </a:solidFill>
                <a:latin typeface="Arial Unicode MS"/>
                <a:ea typeface="Arial Unicode MS"/>
                <a:cs typeface="Arial Unicode MS"/>
              </a:rPr>
              <a:t>חדירות גבוהה ואבק פני שטח</a:t>
            </a:r>
          </a:p>
          <a:p>
            <a:pPr algn="r" rtl="1" marL="228600" indent="-228600">
              <a:spcAft>
                <a:spcPts val="400"/>
              </a:spcAft>
              <a:buFont typeface="Arial"/>
              <a:buChar char="•"/>
            </a:pPr>
            <a:r>
              <a:rPr lang="he-IL" sz="1400" b="0">
                <a:solidFill>
                  <a:srgbClr val="333F4A"/>
                </a:solidFill>
                <a:latin typeface="Arial Unicode MS"/>
                <a:ea typeface="Arial Unicode MS"/>
                <a:cs typeface="Arial Unicode MS"/>
              </a:rPr>
              <a:t>מחלוקת אחריות מול הלקוח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" y="3794760"/>
            <a:ext cx="10652760" cy="1188720"/>
          </a:xfrm>
          <a:prstGeom prst="roundRect">
            <a:avLst>
              <a:gd name="adj" fmla="val 8000"/>
            </a:avLst>
          </a:prstGeom>
          <a:solidFill>
            <a:srgbClr val="F3F5F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01000" y="3858768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 rtlCol="1">
            <a:spAutoFit/>
          </a:bodyPr>
          <a:lstStyle/>
          <a:p>
            <a:pPr algn="ctr" rtl="1" marL="0" indent="0">
              <a:spcAft>
                <a:spcPts val="400"/>
              </a:spcAft>
              <a:buNone/>
            </a:pPr>
            <a:r>
              <a:rPr lang="he-IL" sz="1400" b="0">
                <a:solidFill>
                  <a:srgbClr val="5F6B76"/>
                </a:solidFill>
                <a:latin typeface="Arial Unicode MS"/>
                <a:ea typeface="Arial Unicode MS"/>
                <a:cs typeface="Arial Unicode MS"/>
              </a:rPr>
              <a:t>300 ק"ג צמנט, 165 ל' מים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01000" y="4251960"/>
            <a:ext cx="3383280" cy="640080"/>
          </a:xfrm>
          <a:prstGeom prst="rect">
            <a:avLst/>
          </a:prstGeom>
          <a:noFill/>
        </p:spPr>
        <p:txBody>
          <a:bodyPr wrap="square" lIns="0" rIns="0" tIns="0" bIns="0" anchor="t" rtlCol="1">
            <a:spAutoFit/>
          </a:bodyPr>
          <a:lstStyle/>
          <a:p>
            <a:pPr algn="ctr" rtl="1" marL="0" indent="0">
              <a:spcAft>
                <a:spcPts val="400"/>
              </a:spcAft>
              <a:buNone/>
            </a:pPr>
            <a:r>
              <a:rPr lang="he-IL" sz="2600" b="1">
                <a:solidFill>
                  <a:srgbClr val="003973"/>
                </a:solidFill>
                <a:latin typeface="Arial Unicode MS"/>
                <a:ea typeface="Arial Unicode MS"/>
                <a:cs typeface="Arial Unicode MS"/>
              </a:rPr>
              <a:t>W/C = 0.55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53128" y="3858768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 rtlCol="1">
            <a:spAutoFit/>
          </a:bodyPr>
          <a:lstStyle/>
          <a:p>
            <a:pPr algn="ctr" rtl="1" marL="0" indent="0">
              <a:spcAft>
                <a:spcPts val="400"/>
              </a:spcAft>
              <a:buNone/>
            </a:pPr>
            <a:r>
              <a:rPr lang="he-IL" sz="1400" b="0">
                <a:solidFill>
                  <a:srgbClr val="5F6B76"/>
                </a:solidFill>
                <a:latin typeface="Arial Unicode MS"/>
                <a:ea typeface="Arial Unicode MS"/>
                <a:cs typeface="Arial Unicode MS"/>
              </a:rPr>
              <a:t>+ 20 ל' מים למ"ק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53128" y="4251960"/>
            <a:ext cx="3383280" cy="640080"/>
          </a:xfrm>
          <a:prstGeom prst="rect">
            <a:avLst/>
          </a:prstGeom>
          <a:noFill/>
        </p:spPr>
        <p:txBody>
          <a:bodyPr wrap="square" lIns="0" rIns="0" tIns="0" bIns="0" anchor="t" rtlCol="1">
            <a:spAutoFit/>
          </a:bodyPr>
          <a:lstStyle/>
          <a:p>
            <a:pPr algn="ctr" rtl="1" marL="0" indent="0">
              <a:spcAft>
                <a:spcPts val="400"/>
              </a:spcAft>
              <a:buNone/>
            </a:pPr>
            <a:r>
              <a:rPr lang="he-IL" sz="2600" b="1">
                <a:solidFill>
                  <a:srgbClr val="C62828"/>
                </a:solidFill>
                <a:latin typeface="Arial Unicode MS"/>
                <a:ea typeface="Arial Unicode MS"/>
                <a:cs typeface="Arial Unicode MS"/>
              </a:rPr>
              <a:t>W/C = 0.62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5256" y="3858768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 rtlCol="1">
            <a:spAutoFit/>
          </a:bodyPr>
          <a:lstStyle/>
          <a:p>
            <a:pPr algn="ctr" rtl="1" marL="0" indent="0">
              <a:spcAft>
                <a:spcPts val="400"/>
              </a:spcAft>
              <a:buNone/>
            </a:pPr>
            <a:r>
              <a:rPr lang="he-IL" sz="1400" b="0">
                <a:solidFill>
                  <a:srgbClr val="5F6B76"/>
                </a:solidFill>
                <a:latin typeface="Arial Unicode MS"/>
                <a:ea typeface="Arial Unicode MS"/>
                <a:cs typeface="Arial Unicode MS"/>
              </a:rPr>
              <a:t>ירידת חוזק צפויה (בקירוב)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5256" y="4251960"/>
            <a:ext cx="3383280" cy="640080"/>
          </a:xfrm>
          <a:prstGeom prst="rect">
            <a:avLst/>
          </a:prstGeom>
          <a:noFill/>
        </p:spPr>
        <p:txBody>
          <a:bodyPr wrap="square" lIns="0" rIns="0" tIns="0" bIns="0" anchor="t" rtlCol="1">
            <a:spAutoFit/>
          </a:bodyPr>
          <a:lstStyle/>
          <a:p>
            <a:pPr algn="ctr" rtl="1" marL="0" indent="0">
              <a:spcAft>
                <a:spcPts val="400"/>
              </a:spcAft>
              <a:buNone/>
            </a:pPr>
            <a:r>
              <a:rPr lang="he-IL" sz="2600" b="1">
                <a:solidFill>
                  <a:srgbClr val="C62828"/>
                </a:solidFill>
                <a:latin typeface="Arial Unicode MS"/>
                <a:ea typeface="Arial Unicode MS"/>
                <a:cs typeface="Arial Unicode MS"/>
              </a:rPr>
              <a:t>15-20%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2960" y="5166360"/>
            <a:ext cx="8183879" cy="640080"/>
          </a:xfrm>
          <a:prstGeom prst="roundRect">
            <a:avLst>
              <a:gd name="adj" fmla="val 8000"/>
            </a:avLst>
          </a:prstGeom>
          <a:solidFill>
            <a:srgbClr val="00397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394192" y="5257800"/>
            <a:ext cx="457200" cy="457200"/>
          </a:xfrm>
          <a:prstGeom prst="ellipse">
            <a:avLst/>
          </a:prstGeom>
          <a:solidFill>
            <a:srgbClr val="C4D8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9" name="Picture 28" descr="FaCheckCircle_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03919" y="5367528"/>
            <a:ext cx="237744" cy="237744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1051560" y="5166360"/>
            <a:ext cx="7269479" cy="640080"/>
          </a:xfrm>
          <a:prstGeom prst="rect">
            <a:avLst/>
          </a:prstGeom>
          <a:noFill/>
        </p:spPr>
        <p:txBody>
          <a:bodyPr wrap="square" lIns="0" rIns="0" tIns="0" bIns="0" anchor="ctr" rtlCol="1">
            <a:spAutoFit/>
          </a:bodyPr>
          <a:lstStyle/>
          <a:p>
            <a:pPr algn="r" rtl="1" marL="0" indent="0">
              <a:spcAft>
                <a:spcPts val="400"/>
              </a:spcAft>
              <a:buNone/>
            </a:pPr>
            <a:r>
              <a:rPr lang="he-IL" sz="17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הפתרון: מוסף מאושר בהנחיית המפעל ותיעוד — לעולם לא מים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6" name="תמונה 5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1"/>
          <a:stretch/>
        </p:blipFill>
        <p:spPr>
          <a:xfrm flipH="1">
            <a:off x="0" y="0"/>
            <a:ext cx="10306050" cy="6858000"/>
          </a:xfrm>
          <a:prstGeom prst="rect">
            <a:avLst/>
          </a:prstGeom>
        </p:spPr>
      </p:pic>
      <p:sp>
        <p:nvSpPr>
          <p:cNvPr id="4" name="מלבן 3"/>
          <p:cNvSpPr/>
          <p:nvPr/>
        </p:nvSpPr>
        <p:spPr>
          <a:xfrm>
            <a:off x="6115050" y="0"/>
            <a:ext cx="6076950" cy="6858000"/>
          </a:xfrm>
          <a:prstGeom prst="rect">
            <a:avLst/>
          </a:prstGeom>
          <a:solidFill>
            <a:srgbClr val="2C9EE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>
              <a:solidFill>
                <a:prstClr val="white"/>
              </a:solidFill>
            </a:endParaRPr>
          </a:p>
        </p:txBody>
      </p:sp>
      <p:sp>
        <p:nvSpPr>
          <p:cNvPr id="7" name="משולש שווה שוקיים 6"/>
          <p:cNvSpPr/>
          <p:nvPr/>
        </p:nvSpPr>
        <p:spPr>
          <a:xfrm rot="16200000" flipH="1">
            <a:off x="5324475" y="3143250"/>
            <a:ext cx="1123950" cy="609600"/>
          </a:xfrm>
          <a:prstGeom prst="triangle">
            <a:avLst/>
          </a:prstGeom>
          <a:solidFill>
            <a:srgbClr val="2C9EE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>
              <a:solidFill>
                <a:prstClr val="white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720840" y="2514600"/>
            <a:ext cx="4937760" cy="914400"/>
          </a:xfrm>
          <a:prstGeom prst="rect">
            <a:avLst/>
          </a:prstGeom>
          <a:noFill/>
        </p:spPr>
        <p:txBody>
          <a:bodyPr wrap="square" rtlCol="1" anchor="ctr"/>
          <a:lstStyle/>
          <a:p>
            <a:pPr algn="ctr" rtl="1"/>
            <a:r>
              <a:rPr lang="he-IL" sz="3600" dirty="0">
                <a:solidFill>
                  <a:prstClr val="white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בדיקות בטון טרי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20840" y="1874519"/>
            <a:ext cx="4937760" cy="457200"/>
          </a:xfrm>
          <a:prstGeom prst="rect">
            <a:avLst/>
          </a:prstGeom>
          <a:noFill/>
        </p:spPr>
        <p:txBody>
          <a:bodyPr wrap="square" lIns="0" rIns="0" tIns="0" bIns="0" anchor="t" rtlCol="1">
            <a:spAutoFit/>
          </a:bodyPr>
          <a:lstStyle/>
          <a:p>
            <a:pPr algn="ctr" rtl="1" marL="0" indent="0">
              <a:spcAft>
                <a:spcPts val="400"/>
              </a:spcAft>
              <a:buNone/>
            </a:pPr>
            <a:r>
              <a:rPr lang="he-IL" sz="2000" b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פרק 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86600" y="3611880"/>
            <a:ext cx="4206240" cy="2011680"/>
          </a:xfrm>
          <a:prstGeom prst="rect">
            <a:avLst/>
          </a:prstGeom>
          <a:noFill/>
        </p:spPr>
        <p:txBody>
          <a:bodyPr wrap="square" lIns="0" rIns="0" tIns="0" bIns="0" anchor="t" rtlCol="1">
            <a:spAutoFit/>
          </a:bodyPr>
          <a:lstStyle/>
          <a:p>
            <a:pPr algn="ctr" rtl="1" marL="0" indent="0">
              <a:lnSpc>
                <a:spcPct val="115000"/>
              </a:lnSpc>
              <a:spcAft>
                <a:spcPts val="400"/>
              </a:spcAft>
              <a:buNone/>
            </a:pPr>
            <a:r>
              <a:rPr lang="he-IL" sz="1600" b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שקיעה · טמפרטורה · צפיפות · כמות אוויר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>
                <a:latin typeface="Arial Unicode MS"/>
                <a:ea typeface="Arial Unicode MS"/>
                <a:cs typeface="Arial Unicode MS"/>
              </a:rPr>
              <a:t>מהו בטון טרי?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051560"/>
            <a:ext cx="10652760" cy="457200"/>
          </a:xfrm>
          <a:prstGeom prst="rect">
            <a:avLst/>
          </a:prstGeom>
          <a:noFill/>
        </p:spPr>
        <p:txBody>
          <a:bodyPr wrap="square" lIns="0" rIns="0" tIns="0" bIns="0" anchor="t" rtlCol="1">
            <a:spAutoFit/>
          </a:bodyPr>
          <a:lstStyle/>
          <a:p>
            <a:pPr algn="r" rtl="1" marL="0" indent="0">
              <a:spcAft>
                <a:spcPts val="400"/>
              </a:spcAft>
              <a:buNone/>
            </a:pPr>
            <a:r>
              <a:rPr lang="he-IL" sz="1600" b="0">
                <a:solidFill>
                  <a:srgbClr val="5F6B76"/>
                </a:solidFill>
                <a:latin typeface="Arial Unicode MS"/>
                <a:ea typeface="Arial Unicode MS"/>
                <a:cs typeface="Arial Unicode MS"/>
              </a:rPr>
              <a:t>בטון במצב פלסטי, מרגע הערבוב ועד תחילת ההתקשרות. הבדיקות כאן הן ההזדמנות האחרונה לעצור משאית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869680" y="1691640"/>
            <a:ext cx="2542032" cy="3063240"/>
          </a:xfrm>
          <a:prstGeom prst="roundRect">
            <a:avLst>
              <a:gd name="adj" fmla="val 8000"/>
            </a:avLst>
          </a:prstGeom>
          <a:solidFill>
            <a:srgbClr val="EAF3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637776" y="1965960"/>
            <a:ext cx="1005840" cy="1005840"/>
          </a:xfrm>
          <a:prstGeom prst="ellipse">
            <a:avLst/>
          </a:prstGeom>
          <a:solidFill>
            <a:srgbClr val="0081C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6" name="Picture 5" descr="FaRulerVertical_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9177" y="2207361"/>
            <a:ext cx="523036" cy="52303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961120" y="3154680"/>
            <a:ext cx="2359152" cy="411480"/>
          </a:xfrm>
          <a:prstGeom prst="rect">
            <a:avLst/>
          </a:prstGeom>
          <a:noFill/>
        </p:spPr>
        <p:txBody>
          <a:bodyPr wrap="square" lIns="0" rIns="0" tIns="0" bIns="0" anchor="t" rtlCol="1">
            <a:spAutoFit/>
          </a:bodyPr>
          <a:lstStyle/>
          <a:p>
            <a:pPr algn="ctr" rtl="1" marL="0" indent="0">
              <a:spcAft>
                <a:spcPts val="400"/>
              </a:spcAft>
              <a:buNone/>
            </a:pPr>
            <a:r>
              <a:rPr lang="he-IL" sz="2100" b="1">
                <a:solidFill>
                  <a:srgbClr val="003973"/>
                </a:solidFill>
                <a:latin typeface="Arial Unicode MS"/>
                <a:ea typeface="Arial Unicode MS"/>
                <a:cs typeface="Arial Unicode MS"/>
              </a:rPr>
              <a:t>שקיעה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06840" y="3611880"/>
            <a:ext cx="2267712" cy="640080"/>
          </a:xfrm>
          <a:prstGeom prst="rect">
            <a:avLst/>
          </a:prstGeom>
          <a:noFill/>
        </p:spPr>
        <p:txBody>
          <a:bodyPr wrap="square" lIns="0" rIns="0" tIns="0" bIns="0" anchor="t" rtlCol="1">
            <a:spAutoFit/>
          </a:bodyPr>
          <a:lstStyle/>
          <a:p>
            <a:pPr algn="ctr" rtl="1" marL="0" indent="0">
              <a:spcAft>
                <a:spcPts val="400"/>
              </a:spcAft>
              <a:buNone/>
            </a:pPr>
            <a:r>
              <a:rPr lang="he-IL" sz="1400" b="0">
                <a:solidFill>
                  <a:srgbClr val="333F4A"/>
                </a:solidFill>
                <a:latin typeface="Arial Unicode MS"/>
                <a:ea typeface="Arial Unicode MS"/>
                <a:cs typeface="Arial Unicode MS"/>
              </a:rPr>
              <a:t>עבידות ועקביות בין משאיות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0" y="4297680"/>
            <a:ext cx="2359152" cy="36576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algn="ctr" rtl="0" marL="0" indent="0">
              <a:spcAft>
                <a:spcPts val="400"/>
              </a:spcAft>
              <a:buNone/>
            </a:pPr>
            <a:r>
              <a:rPr lang="he-IL" sz="1100" b="0">
                <a:solidFill>
                  <a:srgbClr val="5F6B76"/>
                </a:solidFill>
                <a:latin typeface="Arial Unicode MS"/>
                <a:ea typeface="Arial Unicode MS"/>
                <a:cs typeface="Arial Unicode MS"/>
              </a:rPr>
              <a:t>EN 12350-2 | ASTM C143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9632" y="1691640"/>
            <a:ext cx="2542032" cy="3063240"/>
          </a:xfrm>
          <a:prstGeom prst="roundRect">
            <a:avLst>
              <a:gd name="adj" fmla="val 8000"/>
            </a:avLst>
          </a:prstGeom>
          <a:solidFill>
            <a:srgbClr val="EAF3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967728" y="1965960"/>
            <a:ext cx="1005840" cy="1005840"/>
          </a:xfrm>
          <a:prstGeom prst="ellipse">
            <a:avLst/>
          </a:prstGeom>
          <a:solidFill>
            <a:srgbClr val="00397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2" name="Picture 11" descr="FaThermometerHalf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9129" y="2207361"/>
            <a:ext cx="523036" cy="52303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291072" y="3154680"/>
            <a:ext cx="2359152" cy="411480"/>
          </a:xfrm>
          <a:prstGeom prst="rect">
            <a:avLst/>
          </a:prstGeom>
          <a:noFill/>
        </p:spPr>
        <p:txBody>
          <a:bodyPr wrap="square" lIns="0" rIns="0" tIns="0" bIns="0" anchor="t" rtlCol="1">
            <a:spAutoFit/>
          </a:bodyPr>
          <a:lstStyle/>
          <a:p>
            <a:pPr algn="ctr" rtl="1" marL="0" indent="0">
              <a:spcAft>
                <a:spcPts val="400"/>
              </a:spcAft>
              <a:buNone/>
            </a:pPr>
            <a:r>
              <a:rPr lang="he-IL" sz="2100" b="1">
                <a:solidFill>
                  <a:srgbClr val="003973"/>
                </a:solidFill>
                <a:latin typeface="Arial Unicode MS"/>
                <a:ea typeface="Arial Unicode MS"/>
                <a:cs typeface="Arial Unicode MS"/>
              </a:rPr>
              <a:t>טמפרטורה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36792" y="3611880"/>
            <a:ext cx="2267712" cy="640080"/>
          </a:xfrm>
          <a:prstGeom prst="rect">
            <a:avLst/>
          </a:prstGeom>
          <a:noFill/>
        </p:spPr>
        <p:txBody>
          <a:bodyPr wrap="square" lIns="0" rIns="0" tIns="0" bIns="0" anchor="t" rtlCol="1">
            <a:spAutoFit/>
          </a:bodyPr>
          <a:lstStyle/>
          <a:p>
            <a:pPr algn="ctr" rtl="1" marL="0" indent="0">
              <a:spcAft>
                <a:spcPts val="400"/>
              </a:spcAft>
              <a:buNone/>
            </a:pPr>
            <a:r>
              <a:rPr lang="he-IL" sz="1400" b="0">
                <a:solidFill>
                  <a:srgbClr val="333F4A"/>
                </a:solidFill>
                <a:latin typeface="Arial Unicode MS"/>
                <a:ea typeface="Arial Unicode MS"/>
                <a:cs typeface="Arial Unicode MS"/>
              </a:rPr>
              <a:t>סיכון להתקשרות מהירה או איטית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91072" y="4297680"/>
            <a:ext cx="2359152" cy="36576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algn="ctr" rtl="0" marL="0" indent="0">
              <a:spcAft>
                <a:spcPts val="400"/>
              </a:spcAft>
              <a:buNone/>
            </a:pPr>
            <a:r>
              <a:rPr lang="he-IL" sz="1100" b="0">
                <a:solidFill>
                  <a:srgbClr val="5F6B76"/>
                </a:solidFill>
                <a:latin typeface="Arial Unicode MS"/>
                <a:ea typeface="Arial Unicode MS"/>
                <a:cs typeface="Arial Unicode MS"/>
              </a:rPr>
              <a:t>ASTM C1064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529584" y="1691640"/>
            <a:ext cx="2542032" cy="3063240"/>
          </a:xfrm>
          <a:prstGeom prst="roundRect">
            <a:avLst>
              <a:gd name="adj" fmla="val 8000"/>
            </a:avLst>
          </a:prstGeom>
          <a:solidFill>
            <a:srgbClr val="EAF3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297680" y="1965960"/>
            <a:ext cx="1005840" cy="1005840"/>
          </a:xfrm>
          <a:prstGeom prst="ellipse">
            <a:avLst/>
          </a:prstGeom>
          <a:solidFill>
            <a:srgbClr val="0081C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8" name="Picture 17" descr="FaWeightHanging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39081" y="2207361"/>
            <a:ext cx="523036" cy="523036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3621024" y="3154680"/>
            <a:ext cx="2359152" cy="411480"/>
          </a:xfrm>
          <a:prstGeom prst="rect">
            <a:avLst/>
          </a:prstGeom>
          <a:noFill/>
        </p:spPr>
        <p:txBody>
          <a:bodyPr wrap="square" lIns="0" rIns="0" tIns="0" bIns="0" anchor="t" rtlCol="1">
            <a:spAutoFit/>
          </a:bodyPr>
          <a:lstStyle/>
          <a:p>
            <a:pPr algn="ctr" rtl="1" marL="0" indent="0">
              <a:spcAft>
                <a:spcPts val="400"/>
              </a:spcAft>
              <a:buNone/>
            </a:pPr>
            <a:r>
              <a:rPr lang="he-IL" sz="2100" b="1">
                <a:solidFill>
                  <a:srgbClr val="003973"/>
                </a:solidFill>
                <a:latin typeface="Arial Unicode MS"/>
                <a:ea typeface="Arial Unicode MS"/>
                <a:cs typeface="Arial Unicode MS"/>
              </a:rPr>
              <a:t>צפיפות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66744" y="3611880"/>
            <a:ext cx="2267712" cy="640080"/>
          </a:xfrm>
          <a:prstGeom prst="rect">
            <a:avLst/>
          </a:prstGeom>
          <a:noFill/>
        </p:spPr>
        <p:txBody>
          <a:bodyPr wrap="square" lIns="0" rIns="0" tIns="0" bIns="0" anchor="t" rtlCol="1">
            <a:spAutoFit/>
          </a:bodyPr>
          <a:lstStyle/>
          <a:p>
            <a:pPr algn="ctr" rtl="1" marL="0" indent="0">
              <a:spcAft>
                <a:spcPts val="400"/>
              </a:spcAft>
              <a:buNone/>
            </a:pPr>
            <a:r>
              <a:rPr lang="he-IL" sz="1400" b="0">
                <a:solidFill>
                  <a:srgbClr val="333F4A"/>
                </a:solidFill>
                <a:latin typeface="Arial Unicode MS"/>
                <a:ea typeface="Arial Unicode MS"/>
                <a:cs typeface="Arial Unicode MS"/>
              </a:rPr>
              <a:t>בקרת תפוקה ופרופורציות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21024" y="4297680"/>
            <a:ext cx="2359152" cy="36576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algn="ctr" rtl="0" marL="0" indent="0">
              <a:spcAft>
                <a:spcPts val="400"/>
              </a:spcAft>
              <a:buNone/>
            </a:pPr>
            <a:r>
              <a:rPr lang="he-IL" sz="1100" b="0">
                <a:solidFill>
                  <a:srgbClr val="5F6B76"/>
                </a:solidFill>
                <a:latin typeface="Arial Unicode MS"/>
                <a:ea typeface="Arial Unicode MS"/>
                <a:cs typeface="Arial Unicode MS"/>
              </a:rPr>
              <a:t>EN 12350-6 | ASTM C138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59536" y="1691640"/>
            <a:ext cx="2542032" cy="3063240"/>
          </a:xfrm>
          <a:prstGeom prst="roundRect">
            <a:avLst>
              <a:gd name="adj" fmla="val 8000"/>
            </a:avLst>
          </a:prstGeom>
          <a:solidFill>
            <a:srgbClr val="EAF3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627632" y="1965960"/>
            <a:ext cx="1005840" cy="1005840"/>
          </a:xfrm>
          <a:prstGeom prst="ellipse">
            <a:avLst/>
          </a:prstGeom>
          <a:solidFill>
            <a:srgbClr val="00397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4" name="Picture 23" descr="FaTachometerAlt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69033" y="2207361"/>
            <a:ext cx="523036" cy="523036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950976" y="3154680"/>
            <a:ext cx="2359152" cy="411480"/>
          </a:xfrm>
          <a:prstGeom prst="rect">
            <a:avLst/>
          </a:prstGeom>
          <a:noFill/>
        </p:spPr>
        <p:txBody>
          <a:bodyPr wrap="square" lIns="0" rIns="0" tIns="0" bIns="0" anchor="t" rtlCol="1">
            <a:spAutoFit/>
          </a:bodyPr>
          <a:lstStyle/>
          <a:p>
            <a:pPr algn="ctr" rtl="1" marL="0" indent="0">
              <a:spcAft>
                <a:spcPts val="400"/>
              </a:spcAft>
              <a:buNone/>
            </a:pPr>
            <a:r>
              <a:rPr lang="he-IL" sz="2100" b="1">
                <a:solidFill>
                  <a:srgbClr val="003973"/>
                </a:solidFill>
                <a:latin typeface="Arial Unicode MS"/>
                <a:ea typeface="Arial Unicode MS"/>
                <a:cs typeface="Arial Unicode MS"/>
              </a:rPr>
              <a:t>כמות אוויר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96696" y="3611880"/>
            <a:ext cx="2267712" cy="640080"/>
          </a:xfrm>
          <a:prstGeom prst="rect">
            <a:avLst/>
          </a:prstGeom>
          <a:noFill/>
        </p:spPr>
        <p:txBody>
          <a:bodyPr wrap="square" lIns="0" rIns="0" tIns="0" bIns="0" anchor="t" rtlCol="1">
            <a:spAutoFit/>
          </a:bodyPr>
          <a:lstStyle/>
          <a:p>
            <a:pPr algn="ctr" rtl="1" marL="0" indent="0">
              <a:spcAft>
                <a:spcPts val="400"/>
              </a:spcAft>
              <a:buNone/>
            </a:pPr>
            <a:r>
              <a:rPr lang="he-IL" sz="1400" b="0">
                <a:solidFill>
                  <a:srgbClr val="333F4A"/>
                </a:solidFill>
                <a:latin typeface="Arial Unicode MS"/>
                <a:ea typeface="Arial Unicode MS"/>
                <a:cs typeface="Arial Unicode MS"/>
              </a:rPr>
              <a:t>עמידות, חוזק ותפוקה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0976" y="4297680"/>
            <a:ext cx="2359152" cy="36576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algn="ctr" rtl="0" marL="0" indent="0">
              <a:spcAft>
                <a:spcPts val="400"/>
              </a:spcAft>
              <a:buNone/>
            </a:pPr>
            <a:r>
              <a:rPr lang="he-IL" sz="1100" b="0">
                <a:solidFill>
                  <a:srgbClr val="5F6B76"/>
                </a:solidFill>
                <a:latin typeface="Arial Unicode MS"/>
                <a:ea typeface="Arial Unicode MS"/>
                <a:cs typeface="Arial Unicode MS"/>
              </a:rPr>
              <a:t>EN 12350-7 | ASTM C231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2960" y="5074920"/>
            <a:ext cx="8183879" cy="640080"/>
          </a:xfrm>
          <a:prstGeom prst="roundRect">
            <a:avLst>
              <a:gd name="adj" fmla="val 8000"/>
            </a:avLst>
          </a:prstGeom>
          <a:solidFill>
            <a:srgbClr val="00397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8394192" y="5166359"/>
            <a:ext cx="457200" cy="457200"/>
          </a:xfrm>
          <a:prstGeom prst="ellipse">
            <a:avLst/>
          </a:prstGeom>
          <a:solidFill>
            <a:srgbClr val="C4D8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0" name="Picture 29" descr="FaLightbulb_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03919" y="5276088"/>
            <a:ext cx="237744" cy="237744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1051560" y="5074920"/>
            <a:ext cx="7269479" cy="640080"/>
          </a:xfrm>
          <a:prstGeom prst="rect">
            <a:avLst/>
          </a:prstGeom>
          <a:noFill/>
        </p:spPr>
        <p:txBody>
          <a:bodyPr wrap="square" lIns="0" rIns="0" tIns="0" bIns="0" anchor="ctr" rtlCol="1">
            <a:spAutoFit/>
          </a:bodyPr>
          <a:lstStyle/>
          <a:p>
            <a:pPr algn="r" rtl="1" marL="0" indent="0">
              <a:spcAft>
                <a:spcPts val="400"/>
              </a:spcAft>
              <a:buNone/>
            </a:pPr>
            <a:r>
              <a:rPr lang="he-IL" sz="17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בודקים את המשאית הראשונה, כל משאית חשודה — ולפי תכנית הדגימה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>
                <a:latin typeface="Arial Unicode MS"/>
                <a:ea typeface="Arial Unicode MS"/>
                <a:cs typeface="Arial Unicode MS"/>
              </a:rPr>
              <a:t>בדיקת שקיעה (Slump Test)</a:t>
            </a:r>
          </a:p>
        </p:txBody>
      </p:sp>
      <p:pic>
        <p:nvPicPr>
          <p:cNvPr id="3" name="Picture 2" descr="slump_co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3126" y="1097280"/>
            <a:ext cx="5288946" cy="32918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4434840"/>
            <a:ext cx="5669280" cy="320040"/>
          </a:xfrm>
          <a:prstGeom prst="rect">
            <a:avLst/>
          </a:prstGeom>
          <a:noFill/>
        </p:spPr>
        <p:txBody>
          <a:bodyPr wrap="square" lIns="0" rIns="0" tIns="0" bIns="0" anchor="t" rtlCol="1">
            <a:spAutoFit/>
          </a:bodyPr>
          <a:lstStyle/>
          <a:p>
            <a:pPr algn="ctr" rtl="1" marL="0" indent="0">
              <a:spcAft>
                <a:spcPts val="400"/>
              </a:spcAft>
              <a:buNone/>
            </a:pPr>
            <a:r>
              <a:rPr lang="he-IL" sz="1300" b="0">
                <a:solidFill>
                  <a:srgbClr val="5F6B76"/>
                </a:solidFill>
                <a:latin typeface="Arial Unicode MS"/>
                <a:ea typeface="Arial Unicode MS"/>
                <a:cs typeface="Arial Unicode MS"/>
              </a:rPr>
              <a:t>מידות החרוט במ"מ: קוטר עליון 100, תחתון 200, גובה 300</a:t>
            </a:r>
          </a:p>
        </p:txBody>
      </p:sp>
      <p:sp>
        <p:nvSpPr>
          <p:cNvPr id="5" name="Oval 4"/>
          <p:cNvSpPr/>
          <p:nvPr/>
        </p:nvSpPr>
        <p:spPr>
          <a:xfrm>
            <a:off x="10981944" y="1179576"/>
            <a:ext cx="438912" cy="438912"/>
          </a:xfrm>
          <a:prstGeom prst="ellipse">
            <a:avLst/>
          </a:prstGeom>
          <a:solidFill>
            <a:srgbClr val="0081C8"/>
          </a:solidFill>
          <a:ln>
            <a:noFill/>
          </a:ln>
        </p:spPr>
        <p:txBody>
          <a:bodyPr rtlCol="0" anchor="ctr" wrap="square" lIns="0" rIns="0" tIns="18288" bIns="18288"/>
          <a:lstStyle/>
          <a:p>
            <a:pPr algn="ctr" rtl="1" marL="0" indent="0">
              <a:buNone/>
            </a:pPr>
            <a:r>
              <a:rPr lang="he-IL" sz="16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0" y="1143000"/>
            <a:ext cx="4023360" cy="566928"/>
          </a:xfrm>
          <a:prstGeom prst="rect">
            <a:avLst/>
          </a:prstGeom>
          <a:noFill/>
        </p:spPr>
        <p:txBody>
          <a:bodyPr wrap="square" lIns="0" rIns="0" tIns="0" bIns="0" anchor="ctr" rtlCol="1">
            <a:spAutoFit/>
          </a:bodyPr>
          <a:lstStyle/>
          <a:p>
            <a:pPr algn="r" rtl="1" marL="0" indent="0">
              <a:spcAft>
                <a:spcPts val="400"/>
              </a:spcAft>
              <a:buNone/>
            </a:pPr>
            <a:r>
              <a:rPr lang="he-IL" sz="1500" b="0">
                <a:solidFill>
                  <a:srgbClr val="333F4A"/>
                </a:solidFill>
                <a:latin typeface="Arial Unicode MS"/>
                <a:ea typeface="Arial Unicode MS"/>
                <a:cs typeface="Arial Unicode MS"/>
              </a:rPr>
              <a:t>מרטיבים חרוט ומשטח, מניחים על בסיס יציב ואופקי</a:t>
            </a:r>
          </a:p>
        </p:txBody>
      </p:sp>
      <p:sp>
        <p:nvSpPr>
          <p:cNvPr id="7" name="Oval 6"/>
          <p:cNvSpPr/>
          <p:nvPr/>
        </p:nvSpPr>
        <p:spPr>
          <a:xfrm>
            <a:off x="10981944" y="1837943"/>
            <a:ext cx="438912" cy="438912"/>
          </a:xfrm>
          <a:prstGeom prst="ellipse">
            <a:avLst/>
          </a:prstGeom>
          <a:solidFill>
            <a:srgbClr val="0081C8"/>
          </a:solidFill>
          <a:ln>
            <a:noFill/>
          </a:ln>
        </p:spPr>
        <p:txBody>
          <a:bodyPr rtlCol="0" anchor="ctr" wrap="square" lIns="0" rIns="0" tIns="18288" bIns="18288"/>
          <a:lstStyle/>
          <a:p>
            <a:pPr algn="ctr" rtl="1" marL="0" indent="0">
              <a:buNone/>
            </a:pPr>
            <a:r>
              <a:rPr lang="he-IL" sz="16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0" y="1801368"/>
            <a:ext cx="4023360" cy="566928"/>
          </a:xfrm>
          <a:prstGeom prst="rect">
            <a:avLst/>
          </a:prstGeom>
          <a:noFill/>
        </p:spPr>
        <p:txBody>
          <a:bodyPr wrap="square" lIns="0" rIns="0" tIns="0" bIns="0" anchor="ctr" rtlCol="1">
            <a:spAutoFit/>
          </a:bodyPr>
          <a:lstStyle/>
          <a:p>
            <a:pPr algn="r" rtl="1" marL="0" indent="0">
              <a:spcAft>
                <a:spcPts val="400"/>
              </a:spcAft>
              <a:buNone/>
            </a:pPr>
            <a:r>
              <a:rPr lang="he-IL" sz="1500" b="0">
                <a:solidFill>
                  <a:srgbClr val="333F4A"/>
                </a:solidFill>
                <a:latin typeface="Arial Unicode MS"/>
                <a:ea typeface="Arial Unicode MS"/>
                <a:cs typeface="Arial Unicode MS"/>
              </a:rPr>
              <a:t>ממלאים ב-3 שכבות שוות, כל אחת 25 דקירות במוט</a:t>
            </a:r>
          </a:p>
        </p:txBody>
      </p:sp>
      <p:sp>
        <p:nvSpPr>
          <p:cNvPr id="9" name="Oval 8"/>
          <p:cNvSpPr/>
          <p:nvPr/>
        </p:nvSpPr>
        <p:spPr>
          <a:xfrm>
            <a:off x="10981944" y="2496311"/>
            <a:ext cx="438912" cy="438912"/>
          </a:xfrm>
          <a:prstGeom prst="ellipse">
            <a:avLst/>
          </a:prstGeom>
          <a:solidFill>
            <a:srgbClr val="0081C8"/>
          </a:solidFill>
          <a:ln>
            <a:noFill/>
          </a:ln>
        </p:spPr>
        <p:txBody>
          <a:bodyPr rtlCol="0" anchor="ctr" wrap="square" lIns="0" rIns="0" tIns="18288" bIns="18288"/>
          <a:lstStyle/>
          <a:p>
            <a:pPr algn="ctr" rtl="1" marL="0" indent="0">
              <a:buNone/>
            </a:pPr>
            <a:r>
              <a:rPr lang="he-IL" sz="16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2459736"/>
            <a:ext cx="4023360" cy="566928"/>
          </a:xfrm>
          <a:prstGeom prst="rect">
            <a:avLst/>
          </a:prstGeom>
          <a:noFill/>
        </p:spPr>
        <p:txBody>
          <a:bodyPr wrap="square" lIns="0" rIns="0" tIns="0" bIns="0" anchor="ctr" rtlCol="1">
            <a:spAutoFit/>
          </a:bodyPr>
          <a:lstStyle/>
          <a:p>
            <a:pPr algn="r" rtl="1" marL="0" indent="0">
              <a:spcAft>
                <a:spcPts val="400"/>
              </a:spcAft>
              <a:buNone/>
            </a:pPr>
            <a:r>
              <a:rPr lang="he-IL" sz="1500" b="0">
                <a:solidFill>
                  <a:srgbClr val="333F4A"/>
                </a:solidFill>
                <a:latin typeface="Arial Unicode MS"/>
                <a:ea typeface="Arial Unicode MS"/>
                <a:cs typeface="Arial Unicode MS"/>
              </a:rPr>
              <a:t>מיישרים את פני הבטון ומנקים סביב החרוט</a:t>
            </a:r>
          </a:p>
        </p:txBody>
      </p:sp>
      <p:sp>
        <p:nvSpPr>
          <p:cNvPr id="11" name="Oval 10"/>
          <p:cNvSpPr/>
          <p:nvPr/>
        </p:nvSpPr>
        <p:spPr>
          <a:xfrm>
            <a:off x="10981944" y="3154680"/>
            <a:ext cx="438912" cy="438912"/>
          </a:xfrm>
          <a:prstGeom prst="ellipse">
            <a:avLst/>
          </a:prstGeom>
          <a:solidFill>
            <a:srgbClr val="0081C8"/>
          </a:solidFill>
          <a:ln>
            <a:noFill/>
          </a:ln>
        </p:spPr>
        <p:txBody>
          <a:bodyPr rtlCol="0" anchor="ctr" wrap="square" lIns="0" rIns="0" tIns="18288" bIns="18288"/>
          <a:lstStyle/>
          <a:p>
            <a:pPr algn="ctr" rtl="1" marL="0" indent="0">
              <a:buNone/>
            </a:pPr>
            <a:r>
              <a:rPr lang="he-IL" sz="16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0" y="3118104"/>
            <a:ext cx="4023360" cy="566928"/>
          </a:xfrm>
          <a:prstGeom prst="rect">
            <a:avLst/>
          </a:prstGeom>
          <a:noFill/>
        </p:spPr>
        <p:txBody>
          <a:bodyPr wrap="square" lIns="0" rIns="0" tIns="0" bIns="0" anchor="ctr" rtlCol="1">
            <a:spAutoFit/>
          </a:bodyPr>
          <a:lstStyle/>
          <a:p>
            <a:pPr algn="r" rtl="1" marL="0" indent="0">
              <a:spcAft>
                <a:spcPts val="400"/>
              </a:spcAft>
              <a:buNone/>
            </a:pPr>
            <a:r>
              <a:rPr lang="he-IL" sz="1500" b="0">
                <a:solidFill>
                  <a:srgbClr val="333F4A"/>
                </a:solidFill>
                <a:latin typeface="Arial Unicode MS"/>
                <a:ea typeface="Arial Unicode MS"/>
                <a:cs typeface="Arial Unicode MS"/>
              </a:rPr>
              <a:t>מרימים אנכית ובאחידות, ללא סיבוב (2-5 שניות)</a:t>
            </a:r>
          </a:p>
        </p:txBody>
      </p:sp>
      <p:sp>
        <p:nvSpPr>
          <p:cNvPr id="13" name="Oval 12"/>
          <p:cNvSpPr/>
          <p:nvPr/>
        </p:nvSpPr>
        <p:spPr>
          <a:xfrm>
            <a:off x="10981944" y="3813048"/>
            <a:ext cx="438912" cy="438912"/>
          </a:xfrm>
          <a:prstGeom prst="ellipse">
            <a:avLst/>
          </a:prstGeom>
          <a:solidFill>
            <a:srgbClr val="0081C8"/>
          </a:solidFill>
          <a:ln>
            <a:noFill/>
          </a:ln>
        </p:spPr>
        <p:txBody>
          <a:bodyPr rtlCol="0" anchor="ctr" wrap="square" lIns="0" rIns="0" tIns="18288" bIns="18288"/>
          <a:lstStyle/>
          <a:p>
            <a:pPr algn="ctr" rtl="1" marL="0" indent="0">
              <a:buNone/>
            </a:pPr>
            <a:r>
              <a:rPr lang="he-IL" sz="16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0" y="3776472"/>
            <a:ext cx="4023360" cy="566928"/>
          </a:xfrm>
          <a:prstGeom prst="rect">
            <a:avLst/>
          </a:prstGeom>
          <a:noFill/>
        </p:spPr>
        <p:txBody>
          <a:bodyPr wrap="square" lIns="0" rIns="0" tIns="0" bIns="0" anchor="ctr" rtlCol="1">
            <a:spAutoFit/>
          </a:bodyPr>
          <a:lstStyle/>
          <a:p>
            <a:pPr algn="r" rtl="1" marL="0" indent="0">
              <a:spcAft>
                <a:spcPts val="400"/>
              </a:spcAft>
              <a:buNone/>
            </a:pPr>
            <a:r>
              <a:rPr lang="he-IL" sz="1500" b="0">
                <a:solidFill>
                  <a:srgbClr val="333F4A"/>
                </a:solidFill>
                <a:latin typeface="Arial Unicode MS"/>
                <a:ea typeface="Arial Unicode MS"/>
                <a:cs typeface="Arial Unicode MS"/>
              </a:rPr>
              <a:t>מודדים מגובה החרוט עד מרכז הבטון השוקע</a:t>
            </a:r>
          </a:p>
        </p:txBody>
      </p:sp>
      <p:sp>
        <p:nvSpPr>
          <p:cNvPr id="15" name="Oval 14"/>
          <p:cNvSpPr/>
          <p:nvPr/>
        </p:nvSpPr>
        <p:spPr>
          <a:xfrm>
            <a:off x="10981944" y="4471416"/>
            <a:ext cx="438912" cy="438912"/>
          </a:xfrm>
          <a:prstGeom prst="ellipse">
            <a:avLst/>
          </a:prstGeom>
          <a:solidFill>
            <a:srgbClr val="0081C8"/>
          </a:solidFill>
          <a:ln>
            <a:noFill/>
          </a:ln>
        </p:spPr>
        <p:txBody>
          <a:bodyPr rtlCol="0" anchor="ctr" wrap="square" lIns="0" rIns="0" tIns="18288" bIns="18288"/>
          <a:lstStyle/>
          <a:p>
            <a:pPr algn="ctr" rtl="1" marL="0" indent="0">
              <a:buNone/>
            </a:pPr>
            <a:r>
              <a:rPr lang="he-IL" sz="16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0" y="4434840"/>
            <a:ext cx="4023360" cy="566928"/>
          </a:xfrm>
          <a:prstGeom prst="rect">
            <a:avLst/>
          </a:prstGeom>
          <a:noFill/>
        </p:spPr>
        <p:txBody>
          <a:bodyPr wrap="square" lIns="0" rIns="0" tIns="0" bIns="0" anchor="ctr" rtlCol="1">
            <a:spAutoFit/>
          </a:bodyPr>
          <a:lstStyle/>
          <a:p>
            <a:pPr algn="r" rtl="1" marL="0" indent="0">
              <a:spcAft>
                <a:spcPts val="400"/>
              </a:spcAft>
              <a:buNone/>
            </a:pPr>
            <a:r>
              <a:rPr lang="he-IL" sz="1500" b="0">
                <a:solidFill>
                  <a:srgbClr val="333F4A"/>
                </a:solidFill>
                <a:latin typeface="Arial Unicode MS"/>
                <a:ea typeface="Arial Unicode MS"/>
                <a:cs typeface="Arial Unicode MS"/>
              </a:rPr>
              <a:t>רושמים את התוצאה ואת צורת השקיעה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4937760"/>
            <a:ext cx="5669280" cy="640080"/>
          </a:xfrm>
          <a:prstGeom prst="roundRect">
            <a:avLst>
              <a:gd name="adj" fmla="val 8000"/>
            </a:avLst>
          </a:prstGeom>
          <a:solidFill>
            <a:srgbClr val="00397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879592" y="5029200"/>
            <a:ext cx="457200" cy="457200"/>
          </a:xfrm>
          <a:prstGeom prst="ellipse">
            <a:avLst/>
          </a:prstGeom>
          <a:solidFill>
            <a:srgbClr val="C4D8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9" name="Picture 18" descr="FaClock_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9320" y="5138928"/>
            <a:ext cx="237744" cy="237744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051560" y="4937760"/>
            <a:ext cx="4754880" cy="640080"/>
          </a:xfrm>
          <a:prstGeom prst="rect">
            <a:avLst/>
          </a:prstGeom>
          <a:noFill/>
        </p:spPr>
        <p:txBody>
          <a:bodyPr wrap="square" lIns="0" rIns="0" tIns="0" bIns="0" anchor="ctr" rtlCol="1">
            <a:spAutoFit/>
          </a:bodyPr>
          <a:lstStyle/>
          <a:p>
            <a:pPr algn="r" rtl="1" marL="0" indent="0">
              <a:spcAft>
                <a:spcPts val="400"/>
              </a:spcAft>
              <a:buNone/>
            </a:pPr>
            <a:r>
              <a:rPr lang="he-IL" sz="17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מסיימים את הבדיקה תוך 2.5 דקות מהמילוי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>
                <a:latin typeface="Arial Unicode MS"/>
                <a:ea typeface="Arial Unicode MS"/>
                <a:cs typeface="Arial Unicode MS"/>
              </a:rPr>
              <a:t>פענוח תוצאות שקיעה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001000" y="1097280"/>
            <a:ext cx="3474720" cy="3749039"/>
          </a:xfrm>
          <a:prstGeom prst="roundRect">
            <a:avLst>
              <a:gd name="adj" fmla="val 8000"/>
            </a:avLst>
          </a:prstGeom>
          <a:solidFill>
            <a:srgbClr val="FFF2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4" name="Picture 3" descr="slump_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17451" y="1234440"/>
            <a:ext cx="2241816" cy="1600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138160" y="2926080"/>
            <a:ext cx="3200400" cy="411480"/>
          </a:xfrm>
          <a:prstGeom prst="rect">
            <a:avLst/>
          </a:prstGeom>
          <a:noFill/>
        </p:spPr>
        <p:txBody>
          <a:bodyPr wrap="square" lIns="0" rIns="0" tIns="0" bIns="0" anchor="t" rtlCol="1">
            <a:spAutoFit/>
          </a:bodyPr>
          <a:lstStyle/>
          <a:p>
            <a:pPr algn="ctr" rtl="1" marL="0" indent="0">
              <a:spcAft>
                <a:spcPts val="400"/>
              </a:spcAft>
              <a:buNone/>
            </a:pPr>
            <a:r>
              <a:rPr lang="he-IL" sz="2200" b="1">
                <a:solidFill>
                  <a:srgbClr val="B26A00"/>
                </a:solidFill>
                <a:latin typeface="Arial Unicode MS"/>
                <a:ea typeface="Arial Unicode MS"/>
                <a:cs typeface="Arial Unicode MS"/>
              </a:rPr>
              <a:t>נמוכה מדי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83880" y="3383280"/>
            <a:ext cx="3108960" cy="640080"/>
          </a:xfrm>
          <a:prstGeom prst="rect">
            <a:avLst/>
          </a:prstGeom>
          <a:noFill/>
        </p:spPr>
        <p:txBody>
          <a:bodyPr wrap="square" lIns="0" rIns="0" tIns="0" bIns="0" anchor="t" rtlCol="1">
            <a:spAutoFit/>
          </a:bodyPr>
          <a:lstStyle/>
          <a:p>
            <a:pPr algn="ctr" rtl="1" marL="0" indent="0">
              <a:spcAft>
                <a:spcPts val="400"/>
              </a:spcAft>
              <a:buNone/>
            </a:pPr>
            <a:r>
              <a:rPr lang="he-IL" sz="1400" b="0">
                <a:solidFill>
                  <a:srgbClr val="333F4A"/>
                </a:solidFill>
                <a:latin typeface="Arial Unicode MS"/>
                <a:ea typeface="Arial Unicode MS"/>
                <a:cs typeface="Arial Unicode MS"/>
              </a:rPr>
              <a:t>קשה לשאיבה ולריטוט; סיכון לקיני חצץ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83880" y="4069080"/>
            <a:ext cx="3108960" cy="685800"/>
          </a:xfrm>
          <a:prstGeom prst="rect">
            <a:avLst/>
          </a:prstGeom>
          <a:noFill/>
        </p:spPr>
        <p:txBody>
          <a:bodyPr wrap="square" lIns="0" rIns="0" tIns="0" bIns="0" anchor="t" rtlCol="1">
            <a:spAutoFit/>
          </a:bodyPr>
          <a:lstStyle/>
          <a:p>
            <a:pPr algn="ctr" rtl="1" marL="0" indent="0">
              <a:spcAft>
                <a:spcPts val="400"/>
              </a:spcAft>
              <a:buNone/>
            </a:pPr>
            <a:r>
              <a:rPr lang="he-IL" sz="1300" b="1">
                <a:solidFill>
                  <a:srgbClr val="003973"/>
                </a:solidFill>
                <a:latin typeface="Arial Unicode MS"/>
                <a:ea typeface="Arial Unicode MS"/>
                <a:cs typeface="Arial Unicode MS"/>
              </a:rPr>
              <a:t>פעולה: </a:t>
            </a:r>
            <a:r>
              <a:rPr lang="he-IL" sz="1300" b="0">
                <a:solidFill>
                  <a:srgbClr val="333F4A"/>
                </a:solidFill>
                <a:latin typeface="Arial Unicode MS"/>
                <a:ea typeface="Arial Unicode MS"/>
                <a:cs typeface="Arial Unicode MS"/>
              </a:rPr>
              <a:t>בדיקת זמן המתנה; תיקון רק במוסף מאושר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53128" y="1097280"/>
            <a:ext cx="3474720" cy="3749039"/>
          </a:xfrm>
          <a:prstGeom prst="roundRect">
            <a:avLst>
              <a:gd name="adj" fmla="val 8000"/>
            </a:avLst>
          </a:prstGeom>
          <a:solidFill>
            <a:srgbClr val="E8F3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9" name="Picture 8" descr="slump_o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69579" y="1234440"/>
            <a:ext cx="2241816" cy="16002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590288" y="2926080"/>
            <a:ext cx="3200400" cy="411480"/>
          </a:xfrm>
          <a:prstGeom prst="rect">
            <a:avLst/>
          </a:prstGeom>
          <a:noFill/>
        </p:spPr>
        <p:txBody>
          <a:bodyPr wrap="square" lIns="0" rIns="0" tIns="0" bIns="0" anchor="t" rtlCol="1">
            <a:spAutoFit/>
          </a:bodyPr>
          <a:lstStyle/>
          <a:p>
            <a:pPr algn="ctr" rtl="1" marL="0" indent="0">
              <a:spcAft>
                <a:spcPts val="400"/>
              </a:spcAft>
              <a:buNone/>
            </a:pPr>
            <a:r>
              <a:rPr lang="he-IL" sz="2200" b="1">
                <a:solidFill>
                  <a:srgbClr val="2E7D32"/>
                </a:solidFill>
                <a:latin typeface="Arial Unicode MS"/>
                <a:ea typeface="Arial Unicode MS"/>
                <a:cs typeface="Arial Unicode MS"/>
              </a:rPr>
              <a:t>תקינה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36008" y="3383280"/>
            <a:ext cx="3108960" cy="640080"/>
          </a:xfrm>
          <a:prstGeom prst="rect">
            <a:avLst/>
          </a:prstGeom>
          <a:noFill/>
        </p:spPr>
        <p:txBody>
          <a:bodyPr wrap="square" lIns="0" rIns="0" tIns="0" bIns="0" anchor="t" rtlCol="1">
            <a:spAutoFit/>
          </a:bodyPr>
          <a:lstStyle/>
          <a:p>
            <a:pPr algn="ctr" rtl="1" marL="0" indent="0">
              <a:spcAft>
                <a:spcPts val="400"/>
              </a:spcAft>
              <a:buNone/>
            </a:pPr>
            <a:r>
              <a:rPr lang="he-IL" sz="1400" b="0">
                <a:solidFill>
                  <a:srgbClr val="333F4A"/>
                </a:solidFill>
                <a:latin typeface="Arial Unicode MS"/>
                <a:ea typeface="Arial Unicode MS"/>
                <a:cs typeface="Arial Unicode MS"/>
              </a:rPr>
              <a:t>שקיעה סימטרית בטווח ההזמנה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36008" y="4069080"/>
            <a:ext cx="3108960" cy="685800"/>
          </a:xfrm>
          <a:prstGeom prst="rect">
            <a:avLst/>
          </a:prstGeom>
          <a:noFill/>
        </p:spPr>
        <p:txBody>
          <a:bodyPr wrap="square" lIns="0" rIns="0" tIns="0" bIns="0" anchor="t" rtlCol="1">
            <a:spAutoFit/>
          </a:bodyPr>
          <a:lstStyle/>
          <a:p>
            <a:pPr algn="ctr" rtl="1" marL="0" indent="0">
              <a:spcAft>
                <a:spcPts val="400"/>
              </a:spcAft>
              <a:buNone/>
            </a:pPr>
            <a:r>
              <a:rPr lang="he-IL" sz="1300" b="1">
                <a:solidFill>
                  <a:srgbClr val="003973"/>
                </a:solidFill>
                <a:latin typeface="Arial Unicode MS"/>
                <a:ea typeface="Arial Unicode MS"/>
                <a:cs typeface="Arial Unicode MS"/>
              </a:rPr>
              <a:t>פעולה: </a:t>
            </a:r>
            <a:r>
              <a:rPr lang="he-IL" sz="1300" b="0">
                <a:solidFill>
                  <a:srgbClr val="333F4A"/>
                </a:solidFill>
                <a:latin typeface="Arial Unicode MS"/>
                <a:ea typeface="Arial Unicode MS"/>
                <a:cs typeface="Arial Unicode MS"/>
              </a:rPr>
              <a:t>מאשרים ומתעדים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5256" y="1097280"/>
            <a:ext cx="3474720" cy="3749039"/>
          </a:xfrm>
          <a:prstGeom prst="roundRect">
            <a:avLst>
              <a:gd name="adj" fmla="val 8000"/>
            </a:avLst>
          </a:prstGeom>
          <a:solidFill>
            <a:srgbClr val="FBE9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Picture 13" descr="slump_hig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1707" y="1234440"/>
            <a:ext cx="2241816" cy="16002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42416" y="2926080"/>
            <a:ext cx="3200400" cy="411480"/>
          </a:xfrm>
          <a:prstGeom prst="rect">
            <a:avLst/>
          </a:prstGeom>
          <a:noFill/>
        </p:spPr>
        <p:txBody>
          <a:bodyPr wrap="square" lIns="0" rIns="0" tIns="0" bIns="0" anchor="t" rtlCol="1">
            <a:spAutoFit/>
          </a:bodyPr>
          <a:lstStyle/>
          <a:p>
            <a:pPr algn="ctr" rtl="1" marL="0" indent="0">
              <a:spcAft>
                <a:spcPts val="400"/>
              </a:spcAft>
              <a:buNone/>
            </a:pPr>
            <a:r>
              <a:rPr lang="he-IL" sz="2200" b="1">
                <a:solidFill>
                  <a:srgbClr val="C62828"/>
                </a:solidFill>
                <a:latin typeface="Arial Unicode MS"/>
                <a:ea typeface="Arial Unicode MS"/>
                <a:cs typeface="Arial Unicode MS"/>
              </a:rPr>
              <a:t>גבוהה מדי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88136" y="3383280"/>
            <a:ext cx="3108960" cy="640080"/>
          </a:xfrm>
          <a:prstGeom prst="rect">
            <a:avLst/>
          </a:prstGeom>
          <a:noFill/>
        </p:spPr>
        <p:txBody>
          <a:bodyPr wrap="square" lIns="0" rIns="0" tIns="0" bIns="0" anchor="t" rtlCol="1">
            <a:spAutoFit/>
          </a:bodyPr>
          <a:lstStyle/>
          <a:p>
            <a:pPr algn="ctr" rtl="1" marL="0" indent="0">
              <a:spcAft>
                <a:spcPts val="400"/>
              </a:spcAft>
              <a:buNone/>
            </a:pPr>
            <a:r>
              <a:rPr lang="he-IL" sz="1400" b="0">
                <a:solidFill>
                  <a:srgbClr val="333F4A"/>
                </a:solidFill>
                <a:latin typeface="Arial Unicode MS"/>
                <a:ea typeface="Arial Unicode MS"/>
                <a:cs typeface="Arial Unicode MS"/>
              </a:rPr>
              <a:t>חשד לעודף מים; סגרגציה ודימום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8136" y="4069080"/>
            <a:ext cx="3108960" cy="685800"/>
          </a:xfrm>
          <a:prstGeom prst="rect">
            <a:avLst/>
          </a:prstGeom>
          <a:noFill/>
        </p:spPr>
        <p:txBody>
          <a:bodyPr wrap="square" lIns="0" rIns="0" tIns="0" bIns="0" anchor="t" rtlCol="1">
            <a:spAutoFit/>
          </a:bodyPr>
          <a:lstStyle/>
          <a:p>
            <a:pPr algn="ctr" rtl="1" marL="0" indent="0">
              <a:spcAft>
                <a:spcPts val="400"/>
              </a:spcAft>
              <a:buNone/>
            </a:pPr>
            <a:r>
              <a:rPr lang="he-IL" sz="1300" b="1">
                <a:solidFill>
                  <a:srgbClr val="003973"/>
                </a:solidFill>
                <a:latin typeface="Arial Unicode MS"/>
                <a:ea typeface="Arial Unicode MS"/>
                <a:cs typeface="Arial Unicode MS"/>
              </a:rPr>
              <a:t>פעולה: </a:t>
            </a:r>
            <a:r>
              <a:rPr lang="he-IL" sz="1300" b="0">
                <a:solidFill>
                  <a:srgbClr val="333F4A"/>
                </a:solidFill>
                <a:latin typeface="Arial Unicode MS"/>
                <a:ea typeface="Arial Unicode MS"/>
                <a:cs typeface="Arial Unicode MS"/>
              </a:rPr>
              <a:t>עצירה, בדיקה חוזרת, החלטה על דחייה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78240" y="5029200"/>
            <a:ext cx="2697480" cy="320040"/>
          </a:xfrm>
          <a:prstGeom prst="rect">
            <a:avLst/>
          </a:prstGeom>
          <a:noFill/>
        </p:spPr>
        <p:txBody>
          <a:bodyPr wrap="square" lIns="0" rIns="0" tIns="0" bIns="0" anchor="t" rtlCol="1">
            <a:spAutoFit/>
          </a:bodyPr>
          <a:lstStyle/>
          <a:p>
            <a:pPr algn="r" rtl="1" marL="0" indent="0">
              <a:spcAft>
                <a:spcPts val="400"/>
              </a:spcAft>
              <a:buNone/>
            </a:pPr>
            <a:r>
              <a:rPr lang="he-IL" sz="1300" b="1">
                <a:solidFill>
                  <a:srgbClr val="003973"/>
                </a:solidFill>
                <a:latin typeface="Arial Unicode MS"/>
                <a:ea typeface="Arial Unicode MS"/>
                <a:cs typeface="Arial Unicode MS"/>
              </a:rPr>
              <a:t>מחלקות שקיעה EN 206 (מ"מ)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822960" y="4983480"/>
          <a:ext cx="7772400" cy="73152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554480"/>
                <a:gridCol w="1554480"/>
                <a:gridCol w="1554480"/>
                <a:gridCol w="1554480"/>
                <a:gridCol w="1554480"/>
              </a:tblGrid>
              <a:tr h="365760">
                <a:tc>
                  <a:txBody>
                    <a:bodyPr wrap="square"/>
                    <a:lstStyle/>
                    <a:p>
                      <a:pPr algn="ctr" rtl="1" marL="0" indent="0">
                        <a:buNone/>
                      </a:pPr>
                      <a:r>
                        <a:rPr lang="he-IL" sz="130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S5</a:t>
                      </a:r>
                    </a:p>
                  </a:txBody>
                  <a:tcPr marL="73152" marR="73152" marT="36576" marB="36576" anchor="ctr">
                    <a:solidFill>
                      <a:srgbClr val="0081C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 marL="0" indent="0">
                        <a:buNone/>
                      </a:pPr>
                      <a:r>
                        <a:rPr lang="he-IL" sz="130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S4</a:t>
                      </a:r>
                    </a:p>
                  </a:txBody>
                  <a:tcPr marL="73152" marR="73152" marT="36576" marB="36576" anchor="ctr">
                    <a:solidFill>
                      <a:srgbClr val="0081C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 marL="0" indent="0">
                        <a:buNone/>
                      </a:pPr>
                      <a:r>
                        <a:rPr lang="he-IL" sz="130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S3</a:t>
                      </a:r>
                    </a:p>
                  </a:txBody>
                  <a:tcPr marL="73152" marR="73152" marT="36576" marB="36576" anchor="ctr">
                    <a:solidFill>
                      <a:srgbClr val="0081C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 marL="0" indent="0">
                        <a:buNone/>
                      </a:pPr>
                      <a:r>
                        <a:rPr lang="he-IL" sz="130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S2</a:t>
                      </a:r>
                    </a:p>
                  </a:txBody>
                  <a:tcPr marL="73152" marR="73152" marT="36576" marB="36576" anchor="ctr">
                    <a:solidFill>
                      <a:srgbClr val="0081C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 marL="0" indent="0">
                        <a:buNone/>
                      </a:pPr>
                      <a:r>
                        <a:rPr lang="he-IL" sz="130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S1</a:t>
                      </a:r>
                    </a:p>
                  </a:txBody>
                  <a:tcPr marL="73152" marR="73152" marT="36576" marB="36576" anchor="ctr">
                    <a:solidFill>
                      <a:srgbClr val="0081C8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ctr" rtl="1" marL="0" indent="0">
                        <a:buNone/>
                      </a:pPr>
                      <a:r>
                        <a:rPr lang="he-IL" sz="1300" b="0">
                          <a:solidFill>
                            <a:srgbClr val="333F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220 ומעלה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 marL="0" indent="0">
                        <a:buNone/>
                      </a:pPr>
                      <a:r>
                        <a:rPr lang="he-IL" sz="1300" b="0">
                          <a:solidFill>
                            <a:srgbClr val="333F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160-210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 marL="0" indent="0">
                        <a:buNone/>
                      </a:pPr>
                      <a:r>
                        <a:rPr lang="he-IL" sz="1300" b="0">
                          <a:solidFill>
                            <a:srgbClr val="333F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100-150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 marL="0" indent="0">
                        <a:buNone/>
                      </a:pPr>
                      <a:r>
                        <a:rPr lang="he-IL" sz="1300" b="0">
                          <a:solidFill>
                            <a:srgbClr val="333F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50-90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 marL="0" indent="0">
                        <a:buNone/>
                      </a:pPr>
                      <a:r>
                        <a:rPr lang="he-IL" sz="1300" b="0">
                          <a:solidFill>
                            <a:srgbClr val="333F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10-40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>
                <a:latin typeface="Arial Unicode MS"/>
                <a:ea typeface="Arial Unicode MS"/>
                <a:cs typeface="Arial Unicode MS"/>
              </a:rPr>
              <a:t>בדיקת טמפרטורה</a:t>
            </a:r>
          </a:p>
        </p:txBody>
      </p:sp>
      <p:sp>
        <p:nvSpPr>
          <p:cNvPr id="3" name="Rectangle 2"/>
          <p:cNvSpPr/>
          <p:nvPr/>
        </p:nvSpPr>
        <p:spPr>
          <a:xfrm>
            <a:off x="10144125" y="1417320"/>
            <a:ext cx="1304163" cy="822960"/>
          </a:xfrm>
          <a:prstGeom prst="rect">
            <a:avLst/>
          </a:prstGeom>
          <a:solidFill>
            <a:srgbClr val="4A6FA5"/>
          </a:solidFill>
          <a:ln>
            <a:noFill/>
          </a:ln>
        </p:spPr>
        <p:txBody>
          <a:bodyPr rtlCol="0" anchor="ctr" wrap="square" lIns="45720" rIns="45720" tIns="18288" bIns="18288"/>
          <a:lstStyle/>
          <a:p>
            <a:pPr algn="ctr" rtl="1" marL="0" indent="0">
              <a:buNone/>
            </a:pPr>
            <a:r>
              <a:rPr lang="he-IL" sz="15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סכנת קפיאה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44125" y="2304288"/>
            <a:ext cx="1304163" cy="502920"/>
          </a:xfrm>
          <a:prstGeom prst="rect">
            <a:avLst/>
          </a:prstGeom>
          <a:noFill/>
        </p:spPr>
        <p:txBody>
          <a:bodyPr wrap="square" lIns="0" rIns="0" tIns="0" bIns="0" anchor="t" rtlCol="1">
            <a:spAutoFit/>
          </a:bodyPr>
          <a:lstStyle/>
          <a:p>
            <a:pPr algn="ctr" rtl="1" marL="0" indent="0">
              <a:spcAft>
                <a:spcPts val="400"/>
              </a:spcAft>
              <a:buNone/>
            </a:pPr>
            <a:r>
              <a:rPr lang="he-IL" sz="1200" b="0">
                <a:solidFill>
                  <a:srgbClr val="5F6B76"/>
                </a:solidFill>
                <a:latin typeface="Arial Unicode MS"/>
                <a:ea typeface="Arial Unicode MS"/>
                <a:cs typeface="Arial Unicode MS"/>
              </a:rPr>
              <a:t>ההידרציה כמעט נעצרת</a:t>
            </a:r>
          </a:p>
        </p:txBody>
      </p:sp>
      <p:sp>
        <p:nvSpPr>
          <p:cNvPr id="5" name="Rectangle 4"/>
          <p:cNvSpPr/>
          <p:nvPr/>
        </p:nvSpPr>
        <p:spPr>
          <a:xfrm>
            <a:off x="8812530" y="1417320"/>
            <a:ext cx="1304163" cy="822960"/>
          </a:xfrm>
          <a:prstGeom prst="rect">
            <a:avLst/>
          </a:prstGeom>
          <a:solidFill>
            <a:srgbClr val="7FA7D6"/>
          </a:solidFill>
          <a:ln>
            <a:noFill/>
          </a:ln>
        </p:spPr>
        <p:txBody>
          <a:bodyPr rtlCol="0" anchor="ctr" wrap="square" lIns="45720" rIns="45720" tIns="18288" bIns="18288"/>
          <a:lstStyle/>
          <a:p>
            <a:pPr algn="ctr" rtl="1" marL="0" indent="0">
              <a:buNone/>
            </a:pPr>
            <a:r>
              <a:rPr lang="he-IL" sz="15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איטי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12530" y="2304288"/>
            <a:ext cx="1304163" cy="502920"/>
          </a:xfrm>
          <a:prstGeom prst="rect">
            <a:avLst/>
          </a:prstGeom>
          <a:noFill/>
        </p:spPr>
        <p:txBody>
          <a:bodyPr wrap="square" lIns="0" rIns="0" tIns="0" bIns="0" anchor="t" rtlCol="1">
            <a:spAutoFit/>
          </a:bodyPr>
          <a:lstStyle/>
          <a:p>
            <a:pPr algn="ctr" rtl="1" marL="0" indent="0">
              <a:spcAft>
                <a:spcPts val="400"/>
              </a:spcAft>
              <a:buNone/>
            </a:pPr>
            <a:r>
              <a:rPr lang="he-IL" sz="1200" b="0">
                <a:solidFill>
                  <a:srgbClr val="5F6B76"/>
                </a:solidFill>
                <a:latin typeface="Arial Unicode MS"/>
                <a:ea typeface="Arial Unicode MS"/>
                <a:cs typeface="Arial Unicode MS"/>
              </a:rPr>
              <a:t>התקשרות ממושכת</a:t>
            </a:r>
          </a:p>
        </p:txBody>
      </p:sp>
      <p:sp>
        <p:nvSpPr>
          <p:cNvPr id="7" name="Rectangle 6"/>
          <p:cNvSpPr/>
          <p:nvPr/>
        </p:nvSpPr>
        <p:spPr>
          <a:xfrm>
            <a:off x="3486150" y="1417320"/>
            <a:ext cx="5298948" cy="82296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txBody>
          <a:bodyPr rtlCol="0" anchor="ctr" wrap="square" lIns="45720" rIns="45720" tIns="18288" bIns="18288"/>
          <a:lstStyle/>
          <a:p>
            <a:pPr algn="ctr" rtl="1" marL="0" indent="0">
              <a:buNone/>
            </a:pPr>
            <a:r>
              <a:rPr lang="he-IL" sz="15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תקין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86150" y="2304288"/>
            <a:ext cx="5298948" cy="502920"/>
          </a:xfrm>
          <a:prstGeom prst="rect">
            <a:avLst/>
          </a:prstGeom>
          <a:noFill/>
        </p:spPr>
        <p:txBody>
          <a:bodyPr wrap="square" lIns="0" rIns="0" tIns="0" bIns="0" anchor="t" rtlCol="1">
            <a:spAutoFit/>
          </a:bodyPr>
          <a:lstStyle/>
          <a:p>
            <a:pPr algn="ctr" rtl="1" marL="0" indent="0">
              <a:spcAft>
                <a:spcPts val="400"/>
              </a:spcAft>
              <a:buNone/>
            </a:pPr>
            <a:r>
              <a:rPr lang="he-IL" sz="1200" b="0">
                <a:solidFill>
                  <a:srgbClr val="5F6B76"/>
                </a:solidFill>
                <a:latin typeface="Arial Unicode MS"/>
                <a:ea typeface="Arial Unicode MS"/>
                <a:cs typeface="Arial Unicode MS"/>
              </a:rPr>
              <a:t>טווח עבודה רגיל</a:t>
            </a:r>
          </a:p>
        </p:txBody>
      </p:sp>
      <p:sp>
        <p:nvSpPr>
          <p:cNvPr id="9" name="Rectangle 8"/>
          <p:cNvSpPr/>
          <p:nvPr/>
        </p:nvSpPr>
        <p:spPr>
          <a:xfrm>
            <a:off x="2154555" y="1417320"/>
            <a:ext cx="1304163" cy="822960"/>
          </a:xfrm>
          <a:prstGeom prst="rect">
            <a:avLst/>
          </a:prstGeom>
          <a:solidFill>
            <a:srgbClr val="B26A00"/>
          </a:solidFill>
          <a:ln>
            <a:noFill/>
          </a:ln>
        </p:spPr>
        <p:txBody>
          <a:bodyPr rtlCol="0" anchor="ctr" wrap="square" lIns="45720" rIns="45720" tIns="18288" bIns="18288"/>
          <a:lstStyle/>
          <a:p>
            <a:pPr algn="ctr" rtl="1" marL="0" indent="0">
              <a:buNone/>
            </a:pPr>
            <a:r>
              <a:rPr lang="he-IL" sz="15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חם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54555" y="2304288"/>
            <a:ext cx="1304163" cy="502920"/>
          </a:xfrm>
          <a:prstGeom prst="rect">
            <a:avLst/>
          </a:prstGeom>
          <a:noFill/>
        </p:spPr>
        <p:txBody>
          <a:bodyPr wrap="square" lIns="0" rIns="0" tIns="0" bIns="0" anchor="t" rtlCol="1">
            <a:spAutoFit/>
          </a:bodyPr>
          <a:lstStyle/>
          <a:p>
            <a:pPr algn="ctr" rtl="1" marL="0" indent="0">
              <a:spcAft>
                <a:spcPts val="400"/>
              </a:spcAft>
              <a:buNone/>
            </a:pPr>
            <a:r>
              <a:rPr lang="he-IL" sz="1200" b="0">
                <a:solidFill>
                  <a:srgbClr val="5F6B76"/>
                </a:solidFill>
                <a:latin typeface="Arial Unicode MS"/>
                <a:ea typeface="Arial Unicode MS"/>
                <a:cs typeface="Arial Unicode MS"/>
              </a:rPr>
              <a:t>נדרשים אמצעי קיץ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1417320"/>
            <a:ext cx="1304163" cy="82296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txBody>
          <a:bodyPr rtlCol="0" anchor="ctr" wrap="square" lIns="45720" rIns="45720" tIns="18288" bIns="18288"/>
          <a:lstStyle/>
          <a:p>
            <a:pPr algn="ctr" rtl="1" marL="0" indent="0">
              <a:buNone/>
            </a:pPr>
            <a:r>
              <a:rPr lang="he-IL" sz="15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סיכון גבוה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304288"/>
            <a:ext cx="1304163" cy="502920"/>
          </a:xfrm>
          <a:prstGeom prst="rect">
            <a:avLst/>
          </a:prstGeom>
          <a:noFill/>
        </p:spPr>
        <p:txBody>
          <a:bodyPr wrap="square" lIns="0" rIns="0" tIns="0" bIns="0" anchor="t" rtlCol="1">
            <a:spAutoFit/>
          </a:bodyPr>
          <a:lstStyle/>
          <a:p>
            <a:pPr algn="ctr" rtl="1" marL="0" indent="0">
              <a:spcAft>
                <a:spcPts val="400"/>
              </a:spcAft>
              <a:buNone/>
            </a:pPr>
            <a:r>
              <a:rPr lang="he-IL" sz="1200" b="0">
                <a:solidFill>
                  <a:srgbClr val="5F6B76"/>
                </a:solidFill>
                <a:latin typeface="Arial Unicode MS"/>
                <a:ea typeface="Arial Unicode MS"/>
                <a:cs typeface="Arial Unicode MS"/>
              </a:rPr>
              <a:t>בדרך כלל מחוץ למפרט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0" y="1078992"/>
            <a:ext cx="640080" cy="292608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algn="ctr" rtl="0" marL="0" indent="0">
              <a:spcAft>
                <a:spcPts val="400"/>
              </a:spcAft>
              <a:buNone/>
            </a:pPr>
            <a:r>
              <a:rPr lang="he-IL" sz="1300" b="1">
                <a:solidFill>
                  <a:srgbClr val="003973"/>
                </a:solidFill>
                <a:latin typeface="Arial Unicode MS"/>
                <a:ea typeface="Arial Unicode MS"/>
                <a:cs typeface="Arial Unicode MS"/>
              </a:rPr>
              <a:t>0°C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24085" y="1078992"/>
            <a:ext cx="640080" cy="292608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algn="ctr" rtl="0" marL="0" indent="0">
              <a:spcAft>
                <a:spcPts val="400"/>
              </a:spcAft>
              <a:buNone/>
            </a:pPr>
            <a:r>
              <a:rPr lang="he-IL" sz="1300" b="1">
                <a:solidFill>
                  <a:srgbClr val="003973"/>
                </a:solidFill>
                <a:latin typeface="Arial Unicode MS"/>
                <a:ea typeface="Arial Unicode MS"/>
                <a:cs typeface="Arial Unicode MS"/>
              </a:rPr>
              <a:t>5°C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92490" y="1078992"/>
            <a:ext cx="640080" cy="292608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algn="ctr" rtl="0" marL="0" indent="0">
              <a:spcAft>
                <a:spcPts val="400"/>
              </a:spcAft>
              <a:buNone/>
            </a:pPr>
            <a:r>
              <a:rPr lang="he-IL" sz="1300" b="1">
                <a:solidFill>
                  <a:srgbClr val="003973"/>
                </a:solidFill>
                <a:latin typeface="Arial Unicode MS"/>
                <a:ea typeface="Arial Unicode MS"/>
                <a:cs typeface="Arial Unicode MS"/>
              </a:rPr>
              <a:t>10°C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66110" y="1078992"/>
            <a:ext cx="640080" cy="292608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algn="ctr" rtl="0" marL="0" indent="0">
              <a:spcAft>
                <a:spcPts val="400"/>
              </a:spcAft>
              <a:buNone/>
            </a:pPr>
            <a:r>
              <a:rPr lang="he-IL" sz="1300" b="1">
                <a:solidFill>
                  <a:srgbClr val="003973"/>
                </a:solidFill>
                <a:latin typeface="Arial Unicode MS"/>
                <a:ea typeface="Arial Unicode MS"/>
                <a:cs typeface="Arial Unicode MS"/>
              </a:rPr>
              <a:t>30°C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34515" y="1078992"/>
            <a:ext cx="640080" cy="292608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algn="ctr" rtl="0" marL="0" indent="0">
              <a:spcAft>
                <a:spcPts val="400"/>
              </a:spcAft>
              <a:buNone/>
            </a:pPr>
            <a:r>
              <a:rPr lang="he-IL" sz="1300" b="1">
                <a:solidFill>
                  <a:srgbClr val="003973"/>
                </a:solidFill>
                <a:latin typeface="Arial Unicode MS"/>
                <a:ea typeface="Arial Unicode MS"/>
                <a:cs typeface="Arial Unicode MS"/>
              </a:rPr>
              <a:t>35°C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1078992"/>
            <a:ext cx="640080" cy="292608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algn="ctr" rtl="0" marL="0" indent="0">
              <a:spcAft>
                <a:spcPts val="400"/>
              </a:spcAft>
              <a:buNone/>
            </a:pPr>
            <a:r>
              <a:rPr lang="he-IL" sz="1300" b="1">
                <a:solidFill>
                  <a:srgbClr val="003973"/>
                </a:solidFill>
                <a:latin typeface="Arial Unicode MS"/>
                <a:ea typeface="Arial Unicode MS"/>
                <a:cs typeface="Arial Unicode MS"/>
              </a:rPr>
              <a:t>40°C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01000" y="3017520"/>
            <a:ext cx="3474720" cy="2103120"/>
          </a:xfrm>
          <a:prstGeom prst="roundRect">
            <a:avLst>
              <a:gd name="adj" fmla="val 8000"/>
            </a:avLst>
          </a:prstGeom>
          <a:solidFill>
            <a:srgbClr val="EAF3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735056" y="3191256"/>
            <a:ext cx="566928" cy="566928"/>
          </a:xfrm>
          <a:prstGeom prst="ellipse">
            <a:avLst/>
          </a:prstGeom>
          <a:solidFill>
            <a:srgbClr val="C6282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1" name="Picture 20" descr="FaSun_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71118" y="3327318"/>
            <a:ext cx="294802" cy="294802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8183880" y="3246120"/>
            <a:ext cx="2468880" cy="411480"/>
          </a:xfrm>
          <a:prstGeom prst="rect">
            <a:avLst/>
          </a:prstGeom>
          <a:noFill/>
        </p:spPr>
        <p:txBody>
          <a:bodyPr wrap="square" lIns="0" rIns="0" tIns="0" bIns="0" anchor="t" rtlCol="1">
            <a:spAutoFit/>
          </a:bodyPr>
          <a:lstStyle/>
          <a:p>
            <a:pPr algn="r" rtl="1" marL="0" indent="0">
              <a:spcAft>
                <a:spcPts val="400"/>
              </a:spcAft>
              <a:buNone/>
            </a:pPr>
            <a:r>
              <a:rPr lang="he-IL" sz="1800" b="1">
                <a:solidFill>
                  <a:srgbClr val="003973"/>
                </a:solidFill>
                <a:latin typeface="Arial Unicode MS"/>
                <a:ea typeface="Arial Unicode MS"/>
                <a:cs typeface="Arial Unicode MS"/>
              </a:rPr>
              <a:t>בטון חם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83880" y="3840480"/>
            <a:ext cx="3108960" cy="1280160"/>
          </a:xfrm>
          <a:prstGeom prst="rect">
            <a:avLst/>
          </a:prstGeom>
          <a:noFill/>
        </p:spPr>
        <p:txBody>
          <a:bodyPr wrap="square" lIns="0" rIns="0" tIns="0" bIns="0" anchor="t" rtlCol="1">
            <a:spAutoFit/>
          </a:bodyPr>
          <a:lstStyle/>
          <a:p>
            <a:pPr algn="r" rtl="1" marL="228600" indent="-228600">
              <a:spcAft>
                <a:spcPts val="400"/>
              </a:spcAft>
              <a:buFont typeface="Arial"/>
              <a:buChar char="•"/>
            </a:pPr>
            <a:r>
              <a:rPr lang="he-IL" sz="1300" b="0">
                <a:solidFill>
                  <a:srgbClr val="333F4A"/>
                </a:solidFill>
                <a:latin typeface="Arial Unicode MS"/>
                <a:ea typeface="Arial Unicode MS"/>
                <a:cs typeface="Arial Unicode MS"/>
              </a:rPr>
              <a:t>התקשרות מהירה ואיבוד שקיעה</a:t>
            </a:r>
          </a:p>
          <a:p>
            <a:pPr algn="r" rtl="1" marL="228600" indent="-228600">
              <a:spcAft>
                <a:spcPts val="400"/>
              </a:spcAft>
              <a:buFont typeface="Arial"/>
              <a:buChar char="•"/>
            </a:pPr>
            <a:r>
              <a:rPr lang="he-IL" sz="1300" b="0">
                <a:solidFill>
                  <a:srgbClr val="333F4A"/>
                </a:solidFill>
                <a:latin typeface="Arial Unicode MS"/>
                <a:ea typeface="Arial Unicode MS"/>
                <a:cs typeface="Arial Unicode MS"/>
              </a:rPr>
              <a:t>סדיקה פלסטית ותרמית</a:t>
            </a:r>
          </a:p>
          <a:p>
            <a:pPr algn="r" rtl="1" marL="228600" indent="-228600">
              <a:spcAft>
                <a:spcPts val="400"/>
              </a:spcAft>
              <a:buFont typeface="Arial"/>
              <a:buChar char="•"/>
            </a:pPr>
            <a:r>
              <a:rPr lang="he-IL" sz="1300" b="0">
                <a:solidFill>
                  <a:srgbClr val="333F4A"/>
                </a:solidFill>
                <a:latin typeface="Arial Unicode MS"/>
                <a:ea typeface="Arial Unicode MS"/>
                <a:cs typeface="Arial Unicode MS"/>
              </a:rPr>
              <a:t>חוזק סופי נמוך יותר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453128" y="3017520"/>
            <a:ext cx="3474720" cy="2103120"/>
          </a:xfrm>
          <a:prstGeom prst="roundRect">
            <a:avLst>
              <a:gd name="adj" fmla="val 8000"/>
            </a:avLst>
          </a:prstGeom>
          <a:solidFill>
            <a:srgbClr val="EAF3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187184" y="3191256"/>
            <a:ext cx="566928" cy="566928"/>
          </a:xfrm>
          <a:prstGeom prst="ellipse">
            <a:avLst/>
          </a:prstGeom>
          <a:solidFill>
            <a:srgbClr val="0081C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6" name="Picture 25" descr="FaSnowflake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3246" y="3327318"/>
            <a:ext cx="294802" cy="294802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4636008" y="3246120"/>
            <a:ext cx="2468880" cy="411480"/>
          </a:xfrm>
          <a:prstGeom prst="rect">
            <a:avLst/>
          </a:prstGeom>
          <a:noFill/>
        </p:spPr>
        <p:txBody>
          <a:bodyPr wrap="square" lIns="0" rIns="0" tIns="0" bIns="0" anchor="t" rtlCol="1">
            <a:spAutoFit/>
          </a:bodyPr>
          <a:lstStyle/>
          <a:p>
            <a:pPr algn="r" rtl="1" marL="0" indent="0">
              <a:spcAft>
                <a:spcPts val="400"/>
              </a:spcAft>
              <a:buNone/>
            </a:pPr>
            <a:r>
              <a:rPr lang="he-IL" sz="1800" b="1">
                <a:solidFill>
                  <a:srgbClr val="003973"/>
                </a:solidFill>
                <a:latin typeface="Arial Unicode MS"/>
                <a:ea typeface="Arial Unicode MS"/>
                <a:cs typeface="Arial Unicode MS"/>
              </a:rPr>
              <a:t>בטון קר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36008" y="3840480"/>
            <a:ext cx="3108960" cy="1280160"/>
          </a:xfrm>
          <a:prstGeom prst="rect">
            <a:avLst/>
          </a:prstGeom>
          <a:noFill/>
        </p:spPr>
        <p:txBody>
          <a:bodyPr wrap="square" lIns="0" rIns="0" tIns="0" bIns="0" anchor="t" rtlCol="1">
            <a:spAutoFit/>
          </a:bodyPr>
          <a:lstStyle/>
          <a:p>
            <a:pPr algn="r" rtl="1" marL="228600" indent="-228600">
              <a:spcAft>
                <a:spcPts val="400"/>
              </a:spcAft>
              <a:buFont typeface="Arial"/>
              <a:buChar char="•"/>
            </a:pPr>
            <a:r>
              <a:rPr lang="he-IL" sz="1300" b="0">
                <a:solidFill>
                  <a:srgbClr val="333F4A"/>
                </a:solidFill>
                <a:latin typeface="Arial Unicode MS"/>
                <a:ea typeface="Arial Unicode MS"/>
                <a:cs typeface="Arial Unicode MS"/>
              </a:rPr>
              <a:t>התקשרות והתפתחות חוזק איטיות</a:t>
            </a:r>
          </a:p>
          <a:p>
            <a:pPr algn="r" rtl="1" marL="228600" indent="-228600">
              <a:spcAft>
                <a:spcPts val="400"/>
              </a:spcAft>
              <a:buFont typeface="Arial"/>
              <a:buChar char="•"/>
            </a:pPr>
            <a:r>
              <a:rPr lang="he-IL" sz="1300" b="0">
                <a:solidFill>
                  <a:srgbClr val="333F4A"/>
                </a:solidFill>
                <a:latin typeface="Arial Unicode MS"/>
                <a:ea typeface="Arial Unicode MS"/>
                <a:cs typeface="Arial Unicode MS"/>
              </a:rPr>
              <a:t>פירוק תבניות מאוחר</a:t>
            </a:r>
          </a:p>
          <a:p>
            <a:pPr algn="r" rtl="1" marL="228600" indent="-228600">
              <a:spcAft>
                <a:spcPts val="400"/>
              </a:spcAft>
              <a:buFont typeface="Arial"/>
              <a:buChar char="•"/>
            </a:pPr>
            <a:r>
              <a:rPr lang="he-IL" sz="1300" b="0">
                <a:solidFill>
                  <a:srgbClr val="333F4A"/>
                </a:solidFill>
                <a:latin typeface="Arial Unicode MS"/>
                <a:ea typeface="Arial Unicode MS"/>
                <a:cs typeface="Arial Unicode MS"/>
              </a:rPr>
              <a:t>סכנת קפיאה בגיל צעיר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05256" y="3017520"/>
            <a:ext cx="3474720" cy="2103120"/>
          </a:xfrm>
          <a:prstGeom prst="roundRect">
            <a:avLst>
              <a:gd name="adj" fmla="val 8000"/>
            </a:avLst>
          </a:prstGeom>
          <a:solidFill>
            <a:srgbClr val="EAF3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639312" y="3191256"/>
            <a:ext cx="566928" cy="566928"/>
          </a:xfrm>
          <a:prstGeom prst="ellipse">
            <a:avLst/>
          </a:prstGeom>
          <a:solidFill>
            <a:srgbClr val="00397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1" name="Picture 30" descr="FaThermometerHalf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75374" y="3327318"/>
            <a:ext cx="294802" cy="294802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1088136" y="3246120"/>
            <a:ext cx="2468880" cy="411480"/>
          </a:xfrm>
          <a:prstGeom prst="rect">
            <a:avLst/>
          </a:prstGeom>
          <a:noFill/>
        </p:spPr>
        <p:txBody>
          <a:bodyPr wrap="square" lIns="0" rIns="0" tIns="0" bIns="0" anchor="t" rtlCol="1">
            <a:spAutoFit/>
          </a:bodyPr>
          <a:lstStyle/>
          <a:p>
            <a:pPr algn="r" rtl="1" marL="0" indent="0">
              <a:spcAft>
                <a:spcPts val="400"/>
              </a:spcAft>
              <a:buNone/>
            </a:pPr>
            <a:r>
              <a:rPr lang="he-IL" sz="1800" b="1">
                <a:solidFill>
                  <a:srgbClr val="003973"/>
                </a:solidFill>
                <a:latin typeface="Arial Unicode MS"/>
                <a:ea typeface="Arial Unicode MS"/>
                <a:cs typeface="Arial Unicode MS"/>
              </a:rPr>
              <a:t>איך מודדים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88136" y="3840480"/>
            <a:ext cx="3108960" cy="1280160"/>
          </a:xfrm>
          <a:prstGeom prst="rect">
            <a:avLst/>
          </a:prstGeom>
          <a:noFill/>
        </p:spPr>
        <p:txBody>
          <a:bodyPr wrap="square" lIns="0" rIns="0" tIns="0" bIns="0" anchor="t" rtlCol="1">
            <a:spAutoFit/>
          </a:bodyPr>
          <a:lstStyle/>
          <a:p>
            <a:pPr algn="r" rtl="1" marL="228600" indent="-228600">
              <a:spcAft>
                <a:spcPts val="400"/>
              </a:spcAft>
              <a:buFont typeface="Arial"/>
              <a:buChar char="•"/>
            </a:pPr>
            <a:r>
              <a:rPr lang="he-IL" sz="1300" b="0">
                <a:solidFill>
                  <a:srgbClr val="333F4A"/>
                </a:solidFill>
                <a:latin typeface="Arial Unicode MS"/>
                <a:ea typeface="Arial Unicode MS"/>
                <a:cs typeface="Arial Unicode MS"/>
              </a:rPr>
              <a:t>מדחום מכויל, טבילה של 75 מ"מ לפחות</a:t>
            </a:r>
          </a:p>
          <a:p>
            <a:pPr algn="r" rtl="1" marL="228600" indent="-228600">
              <a:spcAft>
                <a:spcPts val="400"/>
              </a:spcAft>
              <a:buFont typeface="Arial"/>
              <a:buChar char="•"/>
            </a:pPr>
            <a:r>
              <a:rPr lang="he-IL" sz="1300" b="0">
                <a:solidFill>
                  <a:srgbClr val="333F4A"/>
                </a:solidFill>
                <a:latin typeface="Arial Unicode MS"/>
                <a:ea typeface="Arial Unicode MS"/>
                <a:cs typeface="Arial Unicode MS"/>
              </a:rPr>
              <a:t>2-5 דקות עד התייצבות</a:t>
            </a:r>
          </a:p>
          <a:p>
            <a:pPr algn="r" rtl="1" marL="228600" indent="-228600">
              <a:spcAft>
                <a:spcPts val="400"/>
              </a:spcAft>
              <a:buFont typeface="Arial"/>
              <a:buChar char="•"/>
            </a:pPr>
            <a:r>
              <a:rPr lang="he-IL" sz="1300" b="0">
                <a:solidFill>
                  <a:srgbClr val="333F4A"/>
                </a:solidFill>
                <a:latin typeface="Arial Unicode MS"/>
                <a:ea typeface="Arial Unicode MS"/>
                <a:cs typeface="Arial Unicode MS"/>
              </a:rPr>
              <a:t>רישום גם של טמפרטורת האוויר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960" y="525780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 rtlCol="1">
            <a:spAutoFit/>
          </a:bodyPr>
          <a:lstStyle/>
          <a:p>
            <a:pPr algn="r" rtl="1" marL="0" indent="0">
              <a:spcAft>
                <a:spcPts val="400"/>
              </a:spcAft>
              <a:buNone/>
            </a:pPr>
            <a:r>
              <a:rPr lang="he-IL" sz="1100" b="0">
                <a:solidFill>
                  <a:srgbClr val="5F6B76"/>
                </a:solidFill>
                <a:latin typeface="Arial Unicode MS"/>
                <a:ea typeface="Arial Unicode MS"/>
                <a:cs typeface="Arial Unicode MS"/>
              </a:rPr>
              <a:t>הגבולות בפועל נקבעים במפרט ובתקן החל על הפרויקט; הטווחים כאן להמחשה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>
                <a:latin typeface="Arial Unicode MS"/>
                <a:ea typeface="Arial Unicode MS"/>
                <a:cs typeface="Arial Unicode MS"/>
              </a:rPr>
              <a:t>בדיקת צפיפות</a:t>
            </a:r>
          </a:p>
        </p:txBody>
      </p:sp>
      <p:pic>
        <p:nvPicPr>
          <p:cNvPr id="3" name="Picture 2" descr="dens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156868"/>
            <a:ext cx="3291840" cy="3446982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4434840" y="1143000"/>
            <a:ext cx="7040880" cy="1737360"/>
          </a:xfrm>
          <a:prstGeom prst="roundRect">
            <a:avLst>
              <a:gd name="adj" fmla="val 8000"/>
            </a:avLst>
          </a:prstGeom>
          <a:solidFill>
            <a:srgbClr val="EAF3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617720" y="1188720"/>
            <a:ext cx="6675120" cy="411480"/>
          </a:xfrm>
          <a:prstGeom prst="rect">
            <a:avLst/>
          </a:prstGeom>
          <a:noFill/>
        </p:spPr>
        <p:txBody>
          <a:bodyPr wrap="square" lIns="0" rIns="0" tIns="0" bIns="0" anchor="t" rtlCol="1">
            <a:spAutoFit/>
          </a:bodyPr>
          <a:lstStyle/>
          <a:p>
            <a:pPr algn="r" rtl="1" marL="0" indent="0">
              <a:spcAft>
                <a:spcPts val="400"/>
              </a:spcAft>
              <a:buNone/>
            </a:pPr>
            <a:r>
              <a:rPr lang="he-IL" sz="1900" b="1">
                <a:solidFill>
                  <a:srgbClr val="003973"/>
                </a:solidFill>
                <a:latin typeface="Arial Unicode MS"/>
                <a:ea typeface="Arial Unicode MS"/>
                <a:cs typeface="Arial Unicode MS"/>
              </a:rPr>
              <a:t>מה מטרתה?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17720" y="1645920"/>
            <a:ext cx="6675120" cy="1188720"/>
          </a:xfrm>
          <a:prstGeom prst="rect">
            <a:avLst/>
          </a:prstGeom>
          <a:noFill/>
        </p:spPr>
        <p:txBody>
          <a:bodyPr wrap="square" lIns="0" rIns="0" tIns="0" bIns="0" anchor="t" rtlCol="1">
            <a:spAutoFit/>
          </a:bodyPr>
          <a:lstStyle/>
          <a:p>
            <a:pPr algn="r" rtl="1" marL="228600" indent="-228600">
              <a:spcAft>
                <a:spcPts val="400"/>
              </a:spcAft>
              <a:buFont typeface="Arial"/>
              <a:buChar char="•"/>
            </a:pPr>
            <a:r>
              <a:rPr lang="he-IL" sz="1400" b="0">
                <a:solidFill>
                  <a:srgbClr val="333F4A"/>
                </a:solidFill>
                <a:latin typeface="Arial Unicode MS"/>
                <a:ea typeface="Arial Unicode MS"/>
                <a:cs typeface="Arial Unicode MS"/>
              </a:rPr>
              <a:t>בדיקת תפוקה — האם הלקוח מקבל מ"ק מלא</a:t>
            </a:r>
          </a:p>
          <a:p>
            <a:pPr algn="r" rtl="1" marL="228600" indent="-228600">
              <a:spcAft>
                <a:spcPts val="400"/>
              </a:spcAft>
              <a:buFont typeface="Arial"/>
              <a:buChar char="•"/>
            </a:pPr>
            <a:r>
              <a:rPr lang="he-IL" sz="1400" b="0">
                <a:solidFill>
                  <a:srgbClr val="333F4A"/>
                </a:solidFill>
                <a:latin typeface="Arial Unicode MS"/>
                <a:ea typeface="Arial Unicode MS"/>
                <a:cs typeface="Arial Unicode MS"/>
              </a:rPr>
              <a:t>אימות פרופורציות התערובת ואינדיקציה לתכולת אוויר</a:t>
            </a:r>
          </a:p>
          <a:p>
            <a:pPr algn="r" rtl="1" marL="228600" indent="-228600">
              <a:spcAft>
                <a:spcPts val="400"/>
              </a:spcAft>
              <a:buFont typeface="Arial"/>
              <a:buChar char="•"/>
            </a:pPr>
            <a:r>
              <a:rPr lang="he-IL" sz="1400" b="0">
                <a:solidFill>
                  <a:srgbClr val="333F4A"/>
                </a:solidFill>
                <a:latin typeface="Arial Unicode MS"/>
                <a:ea typeface="Arial Unicode MS"/>
                <a:cs typeface="Arial Unicode MS"/>
              </a:rPr>
              <a:t>טיפוסי: 2,300-2,450 ק"ג/מ"ק לבטון רגיל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34840" y="3063240"/>
            <a:ext cx="7040880" cy="411480"/>
          </a:xfrm>
          <a:prstGeom prst="rect">
            <a:avLst/>
          </a:prstGeom>
          <a:noFill/>
        </p:spPr>
        <p:txBody>
          <a:bodyPr wrap="square" lIns="0" rIns="0" tIns="0" bIns="0" anchor="t" rtlCol="1">
            <a:spAutoFit/>
          </a:bodyPr>
          <a:lstStyle/>
          <a:p>
            <a:pPr algn="r" rtl="1" marL="0" indent="0">
              <a:spcAft>
                <a:spcPts val="400"/>
              </a:spcAft>
              <a:buNone/>
            </a:pPr>
            <a:r>
              <a:rPr lang="he-IL" sz="1900" b="1">
                <a:solidFill>
                  <a:srgbClr val="003973"/>
                </a:solidFill>
                <a:latin typeface="Arial Unicode MS"/>
                <a:ea typeface="Arial Unicode MS"/>
                <a:cs typeface="Arial Unicode MS"/>
              </a:rPr>
              <a:t>איך מבצעים?</a:t>
            </a:r>
          </a:p>
        </p:txBody>
      </p:sp>
      <p:sp>
        <p:nvSpPr>
          <p:cNvPr id="8" name="Oval 7"/>
          <p:cNvSpPr/>
          <p:nvPr/>
        </p:nvSpPr>
        <p:spPr>
          <a:xfrm>
            <a:off x="10387584" y="3520439"/>
            <a:ext cx="457200" cy="457200"/>
          </a:xfrm>
          <a:prstGeom prst="ellipse">
            <a:avLst/>
          </a:prstGeom>
          <a:solidFill>
            <a:srgbClr val="0081C8"/>
          </a:solidFill>
          <a:ln>
            <a:noFill/>
          </a:ln>
        </p:spPr>
        <p:txBody>
          <a:bodyPr rtlCol="0" anchor="ctr" wrap="square" lIns="0" rIns="0" tIns="18288" bIns="18288"/>
          <a:lstStyle/>
          <a:p>
            <a:pPr algn="ctr" rtl="1" marL="0" indent="0">
              <a:buNone/>
            </a:pPr>
            <a:r>
              <a:rPr lang="he-IL" sz="16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56648" y="4069080"/>
            <a:ext cx="1719072" cy="685800"/>
          </a:xfrm>
          <a:prstGeom prst="rect">
            <a:avLst/>
          </a:prstGeom>
          <a:noFill/>
        </p:spPr>
        <p:txBody>
          <a:bodyPr wrap="square" lIns="0" rIns="0" tIns="0" bIns="0" anchor="t" rtlCol="1">
            <a:spAutoFit/>
          </a:bodyPr>
          <a:lstStyle/>
          <a:p>
            <a:pPr algn="ctr" rtl="1" marL="0" indent="0">
              <a:spcAft>
                <a:spcPts val="400"/>
              </a:spcAft>
              <a:buNone/>
            </a:pPr>
            <a:r>
              <a:rPr lang="he-IL" sz="1300" b="0">
                <a:solidFill>
                  <a:srgbClr val="333F4A"/>
                </a:solidFill>
                <a:latin typeface="Arial Unicode MS"/>
                <a:ea typeface="Arial Unicode MS"/>
                <a:cs typeface="Arial Unicode MS"/>
              </a:rPr>
              <a:t>שוקלים מיכל ריק בנפח ידוע</a:t>
            </a:r>
          </a:p>
        </p:txBody>
      </p:sp>
      <p:sp>
        <p:nvSpPr>
          <p:cNvPr id="10" name="Oval 9"/>
          <p:cNvSpPr/>
          <p:nvPr/>
        </p:nvSpPr>
        <p:spPr>
          <a:xfrm>
            <a:off x="8622792" y="3520439"/>
            <a:ext cx="457200" cy="457200"/>
          </a:xfrm>
          <a:prstGeom prst="ellipse">
            <a:avLst/>
          </a:prstGeom>
          <a:solidFill>
            <a:srgbClr val="0081C8"/>
          </a:solidFill>
          <a:ln>
            <a:noFill/>
          </a:ln>
        </p:spPr>
        <p:txBody>
          <a:bodyPr rtlCol="0" anchor="ctr" wrap="square" lIns="0" rIns="0" tIns="18288" bIns="18288"/>
          <a:lstStyle/>
          <a:p>
            <a:pPr algn="ctr" rtl="1" marL="0" indent="0">
              <a:buNone/>
            </a:pPr>
            <a:r>
              <a:rPr lang="he-IL" sz="16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91856" y="4069080"/>
            <a:ext cx="1719072" cy="685800"/>
          </a:xfrm>
          <a:prstGeom prst="rect">
            <a:avLst/>
          </a:prstGeom>
          <a:noFill/>
        </p:spPr>
        <p:txBody>
          <a:bodyPr wrap="square" lIns="0" rIns="0" tIns="0" bIns="0" anchor="t" rtlCol="1">
            <a:spAutoFit/>
          </a:bodyPr>
          <a:lstStyle/>
          <a:p>
            <a:pPr algn="ctr" rtl="1" marL="0" indent="0">
              <a:spcAft>
                <a:spcPts val="400"/>
              </a:spcAft>
              <a:buNone/>
            </a:pPr>
            <a:r>
              <a:rPr lang="he-IL" sz="1300" b="0">
                <a:solidFill>
                  <a:srgbClr val="333F4A"/>
                </a:solidFill>
                <a:latin typeface="Arial Unicode MS"/>
                <a:ea typeface="Arial Unicode MS"/>
                <a:cs typeface="Arial Unicode MS"/>
              </a:rPr>
              <a:t>ממלאים בשכבות ומהדקים</a:t>
            </a:r>
          </a:p>
        </p:txBody>
      </p:sp>
      <p:sp>
        <p:nvSpPr>
          <p:cNvPr id="12" name="Oval 11"/>
          <p:cNvSpPr/>
          <p:nvPr/>
        </p:nvSpPr>
        <p:spPr>
          <a:xfrm>
            <a:off x="6858000" y="3520439"/>
            <a:ext cx="457200" cy="457200"/>
          </a:xfrm>
          <a:prstGeom prst="ellipse">
            <a:avLst/>
          </a:prstGeom>
          <a:solidFill>
            <a:srgbClr val="0081C8"/>
          </a:solidFill>
          <a:ln>
            <a:noFill/>
          </a:ln>
        </p:spPr>
        <p:txBody>
          <a:bodyPr rtlCol="0" anchor="ctr" wrap="square" lIns="0" rIns="0" tIns="18288" bIns="18288"/>
          <a:lstStyle/>
          <a:p>
            <a:pPr algn="ctr" rtl="1" marL="0" indent="0">
              <a:buNone/>
            </a:pPr>
            <a:r>
              <a:rPr lang="he-IL" sz="16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27064" y="4069080"/>
            <a:ext cx="1719072" cy="685800"/>
          </a:xfrm>
          <a:prstGeom prst="rect">
            <a:avLst/>
          </a:prstGeom>
          <a:noFill/>
        </p:spPr>
        <p:txBody>
          <a:bodyPr wrap="square" lIns="0" rIns="0" tIns="0" bIns="0" anchor="t" rtlCol="1">
            <a:spAutoFit/>
          </a:bodyPr>
          <a:lstStyle/>
          <a:p>
            <a:pPr algn="ctr" rtl="1" marL="0" indent="0">
              <a:spcAft>
                <a:spcPts val="400"/>
              </a:spcAft>
              <a:buNone/>
            </a:pPr>
            <a:r>
              <a:rPr lang="he-IL" sz="1300" b="0">
                <a:solidFill>
                  <a:srgbClr val="333F4A"/>
                </a:solidFill>
                <a:latin typeface="Arial Unicode MS"/>
                <a:ea typeface="Arial Unicode MS"/>
                <a:cs typeface="Arial Unicode MS"/>
              </a:rPr>
              <a:t>מיישרים ומנקים את הדפנות</a:t>
            </a:r>
          </a:p>
        </p:txBody>
      </p:sp>
      <p:sp>
        <p:nvSpPr>
          <p:cNvPr id="14" name="Oval 13"/>
          <p:cNvSpPr/>
          <p:nvPr/>
        </p:nvSpPr>
        <p:spPr>
          <a:xfrm>
            <a:off x="5093208" y="3520439"/>
            <a:ext cx="457200" cy="457200"/>
          </a:xfrm>
          <a:prstGeom prst="ellipse">
            <a:avLst/>
          </a:prstGeom>
          <a:solidFill>
            <a:srgbClr val="0081C8"/>
          </a:solidFill>
          <a:ln>
            <a:noFill/>
          </a:ln>
        </p:spPr>
        <p:txBody>
          <a:bodyPr rtlCol="0" anchor="ctr" wrap="square" lIns="0" rIns="0" tIns="18288" bIns="18288"/>
          <a:lstStyle/>
          <a:p>
            <a:pPr algn="ctr" rtl="1" marL="0" indent="0">
              <a:buNone/>
            </a:pPr>
            <a:r>
              <a:rPr lang="he-IL" sz="16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62272" y="4069080"/>
            <a:ext cx="1719072" cy="685800"/>
          </a:xfrm>
          <a:prstGeom prst="rect">
            <a:avLst/>
          </a:prstGeom>
          <a:noFill/>
        </p:spPr>
        <p:txBody>
          <a:bodyPr wrap="square" lIns="0" rIns="0" tIns="0" bIns="0" anchor="t" rtlCol="1">
            <a:spAutoFit/>
          </a:bodyPr>
          <a:lstStyle/>
          <a:p>
            <a:pPr algn="ctr" rtl="1" marL="0" indent="0">
              <a:spcAft>
                <a:spcPts val="400"/>
              </a:spcAft>
              <a:buNone/>
            </a:pPr>
            <a:r>
              <a:rPr lang="he-IL" sz="1300" b="0">
                <a:solidFill>
                  <a:srgbClr val="333F4A"/>
                </a:solidFill>
                <a:latin typeface="Arial Unicode MS"/>
                <a:ea typeface="Arial Unicode MS"/>
                <a:cs typeface="Arial Unicode MS"/>
              </a:rPr>
              <a:t>שוקלים ומחשבים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34840" y="4846320"/>
            <a:ext cx="7040880" cy="777240"/>
          </a:xfrm>
          <a:prstGeom prst="roundRect">
            <a:avLst>
              <a:gd name="adj" fmla="val 8000"/>
            </a:avLst>
          </a:prstGeom>
          <a:solidFill>
            <a:srgbClr val="00397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0" y="4873752"/>
            <a:ext cx="6766560" cy="731520"/>
          </a:xfrm>
          <a:prstGeom prst="rect">
            <a:avLst/>
          </a:prstGeom>
          <a:noFill/>
        </p:spPr>
        <p:txBody>
          <a:bodyPr wrap="square" lIns="0" rIns="0" tIns="0" bIns="0" anchor="ctr" rtlCol="1">
            <a:spAutoFit/>
          </a:bodyPr>
          <a:lstStyle/>
          <a:p>
            <a:pPr algn="ctr" rtl="0" marL="0" indent="0">
              <a:buNone/>
            </a:pPr>
            <a:r>
              <a:rPr lang="he-IL" sz="20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ρ = (M₂ − M₁) / V</a:t>
            </a:r>
          </a:p>
          <a:p>
            <a:pPr algn="ctr" rtl="1" marL="0" indent="0">
              <a:buNone/>
            </a:pPr>
            <a:r>
              <a:rPr lang="he-IL" sz="1200" b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M₂ מיכל מלא  •  M₁ מיכל ריק  •  V נפח המיכל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>
                <a:latin typeface="Arial Unicode MS"/>
                <a:ea typeface="Arial Unicode MS"/>
                <a:cs typeface="Arial Unicode MS"/>
              </a:rPr>
              <a:t>כמות אוויר</a:t>
            </a:r>
          </a:p>
        </p:txBody>
      </p:sp>
      <p:pic>
        <p:nvPicPr>
          <p:cNvPr id="3" name="Picture 2" descr="air_me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219395"/>
            <a:ext cx="3200400" cy="350480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484632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 rtlCol="1">
            <a:spAutoFit/>
          </a:bodyPr>
          <a:lstStyle/>
          <a:p>
            <a:pPr algn="ctr" rtl="1" marL="0" indent="0">
              <a:spcAft>
                <a:spcPts val="400"/>
              </a:spcAft>
              <a:buNone/>
            </a:pPr>
            <a:r>
              <a:rPr lang="he-IL" sz="1100" b="0">
                <a:solidFill>
                  <a:srgbClr val="5F6B76"/>
                </a:solidFill>
                <a:latin typeface="Arial Unicode MS"/>
                <a:ea typeface="Arial Unicode MS"/>
                <a:cs typeface="Arial Unicode MS"/>
              </a:rPr>
              <a:t>מד אוויר בשיטת הלחץ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01000" y="1143000"/>
            <a:ext cx="3474720" cy="3108960"/>
          </a:xfrm>
          <a:prstGeom prst="roundRect">
            <a:avLst>
              <a:gd name="adj" fmla="val 8000"/>
            </a:avLst>
          </a:prstGeom>
          <a:solidFill>
            <a:srgbClr val="E8F3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789919" y="1280160"/>
            <a:ext cx="548640" cy="54864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7" name="Picture 6" descr="FaCheckCircle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1593" y="1411833"/>
            <a:ext cx="285292" cy="28529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183879" y="1371600"/>
            <a:ext cx="2468880" cy="411480"/>
          </a:xfrm>
          <a:prstGeom prst="rect">
            <a:avLst/>
          </a:prstGeom>
          <a:noFill/>
        </p:spPr>
        <p:txBody>
          <a:bodyPr wrap="square" lIns="0" rIns="0" tIns="0" bIns="0" anchor="t" rtlCol="1">
            <a:spAutoFit/>
          </a:bodyPr>
          <a:lstStyle/>
          <a:p>
            <a:pPr algn="r" rtl="1" marL="0" indent="0">
              <a:spcAft>
                <a:spcPts val="400"/>
              </a:spcAft>
              <a:buNone/>
            </a:pPr>
            <a:r>
              <a:rPr lang="he-IL" sz="2000" b="1">
                <a:solidFill>
                  <a:srgbClr val="2E7D32"/>
                </a:solidFill>
                <a:latin typeface="Arial Unicode MS"/>
                <a:ea typeface="Arial Unicode MS"/>
                <a:cs typeface="Arial Unicode MS"/>
              </a:rPr>
              <a:t>יתרונות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83879" y="2011680"/>
            <a:ext cx="3108960" cy="2194560"/>
          </a:xfrm>
          <a:prstGeom prst="rect">
            <a:avLst/>
          </a:prstGeom>
          <a:noFill/>
        </p:spPr>
        <p:txBody>
          <a:bodyPr wrap="square" lIns="0" rIns="0" tIns="0" bIns="0" anchor="t" rtlCol="1">
            <a:spAutoFit/>
          </a:bodyPr>
          <a:lstStyle/>
          <a:p>
            <a:pPr algn="r" rtl="1" marL="228600" indent="-228600">
              <a:spcAft>
                <a:spcPts val="400"/>
              </a:spcAft>
              <a:buFont typeface="Arial"/>
              <a:buChar char="•"/>
            </a:pPr>
            <a:r>
              <a:rPr lang="he-IL" sz="1400" b="0">
                <a:solidFill>
                  <a:srgbClr val="333F4A"/>
                </a:solidFill>
                <a:latin typeface="Arial Unicode MS"/>
                <a:ea typeface="Arial Unicode MS"/>
                <a:cs typeface="Arial Unicode MS"/>
              </a:rPr>
              <a:t>עמידות למחזורי קפיאה-הפשרה</a:t>
            </a:r>
          </a:p>
          <a:p>
            <a:pPr algn="r" rtl="1" marL="228600" indent="-228600">
              <a:spcAft>
                <a:spcPts val="400"/>
              </a:spcAft>
              <a:buFont typeface="Arial"/>
              <a:buChar char="•"/>
            </a:pPr>
            <a:r>
              <a:rPr lang="he-IL" sz="1400" b="0">
                <a:solidFill>
                  <a:srgbClr val="333F4A"/>
                </a:solidFill>
                <a:latin typeface="Arial Unicode MS"/>
                <a:ea typeface="Arial Unicode MS"/>
                <a:cs typeface="Arial Unicode MS"/>
              </a:rPr>
              <a:t>שיפור עבידות וקוהזיה</a:t>
            </a:r>
          </a:p>
          <a:p>
            <a:pPr algn="r" rtl="1" marL="228600" indent="-228600">
              <a:spcAft>
                <a:spcPts val="400"/>
              </a:spcAft>
              <a:buFont typeface="Arial"/>
              <a:buChar char="•"/>
            </a:pPr>
            <a:r>
              <a:rPr lang="he-IL" sz="1400" b="0">
                <a:solidFill>
                  <a:srgbClr val="333F4A"/>
                </a:solidFill>
                <a:latin typeface="Arial Unicode MS"/>
                <a:ea typeface="Arial Unicode MS"/>
                <a:cs typeface="Arial Unicode MS"/>
              </a:rPr>
              <a:t>הפחתת דימום וסגרגציה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143000"/>
            <a:ext cx="3474720" cy="3108960"/>
          </a:xfrm>
          <a:prstGeom prst="roundRect">
            <a:avLst>
              <a:gd name="adj" fmla="val 8000"/>
            </a:avLst>
          </a:prstGeom>
          <a:solidFill>
            <a:srgbClr val="FBE9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132320" y="1280160"/>
            <a:ext cx="548640" cy="548640"/>
          </a:xfrm>
          <a:prstGeom prst="ellipse">
            <a:avLst/>
          </a:prstGeom>
          <a:solidFill>
            <a:srgbClr val="C6282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2" name="Picture 11" descr="FaTimesCircle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3993" y="1411833"/>
            <a:ext cx="285292" cy="28529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526280" y="1371600"/>
            <a:ext cx="2468880" cy="411480"/>
          </a:xfrm>
          <a:prstGeom prst="rect">
            <a:avLst/>
          </a:prstGeom>
          <a:noFill/>
        </p:spPr>
        <p:txBody>
          <a:bodyPr wrap="square" lIns="0" rIns="0" tIns="0" bIns="0" anchor="t" rtlCol="1">
            <a:spAutoFit/>
          </a:bodyPr>
          <a:lstStyle/>
          <a:p>
            <a:pPr algn="r" rtl="1" marL="0" indent="0">
              <a:spcAft>
                <a:spcPts val="400"/>
              </a:spcAft>
              <a:buNone/>
            </a:pPr>
            <a:r>
              <a:rPr lang="he-IL" sz="2000" b="1">
                <a:solidFill>
                  <a:srgbClr val="C62828"/>
                </a:solidFill>
                <a:latin typeface="Arial Unicode MS"/>
                <a:ea typeface="Arial Unicode MS"/>
                <a:cs typeface="Arial Unicode MS"/>
              </a:rPr>
              <a:t>חסרונות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80" y="2011680"/>
            <a:ext cx="3108960" cy="2194560"/>
          </a:xfrm>
          <a:prstGeom prst="rect">
            <a:avLst/>
          </a:prstGeom>
          <a:noFill/>
        </p:spPr>
        <p:txBody>
          <a:bodyPr wrap="square" lIns="0" rIns="0" tIns="0" bIns="0" anchor="t" rtlCol="1">
            <a:spAutoFit/>
          </a:bodyPr>
          <a:lstStyle/>
          <a:p>
            <a:pPr algn="r" rtl="1" marL="228600" indent="-228600">
              <a:spcAft>
                <a:spcPts val="400"/>
              </a:spcAft>
              <a:buFont typeface="Arial"/>
              <a:buChar char="•"/>
            </a:pPr>
            <a:r>
              <a:rPr lang="he-IL" sz="1400" b="0">
                <a:solidFill>
                  <a:srgbClr val="333F4A"/>
                </a:solidFill>
                <a:latin typeface="Arial Unicode MS"/>
                <a:ea typeface="Arial Unicode MS"/>
                <a:cs typeface="Arial Unicode MS"/>
              </a:rPr>
              <a:t>כל 1% אוויר ≈ 5% ירידה בחוזק</a:t>
            </a:r>
          </a:p>
          <a:p>
            <a:pPr algn="r" rtl="1" marL="228600" indent="-228600">
              <a:spcAft>
                <a:spcPts val="400"/>
              </a:spcAft>
              <a:buFont typeface="Arial"/>
              <a:buChar char="•"/>
            </a:pPr>
            <a:r>
              <a:rPr lang="he-IL" sz="1400" b="0">
                <a:solidFill>
                  <a:srgbClr val="333F4A"/>
                </a:solidFill>
                <a:latin typeface="Arial Unicode MS"/>
                <a:ea typeface="Arial Unicode MS"/>
                <a:cs typeface="Arial Unicode MS"/>
              </a:rPr>
              <a:t>השפעה על התפוקה והצפיפות</a:t>
            </a:r>
          </a:p>
          <a:p>
            <a:pPr algn="r" rtl="1" marL="228600" indent="-228600">
              <a:spcAft>
                <a:spcPts val="400"/>
              </a:spcAft>
              <a:buFont typeface="Arial"/>
              <a:buChar char="•"/>
            </a:pPr>
            <a:r>
              <a:rPr lang="he-IL" sz="1400" b="0">
                <a:solidFill>
                  <a:srgbClr val="333F4A"/>
                </a:solidFill>
                <a:latin typeface="Arial Unicode MS"/>
                <a:ea typeface="Arial Unicode MS"/>
                <a:cs typeface="Arial Unicode MS"/>
              </a:rPr>
              <a:t>רגישות לסוג המוסף ולזמן הערבוב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43400" y="4434840"/>
            <a:ext cx="7132320" cy="1188720"/>
          </a:xfrm>
          <a:prstGeom prst="roundRect">
            <a:avLst>
              <a:gd name="adj" fmla="val 8000"/>
            </a:avLst>
          </a:prstGeom>
          <a:solidFill>
            <a:srgbClr val="EAF3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26280" y="4480560"/>
            <a:ext cx="6766560" cy="1097280"/>
          </a:xfrm>
          <a:prstGeom prst="rect">
            <a:avLst/>
          </a:prstGeom>
          <a:noFill/>
        </p:spPr>
        <p:txBody>
          <a:bodyPr wrap="square" lIns="0" rIns="0" tIns="0" bIns="0" anchor="ctr" rtlCol="1">
            <a:spAutoFit/>
          </a:bodyPr>
          <a:lstStyle/>
          <a:p>
            <a:pPr algn="r" rtl="1" marL="0" indent="0">
              <a:spcAft>
                <a:spcPts val="400"/>
              </a:spcAft>
              <a:buNone/>
            </a:pPr>
            <a:r>
              <a:rPr lang="he-IL" sz="1400" b="1">
                <a:solidFill>
                  <a:srgbClr val="003973"/>
                </a:solidFill>
                <a:latin typeface="Arial Unicode MS"/>
                <a:ea typeface="Arial Unicode MS"/>
                <a:cs typeface="Arial Unicode MS"/>
              </a:rPr>
              <a:t>בבטון רגיל בישראל: אוויר כלוא של 1-2%. אוויר מוחדר מכוון — רק כשנדרש במפרט.</a:t>
            </a:r>
          </a:p>
          <a:p>
            <a:pPr algn="r" rtl="1" marL="0" indent="0">
              <a:spcAft>
                <a:spcPts val="400"/>
              </a:spcAft>
              <a:buNone/>
            </a:pPr>
            <a:r>
              <a:rPr lang="he-IL" sz="1400" b="0">
                <a:solidFill>
                  <a:srgbClr val="333F4A"/>
                </a:solidFill>
                <a:latin typeface="Arial Unicode MS"/>
                <a:ea typeface="Arial Unicode MS"/>
                <a:cs typeface="Arial Unicode MS"/>
              </a:rPr>
              <a:t>תוצאה גבוהה בלי מוסף מחדיר אוויר = סימן לבעיה בתערובת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6" name="תמונה 5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1"/>
          <a:stretch/>
        </p:blipFill>
        <p:spPr>
          <a:xfrm flipH="1">
            <a:off x="0" y="0"/>
            <a:ext cx="10306050" cy="6858000"/>
          </a:xfrm>
          <a:prstGeom prst="rect">
            <a:avLst/>
          </a:prstGeom>
        </p:spPr>
      </p:pic>
      <p:sp>
        <p:nvSpPr>
          <p:cNvPr id="4" name="מלבן 3"/>
          <p:cNvSpPr/>
          <p:nvPr/>
        </p:nvSpPr>
        <p:spPr>
          <a:xfrm>
            <a:off x="6115050" y="0"/>
            <a:ext cx="6076950" cy="6858000"/>
          </a:xfrm>
          <a:prstGeom prst="rect">
            <a:avLst/>
          </a:prstGeom>
          <a:solidFill>
            <a:srgbClr val="2C9EE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>
              <a:solidFill>
                <a:prstClr val="white"/>
              </a:solidFill>
            </a:endParaRPr>
          </a:p>
        </p:txBody>
      </p:sp>
      <p:sp>
        <p:nvSpPr>
          <p:cNvPr id="7" name="משולש שווה שוקיים 6"/>
          <p:cNvSpPr/>
          <p:nvPr/>
        </p:nvSpPr>
        <p:spPr>
          <a:xfrm rot="16200000" flipH="1">
            <a:off x="5324475" y="3143250"/>
            <a:ext cx="1123950" cy="609600"/>
          </a:xfrm>
          <a:prstGeom prst="triangle">
            <a:avLst/>
          </a:prstGeom>
          <a:solidFill>
            <a:srgbClr val="2C9EE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>
              <a:solidFill>
                <a:prstClr val="white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720840" y="2514600"/>
            <a:ext cx="4937760" cy="914400"/>
          </a:xfrm>
          <a:prstGeom prst="rect">
            <a:avLst/>
          </a:prstGeom>
          <a:noFill/>
        </p:spPr>
        <p:txBody>
          <a:bodyPr wrap="square" rtlCol="1" anchor="ctr"/>
          <a:lstStyle/>
          <a:p>
            <a:pPr algn="ctr" rtl="1"/>
            <a:r>
              <a:rPr lang="he-IL" sz="3600" dirty="0">
                <a:solidFill>
                  <a:prstClr val="white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בדיקות בטון קשוח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20840" y="1874519"/>
            <a:ext cx="4937760" cy="457200"/>
          </a:xfrm>
          <a:prstGeom prst="rect">
            <a:avLst/>
          </a:prstGeom>
          <a:noFill/>
        </p:spPr>
        <p:txBody>
          <a:bodyPr wrap="square" lIns="0" rIns="0" tIns="0" bIns="0" anchor="t" rtlCol="1">
            <a:spAutoFit/>
          </a:bodyPr>
          <a:lstStyle/>
          <a:p>
            <a:pPr algn="ctr" rtl="1" marL="0" indent="0">
              <a:spcAft>
                <a:spcPts val="400"/>
              </a:spcAft>
              <a:buNone/>
            </a:pPr>
            <a:r>
              <a:rPr lang="he-IL" sz="2000" b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פרק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86600" y="3611880"/>
            <a:ext cx="4206240" cy="2011680"/>
          </a:xfrm>
          <a:prstGeom prst="rect">
            <a:avLst/>
          </a:prstGeom>
          <a:noFill/>
        </p:spPr>
        <p:txBody>
          <a:bodyPr wrap="square" lIns="0" rIns="0" tIns="0" bIns="0" anchor="t" rtlCol="1">
            <a:spAutoFit/>
          </a:bodyPr>
          <a:lstStyle/>
          <a:p>
            <a:pPr algn="ctr" rtl="1" marL="0" indent="0">
              <a:lnSpc>
                <a:spcPct val="115000"/>
              </a:lnSpc>
              <a:spcAft>
                <a:spcPts val="400"/>
              </a:spcAft>
              <a:buNone/>
            </a:pPr>
            <a:r>
              <a:rPr lang="he-IL" sz="1600" b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קוביות, גלילים וקרוטים · בדיקת לחיצה · פענוח תוצאות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>
                <a:latin typeface="Arial Unicode MS"/>
                <a:ea typeface="Arial Unicode MS"/>
                <a:cs typeface="Arial Unicode MS"/>
              </a:rPr>
              <a:t>בדיקות בטון קשוח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001000" y="1097280"/>
            <a:ext cx="3474720" cy="4526280"/>
          </a:xfrm>
          <a:prstGeom prst="roundRect">
            <a:avLst>
              <a:gd name="adj" fmla="val 8000"/>
            </a:avLst>
          </a:prstGeom>
          <a:solidFill>
            <a:srgbClr val="EAF3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4" name="Picture 3" descr="spec_cub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24419" y="1234440"/>
            <a:ext cx="2227881" cy="21031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138160" y="3429000"/>
            <a:ext cx="3200400" cy="411480"/>
          </a:xfrm>
          <a:prstGeom prst="rect">
            <a:avLst/>
          </a:prstGeom>
          <a:noFill/>
        </p:spPr>
        <p:txBody>
          <a:bodyPr wrap="square" lIns="0" rIns="0" tIns="0" bIns="0" anchor="t" rtlCol="1">
            <a:spAutoFit/>
          </a:bodyPr>
          <a:lstStyle/>
          <a:p>
            <a:pPr algn="ctr" rtl="1" marL="0" indent="0">
              <a:spcAft>
                <a:spcPts val="400"/>
              </a:spcAft>
              <a:buNone/>
            </a:pPr>
            <a:r>
              <a:rPr lang="he-IL" sz="2200" b="1">
                <a:solidFill>
                  <a:srgbClr val="003973"/>
                </a:solidFill>
                <a:latin typeface="Arial Unicode MS"/>
                <a:ea typeface="Arial Unicode MS"/>
                <a:cs typeface="Arial Unicode MS"/>
              </a:rPr>
              <a:t>קוביות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38160" y="3840480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 anchor="t" rtlCol="1">
            <a:spAutoFit/>
          </a:bodyPr>
          <a:lstStyle/>
          <a:p>
            <a:pPr algn="ctr" rtl="1" marL="0" indent="0">
              <a:spcAft>
                <a:spcPts val="400"/>
              </a:spcAft>
              <a:buNone/>
            </a:pPr>
            <a:r>
              <a:rPr lang="he-IL" sz="1500" b="1">
                <a:solidFill>
                  <a:srgbClr val="0081C8"/>
                </a:solidFill>
                <a:latin typeface="Arial Unicode MS"/>
                <a:ea typeface="Arial Unicode MS"/>
                <a:cs typeface="Arial Unicode MS"/>
              </a:rPr>
              <a:t>100 או 150 מ"מ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4224528"/>
            <a:ext cx="3017520" cy="822960"/>
          </a:xfrm>
          <a:prstGeom prst="rect">
            <a:avLst/>
          </a:prstGeom>
          <a:noFill/>
        </p:spPr>
        <p:txBody>
          <a:bodyPr wrap="square" lIns="0" rIns="0" tIns="0" bIns="0" anchor="t" rtlCol="1">
            <a:spAutoFit/>
          </a:bodyPr>
          <a:lstStyle/>
          <a:p>
            <a:pPr algn="ctr" rtl="1" marL="0" indent="0">
              <a:spcAft>
                <a:spcPts val="400"/>
              </a:spcAft>
              <a:buNone/>
            </a:pPr>
            <a:r>
              <a:rPr lang="he-IL" sz="1300" b="0">
                <a:solidFill>
                  <a:srgbClr val="333F4A"/>
                </a:solidFill>
                <a:latin typeface="Arial Unicode MS"/>
                <a:ea typeface="Arial Unicode MS"/>
                <a:cs typeface="Arial Unicode MS"/>
              </a:rPr>
              <a:t>השיטה הנפוצה בישראל ובאירופה; פשוטה ליציקה ולבדיקה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38160" y="5166360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algn="ctr" rtl="0" marL="0" indent="0">
              <a:spcAft>
                <a:spcPts val="400"/>
              </a:spcAft>
              <a:buNone/>
            </a:pPr>
            <a:r>
              <a:rPr lang="he-IL" sz="1100" b="0">
                <a:solidFill>
                  <a:srgbClr val="5F6B76"/>
                </a:solidFill>
                <a:latin typeface="Arial Unicode MS"/>
                <a:ea typeface="Arial Unicode MS"/>
                <a:cs typeface="Arial Unicode MS"/>
              </a:rPr>
              <a:t>EN 12390-1/3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53128" y="1097280"/>
            <a:ext cx="3474720" cy="4526280"/>
          </a:xfrm>
          <a:prstGeom prst="roundRect">
            <a:avLst>
              <a:gd name="adj" fmla="val 8000"/>
            </a:avLst>
          </a:prstGeom>
          <a:solidFill>
            <a:srgbClr val="EAF3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0" name="Picture 9" descr="spec_cy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6547" y="1234440"/>
            <a:ext cx="2227881" cy="21031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90288" y="3429000"/>
            <a:ext cx="3200400" cy="411480"/>
          </a:xfrm>
          <a:prstGeom prst="rect">
            <a:avLst/>
          </a:prstGeom>
          <a:noFill/>
        </p:spPr>
        <p:txBody>
          <a:bodyPr wrap="square" lIns="0" rIns="0" tIns="0" bIns="0" anchor="t" rtlCol="1">
            <a:spAutoFit/>
          </a:bodyPr>
          <a:lstStyle/>
          <a:p>
            <a:pPr algn="ctr" rtl="1" marL="0" indent="0">
              <a:spcAft>
                <a:spcPts val="400"/>
              </a:spcAft>
              <a:buNone/>
            </a:pPr>
            <a:r>
              <a:rPr lang="he-IL" sz="2200" b="1">
                <a:solidFill>
                  <a:srgbClr val="003973"/>
                </a:solidFill>
                <a:latin typeface="Arial Unicode MS"/>
                <a:ea typeface="Arial Unicode MS"/>
                <a:cs typeface="Arial Unicode MS"/>
              </a:rPr>
              <a:t>גלילים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0288" y="3840480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 anchor="t" rtlCol="1">
            <a:spAutoFit/>
          </a:bodyPr>
          <a:lstStyle/>
          <a:p>
            <a:pPr algn="ctr" rtl="1" marL="0" indent="0">
              <a:spcAft>
                <a:spcPts val="400"/>
              </a:spcAft>
              <a:buNone/>
            </a:pPr>
            <a:r>
              <a:rPr lang="he-IL" sz="1500" b="1">
                <a:solidFill>
                  <a:srgbClr val="0081C8"/>
                </a:solidFill>
                <a:latin typeface="Arial Unicode MS"/>
                <a:ea typeface="Arial Unicode MS"/>
                <a:cs typeface="Arial Unicode MS"/>
              </a:rPr>
              <a:t>150×300 או 100×200 מ"מ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81728" y="4224528"/>
            <a:ext cx="3017520" cy="822960"/>
          </a:xfrm>
          <a:prstGeom prst="rect">
            <a:avLst/>
          </a:prstGeom>
          <a:noFill/>
        </p:spPr>
        <p:txBody>
          <a:bodyPr wrap="square" lIns="0" rIns="0" tIns="0" bIns="0" anchor="t" rtlCol="1">
            <a:spAutoFit/>
          </a:bodyPr>
          <a:lstStyle/>
          <a:p>
            <a:pPr algn="ctr" rtl="1" marL="0" indent="0">
              <a:spcAft>
                <a:spcPts val="400"/>
              </a:spcAft>
              <a:buNone/>
            </a:pPr>
            <a:r>
              <a:rPr lang="he-IL" sz="1300" b="0">
                <a:solidFill>
                  <a:srgbClr val="333F4A"/>
                </a:solidFill>
                <a:latin typeface="Arial Unicode MS"/>
                <a:ea typeface="Arial Unicode MS"/>
                <a:cs typeface="Arial Unicode MS"/>
              </a:rPr>
              <a:t>השיטה בארה"ב ובחלק מהמפרטים; דורשת יישור קצוות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0288" y="5166360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algn="ctr" rtl="0" marL="0" indent="0">
              <a:spcAft>
                <a:spcPts val="400"/>
              </a:spcAft>
              <a:buNone/>
            </a:pPr>
            <a:r>
              <a:rPr lang="he-IL" sz="1100" b="0">
                <a:solidFill>
                  <a:srgbClr val="5F6B76"/>
                </a:solidFill>
                <a:latin typeface="Arial Unicode MS"/>
                <a:ea typeface="Arial Unicode MS"/>
                <a:cs typeface="Arial Unicode MS"/>
              </a:rPr>
              <a:t>ASTM C39 | EN 12390-3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5256" y="1097280"/>
            <a:ext cx="3474720" cy="4526280"/>
          </a:xfrm>
          <a:prstGeom prst="roundRect">
            <a:avLst>
              <a:gd name="adj" fmla="val 8000"/>
            </a:avLst>
          </a:prstGeom>
          <a:solidFill>
            <a:srgbClr val="EAF3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Picture 15" descr="spec_cor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8675" y="1234440"/>
            <a:ext cx="2227881" cy="210312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042416" y="3429000"/>
            <a:ext cx="3200400" cy="411480"/>
          </a:xfrm>
          <a:prstGeom prst="rect">
            <a:avLst/>
          </a:prstGeom>
          <a:noFill/>
        </p:spPr>
        <p:txBody>
          <a:bodyPr wrap="square" lIns="0" rIns="0" tIns="0" bIns="0" anchor="t" rtlCol="1">
            <a:spAutoFit/>
          </a:bodyPr>
          <a:lstStyle/>
          <a:p>
            <a:pPr algn="ctr" rtl="1" marL="0" indent="0">
              <a:spcAft>
                <a:spcPts val="400"/>
              </a:spcAft>
              <a:buNone/>
            </a:pPr>
            <a:r>
              <a:rPr lang="he-IL" sz="2200" b="1">
                <a:solidFill>
                  <a:srgbClr val="003973"/>
                </a:solidFill>
                <a:latin typeface="Arial Unicode MS"/>
                <a:ea typeface="Arial Unicode MS"/>
                <a:cs typeface="Arial Unicode MS"/>
              </a:rPr>
              <a:t>קרוטים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42416" y="3840480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 anchor="t" rtlCol="1">
            <a:spAutoFit/>
          </a:bodyPr>
          <a:lstStyle/>
          <a:p>
            <a:pPr algn="ctr" rtl="1" marL="0" indent="0">
              <a:spcAft>
                <a:spcPts val="400"/>
              </a:spcAft>
              <a:buNone/>
            </a:pPr>
            <a:r>
              <a:rPr lang="he-IL" sz="1500" b="1">
                <a:solidFill>
                  <a:srgbClr val="0081C8"/>
                </a:solidFill>
                <a:latin typeface="Arial Unicode MS"/>
                <a:ea typeface="Arial Unicode MS"/>
                <a:cs typeface="Arial Unicode MS"/>
              </a:rPr>
              <a:t>קידוח מהמבנה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3856" y="4224528"/>
            <a:ext cx="3017520" cy="822960"/>
          </a:xfrm>
          <a:prstGeom prst="rect">
            <a:avLst/>
          </a:prstGeom>
          <a:noFill/>
        </p:spPr>
        <p:txBody>
          <a:bodyPr wrap="square" lIns="0" rIns="0" tIns="0" bIns="0" anchor="t" rtlCol="1">
            <a:spAutoFit/>
          </a:bodyPr>
          <a:lstStyle/>
          <a:p>
            <a:pPr algn="ctr" rtl="1" marL="0" indent="0">
              <a:spcAft>
                <a:spcPts val="400"/>
              </a:spcAft>
              <a:buNone/>
            </a:pPr>
            <a:r>
              <a:rPr lang="he-IL" sz="1300" b="0">
                <a:solidFill>
                  <a:srgbClr val="333F4A"/>
                </a:solidFill>
                <a:latin typeface="Arial Unicode MS"/>
                <a:ea typeface="Arial Unicode MS"/>
                <a:cs typeface="Arial Unicode MS"/>
              </a:rPr>
              <a:t>הערכת חוזק בפועל במקרי ספק או כשל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42416" y="5166360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algn="ctr" rtl="0" marL="0" indent="0">
              <a:spcAft>
                <a:spcPts val="400"/>
              </a:spcAft>
              <a:buNone/>
            </a:pPr>
            <a:r>
              <a:rPr lang="he-IL" sz="1100" b="0">
                <a:solidFill>
                  <a:srgbClr val="5F6B76"/>
                </a:solidFill>
                <a:latin typeface="Arial Unicode MS"/>
                <a:ea typeface="Arial Unicode MS"/>
                <a:cs typeface="Arial Unicode MS"/>
              </a:rPr>
              <a:t>EN 12504-1 | ASTM C42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>
                <a:latin typeface="Arial Unicode MS"/>
                <a:ea typeface="Arial Unicode MS"/>
                <a:cs typeface="Arial Unicode MS"/>
              </a:rPr>
              <a:t>בדיקת לחיצה</a:t>
            </a:r>
          </a:p>
        </p:txBody>
      </p:sp>
      <p:pic>
        <p:nvPicPr>
          <p:cNvPr id="3" name="Picture 2" descr="pre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064958"/>
            <a:ext cx="3657599" cy="4179442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8092440" y="1143000"/>
            <a:ext cx="3383280" cy="1234440"/>
          </a:xfrm>
          <a:prstGeom prst="roundRect">
            <a:avLst>
              <a:gd name="adj" fmla="val 8000"/>
            </a:avLst>
          </a:prstGeom>
          <a:solidFill>
            <a:srgbClr val="EAF3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881359" y="1261872"/>
            <a:ext cx="457200" cy="457200"/>
          </a:xfrm>
          <a:prstGeom prst="ellipse">
            <a:avLst/>
          </a:prstGeom>
          <a:solidFill>
            <a:srgbClr val="0081C8"/>
          </a:solidFill>
          <a:ln>
            <a:noFill/>
          </a:ln>
        </p:spPr>
        <p:txBody>
          <a:bodyPr rtlCol="0" anchor="ctr" wrap="square" lIns="0" rIns="0" tIns="18288" bIns="18288"/>
          <a:lstStyle/>
          <a:p>
            <a:pPr algn="ctr" rtl="1" marL="0" indent="0">
              <a:buNone/>
            </a:pPr>
            <a:r>
              <a:rPr lang="he-IL" sz="16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75319" y="1280160"/>
            <a:ext cx="2560320" cy="411480"/>
          </a:xfrm>
          <a:prstGeom prst="rect">
            <a:avLst/>
          </a:prstGeom>
          <a:noFill/>
        </p:spPr>
        <p:txBody>
          <a:bodyPr wrap="square" lIns="0" rIns="0" tIns="0" bIns="0" anchor="t" rtlCol="1">
            <a:spAutoFit/>
          </a:bodyPr>
          <a:lstStyle/>
          <a:p>
            <a:pPr algn="r" rtl="1" marL="0" indent="0">
              <a:spcAft>
                <a:spcPts val="400"/>
              </a:spcAft>
              <a:buNone/>
            </a:pPr>
            <a:r>
              <a:rPr lang="he-IL" sz="1700" b="1">
                <a:solidFill>
                  <a:srgbClr val="003973"/>
                </a:solidFill>
                <a:latin typeface="Arial Unicode MS"/>
                <a:ea typeface="Arial Unicode MS"/>
                <a:cs typeface="Arial Unicode MS"/>
              </a:rPr>
              <a:t>דגימה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75319" y="1709928"/>
            <a:ext cx="3017520" cy="640080"/>
          </a:xfrm>
          <a:prstGeom prst="rect">
            <a:avLst/>
          </a:prstGeom>
          <a:noFill/>
        </p:spPr>
        <p:txBody>
          <a:bodyPr wrap="square" lIns="0" rIns="0" tIns="0" bIns="0" anchor="t" rtlCol="1">
            <a:spAutoFit/>
          </a:bodyPr>
          <a:lstStyle/>
          <a:p>
            <a:pPr algn="r" rtl="1" marL="0" indent="0">
              <a:spcAft>
                <a:spcPts val="400"/>
              </a:spcAft>
              <a:buNone/>
            </a:pPr>
            <a:r>
              <a:rPr lang="he-IL" sz="1300" b="0">
                <a:solidFill>
                  <a:srgbClr val="333F4A"/>
                </a:solidFill>
                <a:latin typeface="Arial Unicode MS"/>
                <a:ea typeface="Arial Unicode MS"/>
                <a:cs typeface="Arial Unicode MS"/>
              </a:rPr>
              <a:t>מהמשאית בהתאם לתכנית, EN 12350-1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26279" y="1143000"/>
            <a:ext cx="3383280" cy="1234440"/>
          </a:xfrm>
          <a:prstGeom prst="roundRect">
            <a:avLst>
              <a:gd name="adj" fmla="val 8000"/>
            </a:avLst>
          </a:prstGeom>
          <a:solidFill>
            <a:srgbClr val="EAF3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315200" y="1261872"/>
            <a:ext cx="457200" cy="457200"/>
          </a:xfrm>
          <a:prstGeom prst="ellipse">
            <a:avLst/>
          </a:prstGeom>
          <a:solidFill>
            <a:srgbClr val="0081C8"/>
          </a:solidFill>
          <a:ln>
            <a:noFill/>
          </a:ln>
        </p:spPr>
        <p:txBody>
          <a:bodyPr rtlCol="0" anchor="ctr" wrap="square" lIns="0" rIns="0" tIns="18288" bIns="18288"/>
          <a:lstStyle/>
          <a:p>
            <a:pPr algn="ctr" rtl="1" marL="0" indent="0">
              <a:buNone/>
            </a:pPr>
            <a:r>
              <a:rPr lang="he-IL" sz="16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09159" y="1280160"/>
            <a:ext cx="2560320" cy="411480"/>
          </a:xfrm>
          <a:prstGeom prst="rect">
            <a:avLst/>
          </a:prstGeom>
          <a:noFill/>
        </p:spPr>
        <p:txBody>
          <a:bodyPr wrap="square" lIns="0" rIns="0" tIns="0" bIns="0" anchor="t" rtlCol="1">
            <a:spAutoFit/>
          </a:bodyPr>
          <a:lstStyle/>
          <a:p>
            <a:pPr algn="r" rtl="1" marL="0" indent="0">
              <a:spcAft>
                <a:spcPts val="400"/>
              </a:spcAft>
              <a:buNone/>
            </a:pPr>
            <a:r>
              <a:rPr lang="he-IL" sz="1700" b="1">
                <a:solidFill>
                  <a:srgbClr val="003973"/>
                </a:solidFill>
                <a:latin typeface="Arial Unicode MS"/>
                <a:ea typeface="Arial Unicode MS"/>
                <a:cs typeface="Arial Unicode MS"/>
              </a:rPr>
              <a:t>יציקה והידוק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09159" y="1709928"/>
            <a:ext cx="3017520" cy="640080"/>
          </a:xfrm>
          <a:prstGeom prst="rect">
            <a:avLst/>
          </a:prstGeom>
          <a:noFill/>
        </p:spPr>
        <p:txBody>
          <a:bodyPr wrap="square" lIns="0" rIns="0" tIns="0" bIns="0" anchor="t" rtlCol="1">
            <a:spAutoFit/>
          </a:bodyPr>
          <a:lstStyle/>
          <a:p>
            <a:pPr algn="r" rtl="1" marL="0" indent="0">
              <a:spcAft>
                <a:spcPts val="400"/>
              </a:spcAft>
              <a:buNone/>
            </a:pPr>
            <a:r>
              <a:rPr lang="he-IL" sz="1300" b="0">
                <a:solidFill>
                  <a:srgbClr val="333F4A"/>
                </a:solidFill>
                <a:latin typeface="Arial Unicode MS"/>
                <a:ea typeface="Arial Unicode MS"/>
                <a:cs typeface="Arial Unicode MS"/>
              </a:rPr>
              <a:t>בתבניות נקיות ומשומנות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2440" y="2560320"/>
            <a:ext cx="3383280" cy="1234440"/>
          </a:xfrm>
          <a:prstGeom prst="roundRect">
            <a:avLst>
              <a:gd name="adj" fmla="val 8000"/>
            </a:avLst>
          </a:prstGeom>
          <a:solidFill>
            <a:srgbClr val="EAF3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881359" y="2679191"/>
            <a:ext cx="457200" cy="457200"/>
          </a:xfrm>
          <a:prstGeom prst="ellipse">
            <a:avLst/>
          </a:prstGeom>
          <a:solidFill>
            <a:srgbClr val="0081C8"/>
          </a:solidFill>
          <a:ln>
            <a:noFill/>
          </a:ln>
        </p:spPr>
        <p:txBody>
          <a:bodyPr rtlCol="0" anchor="ctr" wrap="square" lIns="0" rIns="0" tIns="18288" bIns="18288"/>
          <a:lstStyle/>
          <a:p>
            <a:pPr algn="ctr" rtl="1" marL="0" indent="0">
              <a:buNone/>
            </a:pPr>
            <a:r>
              <a:rPr lang="he-IL" sz="16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75319" y="2697479"/>
            <a:ext cx="2560320" cy="411480"/>
          </a:xfrm>
          <a:prstGeom prst="rect">
            <a:avLst/>
          </a:prstGeom>
          <a:noFill/>
        </p:spPr>
        <p:txBody>
          <a:bodyPr wrap="square" lIns="0" rIns="0" tIns="0" bIns="0" anchor="t" rtlCol="1">
            <a:spAutoFit/>
          </a:bodyPr>
          <a:lstStyle/>
          <a:p>
            <a:pPr algn="r" rtl="1" marL="0" indent="0">
              <a:spcAft>
                <a:spcPts val="400"/>
              </a:spcAft>
              <a:buNone/>
            </a:pPr>
            <a:r>
              <a:rPr lang="he-IL" sz="1700" b="1">
                <a:solidFill>
                  <a:srgbClr val="003973"/>
                </a:solidFill>
                <a:latin typeface="Arial Unicode MS"/>
                <a:ea typeface="Arial Unicode MS"/>
                <a:cs typeface="Arial Unicode MS"/>
              </a:rPr>
              <a:t>24 שעות ראשונות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75319" y="3127248"/>
            <a:ext cx="3017520" cy="640080"/>
          </a:xfrm>
          <a:prstGeom prst="rect">
            <a:avLst/>
          </a:prstGeom>
          <a:noFill/>
        </p:spPr>
        <p:txBody>
          <a:bodyPr wrap="square" lIns="0" rIns="0" tIns="0" bIns="0" anchor="t" rtlCol="1">
            <a:spAutoFit/>
          </a:bodyPr>
          <a:lstStyle/>
          <a:p>
            <a:pPr algn="r" rtl="1" marL="0" indent="0">
              <a:spcAft>
                <a:spcPts val="400"/>
              </a:spcAft>
              <a:buNone/>
            </a:pPr>
            <a:r>
              <a:rPr lang="he-IL" sz="1300" b="0">
                <a:solidFill>
                  <a:srgbClr val="333F4A"/>
                </a:solidFill>
                <a:latin typeface="Arial Unicode MS"/>
                <a:ea typeface="Arial Unicode MS"/>
                <a:cs typeface="Arial Unicode MS"/>
              </a:rPr>
              <a:t>באתר, מוגן מזעזועים, חום והתייבשות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26279" y="2560320"/>
            <a:ext cx="3383280" cy="1234440"/>
          </a:xfrm>
          <a:prstGeom prst="roundRect">
            <a:avLst>
              <a:gd name="adj" fmla="val 8000"/>
            </a:avLst>
          </a:prstGeom>
          <a:solidFill>
            <a:srgbClr val="EAF3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315200" y="2679191"/>
            <a:ext cx="457200" cy="457200"/>
          </a:xfrm>
          <a:prstGeom prst="ellipse">
            <a:avLst/>
          </a:prstGeom>
          <a:solidFill>
            <a:srgbClr val="0081C8"/>
          </a:solidFill>
          <a:ln>
            <a:noFill/>
          </a:ln>
        </p:spPr>
        <p:txBody>
          <a:bodyPr rtlCol="0" anchor="ctr" wrap="square" lIns="0" rIns="0" tIns="18288" bIns="18288"/>
          <a:lstStyle/>
          <a:p>
            <a:pPr algn="ctr" rtl="1" marL="0" indent="0">
              <a:buNone/>
            </a:pPr>
            <a:r>
              <a:rPr lang="he-IL" sz="16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09159" y="2697479"/>
            <a:ext cx="2560320" cy="411480"/>
          </a:xfrm>
          <a:prstGeom prst="rect">
            <a:avLst/>
          </a:prstGeom>
          <a:noFill/>
        </p:spPr>
        <p:txBody>
          <a:bodyPr wrap="square" lIns="0" rIns="0" tIns="0" bIns="0" anchor="t" rtlCol="1">
            <a:spAutoFit/>
          </a:bodyPr>
          <a:lstStyle/>
          <a:p>
            <a:pPr algn="r" rtl="1" marL="0" indent="0">
              <a:spcAft>
                <a:spcPts val="400"/>
              </a:spcAft>
              <a:buNone/>
            </a:pPr>
            <a:r>
              <a:rPr lang="he-IL" sz="1700" b="1">
                <a:solidFill>
                  <a:srgbClr val="003973"/>
                </a:solidFill>
                <a:latin typeface="Arial Unicode MS"/>
                <a:ea typeface="Arial Unicode MS"/>
                <a:cs typeface="Arial Unicode MS"/>
              </a:rPr>
              <a:t>אשפרה במעבדה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09159" y="3127248"/>
            <a:ext cx="3017520" cy="640080"/>
          </a:xfrm>
          <a:prstGeom prst="rect">
            <a:avLst/>
          </a:prstGeom>
          <a:noFill/>
        </p:spPr>
        <p:txBody>
          <a:bodyPr wrap="square" lIns="0" rIns="0" tIns="0" bIns="0" anchor="t" rtlCol="1">
            <a:spAutoFit/>
          </a:bodyPr>
          <a:lstStyle/>
          <a:p>
            <a:pPr algn="r" rtl="1" marL="0" indent="0">
              <a:spcAft>
                <a:spcPts val="400"/>
              </a:spcAft>
              <a:buNone/>
            </a:pPr>
            <a:r>
              <a:rPr lang="he-IL" sz="1300" b="0">
                <a:solidFill>
                  <a:srgbClr val="333F4A"/>
                </a:solidFill>
                <a:latin typeface="Arial Unicode MS"/>
                <a:ea typeface="Arial Unicode MS"/>
                <a:cs typeface="Arial Unicode MS"/>
              </a:rPr>
              <a:t>במים או בתא לחות, 20±2°C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92440" y="3977639"/>
            <a:ext cx="3383280" cy="1234440"/>
          </a:xfrm>
          <a:prstGeom prst="roundRect">
            <a:avLst>
              <a:gd name="adj" fmla="val 8000"/>
            </a:avLst>
          </a:prstGeom>
          <a:solidFill>
            <a:srgbClr val="EAF3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0881359" y="4096511"/>
            <a:ext cx="457200" cy="457200"/>
          </a:xfrm>
          <a:prstGeom prst="ellipse">
            <a:avLst/>
          </a:prstGeom>
          <a:solidFill>
            <a:srgbClr val="0081C8"/>
          </a:solidFill>
          <a:ln>
            <a:noFill/>
          </a:ln>
        </p:spPr>
        <p:txBody>
          <a:bodyPr rtlCol="0" anchor="ctr" wrap="square" lIns="0" rIns="0" tIns="18288" bIns="18288"/>
          <a:lstStyle/>
          <a:p>
            <a:pPr algn="ctr" rtl="1" marL="0" indent="0">
              <a:buNone/>
            </a:pPr>
            <a:r>
              <a:rPr lang="he-IL" sz="16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75319" y="4114800"/>
            <a:ext cx="2560320" cy="411480"/>
          </a:xfrm>
          <a:prstGeom prst="rect">
            <a:avLst/>
          </a:prstGeom>
          <a:noFill/>
        </p:spPr>
        <p:txBody>
          <a:bodyPr wrap="square" lIns="0" rIns="0" tIns="0" bIns="0" anchor="t" rtlCol="1">
            <a:spAutoFit/>
          </a:bodyPr>
          <a:lstStyle/>
          <a:p>
            <a:pPr algn="r" rtl="1" marL="0" indent="0">
              <a:spcAft>
                <a:spcPts val="400"/>
              </a:spcAft>
              <a:buNone/>
            </a:pPr>
            <a:r>
              <a:rPr lang="he-IL" sz="1700" b="1">
                <a:solidFill>
                  <a:srgbClr val="003973"/>
                </a:solidFill>
                <a:latin typeface="Arial Unicode MS"/>
                <a:ea typeface="Arial Unicode MS"/>
                <a:cs typeface="Arial Unicode MS"/>
              </a:rPr>
              <a:t>לחיצה בגיל הבדיקה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75319" y="4544568"/>
            <a:ext cx="3017520" cy="640080"/>
          </a:xfrm>
          <a:prstGeom prst="rect">
            <a:avLst/>
          </a:prstGeom>
          <a:noFill/>
        </p:spPr>
        <p:txBody>
          <a:bodyPr wrap="square" lIns="0" rIns="0" tIns="0" bIns="0" anchor="t" rtlCol="1">
            <a:spAutoFit/>
          </a:bodyPr>
          <a:lstStyle/>
          <a:p>
            <a:pPr algn="r" rtl="1" marL="0" indent="0">
              <a:spcAft>
                <a:spcPts val="400"/>
              </a:spcAft>
              <a:buNone/>
            </a:pPr>
            <a:r>
              <a:rPr lang="he-IL" sz="1300" b="0">
                <a:solidFill>
                  <a:srgbClr val="333F4A"/>
                </a:solidFill>
                <a:latin typeface="Arial Unicode MS"/>
                <a:ea typeface="Arial Unicode MS"/>
                <a:cs typeface="Arial Unicode MS"/>
              </a:rPr>
              <a:t>קצב העמסה קבוע 0.6±0.2 MPa/s עד לשבר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26279" y="3977639"/>
            <a:ext cx="3383280" cy="1234440"/>
          </a:xfrm>
          <a:prstGeom prst="roundRect">
            <a:avLst>
              <a:gd name="adj" fmla="val 8000"/>
            </a:avLst>
          </a:prstGeom>
          <a:solidFill>
            <a:srgbClr val="EAF3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315200" y="4096511"/>
            <a:ext cx="457200" cy="457200"/>
          </a:xfrm>
          <a:prstGeom prst="ellipse">
            <a:avLst/>
          </a:prstGeom>
          <a:solidFill>
            <a:srgbClr val="0081C8"/>
          </a:solidFill>
          <a:ln>
            <a:noFill/>
          </a:ln>
        </p:spPr>
        <p:txBody>
          <a:bodyPr rtlCol="0" anchor="ctr" wrap="square" lIns="0" rIns="0" tIns="18288" bIns="18288"/>
          <a:lstStyle/>
          <a:p>
            <a:pPr algn="ctr" rtl="1" marL="0" indent="0">
              <a:buNone/>
            </a:pPr>
            <a:r>
              <a:rPr lang="he-IL" sz="16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09159" y="4114800"/>
            <a:ext cx="2560320" cy="411480"/>
          </a:xfrm>
          <a:prstGeom prst="rect">
            <a:avLst/>
          </a:prstGeom>
          <a:noFill/>
        </p:spPr>
        <p:txBody>
          <a:bodyPr wrap="square" lIns="0" rIns="0" tIns="0" bIns="0" anchor="t" rtlCol="1">
            <a:spAutoFit/>
          </a:bodyPr>
          <a:lstStyle/>
          <a:p>
            <a:pPr algn="r" rtl="1" marL="0" indent="0">
              <a:spcAft>
                <a:spcPts val="400"/>
              </a:spcAft>
              <a:buNone/>
            </a:pPr>
            <a:r>
              <a:rPr lang="he-IL" sz="1700" b="1">
                <a:solidFill>
                  <a:srgbClr val="003973"/>
                </a:solidFill>
                <a:latin typeface="Arial Unicode MS"/>
                <a:ea typeface="Arial Unicode MS"/>
                <a:cs typeface="Arial Unicode MS"/>
              </a:rPr>
              <a:t>רישום ופענוח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09159" y="4544568"/>
            <a:ext cx="3017520" cy="640080"/>
          </a:xfrm>
          <a:prstGeom prst="rect">
            <a:avLst/>
          </a:prstGeom>
          <a:noFill/>
        </p:spPr>
        <p:txBody>
          <a:bodyPr wrap="square" lIns="0" rIns="0" tIns="0" bIns="0" anchor="t" rtlCol="1">
            <a:spAutoFit/>
          </a:bodyPr>
          <a:lstStyle/>
          <a:p>
            <a:pPr algn="r" rtl="1" marL="0" indent="0">
              <a:spcAft>
                <a:spcPts val="400"/>
              </a:spcAft>
              <a:buNone/>
            </a:pPr>
            <a:r>
              <a:rPr lang="he-IL" sz="1300" b="0">
                <a:solidFill>
                  <a:srgbClr val="333F4A"/>
                </a:solidFill>
                <a:latin typeface="Arial Unicode MS"/>
                <a:ea typeface="Arial Unicode MS"/>
                <a:cs typeface="Arial Unicode MS"/>
              </a:rPr>
              <a:t>עומס, חוזק, צורת השבר וחריגות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09160" y="5440680"/>
            <a:ext cx="6766560" cy="457200"/>
          </a:xfrm>
          <a:prstGeom prst="rect">
            <a:avLst/>
          </a:prstGeom>
          <a:noFill/>
        </p:spPr>
        <p:txBody>
          <a:bodyPr wrap="square" lIns="0" rIns="0" tIns="0" bIns="0" anchor="t" rtlCol="1">
            <a:spAutoFit/>
          </a:bodyPr>
          <a:lstStyle/>
          <a:p>
            <a:pPr algn="r" rtl="1" marL="0" indent="0">
              <a:spcAft>
                <a:spcPts val="400"/>
              </a:spcAft>
              <a:buNone/>
            </a:pPr>
            <a:r>
              <a:rPr lang="he-IL" sz="1300" b="0">
                <a:solidFill>
                  <a:srgbClr val="5F6B76"/>
                </a:solidFill>
                <a:latin typeface="Arial Unicode MS"/>
                <a:ea typeface="Arial Unicode MS"/>
                <a:cs typeface="Arial Unicode MS"/>
              </a:rPr>
              <a:t>שבר תקין בקובייה: שתי פירמידות הפוכות. שבר חריג מעיד בדרך כלל על הכנה או אשפרה לקויות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>
                <a:latin typeface="Arial Unicode MS"/>
                <a:ea typeface="Arial Unicode MS"/>
                <a:cs typeface="Arial Unicode MS"/>
              </a:rPr>
              <a:t>קוביות מול גלילים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822960" y="1143000"/>
          <a:ext cx="10652760" cy="384048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4069080"/>
                <a:gridCol w="4023360"/>
                <a:gridCol w="2560320"/>
              </a:tblGrid>
              <a:tr h="548640">
                <a:tc>
                  <a:txBody>
                    <a:bodyPr wrap="square"/>
                    <a:lstStyle/>
                    <a:p>
                      <a:pPr algn="ctr" rtl="1" marL="0" indent="0">
                        <a:buNone/>
                      </a:pPr>
                      <a:r>
                        <a:rPr lang="he-IL" sz="150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גלילים</a:t>
                      </a:r>
                    </a:p>
                  </a:txBody>
                  <a:tcPr marL="73152" marR="73152" marT="36576" marB="36576" anchor="ctr">
                    <a:solidFill>
                      <a:srgbClr val="0081C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 marL="0" indent="0">
                        <a:buNone/>
                      </a:pPr>
                      <a:r>
                        <a:rPr lang="he-IL" sz="150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קוביות</a:t>
                      </a:r>
                    </a:p>
                  </a:txBody>
                  <a:tcPr marL="73152" marR="73152" marT="36576" marB="36576" anchor="ctr">
                    <a:solidFill>
                      <a:srgbClr val="0081C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 marL="0" indent="0">
                        <a:buNone/>
                      </a:pPr>
                      <a:r>
                        <a:rPr lang="he-IL" sz="150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פרמטר</a:t>
                      </a:r>
                    </a:p>
                  </a:txBody>
                  <a:tcPr marL="73152" marR="73152" marT="36576" marB="36576" anchor="ctr">
                    <a:solidFill>
                      <a:srgbClr val="0081C8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ctr" rtl="1" marL="0" indent="0">
                        <a:buNone/>
                      </a:pPr>
                      <a:r>
                        <a:rPr lang="he-IL" sz="1500" b="0">
                          <a:solidFill>
                            <a:srgbClr val="333F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150×300 או 100×200 מ"מ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 marL="0" indent="0">
                        <a:buNone/>
                      </a:pPr>
                      <a:r>
                        <a:rPr lang="he-IL" sz="1500" b="0">
                          <a:solidFill>
                            <a:srgbClr val="333F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150 או 100 מ"מ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 marL="0" indent="0">
                        <a:buNone/>
                      </a:pPr>
                      <a:r>
                        <a:rPr lang="he-IL" sz="1500" b="1">
                          <a:solidFill>
                            <a:srgbClr val="333F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מידות נפוצות</a:t>
                      </a:r>
                    </a:p>
                  </a:txBody>
                  <a:tcPr marL="73152" marR="73152" marT="36576" marB="36576" anchor="ctr">
                    <a:solidFill>
                      <a:srgbClr val="EAF3FA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ctr" rtl="1" marL="0" indent="0">
                        <a:buNone/>
                      </a:pPr>
                      <a:r>
                        <a:rPr lang="he-IL" sz="1500" b="0">
                          <a:solidFill>
                            <a:srgbClr val="333F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ASTM C39, EN 12390-3</a:t>
                      </a:r>
                    </a:p>
                  </a:txBody>
                  <a:tcPr marL="73152" marR="73152" marT="36576" marB="36576" anchor="ctr">
                    <a:solidFill>
                      <a:srgbClr val="F3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 marL="0" indent="0">
                        <a:buNone/>
                      </a:pPr>
                      <a:r>
                        <a:rPr lang="he-IL" sz="1500" b="0">
                          <a:solidFill>
                            <a:srgbClr val="333F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EN 12390-3, ת"י 26</a:t>
                      </a:r>
                    </a:p>
                  </a:txBody>
                  <a:tcPr marL="73152" marR="73152" marT="36576" marB="36576" anchor="ctr">
                    <a:solidFill>
                      <a:srgbClr val="F3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 marL="0" indent="0">
                        <a:buNone/>
                      </a:pPr>
                      <a:r>
                        <a:rPr lang="he-IL" sz="1500" b="1">
                          <a:solidFill>
                            <a:srgbClr val="333F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תקנים</a:t>
                      </a:r>
                    </a:p>
                  </a:txBody>
                  <a:tcPr marL="73152" marR="73152" marT="36576" marB="36576" anchor="ctr">
                    <a:solidFill>
                      <a:srgbClr val="EAF3FA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ctr" rtl="1" marL="0" indent="0">
                        <a:buNone/>
                      </a:pPr>
                      <a:r>
                        <a:rPr lang="he-IL" sz="1500" b="0">
                          <a:solidFill>
                            <a:srgbClr val="333F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כ-80% מחוזק הקובייה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 marL="0" indent="0">
                        <a:buNone/>
                      </a:pPr>
                      <a:r>
                        <a:rPr lang="he-IL" sz="1500" b="0">
                          <a:solidFill>
                            <a:srgbClr val="333F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100%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 marL="0" indent="0">
                        <a:buNone/>
                      </a:pPr>
                      <a:r>
                        <a:rPr lang="he-IL" sz="1500" b="1">
                          <a:solidFill>
                            <a:srgbClr val="333F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יחס חוזק טיפוסי</a:t>
                      </a:r>
                    </a:p>
                  </a:txBody>
                  <a:tcPr marL="73152" marR="73152" marT="36576" marB="36576" anchor="ctr">
                    <a:solidFill>
                      <a:srgbClr val="EAF3FA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ctr" rtl="1" marL="0" indent="0">
                        <a:buNone/>
                      </a:pPr>
                      <a:r>
                        <a:rPr lang="he-IL" sz="1500" b="0">
                          <a:solidFill>
                            <a:srgbClr val="333F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השחזה או כיפוי (Capping)</a:t>
                      </a:r>
                    </a:p>
                  </a:txBody>
                  <a:tcPr marL="73152" marR="73152" marT="36576" marB="36576" anchor="ctr">
                    <a:solidFill>
                      <a:srgbClr val="F3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 marL="0" indent="0">
                        <a:buNone/>
                      </a:pPr>
                      <a:r>
                        <a:rPr lang="he-IL" sz="1500" b="0">
                          <a:solidFill>
                            <a:srgbClr val="333F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לא נדרשת (לוחצים על פאות התבנית)</a:t>
                      </a:r>
                    </a:p>
                  </a:txBody>
                  <a:tcPr marL="73152" marR="73152" marT="36576" marB="36576" anchor="ctr">
                    <a:solidFill>
                      <a:srgbClr val="F3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 marL="0" indent="0">
                        <a:buNone/>
                      </a:pPr>
                      <a:r>
                        <a:rPr lang="he-IL" sz="1500" b="1">
                          <a:solidFill>
                            <a:srgbClr val="333F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הכנת פני הלחיצה</a:t>
                      </a:r>
                    </a:p>
                  </a:txBody>
                  <a:tcPr marL="73152" marR="73152" marT="36576" marB="36576" anchor="ctr">
                    <a:solidFill>
                      <a:srgbClr val="EAF3FA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ctr" rtl="1" marL="0" indent="0">
                        <a:buNone/>
                      </a:pPr>
                      <a:r>
                        <a:rPr lang="he-IL" sz="1500" b="0">
                          <a:solidFill>
                            <a:srgbClr val="333F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גבוהה: אנכיות, מישוריות הקצוות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 marL="0" indent="0">
                        <a:buNone/>
                      </a:pPr>
                      <a:r>
                        <a:rPr lang="he-IL" sz="1500" b="0">
                          <a:solidFill>
                            <a:srgbClr val="333F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נמוכה יחסית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 marL="0" indent="0">
                        <a:buNone/>
                      </a:pPr>
                      <a:r>
                        <a:rPr lang="he-IL" sz="1500" b="1">
                          <a:solidFill>
                            <a:srgbClr val="333F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רגישות לביצוע</a:t>
                      </a:r>
                    </a:p>
                  </a:txBody>
                  <a:tcPr marL="73152" marR="73152" marT="36576" marB="36576" anchor="ctr">
                    <a:solidFill>
                      <a:srgbClr val="EAF3FA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ctr" rtl="1" marL="0" indent="0">
                        <a:buNone/>
                      </a:pPr>
                      <a:r>
                        <a:rPr lang="he-IL" sz="1500" b="0">
                          <a:solidFill>
                            <a:srgbClr val="333F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ארה"ב; מקובל גם במפרטים בינלאומיים</a:t>
                      </a:r>
                    </a:p>
                  </a:txBody>
                  <a:tcPr marL="73152" marR="73152" marT="36576" marB="36576" anchor="ctr">
                    <a:solidFill>
                      <a:srgbClr val="F3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 marL="0" indent="0">
                        <a:buNone/>
                      </a:pPr>
                      <a:r>
                        <a:rPr lang="he-IL" sz="1500" b="0">
                          <a:solidFill>
                            <a:srgbClr val="333F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ישראל ואירופה</a:t>
                      </a:r>
                    </a:p>
                  </a:txBody>
                  <a:tcPr marL="73152" marR="73152" marT="36576" marB="36576" anchor="ctr">
                    <a:solidFill>
                      <a:srgbClr val="F3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 marL="0" indent="0">
                        <a:buNone/>
                      </a:pPr>
                      <a:r>
                        <a:rPr lang="he-IL" sz="1500" b="1">
                          <a:solidFill>
                            <a:srgbClr val="333F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שימוש עיקרי</a:t>
                      </a:r>
                    </a:p>
                  </a:txBody>
                  <a:tcPr marL="73152" marR="73152" marT="36576" marB="36576" anchor="ctr">
                    <a:solidFill>
                      <a:srgbClr val="EAF3FA"/>
                    </a:solidFill>
                  </a:tcPr>
                </a:tc>
              </a:tr>
            </a:tbl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822960" y="5257800"/>
            <a:ext cx="8183879" cy="594360"/>
          </a:xfrm>
          <a:prstGeom prst="roundRect">
            <a:avLst>
              <a:gd name="adj" fmla="val 8000"/>
            </a:avLst>
          </a:prstGeom>
          <a:solidFill>
            <a:srgbClr val="00397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394192" y="5326380"/>
            <a:ext cx="457200" cy="457200"/>
          </a:xfrm>
          <a:prstGeom prst="ellipse">
            <a:avLst/>
          </a:prstGeom>
          <a:solidFill>
            <a:srgbClr val="C4D8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6" name="Picture 5" descr="FaLightbulb_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3919" y="5436108"/>
            <a:ext cx="237744" cy="23774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51560" y="5257800"/>
            <a:ext cx="7269479" cy="594360"/>
          </a:xfrm>
          <a:prstGeom prst="rect">
            <a:avLst/>
          </a:prstGeom>
          <a:noFill/>
        </p:spPr>
        <p:txBody>
          <a:bodyPr wrap="square" lIns="0" rIns="0" tIns="0" bIns="0" anchor="ctr" rtlCol="1">
            <a:spAutoFit/>
          </a:bodyPr>
          <a:lstStyle/>
          <a:p>
            <a:pPr algn="r" rtl="1" marL="0" indent="0">
              <a:spcAft>
                <a:spcPts val="400"/>
              </a:spcAft>
              <a:buNone/>
            </a:pPr>
            <a:r>
              <a:rPr lang="he-IL" sz="17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C30/37: 30 = חוזק גליל, 37 = חוזק קובייה. אותו בטון — שתי שיטות מדידה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>
                <a:latin typeface="Arial Unicode MS"/>
                <a:ea typeface="Arial Unicode MS"/>
                <a:cs typeface="Arial Unicode MS"/>
              </a:rPr>
              <a:t>פענוח תוצאות חוזק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822960" y="1051560"/>
          <a:ext cx="7040880" cy="42976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822960" y="5394960"/>
            <a:ext cx="7040880" cy="274320"/>
          </a:xfrm>
          <a:prstGeom prst="rect">
            <a:avLst/>
          </a:prstGeom>
          <a:noFill/>
        </p:spPr>
        <p:txBody>
          <a:bodyPr wrap="square" lIns="0" rIns="0" tIns="0" bIns="0" anchor="t" rtlCol="1">
            <a:spAutoFit/>
          </a:bodyPr>
          <a:lstStyle/>
          <a:p>
            <a:pPr algn="r" rtl="1" marL="0" indent="0">
              <a:spcAft>
                <a:spcPts val="400"/>
              </a:spcAft>
              <a:buNone/>
            </a:pPr>
            <a:r>
              <a:rPr lang="he-IL" sz="1100" b="0">
                <a:solidFill>
                  <a:srgbClr val="5F6B76"/>
                </a:solidFill>
                <a:latin typeface="Arial Unicode MS"/>
                <a:ea typeface="Arial Unicode MS"/>
                <a:cs typeface="Arial Unicode MS"/>
              </a:rPr>
              <a:t>דוגמה להמחשה: ב-37 (C30/37). קריטריוני ההתאמה המלאים — לפי EN 206 / ת"י 118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92440" y="1097280"/>
            <a:ext cx="3383280" cy="1325880"/>
          </a:xfrm>
          <a:prstGeom prst="roundRect">
            <a:avLst>
              <a:gd name="adj" fmla="val 8000"/>
            </a:avLst>
          </a:prstGeom>
          <a:solidFill>
            <a:srgbClr val="EAF3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812780" y="1229867"/>
            <a:ext cx="502920" cy="502920"/>
          </a:xfrm>
          <a:prstGeom prst="ellipse">
            <a:avLst/>
          </a:prstGeom>
          <a:solidFill>
            <a:srgbClr val="00397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7" name="Picture 6" descr="FaChartLine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33480" y="1350568"/>
            <a:ext cx="261518" cy="26151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229600" y="1234439"/>
            <a:ext cx="2514600" cy="411480"/>
          </a:xfrm>
          <a:prstGeom prst="rect">
            <a:avLst/>
          </a:prstGeom>
          <a:noFill/>
        </p:spPr>
        <p:txBody>
          <a:bodyPr wrap="square" lIns="0" rIns="0" tIns="0" bIns="0" anchor="t" rtlCol="1">
            <a:spAutoFit/>
          </a:bodyPr>
          <a:lstStyle/>
          <a:p>
            <a:pPr algn="r" rtl="1" marL="0" indent="0">
              <a:spcAft>
                <a:spcPts val="400"/>
              </a:spcAft>
              <a:buNone/>
            </a:pPr>
            <a:r>
              <a:rPr lang="he-IL" sz="1600" b="1">
                <a:solidFill>
                  <a:srgbClr val="003973"/>
                </a:solidFill>
                <a:latin typeface="Arial Unicode MS"/>
                <a:ea typeface="Arial Unicode MS"/>
                <a:cs typeface="Arial Unicode MS"/>
              </a:rPr>
              <a:t>Trend — מגמה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1755648"/>
            <a:ext cx="3063240" cy="658368"/>
          </a:xfrm>
          <a:prstGeom prst="rect">
            <a:avLst/>
          </a:prstGeom>
          <a:noFill/>
        </p:spPr>
        <p:txBody>
          <a:bodyPr wrap="square" lIns="0" rIns="0" tIns="0" bIns="0" anchor="t" rtlCol="1">
            <a:spAutoFit/>
          </a:bodyPr>
          <a:lstStyle/>
          <a:p>
            <a:pPr algn="r" rtl="1" marL="0" indent="0">
              <a:spcAft>
                <a:spcPts val="400"/>
              </a:spcAft>
              <a:buNone/>
            </a:pPr>
            <a:r>
              <a:rPr lang="he-IL" sz="1200" b="0">
                <a:solidFill>
                  <a:srgbClr val="333F4A"/>
                </a:solidFill>
                <a:latin typeface="Arial Unicode MS"/>
                <a:ea typeface="Arial Unicode MS"/>
                <a:cs typeface="Arial Unicode MS"/>
              </a:rPr>
              <a:t>ירידה עקבית בממוצע הנע (דגימות 13-20): לחקור חומרי גלם, מינון, ציוד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92440" y="2560320"/>
            <a:ext cx="3383280" cy="1325880"/>
          </a:xfrm>
          <a:prstGeom prst="roundRect">
            <a:avLst>
              <a:gd name="adj" fmla="val 8000"/>
            </a:avLst>
          </a:prstGeom>
          <a:solidFill>
            <a:srgbClr val="EAF3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812780" y="2692908"/>
            <a:ext cx="502920" cy="502920"/>
          </a:xfrm>
          <a:prstGeom prst="ellipse">
            <a:avLst/>
          </a:prstGeom>
          <a:solidFill>
            <a:srgbClr val="00397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2" name="Picture 11" descr="FaExclamationTriangle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33480" y="2813608"/>
            <a:ext cx="261518" cy="26151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229600" y="2697479"/>
            <a:ext cx="2514600" cy="411480"/>
          </a:xfrm>
          <a:prstGeom prst="rect">
            <a:avLst/>
          </a:prstGeom>
          <a:noFill/>
        </p:spPr>
        <p:txBody>
          <a:bodyPr wrap="square" lIns="0" rIns="0" tIns="0" bIns="0" anchor="t" rtlCol="1">
            <a:spAutoFit/>
          </a:bodyPr>
          <a:lstStyle/>
          <a:p>
            <a:pPr algn="r" rtl="1" marL="0" indent="0">
              <a:spcAft>
                <a:spcPts val="400"/>
              </a:spcAft>
              <a:buNone/>
            </a:pPr>
            <a:r>
              <a:rPr lang="he-IL" sz="1600" b="1">
                <a:solidFill>
                  <a:srgbClr val="003973"/>
                </a:solidFill>
                <a:latin typeface="Arial Unicode MS"/>
                <a:ea typeface="Arial Unicode MS"/>
                <a:cs typeface="Arial Unicode MS"/>
              </a:rPr>
              <a:t>Outlier — חריג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3218687"/>
            <a:ext cx="3063240" cy="658368"/>
          </a:xfrm>
          <a:prstGeom prst="rect">
            <a:avLst/>
          </a:prstGeom>
          <a:noFill/>
        </p:spPr>
        <p:txBody>
          <a:bodyPr wrap="square" lIns="0" rIns="0" tIns="0" bIns="0" anchor="t" rtlCol="1">
            <a:spAutoFit/>
          </a:bodyPr>
          <a:lstStyle/>
          <a:p>
            <a:pPr algn="r" rtl="1" marL="0" indent="0">
              <a:spcAft>
                <a:spcPts val="400"/>
              </a:spcAft>
              <a:buNone/>
            </a:pPr>
            <a:r>
              <a:rPr lang="he-IL" sz="1200" b="0">
                <a:solidFill>
                  <a:srgbClr val="333F4A"/>
                </a:solidFill>
                <a:latin typeface="Arial Unicode MS"/>
                <a:ea typeface="Arial Unicode MS"/>
                <a:cs typeface="Arial Unicode MS"/>
              </a:rPr>
              <a:t>דגימה 12 בודדת ונמוכה: לבדוק דגימה, הכנה ואשפרה לפני מסקנות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4023360"/>
            <a:ext cx="3383280" cy="1325880"/>
          </a:xfrm>
          <a:prstGeom prst="roundRect">
            <a:avLst>
              <a:gd name="adj" fmla="val 8000"/>
            </a:avLst>
          </a:prstGeom>
          <a:solidFill>
            <a:srgbClr val="EAF3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0812780" y="4155948"/>
            <a:ext cx="502920" cy="502920"/>
          </a:xfrm>
          <a:prstGeom prst="ellipse">
            <a:avLst/>
          </a:prstGeom>
          <a:solidFill>
            <a:srgbClr val="00397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7" name="Picture 16" descr="FaBalanceScale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33480" y="4276648"/>
            <a:ext cx="261518" cy="261518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8229600" y="4160520"/>
            <a:ext cx="2514600" cy="411480"/>
          </a:xfrm>
          <a:prstGeom prst="rect">
            <a:avLst/>
          </a:prstGeom>
          <a:noFill/>
        </p:spPr>
        <p:txBody>
          <a:bodyPr wrap="square" lIns="0" rIns="0" tIns="0" bIns="0" anchor="t" rtlCol="1">
            <a:spAutoFit/>
          </a:bodyPr>
          <a:lstStyle/>
          <a:p>
            <a:pPr algn="r" rtl="1" marL="0" indent="0">
              <a:spcAft>
                <a:spcPts val="400"/>
              </a:spcAft>
              <a:buNone/>
            </a:pPr>
            <a:r>
              <a:rPr lang="he-IL" sz="1600" b="1">
                <a:solidFill>
                  <a:srgbClr val="003973"/>
                </a:solidFill>
                <a:latin typeface="Arial Unicode MS"/>
                <a:ea typeface="Arial Unicode MS"/>
                <a:cs typeface="Arial Unicode MS"/>
              </a:rPr>
              <a:t>בקרה סטטיסטית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4681728"/>
            <a:ext cx="3063240" cy="658368"/>
          </a:xfrm>
          <a:prstGeom prst="rect">
            <a:avLst/>
          </a:prstGeom>
          <a:noFill/>
        </p:spPr>
        <p:txBody>
          <a:bodyPr wrap="square" lIns="0" rIns="0" tIns="0" bIns="0" anchor="t" rtlCol="1">
            <a:spAutoFit/>
          </a:bodyPr>
          <a:lstStyle/>
          <a:p>
            <a:pPr algn="r" rtl="1" marL="0" indent="0">
              <a:spcAft>
                <a:spcPts val="400"/>
              </a:spcAft>
              <a:buNone/>
            </a:pPr>
            <a:r>
              <a:rPr lang="he-IL" sz="1200" b="0">
                <a:solidFill>
                  <a:srgbClr val="333F4A"/>
                </a:solidFill>
                <a:latin typeface="Arial Unicode MS"/>
                <a:ea typeface="Arial Unicode MS"/>
                <a:cs typeface="Arial Unicode MS"/>
              </a:rPr>
              <a:t>ממוצע 15 תוצאות: לפחות fck + 1.48σ. תוצאה בודדת: לא פחות מ-fck − 4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6" name="תמונה 5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1"/>
          <a:stretch/>
        </p:blipFill>
        <p:spPr>
          <a:xfrm flipH="1">
            <a:off x="0" y="0"/>
            <a:ext cx="10306050" cy="6858000"/>
          </a:xfrm>
          <a:prstGeom prst="rect">
            <a:avLst/>
          </a:prstGeom>
        </p:spPr>
      </p:pic>
      <p:sp>
        <p:nvSpPr>
          <p:cNvPr id="4" name="מלבן 3"/>
          <p:cNvSpPr/>
          <p:nvPr/>
        </p:nvSpPr>
        <p:spPr>
          <a:xfrm>
            <a:off x="6115050" y="0"/>
            <a:ext cx="6076950" cy="6858000"/>
          </a:xfrm>
          <a:prstGeom prst="rect">
            <a:avLst/>
          </a:prstGeom>
          <a:solidFill>
            <a:srgbClr val="2C9EE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>
              <a:solidFill>
                <a:prstClr val="white"/>
              </a:solidFill>
            </a:endParaRPr>
          </a:p>
        </p:txBody>
      </p:sp>
      <p:sp>
        <p:nvSpPr>
          <p:cNvPr id="7" name="משולש שווה שוקיים 6"/>
          <p:cNvSpPr/>
          <p:nvPr/>
        </p:nvSpPr>
        <p:spPr>
          <a:xfrm rot="16200000" flipH="1">
            <a:off x="5324475" y="3143250"/>
            <a:ext cx="1123950" cy="609600"/>
          </a:xfrm>
          <a:prstGeom prst="triangle">
            <a:avLst/>
          </a:prstGeom>
          <a:solidFill>
            <a:srgbClr val="2C9EE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>
              <a:solidFill>
                <a:prstClr val="white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720840" y="2514600"/>
            <a:ext cx="4937760" cy="914400"/>
          </a:xfrm>
          <a:prstGeom prst="rect">
            <a:avLst/>
          </a:prstGeom>
          <a:noFill/>
        </p:spPr>
        <p:txBody>
          <a:bodyPr wrap="square" rtlCol="1" anchor="ctr"/>
          <a:lstStyle/>
          <a:p>
            <a:pPr algn="ctr" rtl="1"/>
            <a:r>
              <a:rPr lang="he-IL" sz="3600" dirty="0">
                <a:solidFill>
                  <a:prstClr val="white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כשלים נפוצים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20840" y="1874519"/>
            <a:ext cx="4937760" cy="457200"/>
          </a:xfrm>
          <a:prstGeom prst="rect">
            <a:avLst/>
          </a:prstGeom>
          <a:noFill/>
        </p:spPr>
        <p:txBody>
          <a:bodyPr wrap="square" lIns="0" rIns="0" tIns="0" bIns="0" anchor="t" rtlCol="1">
            <a:spAutoFit/>
          </a:bodyPr>
          <a:lstStyle/>
          <a:p>
            <a:pPr algn="ctr" rtl="1" marL="0" indent="0">
              <a:spcAft>
                <a:spcPts val="400"/>
              </a:spcAft>
              <a:buNone/>
            </a:pPr>
            <a:r>
              <a:rPr lang="he-IL" sz="2000" b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פרק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86600" y="3611880"/>
            <a:ext cx="4206240" cy="2011680"/>
          </a:xfrm>
          <a:prstGeom prst="rect">
            <a:avLst/>
          </a:prstGeom>
          <a:noFill/>
        </p:spPr>
        <p:txBody>
          <a:bodyPr wrap="square" lIns="0" rIns="0" tIns="0" bIns="0" anchor="t" rtlCol="1">
            <a:spAutoFit/>
          </a:bodyPr>
          <a:lstStyle/>
          <a:p>
            <a:pPr algn="ctr" rtl="1" marL="0" indent="0">
              <a:lnSpc>
                <a:spcPct val="115000"/>
              </a:lnSpc>
              <a:spcAft>
                <a:spcPts val="400"/>
              </a:spcAft>
              <a:buNone/>
            </a:pPr>
            <a:r>
              <a:rPr lang="he-IL" sz="1600" b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סגרגציה · דימום · קיני חצץ · סדיקה פלסטית · התקלפות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>
                <a:latin typeface="Arial Unicode MS"/>
                <a:ea typeface="Arial Unicode MS"/>
                <a:cs typeface="Arial Unicode MS"/>
              </a:rPr>
              <a:t>סגרגציה  |  Segregation</a:t>
            </a:r>
          </a:p>
        </p:txBody>
      </p:sp>
      <p:pic>
        <p:nvPicPr>
          <p:cNvPr id="3" name="Picture 2" descr="segreg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432783"/>
            <a:ext cx="5394960" cy="326091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5074920"/>
            <a:ext cx="5394960" cy="274320"/>
          </a:xfrm>
          <a:prstGeom prst="rect">
            <a:avLst/>
          </a:prstGeom>
          <a:noFill/>
        </p:spPr>
        <p:txBody>
          <a:bodyPr wrap="square" lIns="0" rIns="0" tIns="0" bIns="0" anchor="t" rtlCol="1">
            <a:spAutoFit/>
          </a:bodyPr>
          <a:lstStyle/>
          <a:p>
            <a:pPr algn="ctr" rtl="1" marL="0" indent="0">
              <a:spcAft>
                <a:spcPts val="400"/>
              </a:spcAft>
              <a:buNone/>
            </a:pPr>
            <a:r>
              <a:rPr lang="he-IL" sz="1100" b="0">
                <a:solidFill>
                  <a:srgbClr val="5F6B76"/>
                </a:solidFill>
                <a:latin typeface="Arial Unicode MS"/>
                <a:ea typeface="Arial Unicode MS"/>
                <a:cs typeface="Arial Unicode MS"/>
              </a:rPr>
              <a:t>האגרגט הגס נפרד ומצטבר בתחתית; משחה עשירה נשארת למעלה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92240" y="1097280"/>
            <a:ext cx="4983480" cy="2194560"/>
          </a:xfrm>
          <a:prstGeom prst="roundRect">
            <a:avLst>
              <a:gd name="adj" fmla="val 8000"/>
            </a:avLst>
          </a:prstGeom>
          <a:solidFill>
            <a:srgbClr val="FBE9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767060" y="1257300"/>
            <a:ext cx="502920" cy="502920"/>
          </a:xfrm>
          <a:prstGeom prst="ellipse">
            <a:avLst/>
          </a:prstGeom>
          <a:solidFill>
            <a:srgbClr val="C6282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7" name="Picture 6" descr="FaSearch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87760" y="1378000"/>
            <a:ext cx="261518" cy="26151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675120" y="1280160"/>
            <a:ext cx="3840480" cy="411480"/>
          </a:xfrm>
          <a:prstGeom prst="rect">
            <a:avLst/>
          </a:prstGeom>
          <a:noFill/>
        </p:spPr>
        <p:txBody>
          <a:bodyPr wrap="square" lIns="0" rIns="0" tIns="0" bIns="0" anchor="t" rtlCol="1">
            <a:spAutoFit/>
          </a:bodyPr>
          <a:lstStyle/>
          <a:p>
            <a:pPr algn="r" rtl="1" marL="0" indent="0">
              <a:spcAft>
                <a:spcPts val="400"/>
              </a:spcAft>
              <a:buNone/>
            </a:pPr>
            <a:r>
              <a:rPr lang="he-IL" sz="1900" b="1">
                <a:solidFill>
                  <a:srgbClr val="C62828"/>
                </a:solidFill>
                <a:latin typeface="Arial Unicode MS"/>
                <a:ea typeface="Arial Unicode MS"/>
                <a:cs typeface="Arial Unicode MS"/>
              </a:rPr>
              <a:t>גורמים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0" y="1828800"/>
            <a:ext cx="4617720" cy="1371600"/>
          </a:xfrm>
          <a:prstGeom prst="rect">
            <a:avLst/>
          </a:prstGeom>
          <a:noFill/>
        </p:spPr>
        <p:txBody>
          <a:bodyPr wrap="square" lIns="0" rIns="0" tIns="0" bIns="0" anchor="t" rtlCol="1">
            <a:spAutoFit/>
          </a:bodyPr>
          <a:lstStyle/>
          <a:p>
            <a:pPr algn="r" rtl="1" marL="228600" indent="-228600">
              <a:spcAft>
                <a:spcPts val="200"/>
              </a:spcAft>
              <a:buFont typeface="Arial"/>
              <a:buChar char="•"/>
            </a:pPr>
            <a:r>
              <a:rPr lang="he-IL" sz="1400" b="0">
                <a:solidFill>
                  <a:srgbClr val="333F4A"/>
                </a:solidFill>
                <a:latin typeface="Arial Unicode MS"/>
                <a:ea typeface="Arial Unicode MS"/>
                <a:cs typeface="Arial Unicode MS"/>
              </a:rPr>
              <a:t>הטלה מגובה רב (מעל 1.5 מ') או דרך מזחלה ארוכה</a:t>
            </a:r>
          </a:p>
          <a:p>
            <a:pPr algn="r" rtl="1" marL="228600" indent="-228600">
              <a:spcAft>
                <a:spcPts val="200"/>
              </a:spcAft>
              <a:buFont typeface="Arial"/>
              <a:buChar char="•"/>
            </a:pPr>
            <a:r>
              <a:rPr lang="he-IL" sz="1400" b="0">
                <a:solidFill>
                  <a:srgbClr val="333F4A"/>
                </a:solidFill>
                <a:latin typeface="Arial Unicode MS"/>
                <a:ea typeface="Arial Unicode MS"/>
                <a:cs typeface="Arial Unicode MS"/>
              </a:rPr>
              <a:t>עודף מים / שקיעה גבוהה מדי</a:t>
            </a:r>
          </a:p>
          <a:p>
            <a:pPr algn="r" rtl="1" marL="228600" indent="-228600">
              <a:spcAft>
                <a:spcPts val="200"/>
              </a:spcAft>
              <a:buFont typeface="Arial"/>
              <a:buChar char="•"/>
            </a:pPr>
            <a:r>
              <a:rPr lang="he-IL" sz="1400" b="0">
                <a:solidFill>
                  <a:srgbClr val="333F4A"/>
                </a:solidFill>
                <a:latin typeface="Arial Unicode MS"/>
                <a:ea typeface="Arial Unicode MS"/>
                <a:cs typeface="Arial Unicode MS"/>
              </a:rPr>
              <a:t>ריטוט יתר או גרירת בטון בוויברטור</a:t>
            </a:r>
          </a:p>
          <a:p>
            <a:pPr algn="r" rtl="1" marL="228600" indent="-228600">
              <a:spcAft>
                <a:spcPts val="200"/>
              </a:spcAft>
              <a:buFont typeface="Arial"/>
              <a:buChar char="•"/>
            </a:pPr>
            <a:r>
              <a:rPr lang="he-IL" sz="1400" b="0">
                <a:solidFill>
                  <a:srgbClr val="333F4A"/>
                </a:solidFill>
                <a:latin typeface="Arial Unicode MS"/>
                <a:ea typeface="Arial Unicode MS"/>
                <a:cs typeface="Arial Unicode MS"/>
              </a:rPr>
              <a:t>גרדציה לקויה, מחסור בחומר דק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92240" y="3429000"/>
            <a:ext cx="4983480" cy="2194560"/>
          </a:xfrm>
          <a:prstGeom prst="roundRect">
            <a:avLst>
              <a:gd name="adj" fmla="val 8000"/>
            </a:avLst>
          </a:prstGeom>
          <a:solidFill>
            <a:srgbClr val="E8F3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767060" y="3589020"/>
            <a:ext cx="502920" cy="50292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2" name="Picture 11" descr="FaShieldAlt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87760" y="3709720"/>
            <a:ext cx="261518" cy="26151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675120" y="3611880"/>
            <a:ext cx="3840480" cy="411480"/>
          </a:xfrm>
          <a:prstGeom prst="rect">
            <a:avLst/>
          </a:prstGeom>
          <a:noFill/>
        </p:spPr>
        <p:txBody>
          <a:bodyPr wrap="square" lIns="0" rIns="0" tIns="0" bIns="0" anchor="t" rtlCol="1">
            <a:spAutoFit/>
          </a:bodyPr>
          <a:lstStyle/>
          <a:p>
            <a:pPr algn="r" rtl="1" marL="0" indent="0">
              <a:spcAft>
                <a:spcPts val="400"/>
              </a:spcAft>
              <a:buNone/>
            </a:pPr>
            <a:r>
              <a:rPr lang="he-IL" sz="1900" b="1">
                <a:solidFill>
                  <a:srgbClr val="2E7D32"/>
                </a:solidFill>
                <a:latin typeface="Arial Unicode MS"/>
                <a:ea typeface="Arial Unicode MS"/>
                <a:cs typeface="Arial Unicode MS"/>
              </a:rPr>
              <a:t>מניעה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4160520"/>
            <a:ext cx="4617720" cy="1371600"/>
          </a:xfrm>
          <a:prstGeom prst="rect">
            <a:avLst/>
          </a:prstGeom>
          <a:noFill/>
        </p:spPr>
        <p:txBody>
          <a:bodyPr wrap="square" lIns="0" rIns="0" tIns="0" bIns="0" anchor="t" rtlCol="1">
            <a:spAutoFit/>
          </a:bodyPr>
          <a:lstStyle/>
          <a:p>
            <a:pPr algn="r" rtl="1" marL="228600" indent="-228600">
              <a:spcAft>
                <a:spcPts val="200"/>
              </a:spcAft>
              <a:buFont typeface="Arial"/>
              <a:buChar char="•"/>
            </a:pPr>
            <a:r>
              <a:rPr lang="he-IL" sz="1400" b="0">
                <a:solidFill>
                  <a:srgbClr val="333F4A"/>
                </a:solidFill>
                <a:latin typeface="Arial Unicode MS"/>
                <a:ea typeface="Arial Unicode MS"/>
                <a:cs typeface="Arial Unicode MS"/>
              </a:rPr>
              <a:t>שרוול או משפך עד קרוב לנקודת היציקה</a:t>
            </a:r>
          </a:p>
          <a:p>
            <a:pPr algn="r" rtl="1" marL="228600" indent="-228600">
              <a:spcAft>
                <a:spcPts val="200"/>
              </a:spcAft>
              <a:buFont typeface="Arial"/>
              <a:buChar char="•"/>
            </a:pPr>
            <a:r>
              <a:rPr lang="he-IL" sz="1400" b="0">
                <a:solidFill>
                  <a:srgbClr val="333F4A"/>
                </a:solidFill>
                <a:latin typeface="Arial Unicode MS"/>
                <a:ea typeface="Arial Unicode MS"/>
                <a:cs typeface="Arial Unicode MS"/>
              </a:rPr>
              <a:t>שקיעה בטווח ההזמנה, ללא תוספת מים</a:t>
            </a:r>
          </a:p>
          <a:p>
            <a:pPr algn="r" rtl="1" marL="228600" indent="-228600">
              <a:spcAft>
                <a:spcPts val="200"/>
              </a:spcAft>
              <a:buFont typeface="Arial"/>
              <a:buChar char="•"/>
            </a:pPr>
            <a:r>
              <a:rPr lang="he-IL" sz="1400" b="0">
                <a:solidFill>
                  <a:srgbClr val="333F4A"/>
                </a:solidFill>
                <a:latin typeface="Arial Unicode MS"/>
                <a:ea typeface="Arial Unicode MS"/>
                <a:cs typeface="Arial Unicode MS"/>
              </a:rPr>
              <a:t>ריטוט נקודתי וקצר</a:t>
            </a:r>
          </a:p>
          <a:p>
            <a:pPr algn="r" rtl="1" marL="228600" indent="-228600">
              <a:spcAft>
                <a:spcPts val="200"/>
              </a:spcAft>
              <a:buFont typeface="Arial"/>
              <a:buChar char="•"/>
            </a:pPr>
            <a:r>
              <a:rPr lang="he-IL" sz="1400" b="0">
                <a:solidFill>
                  <a:srgbClr val="333F4A"/>
                </a:solidFill>
                <a:latin typeface="Arial Unicode MS"/>
                <a:ea typeface="Arial Unicode MS"/>
                <a:cs typeface="Arial Unicode MS"/>
              </a:rPr>
              <a:t>תכן תערובת קוהזיבי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>
                <a:latin typeface="Arial Unicode MS"/>
                <a:ea typeface="Arial Unicode MS"/>
                <a:cs typeface="Arial Unicode MS"/>
              </a:rPr>
              <a:t>דימום  |  Bleeding</a:t>
            </a:r>
          </a:p>
        </p:txBody>
      </p:sp>
      <p:pic>
        <p:nvPicPr>
          <p:cNvPr id="3" name="Picture 2" descr="bleed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359904"/>
            <a:ext cx="5394960" cy="340667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5074920"/>
            <a:ext cx="5394960" cy="274320"/>
          </a:xfrm>
          <a:prstGeom prst="rect">
            <a:avLst/>
          </a:prstGeom>
          <a:noFill/>
        </p:spPr>
        <p:txBody>
          <a:bodyPr wrap="square" lIns="0" rIns="0" tIns="0" bIns="0" anchor="t" rtlCol="1">
            <a:spAutoFit/>
          </a:bodyPr>
          <a:lstStyle/>
          <a:p>
            <a:pPr algn="ctr" rtl="1" marL="0" indent="0">
              <a:spcAft>
                <a:spcPts val="400"/>
              </a:spcAft>
              <a:buNone/>
            </a:pPr>
            <a:r>
              <a:rPr lang="he-IL" sz="1100" b="0">
                <a:solidFill>
                  <a:srgbClr val="5F6B76"/>
                </a:solidFill>
                <a:latin typeface="Arial Unicode MS"/>
                <a:ea typeface="Arial Unicode MS"/>
                <a:cs typeface="Arial Unicode MS"/>
              </a:rPr>
              <a:t>מים עולים לפני השטח ונלכדים מתחת לאגרגטים ולמוטות הזיון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92240" y="1097280"/>
            <a:ext cx="4983480" cy="2194560"/>
          </a:xfrm>
          <a:prstGeom prst="roundRect">
            <a:avLst>
              <a:gd name="adj" fmla="val 8000"/>
            </a:avLst>
          </a:prstGeom>
          <a:solidFill>
            <a:srgbClr val="FBE9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767060" y="1257300"/>
            <a:ext cx="502920" cy="502920"/>
          </a:xfrm>
          <a:prstGeom prst="ellipse">
            <a:avLst/>
          </a:prstGeom>
          <a:solidFill>
            <a:srgbClr val="C6282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7" name="Picture 6" descr="FaSearch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87760" y="1378000"/>
            <a:ext cx="261518" cy="26151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675120" y="1280160"/>
            <a:ext cx="3840480" cy="411480"/>
          </a:xfrm>
          <a:prstGeom prst="rect">
            <a:avLst/>
          </a:prstGeom>
          <a:noFill/>
        </p:spPr>
        <p:txBody>
          <a:bodyPr wrap="square" lIns="0" rIns="0" tIns="0" bIns="0" anchor="t" rtlCol="1">
            <a:spAutoFit/>
          </a:bodyPr>
          <a:lstStyle/>
          <a:p>
            <a:pPr algn="r" rtl="1" marL="0" indent="0">
              <a:spcAft>
                <a:spcPts val="400"/>
              </a:spcAft>
              <a:buNone/>
            </a:pPr>
            <a:r>
              <a:rPr lang="he-IL" sz="1900" b="1">
                <a:solidFill>
                  <a:srgbClr val="C62828"/>
                </a:solidFill>
                <a:latin typeface="Arial Unicode MS"/>
                <a:ea typeface="Arial Unicode MS"/>
                <a:cs typeface="Arial Unicode MS"/>
              </a:rPr>
              <a:t>גורמים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0" y="1828800"/>
            <a:ext cx="4617720" cy="1371600"/>
          </a:xfrm>
          <a:prstGeom prst="rect">
            <a:avLst/>
          </a:prstGeom>
          <a:noFill/>
        </p:spPr>
        <p:txBody>
          <a:bodyPr wrap="square" lIns="0" rIns="0" tIns="0" bIns="0" anchor="t" rtlCol="1">
            <a:spAutoFit/>
          </a:bodyPr>
          <a:lstStyle/>
          <a:p>
            <a:pPr algn="r" rtl="1" marL="228600" indent="-228600">
              <a:spcAft>
                <a:spcPts val="200"/>
              </a:spcAft>
              <a:buFont typeface="Arial"/>
              <a:buChar char="•"/>
            </a:pPr>
            <a:r>
              <a:rPr lang="he-IL" sz="1400" b="0">
                <a:solidFill>
                  <a:srgbClr val="333F4A"/>
                </a:solidFill>
                <a:latin typeface="Arial Unicode MS"/>
                <a:ea typeface="Arial Unicode MS"/>
                <a:cs typeface="Arial Unicode MS"/>
              </a:rPr>
              <a:t>W/C גבוה ומחסור בחומר דק</a:t>
            </a:r>
          </a:p>
          <a:p>
            <a:pPr algn="r" rtl="1" marL="228600" indent="-228600">
              <a:spcAft>
                <a:spcPts val="200"/>
              </a:spcAft>
              <a:buFont typeface="Arial"/>
              <a:buChar char="•"/>
            </a:pPr>
            <a:r>
              <a:rPr lang="he-IL" sz="1400" b="0">
                <a:solidFill>
                  <a:srgbClr val="333F4A"/>
                </a:solidFill>
                <a:latin typeface="Arial Unicode MS"/>
                <a:ea typeface="Arial Unicode MS"/>
                <a:cs typeface="Arial Unicode MS"/>
              </a:rPr>
              <a:t>התקשרות איטית (קור, מעכב במינון יתר)</a:t>
            </a:r>
          </a:p>
          <a:p>
            <a:pPr algn="r" rtl="1" marL="228600" indent="-228600">
              <a:spcAft>
                <a:spcPts val="200"/>
              </a:spcAft>
              <a:buFont typeface="Arial"/>
              <a:buChar char="•"/>
            </a:pPr>
            <a:r>
              <a:rPr lang="he-IL" sz="1400" b="0">
                <a:solidFill>
                  <a:srgbClr val="333F4A"/>
                </a:solidFill>
                <a:latin typeface="Arial Unicode MS"/>
                <a:ea typeface="Arial Unicode MS"/>
                <a:cs typeface="Arial Unicode MS"/>
              </a:rPr>
              <a:t>יציקות עמוקות</a:t>
            </a:r>
          </a:p>
          <a:p>
            <a:pPr algn="r" rtl="1" marL="228600" indent="-228600">
              <a:spcAft>
                <a:spcPts val="200"/>
              </a:spcAft>
              <a:buFont typeface="Arial"/>
              <a:buChar char="•"/>
            </a:pPr>
            <a:r>
              <a:rPr lang="he-IL" sz="1400" b="0">
                <a:solidFill>
                  <a:srgbClr val="333F4A"/>
                </a:solidFill>
                <a:latin typeface="Arial Unicode MS"/>
                <a:ea typeface="Arial Unicode MS"/>
                <a:cs typeface="Arial Unicode MS"/>
              </a:rPr>
              <a:t>אגרגט עם גרדציה פתוחה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92240" y="3429000"/>
            <a:ext cx="4983480" cy="2194560"/>
          </a:xfrm>
          <a:prstGeom prst="roundRect">
            <a:avLst>
              <a:gd name="adj" fmla="val 8000"/>
            </a:avLst>
          </a:prstGeom>
          <a:solidFill>
            <a:srgbClr val="E8F3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767060" y="3589020"/>
            <a:ext cx="502920" cy="50292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2" name="Picture 11" descr="FaShieldAlt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87760" y="3709720"/>
            <a:ext cx="261518" cy="26151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675120" y="3611880"/>
            <a:ext cx="3840480" cy="411480"/>
          </a:xfrm>
          <a:prstGeom prst="rect">
            <a:avLst/>
          </a:prstGeom>
          <a:noFill/>
        </p:spPr>
        <p:txBody>
          <a:bodyPr wrap="square" lIns="0" rIns="0" tIns="0" bIns="0" anchor="t" rtlCol="1">
            <a:spAutoFit/>
          </a:bodyPr>
          <a:lstStyle/>
          <a:p>
            <a:pPr algn="r" rtl="1" marL="0" indent="0">
              <a:spcAft>
                <a:spcPts val="400"/>
              </a:spcAft>
              <a:buNone/>
            </a:pPr>
            <a:r>
              <a:rPr lang="he-IL" sz="1900" b="1">
                <a:solidFill>
                  <a:srgbClr val="2E7D32"/>
                </a:solidFill>
                <a:latin typeface="Arial Unicode MS"/>
                <a:ea typeface="Arial Unicode MS"/>
                <a:cs typeface="Arial Unicode MS"/>
              </a:rPr>
              <a:t>מניעה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4160520"/>
            <a:ext cx="4617720" cy="1371600"/>
          </a:xfrm>
          <a:prstGeom prst="rect">
            <a:avLst/>
          </a:prstGeom>
          <a:noFill/>
        </p:spPr>
        <p:txBody>
          <a:bodyPr wrap="square" lIns="0" rIns="0" tIns="0" bIns="0" anchor="t" rtlCol="1">
            <a:spAutoFit/>
          </a:bodyPr>
          <a:lstStyle/>
          <a:p>
            <a:pPr algn="r" rtl="1" marL="228600" indent="-228600">
              <a:spcAft>
                <a:spcPts val="200"/>
              </a:spcAft>
              <a:buFont typeface="Arial"/>
              <a:buChar char="•"/>
            </a:pPr>
            <a:r>
              <a:rPr lang="he-IL" sz="1400" b="0">
                <a:solidFill>
                  <a:srgbClr val="333F4A"/>
                </a:solidFill>
                <a:latin typeface="Arial Unicode MS"/>
                <a:ea typeface="Arial Unicode MS"/>
                <a:cs typeface="Arial Unicode MS"/>
              </a:rPr>
              <a:t>תכן עם מספיק דקים או תוספים</a:t>
            </a:r>
          </a:p>
          <a:p>
            <a:pPr algn="r" rtl="1" marL="228600" indent="-228600">
              <a:spcAft>
                <a:spcPts val="200"/>
              </a:spcAft>
              <a:buFont typeface="Arial"/>
              <a:buChar char="•"/>
            </a:pPr>
            <a:r>
              <a:rPr lang="he-IL" sz="1400" b="0">
                <a:solidFill>
                  <a:srgbClr val="333F4A"/>
                </a:solidFill>
                <a:latin typeface="Arial Unicode MS"/>
                <a:ea typeface="Arial Unicode MS"/>
                <a:cs typeface="Arial Unicode MS"/>
              </a:rPr>
              <a:t>מינון מוספים לפי הנחיה</a:t>
            </a:r>
          </a:p>
          <a:p>
            <a:pPr algn="r" rtl="1" marL="228600" indent="-228600">
              <a:spcAft>
                <a:spcPts val="200"/>
              </a:spcAft>
              <a:buFont typeface="Arial"/>
              <a:buChar char="•"/>
            </a:pPr>
            <a:r>
              <a:rPr lang="he-IL" sz="1400" b="0">
                <a:solidFill>
                  <a:srgbClr val="333F4A"/>
                </a:solidFill>
                <a:latin typeface="Arial Unicode MS"/>
                <a:ea typeface="Arial Unicode MS"/>
                <a:cs typeface="Arial Unicode MS"/>
              </a:rPr>
              <a:t>לא להחליק כשיש מים על הפנים</a:t>
            </a:r>
          </a:p>
          <a:p>
            <a:pPr algn="r" rtl="1" marL="228600" indent="-228600">
              <a:spcAft>
                <a:spcPts val="200"/>
              </a:spcAft>
              <a:buFont typeface="Arial"/>
              <a:buChar char="•"/>
            </a:pPr>
            <a:r>
              <a:rPr lang="he-IL" sz="1400" b="0">
                <a:solidFill>
                  <a:srgbClr val="333F4A"/>
                </a:solidFill>
                <a:latin typeface="Arial Unicode MS"/>
                <a:ea typeface="Arial Unicode MS"/>
                <a:cs typeface="Arial Unicode MS"/>
              </a:rPr>
              <a:t>יציקה בשכבות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>
                <a:latin typeface="Arial Unicode MS"/>
                <a:ea typeface="Arial Unicode MS"/>
                <a:cs typeface="Arial Unicode MS"/>
              </a:rPr>
              <a:t>קיני חצץ  |  Honeycombs</a:t>
            </a:r>
          </a:p>
        </p:txBody>
      </p:sp>
      <p:pic>
        <p:nvPicPr>
          <p:cNvPr id="3" name="Picture 2" descr="honeycom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218066"/>
            <a:ext cx="5394960" cy="369034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5074920"/>
            <a:ext cx="5394960" cy="274320"/>
          </a:xfrm>
          <a:prstGeom prst="rect">
            <a:avLst/>
          </a:prstGeom>
          <a:noFill/>
        </p:spPr>
        <p:txBody>
          <a:bodyPr wrap="square" lIns="0" rIns="0" tIns="0" bIns="0" anchor="t" rtlCol="1">
            <a:spAutoFit/>
          </a:bodyPr>
          <a:lstStyle/>
          <a:p>
            <a:pPr algn="ctr" rtl="1" marL="0" indent="0">
              <a:spcAft>
                <a:spcPts val="400"/>
              </a:spcAft>
              <a:buNone/>
            </a:pPr>
            <a:r>
              <a:rPr lang="he-IL" sz="1100" b="0">
                <a:solidFill>
                  <a:srgbClr val="5F6B76"/>
                </a:solidFill>
                <a:latin typeface="Arial Unicode MS"/>
                <a:ea typeface="Arial Unicode MS"/>
                <a:cs typeface="Arial Unicode MS"/>
              </a:rPr>
              <a:t>אזור עם אגרגט חשוף וחללים, בדרך כלל בתחתית קירות ועמודים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92240" y="1097280"/>
            <a:ext cx="4983480" cy="2194560"/>
          </a:xfrm>
          <a:prstGeom prst="roundRect">
            <a:avLst>
              <a:gd name="adj" fmla="val 8000"/>
            </a:avLst>
          </a:prstGeom>
          <a:solidFill>
            <a:srgbClr val="FBE9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767060" y="1257300"/>
            <a:ext cx="502920" cy="502920"/>
          </a:xfrm>
          <a:prstGeom prst="ellipse">
            <a:avLst/>
          </a:prstGeom>
          <a:solidFill>
            <a:srgbClr val="C6282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7" name="Picture 6" descr="FaSearch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87760" y="1378000"/>
            <a:ext cx="261518" cy="26151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675120" y="1280160"/>
            <a:ext cx="3840480" cy="411480"/>
          </a:xfrm>
          <a:prstGeom prst="rect">
            <a:avLst/>
          </a:prstGeom>
          <a:noFill/>
        </p:spPr>
        <p:txBody>
          <a:bodyPr wrap="square" lIns="0" rIns="0" tIns="0" bIns="0" anchor="t" rtlCol="1">
            <a:spAutoFit/>
          </a:bodyPr>
          <a:lstStyle/>
          <a:p>
            <a:pPr algn="r" rtl="1" marL="0" indent="0">
              <a:spcAft>
                <a:spcPts val="400"/>
              </a:spcAft>
              <a:buNone/>
            </a:pPr>
            <a:r>
              <a:rPr lang="he-IL" sz="1900" b="1">
                <a:solidFill>
                  <a:srgbClr val="C62828"/>
                </a:solidFill>
                <a:latin typeface="Arial Unicode MS"/>
                <a:ea typeface="Arial Unicode MS"/>
                <a:cs typeface="Arial Unicode MS"/>
              </a:rPr>
              <a:t>גורמים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0" y="1828800"/>
            <a:ext cx="4617720" cy="1371600"/>
          </a:xfrm>
          <a:prstGeom prst="rect">
            <a:avLst/>
          </a:prstGeom>
          <a:noFill/>
        </p:spPr>
        <p:txBody>
          <a:bodyPr wrap="square" lIns="0" rIns="0" tIns="0" bIns="0" anchor="t" rtlCol="1">
            <a:spAutoFit/>
          </a:bodyPr>
          <a:lstStyle/>
          <a:p>
            <a:pPr algn="r" rtl="1" marL="228600" indent="-228600">
              <a:spcAft>
                <a:spcPts val="200"/>
              </a:spcAft>
              <a:buFont typeface="Arial"/>
              <a:buChar char="•"/>
            </a:pPr>
            <a:r>
              <a:rPr lang="he-IL" sz="1400" b="0">
                <a:solidFill>
                  <a:srgbClr val="333F4A"/>
                </a:solidFill>
                <a:latin typeface="Arial Unicode MS"/>
                <a:ea typeface="Arial Unicode MS"/>
                <a:cs typeface="Arial Unicode MS"/>
              </a:rPr>
              <a:t>ריטוט חסר או לא אחיד</a:t>
            </a:r>
          </a:p>
          <a:p>
            <a:pPr algn="r" rtl="1" marL="228600" indent="-228600">
              <a:spcAft>
                <a:spcPts val="200"/>
              </a:spcAft>
              <a:buFont typeface="Arial"/>
              <a:buChar char="•"/>
            </a:pPr>
            <a:r>
              <a:rPr lang="he-IL" sz="1400" b="0">
                <a:solidFill>
                  <a:srgbClr val="333F4A"/>
                </a:solidFill>
                <a:latin typeface="Arial Unicode MS"/>
                <a:ea typeface="Arial Unicode MS"/>
                <a:cs typeface="Arial Unicode MS"/>
              </a:rPr>
              <a:t>צפיפות זיון מול גודל אגרגט מרבי</a:t>
            </a:r>
          </a:p>
          <a:p>
            <a:pPr algn="r" rtl="1" marL="228600" indent="-228600">
              <a:spcAft>
                <a:spcPts val="200"/>
              </a:spcAft>
              <a:buFont typeface="Arial"/>
              <a:buChar char="•"/>
            </a:pPr>
            <a:r>
              <a:rPr lang="he-IL" sz="1400" b="0">
                <a:solidFill>
                  <a:srgbClr val="333F4A"/>
                </a:solidFill>
                <a:latin typeface="Arial Unicode MS"/>
                <a:ea typeface="Arial Unicode MS"/>
                <a:cs typeface="Arial Unicode MS"/>
              </a:rPr>
              <a:t>דליפת משחה מתבניות לא אטומות</a:t>
            </a:r>
          </a:p>
          <a:p>
            <a:pPr algn="r" rtl="1" marL="228600" indent="-228600">
              <a:spcAft>
                <a:spcPts val="200"/>
              </a:spcAft>
              <a:buFont typeface="Arial"/>
              <a:buChar char="•"/>
            </a:pPr>
            <a:r>
              <a:rPr lang="he-IL" sz="1400" b="0">
                <a:solidFill>
                  <a:srgbClr val="333F4A"/>
                </a:solidFill>
                <a:latin typeface="Arial Unicode MS"/>
                <a:ea typeface="Arial Unicode MS"/>
                <a:cs typeface="Arial Unicode MS"/>
              </a:rPr>
              <a:t>עבידות נמוכה וסגרגציה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92240" y="3429000"/>
            <a:ext cx="4983480" cy="2194560"/>
          </a:xfrm>
          <a:prstGeom prst="roundRect">
            <a:avLst>
              <a:gd name="adj" fmla="val 8000"/>
            </a:avLst>
          </a:prstGeom>
          <a:solidFill>
            <a:srgbClr val="E8F3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767060" y="3589020"/>
            <a:ext cx="502920" cy="50292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2" name="Picture 11" descr="FaShieldAlt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87760" y="3709720"/>
            <a:ext cx="261518" cy="26151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675120" y="3611880"/>
            <a:ext cx="3840480" cy="411480"/>
          </a:xfrm>
          <a:prstGeom prst="rect">
            <a:avLst/>
          </a:prstGeom>
          <a:noFill/>
        </p:spPr>
        <p:txBody>
          <a:bodyPr wrap="square" lIns="0" rIns="0" tIns="0" bIns="0" anchor="t" rtlCol="1">
            <a:spAutoFit/>
          </a:bodyPr>
          <a:lstStyle/>
          <a:p>
            <a:pPr algn="r" rtl="1" marL="0" indent="0">
              <a:spcAft>
                <a:spcPts val="400"/>
              </a:spcAft>
              <a:buNone/>
            </a:pPr>
            <a:r>
              <a:rPr lang="he-IL" sz="1900" b="1">
                <a:solidFill>
                  <a:srgbClr val="2E7D32"/>
                </a:solidFill>
                <a:latin typeface="Arial Unicode MS"/>
                <a:ea typeface="Arial Unicode MS"/>
                <a:cs typeface="Arial Unicode MS"/>
              </a:rPr>
              <a:t>מניעה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4160520"/>
            <a:ext cx="4617720" cy="1371600"/>
          </a:xfrm>
          <a:prstGeom prst="rect">
            <a:avLst/>
          </a:prstGeom>
          <a:noFill/>
        </p:spPr>
        <p:txBody>
          <a:bodyPr wrap="square" lIns="0" rIns="0" tIns="0" bIns="0" anchor="t" rtlCol="1">
            <a:spAutoFit/>
          </a:bodyPr>
          <a:lstStyle/>
          <a:p>
            <a:pPr algn="r" rtl="1" marL="228600" indent="-228600">
              <a:spcAft>
                <a:spcPts val="200"/>
              </a:spcAft>
              <a:buFont typeface="Arial"/>
              <a:buChar char="•"/>
            </a:pPr>
            <a:r>
              <a:rPr lang="he-IL" sz="1400" b="0">
                <a:solidFill>
                  <a:srgbClr val="333F4A"/>
                </a:solidFill>
                <a:latin typeface="Arial Unicode MS"/>
                <a:ea typeface="Arial Unicode MS"/>
                <a:cs typeface="Arial Unicode MS"/>
              </a:rPr>
              <a:t>תכנית ריטוט: מרחקים ועומקים</a:t>
            </a:r>
          </a:p>
          <a:p>
            <a:pPr algn="r" rtl="1" marL="228600" indent="-228600">
              <a:spcAft>
                <a:spcPts val="200"/>
              </a:spcAft>
              <a:buFont typeface="Arial"/>
              <a:buChar char="•"/>
            </a:pPr>
            <a:r>
              <a:rPr lang="he-IL" sz="1400" b="0">
                <a:solidFill>
                  <a:srgbClr val="333F4A"/>
                </a:solidFill>
                <a:latin typeface="Arial Unicode MS"/>
                <a:ea typeface="Arial Unicode MS"/>
                <a:cs typeface="Arial Unicode MS"/>
              </a:rPr>
              <a:t>התאמת גודל האגרגט לצפיפות הזיון</a:t>
            </a:r>
          </a:p>
          <a:p>
            <a:pPr algn="r" rtl="1" marL="228600" indent="-228600">
              <a:spcAft>
                <a:spcPts val="200"/>
              </a:spcAft>
              <a:buFont typeface="Arial"/>
              <a:buChar char="•"/>
            </a:pPr>
            <a:r>
              <a:rPr lang="he-IL" sz="1400" b="0">
                <a:solidFill>
                  <a:srgbClr val="333F4A"/>
                </a:solidFill>
                <a:latin typeface="Arial Unicode MS"/>
                <a:ea typeface="Arial Unicode MS"/>
                <a:cs typeface="Arial Unicode MS"/>
              </a:rPr>
              <a:t>אטימת מישקי תבניות</a:t>
            </a:r>
          </a:p>
          <a:p>
            <a:pPr algn="r" rtl="1" marL="228600" indent="-228600">
              <a:spcAft>
                <a:spcPts val="200"/>
              </a:spcAft>
              <a:buFont typeface="Arial"/>
              <a:buChar char="•"/>
            </a:pPr>
            <a:r>
              <a:rPr lang="he-IL" sz="1400" b="0">
                <a:solidFill>
                  <a:srgbClr val="333F4A"/>
                </a:solidFill>
                <a:latin typeface="Arial Unicode MS"/>
                <a:ea typeface="Arial Unicode MS"/>
                <a:cs typeface="Arial Unicode MS"/>
              </a:rPr>
              <a:t>שקיעה מתאימה לאלמנט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>
                <a:latin typeface="Arial Unicode MS"/>
                <a:ea typeface="Arial Unicode MS"/>
                <a:cs typeface="Arial Unicode MS"/>
              </a:rPr>
              <a:t>סדיקה פלסטית  |  Plastic Shrinkage</a:t>
            </a:r>
          </a:p>
        </p:txBody>
      </p:sp>
      <p:pic>
        <p:nvPicPr>
          <p:cNvPr id="3" name="Picture 2" descr="plast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288346"/>
            <a:ext cx="5394960" cy="354978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5074920"/>
            <a:ext cx="5394960" cy="274320"/>
          </a:xfrm>
          <a:prstGeom prst="rect">
            <a:avLst/>
          </a:prstGeom>
          <a:noFill/>
        </p:spPr>
        <p:txBody>
          <a:bodyPr wrap="square" lIns="0" rIns="0" tIns="0" bIns="0" anchor="t" rtlCol="1">
            <a:spAutoFit/>
          </a:bodyPr>
          <a:lstStyle/>
          <a:p>
            <a:pPr algn="ctr" rtl="1" marL="0" indent="0">
              <a:spcAft>
                <a:spcPts val="400"/>
              </a:spcAft>
              <a:buNone/>
            </a:pPr>
            <a:r>
              <a:rPr lang="he-IL" sz="1100" b="0">
                <a:solidFill>
                  <a:srgbClr val="5F6B76"/>
                </a:solidFill>
                <a:latin typeface="Arial Unicode MS"/>
                <a:ea typeface="Arial Unicode MS"/>
                <a:cs typeface="Arial Unicode MS"/>
              </a:rPr>
              <a:t>סדקים קצרים ומקבילים בשעות הראשונות, לפני ההתקשות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92240" y="1097280"/>
            <a:ext cx="4983480" cy="2194560"/>
          </a:xfrm>
          <a:prstGeom prst="roundRect">
            <a:avLst>
              <a:gd name="adj" fmla="val 8000"/>
            </a:avLst>
          </a:prstGeom>
          <a:solidFill>
            <a:srgbClr val="FBE9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767060" y="1257300"/>
            <a:ext cx="502920" cy="502920"/>
          </a:xfrm>
          <a:prstGeom prst="ellipse">
            <a:avLst/>
          </a:prstGeom>
          <a:solidFill>
            <a:srgbClr val="C6282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7" name="Picture 6" descr="FaSearch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87760" y="1378000"/>
            <a:ext cx="261518" cy="26151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675120" y="1280160"/>
            <a:ext cx="3840480" cy="411480"/>
          </a:xfrm>
          <a:prstGeom prst="rect">
            <a:avLst/>
          </a:prstGeom>
          <a:noFill/>
        </p:spPr>
        <p:txBody>
          <a:bodyPr wrap="square" lIns="0" rIns="0" tIns="0" bIns="0" anchor="t" rtlCol="1">
            <a:spAutoFit/>
          </a:bodyPr>
          <a:lstStyle/>
          <a:p>
            <a:pPr algn="r" rtl="1" marL="0" indent="0">
              <a:spcAft>
                <a:spcPts val="400"/>
              </a:spcAft>
              <a:buNone/>
            </a:pPr>
            <a:r>
              <a:rPr lang="he-IL" sz="1900" b="1">
                <a:solidFill>
                  <a:srgbClr val="C62828"/>
                </a:solidFill>
                <a:latin typeface="Arial Unicode MS"/>
                <a:ea typeface="Arial Unicode MS"/>
                <a:cs typeface="Arial Unicode MS"/>
              </a:rPr>
              <a:t>גורמים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0" y="1828800"/>
            <a:ext cx="4617720" cy="1371600"/>
          </a:xfrm>
          <a:prstGeom prst="rect">
            <a:avLst/>
          </a:prstGeom>
          <a:noFill/>
        </p:spPr>
        <p:txBody>
          <a:bodyPr wrap="square" lIns="0" rIns="0" tIns="0" bIns="0" anchor="t" rtlCol="1">
            <a:spAutoFit/>
          </a:bodyPr>
          <a:lstStyle/>
          <a:p>
            <a:pPr algn="r" rtl="1" marL="228600" indent="-228600">
              <a:spcAft>
                <a:spcPts val="200"/>
              </a:spcAft>
              <a:buFont typeface="Arial"/>
              <a:buChar char="•"/>
            </a:pPr>
            <a:r>
              <a:rPr lang="he-IL" sz="1400" b="0">
                <a:solidFill>
                  <a:srgbClr val="333F4A"/>
                </a:solidFill>
                <a:latin typeface="Arial Unicode MS"/>
                <a:ea typeface="Arial Unicode MS"/>
                <a:cs typeface="Arial Unicode MS"/>
              </a:rPr>
              <a:t>רוח — מגבירה התאדות</a:t>
            </a:r>
          </a:p>
          <a:p>
            <a:pPr algn="r" rtl="1" marL="228600" indent="-228600">
              <a:spcAft>
                <a:spcPts val="200"/>
              </a:spcAft>
              <a:buFont typeface="Arial"/>
              <a:buChar char="•"/>
            </a:pPr>
            <a:r>
              <a:rPr lang="he-IL" sz="1400" b="0">
                <a:solidFill>
                  <a:srgbClr val="333F4A"/>
                </a:solidFill>
                <a:latin typeface="Arial Unicode MS"/>
                <a:ea typeface="Arial Unicode MS"/>
                <a:cs typeface="Arial Unicode MS"/>
              </a:rPr>
              <a:t>חום וקרינת שמש</a:t>
            </a:r>
          </a:p>
          <a:p>
            <a:pPr algn="r" rtl="1" marL="228600" indent="-228600">
              <a:spcAft>
                <a:spcPts val="200"/>
              </a:spcAft>
              <a:buFont typeface="Arial"/>
              <a:buChar char="•"/>
            </a:pPr>
            <a:r>
              <a:rPr lang="he-IL" sz="1400" b="0">
                <a:solidFill>
                  <a:srgbClr val="333F4A"/>
                </a:solidFill>
                <a:latin typeface="Arial Unicode MS"/>
                <a:ea typeface="Arial Unicode MS"/>
                <a:cs typeface="Arial Unicode MS"/>
              </a:rPr>
              <a:t>אידוי מהיר מקצב הדימום (מעל ~1 ק"ג/מ"ר/שעה)</a:t>
            </a:r>
          </a:p>
          <a:p>
            <a:pPr algn="r" rtl="1" marL="228600" indent="-228600">
              <a:spcAft>
                <a:spcPts val="200"/>
              </a:spcAft>
              <a:buFont typeface="Arial"/>
              <a:buChar char="•"/>
            </a:pPr>
            <a:r>
              <a:rPr lang="he-IL" sz="1400" b="0">
                <a:solidFill>
                  <a:srgbClr val="333F4A"/>
                </a:solidFill>
                <a:latin typeface="Arial Unicode MS"/>
                <a:ea typeface="Arial Unicode MS"/>
                <a:cs typeface="Arial Unicode MS"/>
              </a:rPr>
              <a:t>לחות יחסית נמוכה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92240" y="3429000"/>
            <a:ext cx="4983480" cy="2194560"/>
          </a:xfrm>
          <a:prstGeom prst="roundRect">
            <a:avLst>
              <a:gd name="adj" fmla="val 8000"/>
            </a:avLst>
          </a:prstGeom>
          <a:solidFill>
            <a:srgbClr val="E8F3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767060" y="3589020"/>
            <a:ext cx="502920" cy="50292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2" name="Picture 11" descr="FaShieldAlt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87760" y="3709720"/>
            <a:ext cx="261518" cy="26151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675120" y="3611880"/>
            <a:ext cx="3840480" cy="411480"/>
          </a:xfrm>
          <a:prstGeom prst="rect">
            <a:avLst/>
          </a:prstGeom>
          <a:noFill/>
        </p:spPr>
        <p:txBody>
          <a:bodyPr wrap="square" lIns="0" rIns="0" tIns="0" bIns="0" anchor="t" rtlCol="1">
            <a:spAutoFit/>
          </a:bodyPr>
          <a:lstStyle/>
          <a:p>
            <a:pPr algn="r" rtl="1" marL="0" indent="0">
              <a:spcAft>
                <a:spcPts val="400"/>
              </a:spcAft>
              <a:buNone/>
            </a:pPr>
            <a:r>
              <a:rPr lang="he-IL" sz="1900" b="1">
                <a:solidFill>
                  <a:srgbClr val="2E7D32"/>
                </a:solidFill>
                <a:latin typeface="Arial Unicode MS"/>
                <a:ea typeface="Arial Unicode MS"/>
                <a:cs typeface="Arial Unicode MS"/>
              </a:rPr>
              <a:t>מניעה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4160520"/>
            <a:ext cx="4617720" cy="1371600"/>
          </a:xfrm>
          <a:prstGeom prst="rect">
            <a:avLst/>
          </a:prstGeom>
          <a:noFill/>
        </p:spPr>
        <p:txBody>
          <a:bodyPr wrap="square" lIns="0" rIns="0" tIns="0" bIns="0" anchor="t" rtlCol="1">
            <a:spAutoFit/>
          </a:bodyPr>
          <a:lstStyle/>
          <a:p>
            <a:pPr algn="r" rtl="1" marL="228600" indent="-228600">
              <a:spcAft>
                <a:spcPts val="200"/>
              </a:spcAft>
              <a:buFont typeface="Arial"/>
              <a:buChar char="•"/>
            </a:pPr>
            <a:r>
              <a:rPr lang="he-IL" sz="1400" b="0">
                <a:solidFill>
                  <a:srgbClr val="333F4A"/>
                </a:solidFill>
                <a:latin typeface="Arial Unicode MS"/>
                <a:ea typeface="Arial Unicode MS"/>
                <a:cs typeface="Arial Unicode MS"/>
              </a:rPr>
              <a:t>שוברי רוח וצל</a:t>
            </a:r>
          </a:p>
          <a:p>
            <a:pPr algn="r" rtl="1" marL="228600" indent="-228600">
              <a:spcAft>
                <a:spcPts val="200"/>
              </a:spcAft>
              <a:buFont typeface="Arial"/>
              <a:buChar char="•"/>
            </a:pPr>
            <a:r>
              <a:rPr lang="he-IL" sz="1400" b="0">
                <a:solidFill>
                  <a:srgbClr val="333F4A"/>
                </a:solidFill>
                <a:latin typeface="Arial Unicode MS"/>
                <a:ea typeface="Arial Unicode MS"/>
                <a:cs typeface="Arial Unicode MS"/>
              </a:rPr>
              <a:t>ערפול מים או חומר מעכב התאדות</a:t>
            </a:r>
          </a:p>
          <a:p>
            <a:pPr algn="r" rtl="1" marL="228600" indent="-228600">
              <a:spcAft>
                <a:spcPts val="200"/>
              </a:spcAft>
              <a:buFont typeface="Arial"/>
              <a:buChar char="•"/>
            </a:pPr>
            <a:r>
              <a:rPr lang="he-IL" sz="1400" b="0">
                <a:solidFill>
                  <a:srgbClr val="333F4A"/>
                </a:solidFill>
                <a:latin typeface="Arial Unicode MS"/>
                <a:ea typeface="Arial Unicode MS"/>
                <a:cs typeface="Arial Unicode MS"/>
              </a:rPr>
              <a:t>יציקה בשעות קרירות</a:t>
            </a:r>
          </a:p>
          <a:p>
            <a:pPr algn="r" rtl="1" marL="228600" indent="-228600">
              <a:spcAft>
                <a:spcPts val="200"/>
              </a:spcAft>
              <a:buFont typeface="Arial"/>
              <a:buChar char="•"/>
            </a:pPr>
            <a:r>
              <a:rPr lang="he-IL" sz="1400" b="0">
                <a:solidFill>
                  <a:srgbClr val="333F4A"/>
                </a:solidFill>
                <a:latin typeface="Arial Unicode MS"/>
                <a:ea typeface="Arial Unicode MS"/>
                <a:cs typeface="Arial Unicode MS"/>
              </a:rPr>
              <a:t>אשפרה מיד אחרי ההחלקה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>
                <a:latin typeface="Arial Unicode MS"/>
                <a:ea typeface="Arial Unicode MS"/>
                <a:cs typeface="Arial Unicode MS"/>
              </a:rPr>
              <a:t>התקלפות  |  Scaling</a:t>
            </a:r>
          </a:p>
        </p:txBody>
      </p:sp>
      <p:pic>
        <p:nvPicPr>
          <p:cNvPr id="3" name="Picture 2" descr="scal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359904"/>
            <a:ext cx="5394960" cy="340667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5074920"/>
            <a:ext cx="5394960" cy="274320"/>
          </a:xfrm>
          <a:prstGeom prst="rect">
            <a:avLst/>
          </a:prstGeom>
          <a:noFill/>
        </p:spPr>
        <p:txBody>
          <a:bodyPr wrap="square" lIns="0" rIns="0" tIns="0" bIns="0" anchor="t" rtlCol="1">
            <a:spAutoFit/>
          </a:bodyPr>
          <a:lstStyle/>
          <a:p>
            <a:pPr algn="ctr" rtl="1" marL="0" indent="0">
              <a:spcAft>
                <a:spcPts val="400"/>
              </a:spcAft>
              <a:buNone/>
            </a:pPr>
            <a:r>
              <a:rPr lang="he-IL" sz="1100" b="0">
                <a:solidFill>
                  <a:srgbClr val="5F6B76"/>
                </a:solidFill>
                <a:latin typeface="Arial Unicode MS"/>
                <a:ea typeface="Arial Unicode MS"/>
                <a:cs typeface="Arial Unicode MS"/>
              </a:rPr>
              <a:t>שכבה דקה עליונה מתקלפת וחושפת את האגרגט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92240" y="1097280"/>
            <a:ext cx="4983480" cy="2194560"/>
          </a:xfrm>
          <a:prstGeom prst="roundRect">
            <a:avLst>
              <a:gd name="adj" fmla="val 8000"/>
            </a:avLst>
          </a:prstGeom>
          <a:solidFill>
            <a:srgbClr val="FBE9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767060" y="1257300"/>
            <a:ext cx="502920" cy="502920"/>
          </a:xfrm>
          <a:prstGeom prst="ellipse">
            <a:avLst/>
          </a:prstGeom>
          <a:solidFill>
            <a:srgbClr val="C6282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7" name="Picture 6" descr="FaSearch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87760" y="1378000"/>
            <a:ext cx="261518" cy="26151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675120" y="1280160"/>
            <a:ext cx="3840480" cy="411480"/>
          </a:xfrm>
          <a:prstGeom prst="rect">
            <a:avLst/>
          </a:prstGeom>
          <a:noFill/>
        </p:spPr>
        <p:txBody>
          <a:bodyPr wrap="square" lIns="0" rIns="0" tIns="0" bIns="0" anchor="t" rtlCol="1">
            <a:spAutoFit/>
          </a:bodyPr>
          <a:lstStyle/>
          <a:p>
            <a:pPr algn="r" rtl="1" marL="0" indent="0">
              <a:spcAft>
                <a:spcPts val="400"/>
              </a:spcAft>
              <a:buNone/>
            </a:pPr>
            <a:r>
              <a:rPr lang="he-IL" sz="1900" b="1">
                <a:solidFill>
                  <a:srgbClr val="C62828"/>
                </a:solidFill>
                <a:latin typeface="Arial Unicode MS"/>
                <a:ea typeface="Arial Unicode MS"/>
                <a:cs typeface="Arial Unicode MS"/>
              </a:rPr>
              <a:t>גורמים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0" y="1828800"/>
            <a:ext cx="4617720" cy="1371600"/>
          </a:xfrm>
          <a:prstGeom prst="rect">
            <a:avLst/>
          </a:prstGeom>
          <a:noFill/>
        </p:spPr>
        <p:txBody>
          <a:bodyPr wrap="square" lIns="0" rIns="0" tIns="0" bIns="0" anchor="t" rtlCol="1">
            <a:spAutoFit/>
          </a:bodyPr>
          <a:lstStyle/>
          <a:p>
            <a:pPr algn="r" rtl="1" marL="228600" indent="-228600">
              <a:spcAft>
                <a:spcPts val="200"/>
              </a:spcAft>
              <a:buFont typeface="Arial"/>
              <a:buChar char="•"/>
            </a:pPr>
            <a:r>
              <a:rPr lang="he-IL" sz="1400" b="0">
                <a:solidFill>
                  <a:srgbClr val="333F4A"/>
                </a:solidFill>
                <a:latin typeface="Arial Unicode MS"/>
                <a:ea typeface="Arial Unicode MS"/>
                <a:cs typeface="Arial Unicode MS"/>
              </a:rPr>
              <a:t>החלקה בזמן שיש מי דימום על הפנים</a:t>
            </a:r>
          </a:p>
          <a:p>
            <a:pPr algn="r" rtl="1" marL="228600" indent="-228600">
              <a:spcAft>
                <a:spcPts val="200"/>
              </a:spcAft>
              <a:buFont typeface="Arial"/>
              <a:buChar char="•"/>
            </a:pPr>
            <a:r>
              <a:rPr lang="he-IL" sz="1400" b="0">
                <a:solidFill>
                  <a:srgbClr val="333F4A"/>
                </a:solidFill>
                <a:latin typeface="Arial Unicode MS"/>
                <a:ea typeface="Arial Unicode MS"/>
                <a:cs typeface="Arial Unicode MS"/>
              </a:rPr>
              <a:t>החלקת יתר או פיזור צמנט יבש על הפנים</a:t>
            </a:r>
          </a:p>
          <a:p>
            <a:pPr algn="r" rtl="1" marL="228600" indent="-228600">
              <a:spcAft>
                <a:spcPts val="200"/>
              </a:spcAft>
              <a:buFont typeface="Arial"/>
              <a:buChar char="•"/>
            </a:pPr>
            <a:r>
              <a:rPr lang="he-IL" sz="1400" b="0">
                <a:solidFill>
                  <a:srgbClr val="333F4A"/>
                </a:solidFill>
                <a:latin typeface="Arial Unicode MS"/>
                <a:ea typeface="Arial Unicode MS"/>
                <a:cs typeface="Arial Unicode MS"/>
              </a:rPr>
              <a:t>אשפרה חסרה בשכבה העליונה</a:t>
            </a:r>
          </a:p>
          <a:p>
            <a:pPr algn="r" rtl="1" marL="228600" indent="-228600">
              <a:spcAft>
                <a:spcPts val="200"/>
              </a:spcAft>
              <a:buFont typeface="Arial"/>
              <a:buChar char="•"/>
            </a:pPr>
            <a:r>
              <a:rPr lang="he-IL" sz="1400" b="0">
                <a:solidFill>
                  <a:srgbClr val="333F4A"/>
                </a:solidFill>
                <a:latin typeface="Arial Unicode MS"/>
                <a:ea typeface="Arial Unicode MS"/>
                <a:cs typeface="Arial Unicode MS"/>
              </a:rPr>
              <a:t>W/C גבוה בפני השטח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92240" y="3429000"/>
            <a:ext cx="4983480" cy="2194560"/>
          </a:xfrm>
          <a:prstGeom prst="roundRect">
            <a:avLst>
              <a:gd name="adj" fmla="val 8000"/>
            </a:avLst>
          </a:prstGeom>
          <a:solidFill>
            <a:srgbClr val="E8F3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767060" y="3589020"/>
            <a:ext cx="502920" cy="50292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2" name="Picture 11" descr="FaShieldAlt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87760" y="3709720"/>
            <a:ext cx="261518" cy="26151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675120" y="3611880"/>
            <a:ext cx="3840480" cy="411480"/>
          </a:xfrm>
          <a:prstGeom prst="rect">
            <a:avLst/>
          </a:prstGeom>
          <a:noFill/>
        </p:spPr>
        <p:txBody>
          <a:bodyPr wrap="square" lIns="0" rIns="0" tIns="0" bIns="0" anchor="t" rtlCol="1">
            <a:spAutoFit/>
          </a:bodyPr>
          <a:lstStyle/>
          <a:p>
            <a:pPr algn="r" rtl="1" marL="0" indent="0">
              <a:spcAft>
                <a:spcPts val="400"/>
              </a:spcAft>
              <a:buNone/>
            </a:pPr>
            <a:r>
              <a:rPr lang="he-IL" sz="1900" b="1">
                <a:solidFill>
                  <a:srgbClr val="2E7D32"/>
                </a:solidFill>
                <a:latin typeface="Arial Unicode MS"/>
                <a:ea typeface="Arial Unicode MS"/>
                <a:cs typeface="Arial Unicode MS"/>
              </a:rPr>
              <a:t>מניעה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4160520"/>
            <a:ext cx="4617720" cy="1371600"/>
          </a:xfrm>
          <a:prstGeom prst="rect">
            <a:avLst/>
          </a:prstGeom>
          <a:noFill/>
        </p:spPr>
        <p:txBody>
          <a:bodyPr wrap="square" lIns="0" rIns="0" tIns="0" bIns="0" anchor="t" rtlCol="1">
            <a:spAutoFit/>
          </a:bodyPr>
          <a:lstStyle/>
          <a:p>
            <a:pPr algn="r" rtl="1" marL="228600" indent="-228600">
              <a:spcAft>
                <a:spcPts val="200"/>
              </a:spcAft>
              <a:buFont typeface="Arial"/>
              <a:buChar char="•"/>
            </a:pPr>
            <a:r>
              <a:rPr lang="he-IL" sz="1400" b="0">
                <a:solidFill>
                  <a:srgbClr val="333F4A"/>
                </a:solidFill>
                <a:latin typeface="Arial Unicode MS"/>
                <a:ea typeface="Arial Unicode MS"/>
                <a:cs typeface="Arial Unicode MS"/>
              </a:rPr>
              <a:t>החלקה רק אחרי היעלמות מי הדימום</a:t>
            </a:r>
          </a:p>
          <a:p>
            <a:pPr algn="r" rtl="1" marL="228600" indent="-228600">
              <a:spcAft>
                <a:spcPts val="200"/>
              </a:spcAft>
              <a:buFont typeface="Arial"/>
              <a:buChar char="•"/>
            </a:pPr>
            <a:r>
              <a:rPr lang="he-IL" sz="1400" b="0">
                <a:solidFill>
                  <a:srgbClr val="333F4A"/>
                </a:solidFill>
                <a:latin typeface="Arial Unicode MS"/>
                <a:ea typeface="Arial Unicode MS"/>
                <a:cs typeface="Arial Unicode MS"/>
              </a:rPr>
              <a:t>אשפרה מיידית ומלאה</a:t>
            </a:r>
          </a:p>
          <a:p>
            <a:pPr algn="r" rtl="1" marL="228600" indent="-228600">
              <a:spcAft>
                <a:spcPts val="200"/>
              </a:spcAft>
              <a:buFont typeface="Arial"/>
              <a:buChar char="•"/>
            </a:pPr>
            <a:r>
              <a:rPr lang="he-IL" sz="1400" b="0">
                <a:solidFill>
                  <a:srgbClr val="333F4A"/>
                </a:solidFill>
                <a:latin typeface="Arial Unicode MS"/>
                <a:ea typeface="Arial Unicode MS"/>
                <a:cs typeface="Arial Unicode MS"/>
              </a:rPr>
              <a:t>W/C נמוך ובטון קוהזיבי</a:t>
            </a:r>
          </a:p>
          <a:p>
            <a:pPr algn="r" rtl="1" marL="228600" indent="-228600">
              <a:spcAft>
                <a:spcPts val="200"/>
              </a:spcAft>
              <a:buFont typeface="Arial"/>
              <a:buChar char="•"/>
            </a:pPr>
            <a:r>
              <a:rPr lang="he-IL" sz="1400" b="0">
                <a:solidFill>
                  <a:srgbClr val="333F4A"/>
                </a:solidFill>
                <a:latin typeface="Arial Unicode MS"/>
                <a:ea typeface="Arial Unicode MS"/>
                <a:cs typeface="Arial Unicode MS"/>
              </a:rPr>
              <a:t>תיקון: השחזה ושכבה מתקנת ייעודית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6" name="תמונה 5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1"/>
          <a:stretch/>
        </p:blipFill>
        <p:spPr>
          <a:xfrm flipH="1">
            <a:off x="0" y="0"/>
            <a:ext cx="10306050" cy="6858000"/>
          </a:xfrm>
          <a:prstGeom prst="rect">
            <a:avLst/>
          </a:prstGeom>
        </p:spPr>
      </p:pic>
      <p:sp>
        <p:nvSpPr>
          <p:cNvPr id="4" name="מלבן 3"/>
          <p:cNvSpPr/>
          <p:nvPr/>
        </p:nvSpPr>
        <p:spPr>
          <a:xfrm>
            <a:off x="6115050" y="0"/>
            <a:ext cx="6076950" cy="6858000"/>
          </a:xfrm>
          <a:prstGeom prst="rect">
            <a:avLst/>
          </a:prstGeom>
          <a:solidFill>
            <a:srgbClr val="2C9EE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>
              <a:solidFill>
                <a:prstClr val="white"/>
              </a:solidFill>
            </a:endParaRPr>
          </a:p>
        </p:txBody>
      </p:sp>
      <p:sp>
        <p:nvSpPr>
          <p:cNvPr id="7" name="משולש שווה שוקיים 6"/>
          <p:cNvSpPr/>
          <p:nvPr/>
        </p:nvSpPr>
        <p:spPr>
          <a:xfrm rot="16200000" flipH="1">
            <a:off x="5324475" y="3143250"/>
            <a:ext cx="1123950" cy="609600"/>
          </a:xfrm>
          <a:prstGeom prst="triangle">
            <a:avLst/>
          </a:prstGeom>
          <a:solidFill>
            <a:srgbClr val="2C9EE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>
              <a:solidFill>
                <a:prstClr val="white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720840" y="2514600"/>
            <a:ext cx="4937760" cy="914400"/>
          </a:xfrm>
          <a:prstGeom prst="rect">
            <a:avLst/>
          </a:prstGeom>
          <a:noFill/>
        </p:spPr>
        <p:txBody>
          <a:bodyPr wrap="square" rtlCol="1" anchor="ctr"/>
          <a:lstStyle/>
          <a:p>
            <a:pPr algn="ctr" rtl="1"/>
            <a:r>
              <a:rPr lang="he-IL" sz="3600" dirty="0">
                <a:solidFill>
                  <a:prstClr val="white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בקרת חומרי גלם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20840" y="1874519"/>
            <a:ext cx="4937760" cy="457200"/>
          </a:xfrm>
          <a:prstGeom prst="rect">
            <a:avLst/>
          </a:prstGeom>
          <a:noFill/>
        </p:spPr>
        <p:txBody>
          <a:bodyPr wrap="square" lIns="0" rIns="0" tIns="0" bIns="0" anchor="t" rtlCol="1">
            <a:spAutoFit/>
          </a:bodyPr>
          <a:lstStyle/>
          <a:p>
            <a:pPr algn="ctr" rtl="1" marL="0" indent="0">
              <a:spcAft>
                <a:spcPts val="400"/>
              </a:spcAft>
              <a:buNone/>
            </a:pPr>
            <a:r>
              <a:rPr lang="he-IL" sz="2000" b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פרק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86600" y="3611880"/>
            <a:ext cx="4206240" cy="2011680"/>
          </a:xfrm>
          <a:prstGeom prst="rect">
            <a:avLst/>
          </a:prstGeom>
          <a:noFill/>
        </p:spPr>
        <p:txBody>
          <a:bodyPr wrap="square" lIns="0" rIns="0" tIns="0" bIns="0" anchor="t" rtlCol="1">
            <a:spAutoFit/>
          </a:bodyPr>
          <a:lstStyle/>
          <a:p>
            <a:pPr algn="ctr" rtl="1" marL="0" indent="0">
              <a:lnSpc>
                <a:spcPct val="115000"/>
              </a:lnSpc>
              <a:spcAft>
                <a:spcPts val="400"/>
              </a:spcAft>
              <a:buNone/>
            </a:pPr>
            <a:r>
              <a:rPr lang="he-IL" sz="1600" b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תהליך קבלה · בדיקות אגרגטים · צמנט · מוספים · זיהוי חומרים פסולים · מטריצת סיכונים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>
                <a:latin typeface="Arial Unicode MS"/>
                <a:ea typeface="Arial Unicode MS"/>
                <a:cs typeface="Arial Unicode MS"/>
              </a:rPr>
              <a:t>בקרת חומרי גלם: תהליך הקבלה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869680" y="1188720"/>
            <a:ext cx="2514600" cy="2103120"/>
          </a:xfrm>
          <a:prstGeom prst="roundRect">
            <a:avLst>
              <a:gd name="adj" fmla="val 8000"/>
            </a:avLst>
          </a:prstGeom>
          <a:solidFill>
            <a:srgbClr val="EAF3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761220" y="1371600"/>
            <a:ext cx="731520" cy="731520"/>
          </a:xfrm>
          <a:prstGeom prst="ellipse">
            <a:avLst/>
          </a:prstGeom>
          <a:solidFill>
            <a:srgbClr val="0081C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5" name="Picture 4" descr="FaTruck_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36784" y="1547164"/>
            <a:ext cx="380390" cy="38039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961120" y="2194560"/>
            <a:ext cx="2331720" cy="411480"/>
          </a:xfrm>
          <a:prstGeom prst="rect">
            <a:avLst/>
          </a:prstGeom>
          <a:noFill/>
        </p:spPr>
        <p:txBody>
          <a:bodyPr wrap="square" lIns="0" rIns="0" tIns="0" bIns="0" anchor="t" rtlCol="1">
            <a:spAutoFit/>
          </a:bodyPr>
          <a:lstStyle/>
          <a:p>
            <a:pPr algn="ctr" rtl="1" marL="0" indent="0">
              <a:spcAft>
                <a:spcPts val="400"/>
              </a:spcAft>
              <a:buNone/>
            </a:pPr>
            <a:r>
              <a:rPr lang="he-IL" sz="2000" b="1">
                <a:solidFill>
                  <a:srgbClr val="003973"/>
                </a:solidFill>
                <a:latin typeface="Arial Unicode MS"/>
                <a:ea typeface="Arial Unicode MS"/>
                <a:cs typeface="Arial Unicode MS"/>
              </a:rPr>
              <a:t>קבלה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06840" y="2606040"/>
            <a:ext cx="2240280" cy="640080"/>
          </a:xfrm>
          <a:prstGeom prst="rect">
            <a:avLst/>
          </a:prstGeom>
          <a:noFill/>
        </p:spPr>
        <p:txBody>
          <a:bodyPr wrap="square" lIns="0" rIns="0" tIns="0" bIns="0" anchor="t" rtlCol="1">
            <a:spAutoFit/>
          </a:bodyPr>
          <a:lstStyle/>
          <a:p>
            <a:pPr algn="ctr" rtl="1" marL="0" indent="0">
              <a:spcAft>
                <a:spcPts val="400"/>
              </a:spcAft>
              <a:buNone/>
            </a:pPr>
            <a:r>
              <a:rPr lang="he-IL" sz="1300" b="0">
                <a:solidFill>
                  <a:srgbClr val="333F4A"/>
                </a:solidFill>
                <a:latin typeface="Arial Unicode MS"/>
                <a:ea typeface="Arial Unicode MS"/>
                <a:cs typeface="Arial Unicode MS"/>
              </a:rPr>
              <a:t>תעודת משלוח, זיהוי ספק ותאריך, בדיקה ויזואלית</a:t>
            </a:r>
          </a:p>
        </p:txBody>
      </p:sp>
      <p:cxnSp>
        <p:nvCxnSpPr>
          <p:cNvPr id="8" name="Connector 7"/>
          <p:cNvCxnSpPr/>
          <p:nvPr/>
        </p:nvCxnSpPr>
        <p:spPr>
          <a:xfrm flipH="1">
            <a:off x="8695944" y="2240280"/>
            <a:ext cx="164592" cy="0"/>
          </a:xfrm>
          <a:prstGeom prst="line">
            <a:avLst/>
          </a:prstGeom>
          <a:ln w="38100">
            <a:solidFill>
              <a:srgbClr val="0081C8"/>
            </a:solidFill>
            <a:tailEnd type="triangle"/>
          </a:ln>
        </p:spPr>
      </p:cxnSp>
      <p:sp>
        <p:nvSpPr>
          <p:cNvPr id="9" name="Rounded Rectangle 8"/>
          <p:cNvSpPr/>
          <p:nvPr/>
        </p:nvSpPr>
        <p:spPr>
          <a:xfrm>
            <a:off x="6172200" y="1188720"/>
            <a:ext cx="2514600" cy="2103120"/>
          </a:xfrm>
          <a:prstGeom prst="roundRect">
            <a:avLst>
              <a:gd name="adj" fmla="val 8000"/>
            </a:avLst>
          </a:prstGeom>
          <a:solidFill>
            <a:srgbClr val="EAF3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063740" y="1371600"/>
            <a:ext cx="731520" cy="731520"/>
          </a:xfrm>
          <a:prstGeom prst="ellipse">
            <a:avLst/>
          </a:prstGeom>
          <a:solidFill>
            <a:srgbClr val="0081C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Picture 10" descr="FaFlask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9304" y="1547164"/>
            <a:ext cx="380390" cy="38039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263640" y="2194560"/>
            <a:ext cx="2331720" cy="411480"/>
          </a:xfrm>
          <a:prstGeom prst="rect">
            <a:avLst/>
          </a:prstGeom>
          <a:noFill/>
        </p:spPr>
        <p:txBody>
          <a:bodyPr wrap="square" lIns="0" rIns="0" tIns="0" bIns="0" anchor="t" rtlCol="1">
            <a:spAutoFit/>
          </a:bodyPr>
          <a:lstStyle/>
          <a:p>
            <a:pPr algn="ctr" rtl="1" marL="0" indent="0">
              <a:spcAft>
                <a:spcPts val="400"/>
              </a:spcAft>
              <a:buNone/>
            </a:pPr>
            <a:r>
              <a:rPr lang="he-IL" sz="2000" b="1">
                <a:solidFill>
                  <a:srgbClr val="003973"/>
                </a:solidFill>
                <a:latin typeface="Arial Unicode MS"/>
                <a:ea typeface="Arial Unicode MS"/>
                <a:cs typeface="Arial Unicode MS"/>
              </a:rPr>
              <a:t>בדיקה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2606040"/>
            <a:ext cx="2240280" cy="640080"/>
          </a:xfrm>
          <a:prstGeom prst="rect">
            <a:avLst/>
          </a:prstGeom>
          <a:noFill/>
        </p:spPr>
        <p:txBody>
          <a:bodyPr wrap="square" lIns="0" rIns="0" tIns="0" bIns="0" anchor="t" rtlCol="1">
            <a:spAutoFit/>
          </a:bodyPr>
          <a:lstStyle/>
          <a:p>
            <a:pPr algn="ctr" rtl="1" marL="0" indent="0">
              <a:spcAft>
                <a:spcPts val="400"/>
              </a:spcAft>
              <a:buNone/>
            </a:pPr>
            <a:r>
              <a:rPr lang="he-IL" sz="1300" b="0">
                <a:solidFill>
                  <a:srgbClr val="333F4A"/>
                </a:solidFill>
                <a:latin typeface="Arial Unicode MS"/>
                <a:ea typeface="Arial Unicode MS"/>
                <a:cs typeface="Arial Unicode MS"/>
              </a:rPr>
              <a:t>דגימה ובדיקות לפי תכנית הבקרה</a:t>
            </a:r>
          </a:p>
        </p:txBody>
      </p:sp>
      <p:cxnSp>
        <p:nvCxnSpPr>
          <p:cNvPr id="14" name="Connector 13"/>
          <p:cNvCxnSpPr/>
          <p:nvPr/>
        </p:nvCxnSpPr>
        <p:spPr>
          <a:xfrm flipH="1">
            <a:off x="5998464" y="2240280"/>
            <a:ext cx="164592" cy="0"/>
          </a:xfrm>
          <a:prstGeom prst="line">
            <a:avLst/>
          </a:prstGeom>
          <a:ln w="38100">
            <a:solidFill>
              <a:srgbClr val="0081C8"/>
            </a:solidFill>
            <a:tailEnd type="triangle"/>
          </a:ln>
        </p:spPr>
      </p:cxnSp>
      <p:sp>
        <p:nvSpPr>
          <p:cNvPr id="15" name="Rounded Rectangle 14"/>
          <p:cNvSpPr/>
          <p:nvPr/>
        </p:nvSpPr>
        <p:spPr>
          <a:xfrm>
            <a:off x="3474719" y="1188720"/>
            <a:ext cx="2514600" cy="2103120"/>
          </a:xfrm>
          <a:prstGeom prst="roundRect">
            <a:avLst>
              <a:gd name="adj" fmla="val 8000"/>
            </a:avLst>
          </a:prstGeom>
          <a:solidFill>
            <a:srgbClr val="00397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366259" y="1371600"/>
            <a:ext cx="731520" cy="731520"/>
          </a:xfrm>
          <a:prstGeom prst="ellipse">
            <a:avLst/>
          </a:prstGeom>
          <a:solidFill>
            <a:srgbClr val="C4D8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7" name="Picture 16" descr="FaClipboardCheck_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41824" y="1547164"/>
            <a:ext cx="380390" cy="38039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3566159" y="2194560"/>
            <a:ext cx="2331720" cy="411480"/>
          </a:xfrm>
          <a:prstGeom prst="rect">
            <a:avLst/>
          </a:prstGeom>
          <a:noFill/>
        </p:spPr>
        <p:txBody>
          <a:bodyPr wrap="square" lIns="0" rIns="0" tIns="0" bIns="0" anchor="t" rtlCol="1">
            <a:spAutoFit/>
          </a:bodyPr>
          <a:lstStyle/>
          <a:p>
            <a:pPr algn="ctr" rtl="1" marL="0" indent="0">
              <a:spcAft>
                <a:spcPts val="400"/>
              </a:spcAft>
              <a:buNone/>
            </a:pPr>
            <a:r>
              <a:rPr lang="he-IL" sz="20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אישור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11879" y="2606040"/>
            <a:ext cx="2240280" cy="640080"/>
          </a:xfrm>
          <a:prstGeom prst="rect">
            <a:avLst/>
          </a:prstGeom>
          <a:noFill/>
        </p:spPr>
        <p:txBody>
          <a:bodyPr wrap="square" lIns="0" rIns="0" tIns="0" bIns="0" anchor="t" rtlCol="1">
            <a:spAutoFit/>
          </a:bodyPr>
          <a:lstStyle/>
          <a:p>
            <a:pPr algn="ctr" rtl="1" marL="0" indent="0">
              <a:spcAft>
                <a:spcPts val="400"/>
              </a:spcAft>
              <a:buNone/>
            </a:pPr>
            <a:r>
              <a:rPr lang="he-IL" sz="1300" b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השוואה לדרישות התקן והמפרט</a:t>
            </a:r>
          </a:p>
        </p:txBody>
      </p:sp>
      <p:cxnSp>
        <p:nvCxnSpPr>
          <p:cNvPr id="20" name="Connector 19"/>
          <p:cNvCxnSpPr/>
          <p:nvPr/>
        </p:nvCxnSpPr>
        <p:spPr>
          <a:xfrm flipH="1">
            <a:off x="3300983" y="2240280"/>
            <a:ext cx="164592" cy="0"/>
          </a:xfrm>
          <a:prstGeom prst="line">
            <a:avLst/>
          </a:prstGeom>
          <a:ln w="38100">
            <a:solidFill>
              <a:srgbClr val="0081C8"/>
            </a:solidFill>
            <a:tailEnd type="triangle"/>
          </a:ln>
        </p:spPr>
      </p:cxnSp>
      <p:sp>
        <p:nvSpPr>
          <p:cNvPr id="21" name="Rounded Rectangle 20"/>
          <p:cNvSpPr/>
          <p:nvPr/>
        </p:nvSpPr>
        <p:spPr>
          <a:xfrm>
            <a:off x="777240" y="1188720"/>
            <a:ext cx="2514600" cy="2103120"/>
          </a:xfrm>
          <a:prstGeom prst="roundRect">
            <a:avLst>
              <a:gd name="adj" fmla="val 8000"/>
            </a:avLst>
          </a:prstGeom>
          <a:solidFill>
            <a:srgbClr val="EAF3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668780" y="1371600"/>
            <a:ext cx="731520" cy="731520"/>
          </a:xfrm>
          <a:prstGeom prst="ellipse">
            <a:avLst/>
          </a:prstGeom>
          <a:solidFill>
            <a:srgbClr val="0081C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Picture 22" descr="FaIndustry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44344" y="1547164"/>
            <a:ext cx="380390" cy="38039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868680" y="2194560"/>
            <a:ext cx="2331720" cy="411480"/>
          </a:xfrm>
          <a:prstGeom prst="rect">
            <a:avLst/>
          </a:prstGeom>
          <a:noFill/>
        </p:spPr>
        <p:txBody>
          <a:bodyPr wrap="square" lIns="0" rIns="0" tIns="0" bIns="0" anchor="t" rtlCol="1">
            <a:spAutoFit/>
          </a:bodyPr>
          <a:lstStyle/>
          <a:p>
            <a:pPr algn="ctr" rtl="1" marL="0" indent="0">
              <a:spcAft>
                <a:spcPts val="400"/>
              </a:spcAft>
              <a:buNone/>
            </a:pPr>
            <a:r>
              <a:rPr lang="he-IL" sz="2000" b="1">
                <a:solidFill>
                  <a:srgbClr val="003973"/>
                </a:solidFill>
                <a:latin typeface="Arial Unicode MS"/>
                <a:ea typeface="Arial Unicode MS"/>
                <a:cs typeface="Arial Unicode MS"/>
              </a:rPr>
              <a:t>שימוש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2606040"/>
            <a:ext cx="2240280" cy="640080"/>
          </a:xfrm>
          <a:prstGeom prst="rect">
            <a:avLst/>
          </a:prstGeom>
          <a:noFill/>
        </p:spPr>
        <p:txBody>
          <a:bodyPr wrap="square" lIns="0" rIns="0" tIns="0" bIns="0" anchor="t" rtlCol="1">
            <a:spAutoFit/>
          </a:bodyPr>
          <a:lstStyle/>
          <a:p>
            <a:pPr algn="ctr" rtl="1" marL="0" indent="0">
              <a:spcAft>
                <a:spcPts val="400"/>
              </a:spcAft>
              <a:buNone/>
            </a:pPr>
            <a:r>
              <a:rPr lang="he-IL" sz="1300" b="0">
                <a:solidFill>
                  <a:srgbClr val="333F4A"/>
                </a:solidFill>
                <a:latin typeface="Arial Unicode MS"/>
                <a:ea typeface="Arial Unicode MS"/>
                <a:cs typeface="Arial Unicode MS"/>
              </a:rPr>
              <a:t>שחרור לממגורה או לערמה, עם עקיבות</a:t>
            </a:r>
          </a:p>
        </p:txBody>
      </p:sp>
      <p:sp>
        <p:nvSpPr>
          <p:cNvPr id="26" name="Diamond 25"/>
          <p:cNvSpPr/>
          <p:nvPr/>
        </p:nvSpPr>
        <p:spPr>
          <a:xfrm>
            <a:off x="6515100" y="3566160"/>
            <a:ext cx="1828800" cy="1051560"/>
          </a:xfrm>
          <a:prstGeom prst="diamond">
            <a:avLst/>
          </a:prstGeom>
          <a:solidFill>
            <a:srgbClr val="FFF2DC"/>
          </a:solidFill>
          <a:ln w="25400">
            <a:solidFill>
              <a:srgbClr val="B26A00"/>
            </a:solidFill>
          </a:ln>
        </p:spPr>
        <p:txBody>
          <a:bodyPr rtlCol="0" anchor="ctr" wrap="square" lIns="45720" rIns="45720" tIns="18288" bIns="18288"/>
          <a:lstStyle/>
          <a:p>
            <a:pPr algn="ctr" rtl="1" marL="0" indent="0">
              <a:buNone/>
            </a:pPr>
            <a:r>
              <a:rPr lang="he-IL" sz="1600" b="1">
                <a:solidFill>
                  <a:srgbClr val="003973"/>
                </a:solidFill>
                <a:latin typeface="Arial Unicode MS"/>
                <a:ea typeface="Arial Unicode MS"/>
                <a:cs typeface="Arial Unicode MS"/>
              </a:rPr>
              <a:t>תקין?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429500" y="3310128"/>
            <a:ext cx="0" cy="256032"/>
          </a:xfrm>
          <a:prstGeom prst="line">
            <a:avLst/>
          </a:prstGeom>
          <a:ln w="31750">
            <a:solidFill>
              <a:srgbClr val="0081C8"/>
            </a:solidFill>
            <a:tailEnd type="triangle"/>
          </a:ln>
        </p:spPr>
      </p:cxnSp>
      <p:cxnSp>
        <p:nvCxnSpPr>
          <p:cNvPr id="28" name="Connector 27"/>
          <p:cNvCxnSpPr/>
          <p:nvPr/>
        </p:nvCxnSpPr>
        <p:spPr>
          <a:xfrm>
            <a:off x="8343900" y="4087368"/>
            <a:ext cx="754380" cy="0"/>
          </a:xfrm>
          <a:prstGeom prst="line">
            <a:avLst/>
          </a:prstGeom>
          <a:ln w="31750">
            <a:solidFill>
              <a:srgbClr val="C62828"/>
            </a:solidFill>
            <a:tailEnd type="triangle"/>
          </a:ln>
        </p:spPr>
      </p:cxnSp>
      <p:sp>
        <p:nvSpPr>
          <p:cNvPr id="29" name="TextBox 28"/>
          <p:cNvSpPr txBox="1"/>
          <p:nvPr/>
        </p:nvSpPr>
        <p:spPr>
          <a:xfrm>
            <a:off x="8343900" y="3703320"/>
            <a:ext cx="640080" cy="320040"/>
          </a:xfrm>
          <a:prstGeom prst="rect">
            <a:avLst/>
          </a:prstGeom>
          <a:noFill/>
        </p:spPr>
        <p:txBody>
          <a:bodyPr wrap="square" lIns="0" rIns="0" tIns="0" bIns="0" anchor="t" rtlCol="1">
            <a:spAutoFit/>
          </a:bodyPr>
          <a:lstStyle/>
          <a:p>
            <a:pPr algn="ctr" rtl="1" marL="0" indent="0">
              <a:spcAft>
                <a:spcPts val="400"/>
              </a:spcAft>
              <a:buNone/>
            </a:pPr>
            <a:r>
              <a:rPr lang="he-IL" sz="1300" b="1">
                <a:solidFill>
                  <a:srgbClr val="C62828"/>
                </a:solidFill>
                <a:latin typeface="Arial Unicode MS"/>
                <a:ea typeface="Arial Unicode MS"/>
                <a:cs typeface="Arial Unicode MS"/>
              </a:rPr>
              <a:t>לא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098280" y="3566160"/>
            <a:ext cx="2377440" cy="1051560"/>
          </a:xfrm>
          <a:prstGeom prst="roundRect">
            <a:avLst>
              <a:gd name="adj" fmla="val 8000"/>
            </a:avLst>
          </a:prstGeom>
          <a:solidFill>
            <a:srgbClr val="FBE9E9"/>
          </a:solidFill>
          <a:ln w="19050">
            <a:solidFill>
              <a:srgbClr val="C62828"/>
            </a:solidFill>
          </a:ln>
        </p:spPr>
        <p:txBody>
          <a:bodyPr rtlCol="0" anchor="ctr" wrap="square" lIns="45720" rIns="45720" tIns="18288" bIns="18288"/>
          <a:lstStyle/>
          <a:p>
            <a:pPr algn="ctr" rtl="1" marL="0" indent="0">
              <a:buNone/>
            </a:pPr>
            <a:r>
              <a:rPr lang="he-IL" sz="1500" b="1">
                <a:solidFill>
                  <a:srgbClr val="C62828"/>
                </a:solidFill>
                <a:latin typeface="Arial Unicode MS"/>
                <a:ea typeface="Arial Unicode MS"/>
                <a:cs typeface="Arial Unicode MS"/>
              </a:rPr>
              <a:t>הסגר וסימון</a:t>
            </a:r>
          </a:p>
          <a:p>
            <a:pPr algn="ctr" rtl="1" marL="0" indent="0">
              <a:buNone/>
            </a:pPr>
            <a:r>
              <a:rPr lang="he-IL" sz="1200" b="0">
                <a:solidFill>
                  <a:srgbClr val="333F4A"/>
                </a:solidFill>
                <a:latin typeface="Arial Unicode MS"/>
                <a:ea typeface="Arial Unicode MS"/>
                <a:cs typeface="Arial Unicode MS"/>
              </a:rPr>
              <a:t>החזרה לספק + דוח אי-התאמה</a:t>
            </a:r>
          </a:p>
        </p:txBody>
      </p:sp>
      <p:cxnSp>
        <p:nvCxnSpPr>
          <p:cNvPr id="31" name="Connector 30"/>
          <p:cNvCxnSpPr/>
          <p:nvPr/>
        </p:nvCxnSpPr>
        <p:spPr>
          <a:xfrm flipH="1">
            <a:off x="4732020" y="4087368"/>
            <a:ext cx="1783080" cy="0"/>
          </a:xfrm>
          <a:prstGeom prst="line">
            <a:avLst/>
          </a:prstGeom>
          <a:ln w="31750">
            <a:solidFill>
              <a:srgbClr val="2E7D32"/>
            </a:solidFill>
          </a:ln>
        </p:spPr>
      </p:cxnSp>
      <p:cxnSp>
        <p:nvCxnSpPr>
          <p:cNvPr id="32" name="Connector 31"/>
          <p:cNvCxnSpPr/>
          <p:nvPr/>
        </p:nvCxnSpPr>
        <p:spPr>
          <a:xfrm flipV="1">
            <a:off x="4732020" y="3310128"/>
            <a:ext cx="0" cy="777240"/>
          </a:xfrm>
          <a:prstGeom prst="line">
            <a:avLst/>
          </a:prstGeom>
          <a:ln w="31750">
            <a:solidFill>
              <a:srgbClr val="2E7D32"/>
            </a:solidFill>
            <a:tailEnd type="triangle"/>
          </a:ln>
        </p:spPr>
      </p:cxnSp>
      <p:sp>
        <p:nvSpPr>
          <p:cNvPr id="33" name="TextBox 32"/>
          <p:cNvSpPr txBox="1"/>
          <p:nvPr/>
        </p:nvSpPr>
        <p:spPr>
          <a:xfrm>
            <a:off x="5875020" y="3703320"/>
            <a:ext cx="640080" cy="320040"/>
          </a:xfrm>
          <a:prstGeom prst="rect">
            <a:avLst/>
          </a:prstGeom>
          <a:noFill/>
        </p:spPr>
        <p:txBody>
          <a:bodyPr wrap="square" lIns="0" rIns="0" tIns="0" bIns="0" anchor="t" rtlCol="1">
            <a:spAutoFit/>
          </a:bodyPr>
          <a:lstStyle/>
          <a:p>
            <a:pPr algn="ctr" rtl="1" marL="0" indent="0">
              <a:spcAft>
                <a:spcPts val="400"/>
              </a:spcAft>
              <a:buNone/>
            </a:pPr>
            <a:r>
              <a:rPr lang="he-IL" sz="1300" b="1">
                <a:solidFill>
                  <a:srgbClr val="2E7D32"/>
                </a:solidFill>
                <a:latin typeface="Arial Unicode MS"/>
                <a:ea typeface="Arial Unicode MS"/>
                <a:cs typeface="Arial Unicode MS"/>
              </a:rPr>
              <a:t>כן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960" y="3520440"/>
            <a:ext cx="3749039" cy="1463040"/>
          </a:xfrm>
          <a:prstGeom prst="rect">
            <a:avLst/>
          </a:prstGeom>
          <a:noFill/>
        </p:spPr>
        <p:txBody>
          <a:bodyPr wrap="square" lIns="0" rIns="0" tIns="0" bIns="0" anchor="t" rtlCol="1">
            <a:spAutoFit/>
          </a:bodyPr>
          <a:lstStyle/>
          <a:p>
            <a:pPr algn="r" rtl="1" marL="228600" indent="-228600">
              <a:spcAft>
                <a:spcPts val="400"/>
              </a:spcAft>
              <a:buFont typeface="Arial"/>
              <a:buChar char="•"/>
            </a:pPr>
            <a:r>
              <a:rPr lang="he-IL" sz="1300" b="0">
                <a:solidFill>
                  <a:srgbClr val="333F4A"/>
                </a:solidFill>
                <a:latin typeface="Arial Unicode MS"/>
                <a:ea typeface="Arial Unicode MS"/>
                <a:cs typeface="Arial Unicode MS"/>
              </a:rPr>
              <a:t>חומר שלא אושר — לא נכנס לממגורה או לערמה הפעילה</a:t>
            </a:r>
          </a:p>
          <a:p>
            <a:pPr algn="r" rtl="1" marL="228600" indent="-228600">
              <a:spcAft>
                <a:spcPts val="400"/>
              </a:spcAft>
              <a:buFont typeface="Arial"/>
              <a:buChar char="•"/>
            </a:pPr>
            <a:r>
              <a:rPr lang="he-IL" sz="1300" b="0">
                <a:solidFill>
                  <a:srgbClr val="333F4A"/>
                </a:solidFill>
                <a:latin typeface="Arial Unicode MS"/>
                <a:ea typeface="Arial Unicode MS"/>
                <a:cs typeface="Arial Unicode MS"/>
              </a:rPr>
              <a:t>כל משלוח ניתן לאיתור עד היציקה</a:t>
            </a:r>
          </a:p>
          <a:p>
            <a:pPr algn="r" rtl="1" marL="228600" indent="-228600">
              <a:spcAft>
                <a:spcPts val="400"/>
              </a:spcAft>
              <a:buFont typeface="Arial"/>
              <a:buChar char="•"/>
            </a:pPr>
            <a:r>
              <a:rPr lang="he-IL" sz="1300" b="0">
                <a:solidFill>
                  <a:srgbClr val="333F4A"/>
                </a:solidFill>
                <a:latin typeface="Arial Unicode MS"/>
                <a:ea typeface="Arial Unicode MS"/>
                <a:cs typeface="Arial Unicode MS"/>
              </a:rPr>
              <a:t>תיעוד: מי בדק, מתי ומה הוחלט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22960" y="5166360"/>
            <a:ext cx="8183879" cy="640080"/>
          </a:xfrm>
          <a:prstGeom prst="roundRect">
            <a:avLst>
              <a:gd name="adj" fmla="val 8000"/>
            </a:avLst>
          </a:prstGeom>
          <a:solidFill>
            <a:srgbClr val="00397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8394192" y="5257800"/>
            <a:ext cx="457200" cy="457200"/>
          </a:xfrm>
          <a:prstGeom prst="ellipse">
            <a:avLst/>
          </a:prstGeom>
          <a:solidFill>
            <a:srgbClr val="C4D8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7" name="Picture 36" descr="FaLightbulb_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03919" y="5367528"/>
            <a:ext cx="237744" cy="237744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1051560" y="5166360"/>
            <a:ext cx="7269479" cy="640080"/>
          </a:xfrm>
          <a:prstGeom prst="rect">
            <a:avLst/>
          </a:prstGeom>
          <a:noFill/>
        </p:spPr>
        <p:txBody>
          <a:bodyPr wrap="square" lIns="0" rIns="0" tIns="0" bIns="0" anchor="ctr" rtlCol="1">
            <a:spAutoFit/>
          </a:bodyPr>
          <a:lstStyle/>
          <a:p>
            <a:pPr algn="r" rtl="1" marL="0" indent="0">
              <a:spcAft>
                <a:spcPts val="400"/>
              </a:spcAft>
              <a:buNone/>
            </a:pPr>
            <a:r>
              <a:rPr lang="he-IL" sz="17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המקום הזול ביותר לעצור בעיה הוא בשער המפעל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>
                <a:latin typeface="Arial Unicode MS"/>
                <a:ea typeface="Arial Unicode MS"/>
                <a:cs typeface="Arial Unicode MS"/>
              </a:rPr>
              <a:t>בדיקות אגרגטים: מפת הבדיקות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822960" y="1097280"/>
          <a:ext cx="10652760" cy="3849624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423160"/>
                <a:gridCol w="3291840"/>
                <a:gridCol w="2743200"/>
                <a:gridCol w="2194560"/>
              </a:tblGrid>
              <a:tr h="457200">
                <a:tc>
                  <a:txBody>
                    <a:bodyPr wrap="square"/>
                    <a:lstStyle/>
                    <a:p>
                      <a:pPr algn="ctr" rtl="1" marL="0" indent="0">
                        <a:buNone/>
                      </a:pPr>
                      <a:r>
                        <a:rPr lang="he-IL" sz="140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תדירות מומלצת</a:t>
                      </a:r>
                    </a:p>
                  </a:txBody>
                  <a:tcPr marL="73152" marR="73152" marT="36576" marB="36576" anchor="ctr">
                    <a:solidFill>
                      <a:srgbClr val="0081C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 marL="0" indent="0">
                        <a:buNone/>
                      </a:pPr>
                      <a:r>
                        <a:rPr lang="he-IL" sz="140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מה היא מגלה</a:t>
                      </a:r>
                    </a:p>
                  </a:txBody>
                  <a:tcPr marL="73152" marR="73152" marT="36576" marB="36576" anchor="ctr">
                    <a:solidFill>
                      <a:srgbClr val="0081C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 marL="0" indent="0">
                        <a:buNone/>
                      </a:pPr>
                      <a:r>
                        <a:rPr lang="he-IL" sz="140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שיטה (EN | ASTM)</a:t>
                      </a:r>
                    </a:p>
                  </a:txBody>
                  <a:tcPr marL="73152" marR="73152" marT="36576" marB="36576" anchor="ctr">
                    <a:solidFill>
                      <a:srgbClr val="0081C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 marL="0" indent="0">
                        <a:buNone/>
                      </a:pPr>
                      <a:r>
                        <a:rPr lang="he-IL" sz="140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בדיקה</a:t>
                      </a:r>
                    </a:p>
                  </a:txBody>
                  <a:tcPr marL="73152" marR="73152" marT="36576" marB="36576" anchor="ctr">
                    <a:solidFill>
                      <a:srgbClr val="0081C8"/>
                    </a:solidFill>
                  </a:tcPr>
                </a:tc>
              </a:tr>
              <a:tr h="484632">
                <a:tc>
                  <a:txBody>
                    <a:bodyPr wrap="square"/>
                    <a:lstStyle/>
                    <a:p>
                      <a:pPr algn="r" rtl="1" marL="0" indent="0">
                        <a:buNone/>
                      </a:pPr>
                      <a:r>
                        <a:rPr lang="he-IL" sz="1400" b="0">
                          <a:solidFill>
                            <a:srgbClr val="333F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בכל בדיקה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 marL="0" indent="0">
                        <a:buNone/>
                      </a:pPr>
                      <a:r>
                        <a:rPr lang="he-IL" sz="1400" b="0">
                          <a:solidFill>
                            <a:srgbClr val="333F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הבסיס לכל תוצאה אמינה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 marL="0" indent="0">
                        <a:buNone/>
                      </a:pPr>
                      <a:r>
                        <a:rPr lang="he-IL" sz="1400" b="0">
                          <a:solidFill>
                            <a:srgbClr val="333F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EN 932-1/2 | D75, C702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 marL="0" indent="0">
                        <a:buNone/>
                      </a:pPr>
                      <a:r>
                        <a:rPr lang="he-IL" sz="1400" b="1">
                          <a:solidFill>
                            <a:srgbClr val="333F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דגימה והקטנה</a:t>
                      </a:r>
                    </a:p>
                  </a:txBody>
                  <a:tcPr marL="73152" marR="73152" marT="36576" marB="36576" anchor="ctr">
                    <a:solidFill>
                      <a:srgbClr val="EAF3FA"/>
                    </a:solidFill>
                  </a:tcPr>
                </a:tc>
              </a:tr>
              <a:tr h="484632">
                <a:tc>
                  <a:txBody>
                    <a:bodyPr wrap="square"/>
                    <a:lstStyle/>
                    <a:p>
                      <a:pPr algn="r" rtl="1" marL="0" indent="0">
                        <a:buNone/>
                      </a:pPr>
                      <a:r>
                        <a:rPr lang="he-IL" sz="1400" b="0">
                          <a:solidFill>
                            <a:srgbClr val="333F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שבועי ובכל משלוח חשוד</a:t>
                      </a:r>
                    </a:p>
                  </a:txBody>
                  <a:tcPr marL="73152" marR="73152" marT="36576" marB="36576" anchor="ctr">
                    <a:solidFill>
                      <a:srgbClr val="F3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 marL="0" indent="0">
                        <a:buNone/>
                      </a:pPr>
                      <a:r>
                        <a:rPr lang="he-IL" sz="1400" b="0">
                          <a:solidFill>
                            <a:srgbClr val="333F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פיזור גדלים ואחוז דקים</a:t>
                      </a:r>
                    </a:p>
                  </a:txBody>
                  <a:tcPr marL="73152" marR="73152" marT="36576" marB="36576" anchor="ctr">
                    <a:solidFill>
                      <a:srgbClr val="F3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 marL="0" indent="0">
                        <a:buNone/>
                      </a:pPr>
                      <a:r>
                        <a:rPr lang="he-IL" sz="1400" b="0">
                          <a:solidFill>
                            <a:srgbClr val="333F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EN 933-1 | C136, C117</a:t>
                      </a:r>
                    </a:p>
                  </a:txBody>
                  <a:tcPr marL="73152" marR="73152" marT="36576" marB="36576" anchor="ctr">
                    <a:solidFill>
                      <a:srgbClr val="F3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 marL="0" indent="0">
                        <a:buNone/>
                      </a:pPr>
                      <a:r>
                        <a:rPr lang="he-IL" sz="1400" b="1">
                          <a:solidFill>
                            <a:srgbClr val="333F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גרדציה ודקים</a:t>
                      </a:r>
                    </a:p>
                  </a:txBody>
                  <a:tcPr marL="73152" marR="73152" marT="36576" marB="36576" anchor="ctr">
                    <a:solidFill>
                      <a:srgbClr val="EAF3FA"/>
                    </a:solidFill>
                  </a:tcPr>
                </a:tc>
              </a:tr>
              <a:tr h="484632">
                <a:tc>
                  <a:txBody>
                    <a:bodyPr wrap="square"/>
                    <a:lstStyle/>
                    <a:p>
                      <a:pPr algn="r" rtl="1" marL="0" indent="0">
                        <a:buNone/>
                      </a:pPr>
                      <a:r>
                        <a:rPr lang="he-IL" sz="1400" b="0">
                          <a:solidFill>
                            <a:srgbClr val="333F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שבועי (חול)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 marL="0" indent="0">
                        <a:buNone/>
                      </a:pPr>
                      <a:r>
                        <a:rPr lang="he-IL" sz="1400" b="0">
                          <a:solidFill>
                            <a:srgbClr val="333F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האם הדקים הם חרסית מזיקה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 marL="0" indent="0">
                        <a:buNone/>
                      </a:pPr>
                      <a:r>
                        <a:rPr lang="he-IL" sz="1400" b="0">
                          <a:solidFill>
                            <a:srgbClr val="333F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EN 933-8/9 | D2419, C837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 marL="0" indent="0">
                        <a:buNone/>
                      </a:pPr>
                      <a:r>
                        <a:rPr lang="he-IL" sz="1400" b="1">
                          <a:solidFill>
                            <a:srgbClr val="333F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שווה חול / כחול מתילן</a:t>
                      </a:r>
                    </a:p>
                  </a:txBody>
                  <a:tcPr marL="73152" marR="73152" marT="36576" marB="36576" anchor="ctr">
                    <a:solidFill>
                      <a:srgbClr val="EAF3FA"/>
                    </a:solidFill>
                  </a:tcPr>
                </a:tc>
              </a:tr>
              <a:tr h="484632">
                <a:tc>
                  <a:txBody>
                    <a:bodyPr wrap="square"/>
                    <a:lstStyle/>
                    <a:p>
                      <a:pPr algn="r" rtl="1" marL="0" indent="0">
                        <a:buNone/>
                      </a:pPr>
                      <a:r>
                        <a:rPr lang="he-IL" sz="1400" b="0">
                          <a:solidFill>
                            <a:srgbClr val="333F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יומי ובכל שינוי</a:t>
                      </a:r>
                    </a:p>
                  </a:txBody>
                  <a:tcPr marL="73152" marR="73152" marT="36576" marB="36576" anchor="ctr">
                    <a:solidFill>
                      <a:srgbClr val="F3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 marL="0" indent="0">
                        <a:buNone/>
                      </a:pPr>
                      <a:r>
                        <a:rPr lang="he-IL" sz="1400" b="0">
                          <a:solidFill>
                            <a:srgbClr val="333F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תיקון מים יומי בתערובת</a:t>
                      </a:r>
                    </a:p>
                  </a:txBody>
                  <a:tcPr marL="73152" marR="73152" marT="36576" marB="36576" anchor="ctr">
                    <a:solidFill>
                      <a:srgbClr val="F3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 marL="0" indent="0">
                        <a:buNone/>
                      </a:pPr>
                      <a:r>
                        <a:rPr lang="he-IL" sz="1400" b="0">
                          <a:solidFill>
                            <a:srgbClr val="333F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EN 1097-5 | C566</a:t>
                      </a:r>
                    </a:p>
                  </a:txBody>
                  <a:tcPr marL="73152" marR="73152" marT="36576" marB="36576" anchor="ctr">
                    <a:solidFill>
                      <a:srgbClr val="F3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 marL="0" indent="0">
                        <a:buNone/>
                      </a:pPr>
                      <a:r>
                        <a:rPr lang="he-IL" sz="1400" b="1">
                          <a:solidFill>
                            <a:srgbClr val="333F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לחות</a:t>
                      </a:r>
                    </a:p>
                  </a:txBody>
                  <a:tcPr marL="73152" marR="73152" marT="36576" marB="36576" anchor="ctr">
                    <a:solidFill>
                      <a:srgbClr val="EAF3FA"/>
                    </a:solidFill>
                  </a:tcPr>
                </a:tc>
              </a:tr>
              <a:tr h="484632">
                <a:tc>
                  <a:txBody>
                    <a:bodyPr wrap="square"/>
                    <a:lstStyle/>
                    <a:p>
                      <a:pPr algn="r" rtl="1" marL="0" indent="0">
                        <a:buNone/>
                      </a:pPr>
                      <a:r>
                        <a:rPr lang="he-IL" sz="1400" b="0">
                          <a:solidFill>
                            <a:srgbClr val="333F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חודשי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 marL="0" indent="0">
                        <a:buNone/>
                      </a:pPr>
                      <a:r>
                        <a:rPr lang="he-IL" sz="1400" b="0">
                          <a:solidFill>
                            <a:srgbClr val="333F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איכות הסלע, בסיס לתיקון מים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 marL="0" indent="0">
                        <a:buNone/>
                      </a:pPr>
                      <a:r>
                        <a:rPr lang="he-IL" sz="1400" b="0">
                          <a:solidFill>
                            <a:srgbClr val="333F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EN 1097-6 | C127, C128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 marL="0" indent="0">
                        <a:buNone/>
                      </a:pPr>
                      <a:r>
                        <a:rPr lang="he-IL" sz="1400" b="1">
                          <a:solidFill>
                            <a:srgbClr val="333F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צפיפות וספיגות</a:t>
                      </a:r>
                    </a:p>
                  </a:txBody>
                  <a:tcPr marL="73152" marR="73152" marT="36576" marB="36576" anchor="ctr">
                    <a:solidFill>
                      <a:srgbClr val="EAF3FA"/>
                    </a:solidFill>
                  </a:tcPr>
                </a:tc>
              </a:tr>
              <a:tr h="484632">
                <a:tc>
                  <a:txBody>
                    <a:bodyPr wrap="square"/>
                    <a:lstStyle/>
                    <a:p>
                      <a:pPr algn="r" rtl="1" marL="0" indent="0">
                        <a:buNone/>
                      </a:pPr>
                      <a:r>
                        <a:rPr lang="he-IL" sz="1400" b="0">
                          <a:solidFill>
                            <a:srgbClr val="333F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רבעוני ובמקור חדש</a:t>
                      </a:r>
                    </a:p>
                  </a:txBody>
                  <a:tcPr marL="73152" marR="73152" marT="36576" marB="36576" anchor="ctr">
                    <a:solidFill>
                      <a:srgbClr val="F3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 marL="0" indent="0">
                        <a:buNone/>
                      </a:pPr>
                      <a:r>
                        <a:rPr lang="he-IL" sz="1400" b="0">
                          <a:solidFill>
                            <a:srgbClr val="333F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עמידות לשחיקה, פתיתיות</a:t>
                      </a:r>
                    </a:p>
                  </a:txBody>
                  <a:tcPr marL="73152" marR="73152" marT="36576" marB="36576" anchor="ctr">
                    <a:solidFill>
                      <a:srgbClr val="F3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 marL="0" indent="0">
                        <a:buNone/>
                      </a:pPr>
                      <a:r>
                        <a:rPr lang="he-IL" sz="1400" b="0">
                          <a:solidFill>
                            <a:srgbClr val="333F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EN 1097-2, 933-3 | C131</a:t>
                      </a:r>
                    </a:p>
                  </a:txBody>
                  <a:tcPr marL="73152" marR="73152" marT="36576" marB="36576" anchor="ctr">
                    <a:solidFill>
                      <a:srgbClr val="F3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 marL="0" indent="0">
                        <a:buNone/>
                      </a:pPr>
                      <a:r>
                        <a:rPr lang="he-IL" sz="1400" b="1">
                          <a:solidFill>
                            <a:srgbClr val="333F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LA וצורת גרגר</a:t>
                      </a:r>
                    </a:p>
                  </a:txBody>
                  <a:tcPr marL="73152" marR="73152" marT="36576" marB="36576" anchor="ctr">
                    <a:solidFill>
                      <a:srgbClr val="EAF3FA"/>
                    </a:solidFill>
                  </a:tcPr>
                </a:tc>
              </a:tr>
              <a:tr h="484632">
                <a:tc>
                  <a:txBody>
                    <a:bodyPr wrap="square"/>
                    <a:lstStyle/>
                    <a:p>
                      <a:pPr algn="r" rtl="1" marL="0" indent="0">
                        <a:buNone/>
                      </a:pPr>
                      <a:r>
                        <a:rPr lang="he-IL" sz="1400" b="0">
                          <a:solidFill>
                            <a:srgbClr val="333F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חצי-שנתי ובמקור חדש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 marL="0" indent="0">
                        <a:buNone/>
                      </a:pPr>
                      <a:r>
                        <a:rPr lang="he-IL" sz="1400" b="0">
                          <a:solidFill>
                            <a:srgbClr val="333F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אורגני, כלורידים, סולפטים, ASR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 marL="0" indent="0">
                        <a:buNone/>
                      </a:pPr>
                      <a:r>
                        <a:rPr lang="he-IL" sz="1400" b="0">
                          <a:solidFill>
                            <a:srgbClr val="333F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EN 1744-1 | C40, C142, C1260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 marL="0" indent="0">
                        <a:buNone/>
                      </a:pPr>
                      <a:r>
                        <a:rPr lang="he-IL" sz="1400" b="1">
                          <a:solidFill>
                            <a:srgbClr val="333F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חומרים מזיקים</a:t>
                      </a:r>
                    </a:p>
                  </a:txBody>
                  <a:tcPr marL="73152" marR="73152" marT="36576" marB="36576" anchor="ctr">
                    <a:solidFill>
                      <a:srgbClr val="EAF3FA"/>
                    </a:solidFill>
                  </a:tcPr>
                </a:tc>
              </a:tr>
            </a:tbl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822960" y="5257800"/>
            <a:ext cx="8183879" cy="594360"/>
          </a:xfrm>
          <a:prstGeom prst="roundRect">
            <a:avLst>
              <a:gd name="adj" fmla="val 8000"/>
            </a:avLst>
          </a:prstGeom>
          <a:solidFill>
            <a:srgbClr val="00397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394192" y="5326380"/>
            <a:ext cx="457200" cy="457200"/>
          </a:xfrm>
          <a:prstGeom prst="ellipse">
            <a:avLst/>
          </a:prstGeom>
          <a:solidFill>
            <a:srgbClr val="C4D8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6" name="Picture 5" descr="FaListOl_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3919" y="5436108"/>
            <a:ext cx="237744" cy="23774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51560" y="5257800"/>
            <a:ext cx="7269479" cy="594360"/>
          </a:xfrm>
          <a:prstGeom prst="rect">
            <a:avLst/>
          </a:prstGeom>
          <a:noFill/>
        </p:spPr>
        <p:txBody>
          <a:bodyPr wrap="square" lIns="0" rIns="0" tIns="0" bIns="0" anchor="ctr" rtlCol="1">
            <a:spAutoFit/>
          </a:bodyPr>
          <a:lstStyle/>
          <a:p>
            <a:pPr algn="r" rtl="1" marL="0" indent="0">
              <a:spcAft>
                <a:spcPts val="400"/>
              </a:spcAft>
              <a:buNone/>
            </a:pPr>
            <a:r>
              <a:rPr lang="he-IL" sz="17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התדירות נקבעת בתכנית הבקרה של המפעל — ומתהדקת בכל שינוי מקור או חריגה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>
                <a:latin typeface="Arial Unicode MS"/>
                <a:ea typeface="Arial Unicode MS"/>
                <a:cs typeface="Arial Unicode MS"/>
              </a:rPr>
              <a:t>דגימה והקטנת דגימה</a:t>
            </a:r>
          </a:p>
        </p:txBody>
      </p:sp>
      <p:pic>
        <p:nvPicPr>
          <p:cNvPr id="3" name="Picture 2" descr="sampl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6263" y="1143000"/>
            <a:ext cx="5805553" cy="2743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3931920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 rtlCol="1">
            <a:spAutoFit/>
          </a:bodyPr>
          <a:lstStyle/>
          <a:p>
            <a:pPr algn="ctr" rtl="1" marL="0" indent="0">
              <a:spcAft>
                <a:spcPts val="400"/>
              </a:spcAft>
              <a:buNone/>
            </a:pPr>
            <a:r>
              <a:rPr lang="he-IL" sz="1300" b="0">
                <a:solidFill>
                  <a:srgbClr val="5F6B76"/>
                </a:solidFill>
                <a:latin typeface="Arial Unicode MS"/>
                <a:ea typeface="Arial Unicode MS"/>
                <a:cs typeface="Arial Unicode MS"/>
              </a:rPr>
              <a:t>נקודות דגימה בערמה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0" y="3931920"/>
            <a:ext cx="2834640" cy="320040"/>
          </a:xfrm>
          <a:prstGeom prst="rect">
            <a:avLst/>
          </a:prstGeom>
          <a:noFill/>
        </p:spPr>
        <p:txBody>
          <a:bodyPr wrap="square" lIns="0" rIns="0" tIns="0" bIns="0" anchor="t" rtlCol="1">
            <a:spAutoFit/>
          </a:bodyPr>
          <a:lstStyle/>
          <a:p>
            <a:pPr algn="ctr" rtl="1" marL="0" indent="0">
              <a:spcAft>
                <a:spcPts val="400"/>
              </a:spcAft>
              <a:buNone/>
            </a:pPr>
            <a:r>
              <a:rPr lang="he-IL" sz="1300" b="0">
                <a:solidFill>
                  <a:srgbClr val="5F6B76"/>
                </a:solidFill>
                <a:latin typeface="Arial Unicode MS"/>
                <a:ea typeface="Arial Unicode MS"/>
                <a:cs typeface="Arial Unicode MS"/>
              </a:rPr>
              <a:t>מחלק (Riffle) לשני חצאים</a:t>
            </a:r>
          </a:p>
        </p:txBody>
      </p:sp>
      <p:sp>
        <p:nvSpPr>
          <p:cNvPr id="6" name="Oval 5"/>
          <p:cNvSpPr/>
          <p:nvPr/>
        </p:nvSpPr>
        <p:spPr>
          <a:xfrm>
            <a:off x="11055096" y="1143000"/>
            <a:ext cx="420624" cy="420624"/>
          </a:xfrm>
          <a:prstGeom prst="ellipse">
            <a:avLst/>
          </a:prstGeom>
          <a:solidFill>
            <a:srgbClr val="0081C8"/>
          </a:solidFill>
          <a:ln>
            <a:noFill/>
          </a:ln>
        </p:spPr>
        <p:txBody>
          <a:bodyPr rtlCol="0" anchor="ctr" wrap="square" lIns="0" rIns="0" tIns="18288" bIns="18288"/>
          <a:lstStyle/>
          <a:p>
            <a:pPr algn="ctr" rtl="1" marL="0" indent="0">
              <a:buNone/>
            </a:pPr>
            <a:r>
              <a:rPr lang="he-IL" sz="14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0" y="1097280"/>
            <a:ext cx="3968496" cy="640080"/>
          </a:xfrm>
          <a:prstGeom prst="rect">
            <a:avLst/>
          </a:prstGeom>
          <a:noFill/>
        </p:spPr>
        <p:txBody>
          <a:bodyPr wrap="square" lIns="0" rIns="0" tIns="0" bIns="0" anchor="ctr" rtlCol="1">
            <a:spAutoFit/>
          </a:bodyPr>
          <a:lstStyle/>
          <a:p>
            <a:pPr algn="r" rtl="1" marL="0" indent="0">
              <a:spcAft>
                <a:spcPts val="400"/>
              </a:spcAft>
              <a:buNone/>
            </a:pPr>
            <a:r>
              <a:rPr lang="he-IL" sz="1400" b="0">
                <a:solidFill>
                  <a:srgbClr val="333F4A"/>
                </a:solidFill>
                <a:latin typeface="Arial Unicode MS"/>
                <a:ea typeface="Arial Unicode MS"/>
                <a:cs typeface="Arial Unicode MS"/>
              </a:rPr>
              <a:t>דוגמים מכמה נקודות בערמה, מתחת לשכבת הפנים — לא מהשוליים שבהם הגס מתגלגל</a:t>
            </a:r>
          </a:p>
        </p:txBody>
      </p:sp>
      <p:sp>
        <p:nvSpPr>
          <p:cNvPr id="8" name="Oval 7"/>
          <p:cNvSpPr/>
          <p:nvPr/>
        </p:nvSpPr>
        <p:spPr>
          <a:xfrm>
            <a:off x="11055096" y="1837944"/>
            <a:ext cx="420624" cy="420624"/>
          </a:xfrm>
          <a:prstGeom prst="ellipse">
            <a:avLst/>
          </a:prstGeom>
          <a:solidFill>
            <a:srgbClr val="0081C8"/>
          </a:solidFill>
          <a:ln>
            <a:noFill/>
          </a:ln>
        </p:spPr>
        <p:txBody>
          <a:bodyPr rtlCol="0" anchor="ctr" wrap="square" lIns="0" rIns="0" tIns="18288" bIns="18288"/>
          <a:lstStyle/>
          <a:p>
            <a:pPr algn="ctr" rtl="1" marL="0" indent="0">
              <a:buNone/>
            </a:pPr>
            <a:r>
              <a:rPr lang="he-IL" sz="14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49440" y="1792224"/>
            <a:ext cx="3968496" cy="640080"/>
          </a:xfrm>
          <a:prstGeom prst="rect">
            <a:avLst/>
          </a:prstGeom>
          <a:noFill/>
        </p:spPr>
        <p:txBody>
          <a:bodyPr wrap="square" lIns="0" rIns="0" tIns="0" bIns="0" anchor="ctr" rtlCol="1">
            <a:spAutoFit/>
          </a:bodyPr>
          <a:lstStyle/>
          <a:p>
            <a:pPr algn="r" rtl="1" marL="0" indent="0">
              <a:spcAft>
                <a:spcPts val="400"/>
              </a:spcAft>
              <a:buNone/>
            </a:pPr>
            <a:r>
              <a:rPr lang="he-IL" sz="1400" b="0">
                <a:solidFill>
                  <a:srgbClr val="333F4A"/>
                </a:solidFill>
                <a:latin typeface="Arial Unicode MS"/>
                <a:ea typeface="Arial Unicode MS"/>
                <a:cs typeface="Arial Unicode MS"/>
              </a:rPr>
              <a:t>מהמסוע: חתך מלא של הסרט, כשהמסוע עוצר</a:t>
            </a:r>
          </a:p>
        </p:txBody>
      </p:sp>
      <p:sp>
        <p:nvSpPr>
          <p:cNvPr id="10" name="Oval 9"/>
          <p:cNvSpPr/>
          <p:nvPr/>
        </p:nvSpPr>
        <p:spPr>
          <a:xfrm>
            <a:off x="11055096" y="2532888"/>
            <a:ext cx="420624" cy="420624"/>
          </a:xfrm>
          <a:prstGeom prst="ellipse">
            <a:avLst/>
          </a:prstGeom>
          <a:solidFill>
            <a:srgbClr val="0081C8"/>
          </a:solidFill>
          <a:ln>
            <a:noFill/>
          </a:ln>
        </p:spPr>
        <p:txBody>
          <a:bodyPr rtlCol="0" anchor="ctr" wrap="square" lIns="0" rIns="0" tIns="18288" bIns="18288"/>
          <a:lstStyle/>
          <a:p>
            <a:pPr algn="ctr" rtl="1" marL="0" indent="0">
              <a:buNone/>
            </a:pPr>
            <a:r>
              <a:rPr lang="he-IL" sz="14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40" y="2487168"/>
            <a:ext cx="3968496" cy="640080"/>
          </a:xfrm>
          <a:prstGeom prst="rect">
            <a:avLst/>
          </a:prstGeom>
          <a:noFill/>
        </p:spPr>
        <p:txBody>
          <a:bodyPr wrap="square" lIns="0" rIns="0" tIns="0" bIns="0" anchor="ctr" rtlCol="1">
            <a:spAutoFit/>
          </a:bodyPr>
          <a:lstStyle/>
          <a:p>
            <a:pPr algn="r" rtl="1" marL="0" indent="0">
              <a:spcAft>
                <a:spcPts val="400"/>
              </a:spcAft>
              <a:buNone/>
            </a:pPr>
            <a:r>
              <a:rPr lang="he-IL" sz="1400" b="0">
                <a:solidFill>
                  <a:srgbClr val="333F4A"/>
                </a:solidFill>
                <a:latin typeface="Arial Unicode MS"/>
                <a:ea typeface="Arial Unicode MS"/>
                <a:cs typeface="Arial Unicode MS"/>
              </a:rPr>
              <a:t>מאחדים לדגימה מייצגת בכמות מספקת לגודל הגרגר המרבי</a:t>
            </a:r>
          </a:p>
        </p:txBody>
      </p:sp>
      <p:sp>
        <p:nvSpPr>
          <p:cNvPr id="12" name="Oval 11"/>
          <p:cNvSpPr/>
          <p:nvPr/>
        </p:nvSpPr>
        <p:spPr>
          <a:xfrm>
            <a:off x="11055096" y="3227832"/>
            <a:ext cx="420624" cy="420624"/>
          </a:xfrm>
          <a:prstGeom prst="ellipse">
            <a:avLst/>
          </a:prstGeom>
          <a:solidFill>
            <a:srgbClr val="0081C8"/>
          </a:solidFill>
          <a:ln>
            <a:noFill/>
          </a:ln>
        </p:spPr>
        <p:txBody>
          <a:bodyPr rtlCol="0" anchor="ctr" wrap="square" lIns="0" rIns="0" tIns="18288" bIns="18288"/>
          <a:lstStyle/>
          <a:p>
            <a:pPr algn="ctr" rtl="1" marL="0" indent="0">
              <a:buNone/>
            </a:pPr>
            <a:r>
              <a:rPr lang="he-IL" sz="14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9440" y="3182112"/>
            <a:ext cx="3968496" cy="640080"/>
          </a:xfrm>
          <a:prstGeom prst="rect">
            <a:avLst/>
          </a:prstGeom>
          <a:noFill/>
        </p:spPr>
        <p:txBody>
          <a:bodyPr wrap="square" lIns="0" rIns="0" tIns="0" bIns="0" anchor="ctr" rtlCol="1">
            <a:spAutoFit/>
          </a:bodyPr>
          <a:lstStyle/>
          <a:p>
            <a:pPr algn="r" rtl="1" marL="0" indent="0">
              <a:spcAft>
                <a:spcPts val="400"/>
              </a:spcAft>
              <a:buNone/>
            </a:pPr>
            <a:r>
              <a:rPr lang="he-IL" sz="1400" b="0">
                <a:solidFill>
                  <a:srgbClr val="333F4A"/>
                </a:solidFill>
                <a:latin typeface="Arial Unicode MS"/>
                <a:ea typeface="Arial Unicode MS"/>
                <a:cs typeface="Arial Unicode MS"/>
              </a:rPr>
              <a:t>מקטינים במחלק או בשיטת רבעים — לעולם לא "חופן מלמעלה"</a:t>
            </a:r>
          </a:p>
        </p:txBody>
      </p:sp>
      <p:sp>
        <p:nvSpPr>
          <p:cNvPr id="14" name="Oval 13"/>
          <p:cNvSpPr/>
          <p:nvPr/>
        </p:nvSpPr>
        <p:spPr>
          <a:xfrm>
            <a:off x="11055096" y="3922776"/>
            <a:ext cx="420624" cy="420624"/>
          </a:xfrm>
          <a:prstGeom prst="ellipse">
            <a:avLst/>
          </a:prstGeom>
          <a:solidFill>
            <a:srgbClr val="0081C8"/>
          </a:solidFill>
          <a:ln>
            <a:noFill/>
          </a:ln>
        </p:spPr>
        <p:txBody>
          <a:bodyPr rtlCol="0" anchor="ctr" wrap="square" lIns="0" rIns="0" tIns="18288" bIns="18288"/>
          <a:lstStyle/>
          <a:p>
            <a:pPr algn="ctr" rtl="1" marL="0" indent="0">
              <a:buNone/>
            </a:pPr>
            <a:r>
              <a:rPr lang="he-IL" sz="14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0" y="3877056"/>
            <a:ext cx="3968496" cy="640080"/>
          </a:xfrm>
          <a:prstGeom prst="rect">
            <a:avLst/>
          </a:prstGeom>
          <a:noFill/>
        </p:spPr>
        <p:txBody>
          <a:bodyPr wrap="square" lIns="0" rIns="0" tIns="0" bIns="0" anchor="ctr" rtlCol="1">
            <a:spAutoFit/>
          </a:bodyPr>
          <a:lstStyle/>
          <a:p>
            <a:pPr algn="r" rtl="1" marL="0" indent="0">
              <a:spcAft>
                <a:spcPts val="400"/>
              </a:spcAft>
              <a:buNone/>
            </a:pPr>
            <a:r>
              <a:rPr lang="he-IL" sz="1400" b="0">
                <a:solidFill>
                  <a:srgbClr val="333F4A"/>
                </a:solidFill>
                <a:latin typeface="Arial Unicode MS"/>
                <a:ea typeface="Arial Unicode MS"/>
                <a:cs typeface="Arial Unicode MS"/>
              </a:rPr>
              <a:t>מסמנים: מקור, תאריך, נקודה ושם הדוגם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343400"/>
            <a:ext cx="5852160" cy="320040"/>
          </a:xfrm>
          <a:prstGeom prst="rect">
            <a:avLst/>
          </a:prstGeom>
          <a:noFill/>
        </p:spPr>
        <p:txBody>
          <a:bodyPr wrap="square" lIns="0" rIns="0" tIns="0" bIns="0" anchor="t" rtlCol="1">
            <a:spAutoFit/>
          </a:bodyPr>
          <a:lstStyle/>
          <a:p>
            <a:pPr algn="r" rtl="1" marL="0" indent="0">
              <a:spcAft>
                <a:spcPts val="400"/>
              </a:spcAft>
              <a:buNone/>
            </a:pPr>
            <a:r>
              <a:rPr lang="he-IL" sz="1400" b="1">
                <a:solidFill>
                  <a:srgbClr val="003973"/>
                </a:solidFill>
                <a:latin typeface="Arial Unicode MS"/>
                <a:ea typeface="Arial Unicode MS"/>
                <a:cs typeface="Arial Unicode MS"/>
              </a:rPr>
              <a:t>מסה מינימלית לניפוי (EN 933-1)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822960" y="4709160"/>
          <a:ext cx="5852160" cy="768096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877824"/>
                <a:gridCol w="877824"/>
                <a:gridCol w="877824"/>
                <a:gridCol w="877824"/>
                <a:gridCol w="877824"/>
                <a:gridCol w="1463040"/>
              </a:tblGrid>
              <a:tr h="384048">
                <a:tc>
                  <a:txBody>
                    <a:bodyPr wrap="square"/>
                    <a:lstStyle/>
                    <a:p>
                      <a:pPr algn="ctr" rtl="1" marL="0" indent="0">
                        <a:buNone/>
                      </a:pPr>
                      <a:r>
                        <a:rPr lang="he-IL" sz="130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63</a:t>
                      </a:r>
                    </a:p>
                  </a:txBody>
                  <a:tcPr marL="73152" marR="73152" marT="36576" marB="36576" anchor="ctr">
                    <a:solidFill>
                      <a:srgbClr val="0081C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 marL="0" indent="0">
                        <a:buNone/>
                      </a:pPr>
                      <a:r>
                        <a:rPr lang="he-IL" sz="130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32</a:t>
                      </a:r>
                    </a:p>
                  </a:txBody>
                  <a:tcPr marL="73152" marR="73152" marT="36576" marB="36576" anchor="ctr">
                    <a:solidFill>
                      <a:srgbClr val="0081C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 marL="0" indent="0">
                        <a:buNone/>
                      </a:pPr>
                      <a:r>
                        <a:rPr lang="he-IL" sz="130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16</a:t>
                      </a:r>
                    </a:p>
                  </a:txBody>
                  <a:tcPr marL="73152" marR="73152" marT="36576" marB="36576" anchor="ctr">
                    <a:solidFill>
                      <a:srgbClr val="0081C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 marL="0" indent="0">
                        <a:buNone/>
                      </a:pPr>
                      <a:r>
                        <a:rPr lang="he-IL" sz="130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8</a:t>
                      </a:r>
                    </a:p>
                  </a:txBody>
                  <a:tcPr marL="73152" marR="73152" marT="36576" marB="36576" anchor="ctr">
                    <a:solidFill>
                      <a:srgbClr val="0081C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 marL="0" indent="0">
                        <a:buNone/>
                      </a:pPr>
                      <a:r>
                        <a:rPr lang="he-IL" sz="130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4</a:t>
                      </a:r>
                    </a:p>
                  </a:txBody>
                  <a:tcPr marL="73152" marR="73152" marT="36576" marB="36576" anchor="ctr">
                    <a:solidFill>
                      <a:srgbClr val="0081C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 marL="0" indent="0">
                        <a:buNone/>
                      </a:pPr>
                      <a:r>
                        <a:rPr lang="he-IL" sz="130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Dmax (מ"מ)</a:t>
                      </a:r>
                    </a:p>
                  </a:txBody>
                  <a:tcPr marL="73152" marR="73152" marT="36576" marB="36576" anchor="ctr">
                    <a:solidFill>
                      <a:srgbClr val="0081C8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 rtl="1" marL="0" indent="0">
                        <a:buNone/>
                      </a:pPr>
                      <a:r>
                        <a:rPr lang="he-IL" sz="1300" b="0">
                          <a:solidFill>
                            <a:srgbClr val="333F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40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 marL="0" indent="0">
                        <a:buNone/>
                      </a:pPr>
                      <a:r>
                        <a:rPr lang="he-IL" sz="1300" b="0">
                          <a:solidFill>
                            <a:srgbClr val="333F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10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 marL="0" indent="0">
                        <a:buNone/>
                      </a:pPr>
                      <a:r>
                        <a:rPr lang="he-IL" sz="1300" b="0">
                          <a:solidFill>
                            <a:srgbClr val="333F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2.6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 marL="0" indent="0">
                        <a:buNone/>
                      </a:pPr>
                      <a:r>
                        <a:rPr lang="he-IL" sz="1300" b="0">
                          <a:solidFill>
                            <a:srgbClr val="333F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0.6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 marL="0" indent="0">
                        <a:buNone/>
                      </a:pPr>
                      <a:r>
                        <a:rPr lang="he-IL" sz="1300" b="0">
                          <a:solidFill>
                            <a:srgbClr val="333F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0.2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 marL="0" indent="0">
                        <a:buNone/>
                      </a:pPr>
                      <a:r>
                        <a:rPr lang="he-IL" sz="1300" b="1">
                          <a:solidFill>
                            <a:srgbClr val="333F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מסה מינ' (ק"ג)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8" name="Rounded Rectangle 17"/>
          <p:cNvSpPr/>
          <p:nvPr/>
        </p:nvSpPr>
        <p:spPr>
          <a:xfrm>
            <a:off x="6949440" y="4663440"/>
            <a:ext cx="4526280" cy="640080"/>
          </a:xfrm>
          <a:prstGeom prst="roundRect">
            <a:avLst>
              <a:gd name="adj" fmla="val 8000"/>
            </a:avLst>
          </a:prstGeom>
          <a:solidFill>
            <a:srgbClr val="00397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863072" y="4754879"/>
            <a:ext cx="457200" cy="457200"/>
          </a:xfrm>
          <a:prstGeom prst="ellipse">
            <a:avLst/>
          </a:prstGeom>
          <a:solidFill>
            <a:srgbClr val="C4D8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0" name="Picture 19" descr="FaExclamationTriangle_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0" y="4864607"/>
            <a:ext cx="237744" cy="237744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7178040" y="4663440"/>
            <a:ext cx="3611880" cy="640080"/>
          </a:xfrm>
          <a:prstGeom prst="rect">
            <a:avLst/>
          </a:prstGeom>
          <a:noFill/>
        </p:spPr>
        <p:txBody>
          <a:bodyPr wrap="square" lIns="0" rIns="0" tIns="0" bIns="0" anchor="ctr" rtlCol="1">
            <a:spAutoFit/>
          </a:bodyPr>
          <a:lstStyle/>
          <a:p>
            <a:pPr algn="r" rtl="1" marL="0" indent="0">
              <a:spcAft>
                <a:spcPts val="400"/>
              </a:spcAft>
              <a:buNone/>
            </a:pPr>
            <a:r>
              <a:rPr lang="he-IL" sz="17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תוצאה מדויקת מדגימה לא מייצגת — חסרת ערך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>
                <a:latin typeface="Arial Unicode MS"/>
                <a:ea typeface="Arial Unicode MS"/>
                <a:cs typeface="Arial Unicode MS"/>
              </a:rPr>
              <a:t>גרדציה ומודול דקות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822960" y="1051560"/>
          <a:ext cx="5394960" cy="39319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822960" y="4983480"/>
            <a:ext cx="5394960" cy="274320"/>
          </a:xfrm>
          <a:prstGeom prst="rect">
            <a:avLst/>
          </a:prstGeom>
          <a:noFill/>
        </p:spPr>
        <p:txBody>
          <a:bodyPr wrap="square" lIns="0" rIns="0" tIns="0" bIns="0" anchor="t" rtlCol="1">
            <a:spAutoFit/>
          </a:bodyPr>
          <a:lstStyle/>
          <a:p>
            <a:pPr algn="ctr" rtl="1" marL="0" indent="0">
              <a:spcAft>
                <a:spcPts val="400"/>
              </a:spcAft>
              <a:buNone/>
            </a:pPr>
            <a:r>
              <a:rPr lang="he-IL" sz="1100" b="0">
                <a:solidFill>
                  <a:srgbClr val="5F6B76"/>
                </a:solidFill>
                <a:latin typeface="Arial Unicode MS"/>
                <a:ea typeface="Arial Unicode MS"/>
                <a:cs typeface="Arial Unicode MS"/>
              </a:rPr>
              <a:t>עקומת דירוג בתוך מעטפת הדרישה — דוגמה להמחשה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92240" y="1051560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 anchor="t" rtlCol="1">
            <a:spAutoFit/>
          </a:bodyPr>
          <a:lstStyle/>
          <a:p>
            <a:pPr algn="r" rtl="1" marL="0" indent="0">
              <a:spcAft>
                <a:spcPts val="400"/>
              </a:spcAft>
              <a:buNone/>
            </a:pPr>
            <a:r>
              <a:rPr lang="he-IL" sz="1700" b="1">
                <a:solidFill>
                  <a:srgbClr val="003973"/>
                </a:solidFill>
                <a:latin typeface="Arial Unicode MS"/>
                <a:ea typeface="Arial Unicode MS"/>
                <a:cs typeface="Arial Unicode MS"/>
              </a:rPr>
              <a:t>אופן הביצוע (EN 933-1)</a:t>
            </a:r>
          </a:p>
        </p:txBody>
      </p:sp>
      <p:sp>
        <p:nvSpPr>
          <p:cNvPr id="6" name="Oval 5"/>
          <p:cNvSpPr/>
          <p:nvPr/>
        </p:nvSpPr>
        <p:spPr>
          <a:xfrm>
            <a:off x="11109960" y="1536192"/>
            <a:ext cx="365760" cy="365760"/>
          </a:xfrm>
          <a:prstGeom prst="ellipse">
            <a:avLst/>
          </a:prstGeom>
          <a:solidFill>
            <a:srgbClr val="0081C8"/>
          </a:solidFill>
          <a:ln>
            <a:noFill/>
          </a:ln>
        </p:spPr>
        <p:txBody>
          <a:bodyPr rtlCol="0" anchor="ctr" wrap="square" lIns="0" rIns="0" tIns="18288" bIns="18288"/>
          <a:lstStyle/>
          <a:p>
            <a:pPr algn="ctr" rtl="1" marL="0" indent="0">
              <a:buNone/>
            </a:pPr>
            <a:r>
              <a:rPr lang="he-IL" sz="14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92240" y="1463040"/>
            <a:ext cx="4480559" cy="448056"/>
          </a:xfrm>
          <a:prstGeom prst="rect">
            <a:avLst/>
          </a:prstGeom>
          <a:noFill/>
        </p:spPr>
        <p:txBody>
          <a:bodyPr wrap="square" lIns="0" rIns="0" tIns="0" bIns="0" anchor="ctr" rtlCol="1">
            <a:spAutoFit/>
          </a:bodyPr>
          <a:lstStyle/>
          <a:p>
            <a:pPr algn="r" rtl="1" marL="0" indent="0">
              <a:spcAft>
                <a:spcPts val="400"/>
              </a:spcAft>
              <a:buNone/>
            </a:pPr>
            <a:r>
              <a:rPr lang="he-IL" sz="1400" b="0">
                <a:solidFill>
                  <a:srgbClr val="333F4A"/>
                </a:solidFill>
                <a:latin typeface="Arial Unicode MS"/>
                <a:ea typeface="Arial Unicode MS"/>
                <a:cs typeface="Arial Unicode MS"/>
              </a:rPr>
              <a:t>ייבוש ב-110±5°C ושקילה (M1)</a:t>
            </a:r>
          </a:p>
        </p:txBody>
      </p:sp>
      <p:sp>
        <p:nvSpPr>
          <p:cNvPr id="8" name="Oval 7"/>
          <p:cNvSpPr/>
          <p:nvPr/>
        </p:nvSpPr>
        <p:spPr>
          <a:xfrm>
            <a:off x="11109960" y="2039112"/>
            <a:ext cx="365760" cy="365760"/>
          </a:xfrm>
          <a:prstGeom prst="ellipse">
            <a:avLst/>
          </a:prstGeom>
          <a:solidFill>
            <a:srgbClr val="0081C8"/>
          </a:solidFill>
          <a:ln>
            <a:noFill/>
          </a:ln>
        </p:spPr>
        <p:txBody>
          <a:bodyPr rtlCol="0" anchor="ctr" wrap="square" lIns="0" rIns="0" tIns="18288" bIns="18288"/>
          <a:lstStyle/>
          <a:p>
            <a:pPr algn="ctr" rtl="1" marL="0" indent="0">
              <a:buNone/>
            </a:pPr>
            <a:r>
              <a:rPr lang="he-IL" sz="14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1965960"/>
            <a:ext cx="4480559" cy="448056"/>
          </a:xfrm>
          <a:prstGeom prst="rect">
            <a:avLst/>
          </a:prstGeom>
          <a:noFill/>
        </p:spPr>
        <p:txBody>
          <a:bodyPr wrap="square" lIns="0" rIns="0" tIns="0" bIns="0" anchor="ctr" rtlCol="1">
            <a:spAutoFit/>
          </a:bodyPr>
          <a:lstStyle/>
          <a:p>
            <a:pPr algn="r" rtl="1" marL="0" indent="0">
              <a:spcAft>
                <a:spcPts val="400"/>
              </a:spcAft>
              <a:buNone/>
            </a:pPr>
            <a:r>
              <a:rPr lang="he-IL" sz="1400" b="0">
                <a:solidFill>
                  <a:srgbClr val="333F4A"/>
                </a:solidFill>
                <a:latin typeface="Arial Unicode MS"/>
                <a:ea typeface="Arial Unicode MS"/>
                <a:cs typeface="Arial Unicode MS"/>
              </a:rPr>
              <a:t>שטיפה על נפה 0.063 מ"מ, ייבוש ושקילה (M2)</a:t>
            </a:r>
          </a:p>
        </p:txBody>
      </p:sp>
      <p:sp>
        <p:nvSpPr>
          <p:cNvPr id="10" name="Oval 9"/>
          <p:cNvSpPr/>
          <p:nvPr/>
        </p:nvSpPr>
        <p:spPr>
          <a:xfrm>
            <a:off x="11109960" y="2542032"/>
            <a:ext cx="365760" cy="365760"/>
          </a:xfrm>
          <a:prstGeom prst="ellipse">
            <a:avLst/>
          </a:prstGeom>
          <a:solidFill>
            <a:srgbClr val="0081C8"/>
          </a:solidFill>
          <a:ln>
            <a:noFill/>
          </a:ln>
        </p:spPr>
        <p:txBody>
          <a:bodyPr rtlCol="0" anchor="ctr" wrap="square" lIns="0" rIns="0" tIns="18288" bIns="18288"/>
          <a:lstStyle/>
          <a:p>
            <a:pPr algn="ctr" rtl="1" marL="0" indent="0">
              <a:buNone/>
            </a:pPr>
            <a:r>
              <a:rPr lang="he-IL" sz="14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468880"/>
            <a:ext cx="4480559" cy="448056"/>
          </a:xfrm>
          <a:prstGeom prst="rect">
            <a:avLst/>
          </a:prstGeom>
          <a:noFill/>
        </p:spPr>
        <p:txBody>
          <a:bodyPr wrap="square" lIns="0" rIns="0" tIns="0" bIns="0" anchor="ctr" rtlCol="1">
            <a:spAutoFit/>
          </a:bodyPr>
          <a:lstStyle/>
          <a:p>
            <a:pPr algn="r" rtl="1" marL="0" indent="0">
              <a:spcAft>
                <a:spcPts val="400"/>
              </a:spcAft>
              <a:buNone/>
            </a:pPr>
            <a:r>
              <a:rPr lang="he-IL" sz="1400" b="0">
                <a:solidFill>
                  <a:srgbClr val="333F4A"/>
                </a:solidFill>
                <a:latin typeface="Arial Unicode MS"/>
                <a:ea typeface="Arial Unicode MS"/>
                <a:cs typeface="Arial Unicode MS"/>
              </a:rPr>
              <a:t>ניפוי בסדרת נפות ושקילת השארית בכל נפה</a:t>
            </a:r>
          </a:p>
        </p:txBody>
      </p:sp>
      <p:sp>
        <p:nvSpPr>
          <p:cNvPr id="12" name="Oval 11"/>
          <p:cNvSpPr/>
          <p:nvPr/>
        </p:nvSpPr>
        <p:spPr>
          <a:xfrm>
            <a:off x="11109960" y="3044952"/>
            <a:ext cx="365760" cy="365760"/>
          </a:xfrm>
          <a:prstGeom prst="ellipse">
            <a:avLst/>
          </a:prstGeom>
          <a:solidFill>
            <a:srgbClr val="0081C8"/>
          </a:solidFill>
          <a:ln>
            <a:noFill/>
          </a:ln>
        </p:spPr>
        <p:txBody>
          <a:bodyPr rtlCol="0" anchor="ctr" wrap="square" lIns="0" rIns="0" tIns="18288" bIns="18288"/>
          <a:lstStyle/>
          <a:p>
            <a:pPr algn="ctr" rtl="1" marL="0" indent="0">
              <a:buNone/>
            </a:pPr>
            <a:r>
              <a:rPr lang="he-IL" sz="14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971800"/>
            <a:ext cx="4480559" cy="448056"/>
          </a:xfrm>
          <a:prstGeom prst="rect">
            <a:avLst/>
          </a:prstGeom>
          <a:noFill/>
        </p:spPr>
        <p:txBody>
          <a:bodyPr wrap="square" lIns="0" rIns="0" tIns="0" bIns="0" anchor="ctr" rtlCol="1">
            <a:spAutoFit/>
          </a:bodyPr>
          <a:lstStyle/>
          <a:p>
            <a:pPr algn="r" rtl="1" marL="0" indent="0">
              <a:spcAft>
                <a:spcPts val="400"/>
              </a:spcAft>
              <a:buNone/>
            </a:pPr>
            <a:r>
              <a:rPr lang="he-IL" sz="1400" b="0">
                <a:solidFill>
                  <a:srgbClr val="333F4A"/>
                </a:solidFill>
                <a:latin typeface="Arial Unicode MS"/>
                <a:ea typeface="Arial Unicode MS"/>
                <a:cs typeface="Arial Unicode MS"/>
              </a:rPr>
              <a:t>חישוב % עובר מצטבר והשוואה למעטפת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92240" y="3566160"/>
            <a:ext cx="2423160" cy="1600200"/>
          </a:xfrm>
          <a:prstGeom prst="roundRect">
            <a:avLst>
              <a:gd name="adj" fmla="val 8000"/>
            </a:avLst>
          </a:prstGeom>
          <a:solidFill>
            <a:srgbClr val="EAF3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0" y="3611880"/>
            <a:ext cx="2240280" cy="1508760"/>
          </a:xfrm>
          <a:prstGeom prst="rect">
            <a:avLst/>
          </a:prstGeom>
          <a:noFill/>
        </p:spPr>
        <p:txBody>
          <a:bodyPr wrap="square" lIns="0" rIns="0" tIns="0" bIns="0" anchor="ctr" rtlCol="1">
            <a:spAutoFit/>
          </a:bodyPr>
          <a:lstStyle/>
          <a:p>
            <a:pPr algn="ctr" rtl="1" marL="0" indent="0">
              <a:spcAft>
                <a:spcPts val="200"/>
              </a:spcAft>
              <a:buNone/>
            </a:pPr>
            <a:r>
              <a:rPr lang="he-IL" sz="1500" b="1">
                <a:solidFill>
                  <a:srgbClr val="003973"/>
                </a:solidFill>
                <a:latin typeface="Arial Unicode MS"/>
                <a:ea typeface="Arial Unicode MS"/>
                <a:cs typeface="Arial Unicode MS"/>
              </a:rPr>
              <a:t>מודול דקות FM</a:t>
            </a:r>
          </a:p>
          <a:p>
            <a:pPr algn="ctr" rtl="1" marL="0" indent="0">
              <a:spcAft>
                <a:spcPts val="200"/>
              </a:spcAft>
              <a:buNone/>
            </a:pPr>
            <a:r>
              <a:rPr lang="he-IL" sz="1200" b="0">
                <a:solidFill>
                  <a:srgbClr val="333F4A"/>
                </a:solidFill>
                <a:latin typeface="Arial Unicode MS"/>
                <a:ea typeface="Arial Unicode MS"/>
                <a:cs typeface="Arial Unicode MS"/>
              </a:rPr>
              <a:t>סכום ה-% הנשאר המצטבר על הנפות 0.15-4.75, חלקי 100</a:t>
            </a:r>
          </a:p>
          <a:p>
            <a:pPr algn="ctr" rtl="1" marL="0" indent="0">
              <a:spcAft>
                <a:spcPts val="200"/>
              </a:spcAft>
              <a:buNone/>
            </a:pPr>
            <a:r>
              <a:rPr lang="he-IL" sz="1400" b="1">
                <a:solidFill>
                  <a:srgbClr val="0081C8"/>
                </a:solidFill>
                <a:latin typeface="Arial Unicode MS"/>
                <a:ea typeface="Arial Unicode MS"/>
                <a:cs typeface="Arial Unicode MS"/>
              </a:rPr>
              <a:t>חול לבטון: 2.3-3.1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52560" y="3566160"/>
            <a:ext cx="2423160" cy="1600200"/>
          </a:xfrm>
          <a:prstGeom prst="roundRect">
            <a:avLst>
              <a:gd name="adj" fmla="val 8000"/>
            </a:avLst>
          </a:prstGeom>
          <a:solidFill>
            <a:srgbClr val="EAF3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0" y="3611880"/>
            <a:ext cx="2240280" cy="1508760"/>
          </a:xfrm>
          <a:prstGeom prst="rect">
            <a:avLst/>
          </a:prstGeom>
          <a:noFill/>
        </p:spPr>
        <p:txBody>
          <a:bodyPr wrap="square" lIns="0" rIns="0" tIns="0" bIns="0" anchor="ctr" rtlCol="1">
            <a:spAutoFit/>
          </a:bodyPr>
          <a:lstStyle/>
          <a:p>
            <a:pPr algn="ctr" rtl="1" marL="0" indent="0">
              <a:spcAft>
                <a:spcPts val="200"/>
              </a:spcAft>
              <a:buNone/>
            </a:pPr>
            <a:r>
              <a:rPr lang="he-IL" sz="1500" b="1">
                <a:solidFill>
                  <a:srgbClr val="003973"/>
                </a:solidFill>
                <a:latin typeface="Arial Unicode MS"/>
                <a:ea typeface="Arial Unicode MS"/>
                <a:cs typeface="Arial Unicode MS"/>
              </a:rPr>
              <a:t>דקים מתחת ל-0.063</a:t>
            </a:r>
          </a:p>
          <a:p>
            <a:pPr algn="ctr" rtl="1" marL="0" indent="0">
              <a:spcAft>
                <a:spcPts val="200"/>
              </a:spcAft>
              <a:buNone/>
            </a:pPr>
            <a:r>
              <a:rPr lang="he-IL" sz="1200" b="0">
                <a:solidFill>
                  <a:srgbClr val="333F4A"/>
                </a:solidFill>
                <a:latin typeface="Arial Unicode MS"/>
                <a:ea typeface="Arial Unicode MS"/>
                <a:cs typeface="Arial Unicode MS"/>
              </a:rPr>
              <a:t>ASTM C33: עד 3% (שחיקה) / 5% (אחר); בחול גרוס נקי מחרסית: 5% / 7%</a:t>
            </a:r>
          </a:p>
          <a:p>
            <a:pPr algn="ctr" rtl="1" marL="0" indent="0">
              <a:spcAft>
                <a:spcPts val="200"/>
              </a:spcAft>
              <a:buNone/>
            </a:pPr>
            <a:r>
              <a:rPr lang="he-IL" sz="1200" b="0">
                <a:solidFill>
                  <a:srgbClr val="333F4A"/>
                </a:solidFill>
                <a:latin typeface="Arial Unicode MS"/>
                <a:ea typeface="Arial Unicode MS"/>
                <a:cs typeface="Arial Unicode MS"/>
              </a:rPr>
              <a:t>EN 12620: קטגוריה מוצהרת (f3, f10, f16...)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5257800"/>
            <a:ext cx="4983480" cy="274320"/>
          </a:xfrm>
          <a:prstGeom prst="rect">
            <a:avLst/>
          </a:prstGeom>
          <a:noFill/>
        </p:spPr>
        <p:txBody>
          <a:bodyPr wrap="square" lIns="0" rIns="0" tIns="0" bIns="0" anchor="t" rtlCol="1">
            <a:spAutoFit/>
          </a:bodyPr>
          <a:lstStyle/>
          <a:p>
            <a:pPr algn="r" rtl="1" marL="0" indent="0">
              <a:spcAft>
                <a:spcPts val="400"/>
              </a:spcAft>
              <a:buNone/>
            </a:pPr>
            <a:r>
              <a:rPr lang="he-IL" sz="1100" b="0">
                <a:solidFill>
                  <a:srgbClr val="5F6B76"/>
                </a:solidFill>
                <a:latin typeface="Arial Unicode MS"/>
                <a:ea typeface="Arial Unicode MS"/>
                <a:cs typeface="Arial Unicode MS"/>
              </a:rPr>
              <a:t>ערכי הדרישה טיפוסיים לפי EN 12620 / ASTM C33 ומפרטים מקובלים — לעדכן לפי ת"י 3 ומפרט המפעל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>
                <a:latin typeface="Arial Unicode MS"/>
                <a:ea typeface="Arial Unicode MS"/>
                <a:cs typeface="Arial Unicode MS"/>
              </a:rPr>
              <a:t>איכות הדקים: שווה חול וכחול מתילן</a:t>
            </a:r>
          </a:p>
        </p:txBody>
      </p:sp>
      <p:pic>
        <p:nvPicPr>
          <p:cNvPr id="3" name="Picture 2" descr="sand_eq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294107"/>
            <a:ext cx="3931920" cy="289818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88920" y="4434840"/>
            <a:ext cx="1965960" cy="548640"/>
          </a:xfrm>
          <a:prstGeom prst="rect">
            <a:avLst/>
          </a:prstGeom>
          <a:noFill/>
        </p:spPr>
        <p:txBody>
          <a:bodyPr wrap="square" lIns="0" rIns="0" tIns="0" bIns="0" anchor="t" rtlCol="1">
            <a:spAutoFit/>
          </a:bodyPr>
          <a:lstStyle/>
          <a:p>
            <a:pPr algn="ctr" rtl="1" marL="0" indent="0">
              <a:buNone/>
            </a:pPr>
            <a:r>
              <a:rPr lang="he-IL" sz="1400" b="1">
                <a:solidFill>
                  <a:srgbClr val="C62828"/>
                </a:solidFill>
                <a:latin typeface="Arial Unicode MS"/>
                <a:ea typeface="Arial Unicode MS"/>
                <a:cs typeface="Arial Unicode MS"/>
              </a:rPr>
              <a:t>חול חרסיתי</a:t>
            </a:r>
          </a:p>
          <a:p>
            <a:pPr algn="ctr" rtl="1" marL="0" indent="0">
              <a:buNone/>
            </a:pPr>
            <a:r>
              <a:rPr lang="he-IL" sz="1200" b="0">
                <a:solidFill>
                  <a:srgbClr val="333F4A"/>
                </a:solidFill>
                <a:latin typeface="Arial Unicode MS"/>
                <a:ea typeface="Arial Unicode MS"/>
                <a:cs typeface="Arial Unicode MS"/>
              </a:rPr>
              <a:t>SE נמוך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434840"/>
            <a:ext cx="1965960" cy="548640"/>
          </a:xfrm>
          <a:prstGeom prst="rect">
            <a:avLst/>
          </a:prstGeom>
          <a:noFill/>
        </p:spPr>
        <p:txBody>
          <a:bodyPr wrap="square" lIns="0" rIns="0" tIns="0" bIns="0" anchor="t" rtlCol="1">
            <a:spAutoFit/>
          </a:bodyPr>
          <a:lstStyle/>
          <a:p>
            <a:pPr algn="ctr" rtl="1" marL="0" indent="0">
              <a:buNone/>
            </a:pPr>
            <a:r>
              <a:rPr lang="he-IL" sz="1400" b="1">
                <a:solidFill>
                  <a:srgbClr val="2E7D32"/>
                </a:solidFill>
                <a:latin typeface="Arial Unicode MS"/>
                <a:ea typeface="Arial Unicode MS"/>
                <a:cs typeface="Arial Unicode MS"/>
              </a:rPr>
              <a:t>חול נקי</a:t>
            </a:r>
          </a:p>
          <a:p>
            <a:pPr algn="ctr" rtl="1" marL="0" indent="0">
              <a:buNone/>
            </a:pPr>
            <a:r>
              <a:rPr lang="he-IL" sz="1200" b="0">
                <a:solidFill>
                  <a:srgbClr val="333F4A"/>
                </a:solidFill>
                <a:latin typeface="Arial Unicode MS"/>
                <a:ea typeface="Arial Unicode MS"/>
                <a:cs typeface="Arial Unicode MS"/>
              </a:rPr>
              <a:t>SE גבוה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83879" y="1097280"/>
            <a:ext cx="3291840" cy="4023360"/>
          </a:xfrm>
          <a:prstGeom prst="roundRect">
            <a:avLst>
              <a:gd name="adj" fmla="val 8000"/>
            </a:avLst>
          </a:prstGeom>
          <a:solidFill>
            <a:srgbClr val="EAF3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21040" y="1188720"/>
            <a:ext cx="3017520" cy="411480"/>
          </a:xfrm>
          <a:prstGeom prst="rect">
            <a:avLst/>
          </a:prstGeom>
          <a:noFill/>
        </p:spPr>
        <p:txBody>
          <a:bodyPr wrap="square" lIns="0" rIns="0" tIns="0" bIns="0" anchor="t" rtlCol="1">
            <a:spAutoFit/>
          </a:bodyPr>
          <a:lstStyle/>
          <a:p>
            <a:pPr algn="r" rtl="1" marL="0" indent="0">
              <a:spcAft>
                <a:spcPts val="400"/>
              </a:spcAft>
              <a:buNone/>
            </a:pPr>
            <a:r>
              <a:rPr lang="he-IL" sz="1900" b="1">
                <a:solidFill>
                  <a:srgbClr val="003973"/>
                </a:solidFill>
                <a:latin typeface="Arial Unicode MS"/>
                <a:ea typeface="Arial Unicode MS"/>
                <a:cs typeface="Arial Unicode MS"/>
              </a:rPr>
              <a:t>שווה חול (SE)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0" y="1600200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algn="r" rtl="0" marL="0" indent="0">
              <a:spcAft>
                <a:spcPts val="400"/>
              </a:spcAft>
              <a:buNone/>
            </a:pPr>
            <a:r>
              <a:rPr lang="he-IL" sz="1200" b="0">
                <a:solidFill>
                  <a:srgbClr val="5F6B76"/>
                </a:solidFill>
                <a:latin typeface="Arial Unicode MS"/>
                <a:ea typeface="Arial Unicode MS"/>
                <a:cs typeface="Arial Unicode MS"/>
              </a:rPr>
              <a:t>EN 933-8 | ASTM D2419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21040" y="1965960"/>
            <a:ext cx="3017520" cy="1463040"/>
          </a:xfrm>
          <a:prstGeom prst="rect">
            <a:avLst/>
          </a:prstGeom>
          <a:noFill/>
        </p:spPr>
        <p:txBody>
          <a:bodyPr wrap="square" lIns="0" rIns="0" tIns="0" bIns="0" anchor="t" rtlCol="1">
            <a:spAutoFit/>
          </a:bodyPr>
          <a:lstStyle/>
          <a:p>
            <a:pPr algn="r" rtl="1" marL="228600" indent="-228600">
              <a:spcAft>
                <a:spcPts val="300"/>
              </a:spcAft>
              <a:buFont typeface="Arial"/>
              <a:buChar char="•"/>
            </a:pPr>
            <a:r>
              <a:rPr lang="he-IL" sz="1300" b="0">
                <a:solidFill>
                  <a:srgbClr val="333F4A"/>
                </a:solidFill>
                <a:latin typeface="Arial Unicode MS"/>
                <a:ea typeface="Arial Unicode MS"/>
                <a:cs typeface="Arial Unicode MS"/>
              </a:rPr>
              <a:t>חול 0/2 בתמיסה מפרידה בגליל מדורג</a:t>
            </a:r>
          </a:p>
          <a:p>
            <a:pPr algn="r" rtl="1" marL="228600" indent="-228600">
              <a:spcAft>
                <a:spcPts val="300"/>
              </a:spcAft>
              <a:buFont typeface="Arial"/>
              <a:buChar char="•"/>
            </a:pPr>
            <a:r>
              <a:rPr lang="he-IL" sz="1300" b="0">
                <a:solidFill>
                  <a:srgbClr val="333F4A"/>
                </a:solidFill>
                <a:latin typeface="Arial Unicode MS"/>
                <a:ea typeface="Arial Unicode MS"/>
                <a:cs typeface="Arial Unicode MS"/>
              </a:rPr>
              <a:t>ניעור ממוכן ושקיעה של 20 דקות</a:t>
            </a:r>
          </a:p>
          <a:p>
            <a:pPr algn="r" rtl="1" marL="228600" indent="-228600">
              <a:spcAft>
                <a:spcPts val="300"/>
              </a:spcAft>
              <a:buFont typeface="Arial"/>
              <a:buChar char="•"/>
            </a:pPr>
            <a:r>
              <a:rPr lang="he-IL" sz="1300" b="0">
                <a:solidFill>
                  <a:srgbClr val="333F4A"/>
                </a:solidFill>
                <a:latin typeface="Arial Unicode MS"/>
                <a:ea typeface="Arial Unicode MS"/>
                <a:cs typeface="Arial Unicode MS"/>
              </a:rPr>
              <a:t>מודדים את גובה החרסית (h1) ואת גובה החול (h2)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366759" y="3520440"/>
            <a:ext cx="2926080" cy="548640"/>
          </a:xfrm>
          <a:prstGeom prst="roundRect">
            <a:avLst>
              <a:gd name="adj" fmla="val 8000"/>
            </a:avLst>
          </a:prstGeom>
          <a:solidFill>
            <a:srgbClr val="003973"/>
          </a:solidFill>
          <a:ln>
            <a:noFill/>
          </a:ln>
        </p:spPr>
        <p:txBody>
          <a:bodyPr rtlCol="0" anchor="ctr" wrap="square" lIns="45720" rIns="45720" tIns="18288" bIns="18288"/>
          <a:lstStyle/>
          <a:p>
            <a:pPr algn="ctr" rtl="1" marL="0" indent="0">
              <a:buNone/>
            </a:pPr>
            <a:r>
              <a:rPr lang="he-IL" sz="15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SE = h2 / h1 × 100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0" y="4206240"/>
            <a:ext cx="3017520" cy="777240"/>
          </a:xfrm>
          <a:prstGeom prst="rect">
            <a:avLst/>
          </a:prstGeom>
          <a:noFill/>
        </p:spPr>
        <p:txBody>
          <a:bodyPr wrap="square" lIns="0" rIns="0" tIns="0" bIns="0" anchor="ctr" rtlCol="1">
            <a:spAutoFit/>
          </a:bodyPr>
          <a:lstStyle/>
          <a:p>
            <a:pPr algn="ctr" rtl="1" marL="0" indent="0">
              <a:spcAft>
                <a:spcPts val="400"/>
              </a:spcAft>
              <a:buNone/>
            </a:pPr>
            <a:r>
              <a:rPr lang="he-IL" sz="1400" b="1">
                <a:solidFill>
                  <a:srgbClr val="0081C8"/>
                </a:solidFill>
                <a:latin typeface="Arial Unicode MS"/>
                <a:ea typeface="Arial Unicode MS"/>
                <a:cs typeface="Arial Unicode MS"/>
              </a:rPr>
              <a:t>טיפוסי במפרטים: SE ≥ 60-70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754879" y="1097280"/>
            <a:ext cx="3291840" cy="4023360"/>
          </a:xfrm>
          <a:prstGeom prst="roundRect">
            <a:avLst>
              <a:gd name="adj" fmla="val 8000"/>
            </a:avLst>
          </a:prstGeom>
          <a:solidFill>
            <a:srgbClr val="EAF3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92040" y="1188720"/>
            <a:ext cx="3017520" cy="411480"/>
          </a:xfrm>
          <a:prstGeom prst="rect">
            <a:avLst/>
          </a:prstGeom>
          <a:noFill/>
        </p:spPr>
        <p:txBody>
          <a:bodyPr wrap="square" lIns="0" rIns="0" tIns="0" bIns="0" anchor="t" rtlCol="1">
            <a:spAutoFit/>
          </a:bodyPr>
          <a:lstStyle/>
          <a:p>
            <a:pPr algn="r" rtl="1" marL="0" indent="0">
              <a:spcAft>
                <a:spcPts val="400"/>
              </a:spcAft>
              <a:buNone/>
            </a:pPr>
            <a:r>
              <a:rPr lang="he-IL" sz="1900" b="1">
                <a:solidFill>
                  <a:srgbClr val="003973"/>
                </a:solidFill>
                <a:latin typeface="Arial Unicode MS"/>
                <a:ea typeface="Arial Unicode MS"/>
                <a:cs typeface="Arial Unicode MS"/>
              </a:rPr>
              <a:t>כחול מתילן (MB)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92040" y="1600200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algn="r" rtl="0" marL="0" indent="0">
              <a:spcAft>
                <a:spcPts val="400"/>
              </a:spcAft>
              <a:buNone/>
            </a:pPr>
            <a:r>
              <a:rPr lang="he-IL" sz="1200" b="0">
                <a:solidFill>
                  <a:srgbClr val="5F6B76"/>
                </a:solidFill>
                <a:latin typeface="Arial Unicode MS"/>
                <a:ea typeface="Arial Unicode MS"/>
                <a:cs typeface="Arial Unicode MS"/>
              </a:rPr>
              <a:t>EN 933-9 | ASTM C837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92040" y="1965960"/>
            <a:ext cx="3017520" cy="1463040"/>
          </a:xfrm>
          <a:prstGeom prst="rect">
            <a:avLst/>
          </a:prstGeom>
          <a:noFill/>
        </p:spPr>
        <p:txBody>
          <a:bodyPr wrap="square" lIns="0" rIns="0" tIns="0" bIns="0" anchor="t" rtlCol="1">
            <a:spAutoFit/>
          </a:bodyPr>
          <a:lstStyle/>
          <a:p>
            <a:pPr algn="r" rtl="1" marL="228600" indent="-228600">
              <a:spcAft>
                <a:spcPts val="300"/>
              </a:spcAft>
              <a:buFont typeface="Arial"/>
              <a:buChar char="•"/>
            </a:pPr>
            <a:r>
              <a:rPr lang="he-IL" sz="1300" b="0">
                <a:solidFill>
                  <a:srgbClr val="333F4A"/>
                </a:solidFill>
                <a:latin typeface="Arial Unicode MS"/>
                <a:ea typeface="Arial Unicode MS"/>
                <a:cs typeface="Arial Unicode MS"/>
              </a:rPr>
              <a:t>חלקיק 0/2 בתרחיף מים</a:t>
            </a:r>
          </a:p>
          <a:p>
            <a:pPr algn="r" rtl="1" marL="228600" indent="-228600">
              <a:spcAft>
                <a:spcPts val="300"/>
              </a:spcAft>
              <a:buFont typeface="Arial"/>
              <a:buChar char="•"/>
            </a:pPr>
            <a:r>
              <a:rPr lang="he-IL" sz="1300" b="0">
                <a:solidFill>
                  <a:srgbClr val="333F4A"/>
                </a:solidFill>
                <a:latin typeface="Arial Unicode MS"/>
                <a:ea typeface="Arial Unicode MS"/>
                <a:cs typeface="Arial Unicode MS"/>
              </a:rPr>
              <a:t>טיטרציה במנות של תמיסת כחול מתילן</a:t>
            </a:r>
          </a:p>
          <a:p>
            <a:pPr algn="r" rtl="1" marL="228600" indent="-228600">
              <a:spcAft>
                <a:spcPts val="300"/>
              </a:spcAft>
              <a:buFont typeface="Arial"/>
              <a:buChar char="•"/>
            </a:pPr>
            <a:r>
              <a:rPr lang="he-IL" sz="1300" b="0">
                <a:solidFill>
                  <a:srgbClr val="333F4A"/>
                </a:solidFill>
                <a:latin typeface="Arial Unicode MS"/>
                <a:ea typeface="Arial Unicode MS"/>
                <a:cs typeface="Arial Unicode MS"/>
              </a:rPr>
              <a:t>בדיקת "הילה" על נייר סינון עד רוויה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937759" y="3520440"/>
            <a:ext cx="2926080" cy="548640"/>
          </a:xfrm>
          <a:prstGeom prst="roundRect">
            <a:avLst>
              <a:gd name="adj" fmla="val 8000"/>
            </a:avLst>
          </a:prstGeom>
          <a:solidFill>
            <a:srgbClr val="003973"/>
          </a:solidFill>
          <a:ln>
            <a:noFill/>
          </a:ln>
        </p:spPr>
        <p:txBody>
          <a:bodyPr rtlCol="0" anchor="ctr" wrap="square" lIns="45720" rIns="45720" tIns="18288" bIns="18288"/>
          <a:lstStyle/>
          <a:p>
            <a:pPr algn="ctr" rtl="1" marL="0" indent="0">
              <a:buNone/>
            </a:pPr>
            <a:r>
              <a:rPr lang="he-IL" sz="15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MB = גרם צבע לק"ג חומר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92040" y="4206240"/>
            <a:ext cx="3017520" cy="777240"/>
          </a:xfrm>
          <a:prstGeom prst="rect">
            <a:avLst/>
          </a:prstGeom>
          <a:noFill/>
        </p:spPr>
        <p:txBody>
          <a:bodyPr wrap="square" lIns="0" rIns="0" tIns="0" bIns="0" anchor="ctr" rtlCol="1">
            <a:spAutoFit/>
          </a:bodyPr>
          <a:lstStyle/>
          <a:p>
            <a:pPr algn="ctr" rtl="1" marL="0" indent="0">
              <a:spcAft>
                <a:spcPts val="400"/>
              </a:spcAft>
              <a:buNone/>
            </a:pPr>
            <a:r>
              <a:rPr lang="he-IL" sz="1400" b="1">
                <a:solidFill>
                  <a:srgbClr val="0081C8"/>
                </a:solidFill>
                <a:latin typeface="Arial Unicode MS"/>
                <a:ea typeface="Arial Unicode MS"/>
                <a:cs typeface="Arial Unicode MS"/>
              </a:rPr>
              <a:t>טיפוסי במפרטים: MB ≤ 1.0-2.0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5303520"/>
            <a:ext cx="8183879" cy="566928"/>
          </a:xfrm>
          <a:prstGeom prst="roundRect">
            <a:avLst>
              <a:gd name="adj" fmla="val 8000"/>
            </a:avLst>
          </a:prstGeom>
          <a:solidFill>
            <a:srgbClr val="00397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394192" y="5358383"/>
            <a:ext cx="457200" cy="457200"/>
          </a:xfrm>
          <a:prstGeom prst="ellipse">
            <a:avLst/>
          </a:prstGeom>
          <a:solidFill>
            <a:srgbClr val="C4D8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0" name="Picture 19" descr="FaLightbulb_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19" y="5468112"/>
            <a:ext cx="237744" cy="237744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051560" y="5303520"/>
            <a:ext cx="7269479" cy="566928"/>
          </a:xfrm>
          <a:prstGeom prst="rect">
            <a:avLst/>
          </a:prstGeom>
          <a:noFill/>
        </p:spPr>
        <p:txBody>
          <a:bodyPr wrap="square" lIns="0" rIns="0" tIns="0" bIns="0" anchor="ctr" rtlCol="1">
            <a:spAutoFit/>
          </a:bodyPr>
          <a:lstStyle/>
          <a:p>
            <a:pPr algn="r" rtl="1" marL="0" indent="0">
              <a:spcAft>
                <a:spcPts val="400"/>
              </a:spcAft>
              <a:buNone/>
            </a:pPr>
            <a:r>
              <a:rPr lang="he-IL" sz="17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SE מסנן מהר; MB מבדיל בין אבק אבן תקין לחרסית מזיקה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>
                <a:latin typeface="Arial Unicode MS"/>
                <a:ea typeface="Arial Unicode MS"/>
                <a:cs typeface="Arial Unicode MS"/>
              </a:rPr>
              <a:t>צפיפות, ספיגות ותיקון מים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92240" y="1051560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 anchor="t" rtlCol="1">
            <a:spAutoFit/>
          </a:bodyPr>
          <a:lstStyle/>
          <a:p>
            <a:pPr algn="r" rtl="1" marL="0" indent="0">
              <a:spcAft>
                <a:spcPts val="400"/>
              </a:spcAft>
              <a:buNone/>
            </a:pPr>
            <a:r>
              <a:rPr lang="he-IL" sz="1600" b="1">
                <a:solidFill>
                  <a:srgbClr val="003973"/>
                </a:solidFill>
                <a:latin typeface="Arial Unicode MS"/>
                <a:ea typeface="Arial Unicode MS"/>
                <a:cs typeface="Arial Unicode MS"/>
              </a:rPr>
              <a:t>אופן הביצוע (EN 1097-6 | ASTM C127/C128)</a:t>
            </a:r>
          </a:p>
        </p:txBody>
      </p:sp>
      <p:sp>
        <p:nvSpPr>
          <p:cNvPr id="4" name="Oval 3"/>
          <p:cNvSpPr/>
          <p:nvPr/>
        </p:nvSpPr>
        <p:spPr>
          <a:xfrm>
            <a:off x="11109960" y="1536192"/>
            <a:ext cx="365760" cy="365760"/>
          </a:xfrm>
          <a:prstGeom prst="ellipse">
            <a:avLst/>
          </a:prstGeom>
          <a:solidFill>
            <a:srgbClr val="0081C8"/>
          </a:solidFill>
          <a:ln>
            <a:noFill/>
          </a:ln>
        </p:spPr>
        <p:txBody>
          <a:bodyPr rtlCol="0" anchor="ctr" wrap="square" lIns="0" rIns="0" tIns="18288" bIns="18288"/>
          <a:lstStyle/>
          <a:p>
            <a:pPr algn="ctr" rtl="1" marL="0" indent="0">
              <a:buNone/>
            </a:pPr>
            <a:r>
              <a:rPr lang="he-IL" sz="14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92240" y="1463040"/>
            <a:ext cx="4480559" cy="448056"/>
          </a:xfrm>
          <a:prstGeom prst="rect">
            <a:avLst/>
          </a:prstGeom>
          <a:noFill/>
        </p:spPr>
        <p:txBody>
          <a:bodyPr wrap="square" lIns="0" rIns="0" tIns="0" bIns="0" anchor="ctr" rtlCol="1">
            <a:spAutoFit/>
          </a:bodyPr>
          <a:lstStyle/>
          <a:p>
            <a:pPr algn="r" rtl="1" marL="0" indent="0">
              <a:spcAft>
                <a:spcPts val="400"/>
              </a:spcAft>
              <a:buNone/>
            </a:pPr>
            <a:r>
              <a:rPr lang="he-IL" sz="1400" b="0">
                <a:solidFill>
                  <a:srgbClr val="333F4A"/>
                </a:solidFill>
                <a:latin typeface="Arial Unicode MS"/>
                <a:ea typeface="Arial Unicode MS"/>
                <a:cs typeface="Arial Unicode MS"/>
              </a:rPr>
              <a:t>השריה במים 24 שעות</a:t>
            </a:r>
          </a:p>
        </p:txBody>
      </p:sp>
      <p:sp>
        <p:nvSpPr>
          <p:cNvPr id="6" name="Oval 5"/>
          <p:cNvSpPr/>
          <p:nvPr/>
        </p:nvSpPr>
        <p:spPr>
          <a:xfrm>
            <a:off x="11109960" y="2039112"/>
            <a:ext cx="365760" cy="365760"/>
          </a:xfrm>
          <a:prstGeom prst="ellipse">
            <a:avLst/>
          </a:prstGeom>
          <a:solidFill>
            <a:srgbClr val="0081C8"/>
          </a:solidFill>
          <a:ln>
            <a:noFill/>
          </a:ln>
        </p:spPr>
        <p:txBody>
          <a:bodyPr rtlCol="0" anchor="ctr" wrap="square" lIns="0" rIns="0" tIns="18288" bIns="18288"/>
          <a:lstStyle/>
          <a:p>
            <a:pPr algn="ctr" rtl="1" marL="0" indent="0">
              <a:buNone/>
            </a:pPr>
            <a:r>
              <a:rPr lang="he-IL" sz="14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92240" y="1965960"/>
            <a:ext cx="4480559" cy="448056"/>
          </a:xfrm>
          <a:prstGeom prst="rect">
            <a:avLst/>
          </a:prstGeom>
          <a:noFill/>
        </p:spPr>
        <p:txBody>
          <a:bodyPr wrap="square" lIns="0" rIns="0" tIns="0" bIns="0" anchor="ctr" rtlCol="1">
            <a:spAutoFit/>
          </a:bodyPr>
          <a:lstStyle/>
          <a:p>
            <a:pPr algn="r" rtl="1" marL="0" indent="0">
              <a:spcAft>
                <a:spcPts val="400"/>
              </a:spcAft>
              <a:buNone/>
            </a:pPr>
            <a:r>
              <a:rPr lang="he-IL" sz="1400" b="0">
                <a:solidFill>
                  <a:srgbClr val="333F4A"/>
                </a:solidFill>
                <a:latin typeface="Arial Unicode MS"/>
                <a:ea typeface="Arial Unicode MS"/>
                <a:cs typeface="Arial Unicode MS"/>
              </a:rPr>
              <a:t>ייבוש פני השטח עד מצב רווי-יבש-פנים (SSD)</a:t>
            </a:r>
          </a:p>
        </p:txBody>
      </p:sp>
      <p:sp>
        <p:nvSpPr>
          <p:cNvPr id="8" name="Oval 7"/>
          <p:cNvSpPr/>
          <p:nvPr/>
        </p:nvSpPr>
        <p:spPr>
          <a:xfrm>
            <a:off x="11109960" y="2542032"/>
            <a:ext cx="365760" cy="365760"/>
          </a:xfrm>
          <a:prstGeom prst="ellipse">
            <a:avLst/>
          </a:prstGeom>
          <a:solidFill>
            <a:srgbClr val="0081C8"/>
          </a:solidFill>
          <a:ln>
            <a:noFill/>
          </a:ln>
        </p:spPr>
        <p:txBody>
          <a:bodyPr rtlCol="0" anchor="ctr" wrap="square" lIns="0" rIns="0" tIns="18288" bIns="18288"/>
          <a:lstStyle/>
          <a:p>
            <a:pPr algn="ctr" rtl="1" marL="0" indent="0">
              <a:buNone/>
            </a:pPr>
            <a:r>
              <a:rPr lang="he-IL" sz="14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2468880"/>
            <a:ext cx="4480559" cy="448056"/>
          </a:xfrm>
          <a:prstGeom prst="rect">
            <a:avLst/>
          </a:prstGeom>
          <a:noFill/>
        </p:spPr>
        <p:txBody>
          <a:bodyPr wrap="square" lIns="0" rIns="0" tIns="0" bIns="0" anchor="ctr" rtlCol="1">
            <a:spAutoFit/>
          </a:bodyPr>
          <a:lstStyle/>
          <a:p>
            <a:pPr algn="r" rtl="1" marL="0" indent="0">
              <a:spcAft>
                <a:spcPts val="400"/>
              </a:spcAft>
              <a:buNone/>
            </a:pPr>
            <a:r>
              <a:rPr lang="he-IL" sz="1400" b="0">
                <a:solidFill>
                  <a:srgbClr val="333F4A"/>
                </a:solidFill>
                <a:latin typeface="Arial Unicode MS"/>
                <a:ea typeface="Arial Unicode MS"/>
                <a:cs typeface="Arial Unicode MS"/>
              </a:rPr>
              <a:t>שקילה במצב SSD ושקילה בתוך מים (סל / פיקנומטר)</a:t>
            </a:r>
          </a:p>
        </p:txBody>
      </p:sp>
      <p:sp>
        <p:nvSpPr>
          <p:cNvPr id="10" name="Oval 9"/>
          <p:cNvSpPr/>
          <p:nvPr/>
        </p:nvSpPr>
        <p:spPr>
          <a:xfrm>
            <a:off x="11109960" y="3044952"/>
            <a:ext cx="365760" cy="365760"/>
          </a:xfrm>
          <a:prstGeom prst="ellipse">
            <a:avLst/>
          </a:prstGeom>
          <a:solidFill>
            <a:srgbClr val="0081C8"/>
          </a:solidFill>
          <a:ln>
            <a:noFill/>
          </a:ln>
        </p:spPr>
        <p:txBody>
          <a:bodyPr rtlCol="0" anchor="ctr" wrap="square" lIns="0" rIns="0" tIns="18288" bIns="18288"/>
          <a:lstStyle/>
          <a:p>
            <a:pPr algn="ctr" rtl="1" marL="0" indent="0">
              <a:buNone/>
            </a:pPr>
            <a:r>
              <a:rPr lang="he-IL" sz="14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971800"/>
            <a:ext cx="4480559" cy="448056"/>
          </a:xfrm>
          <a:prstGeom prst="rect">
            <a:avLst/>
          </a:prstGeom>
          <a:noFill/>
        </p:spPr>
        <p:txBody>
          <a:bodyPr wrap="square" lIns="0" rIns="0" tIns="0" bIns="0" anchor="ctr" rtlCol="1">
            <a:spAutoFit/>
          </a:bodyPr>
          <a:lstStyle/>
          <a:p>
            <a:pPr algn="r" rtl="1" marL="0" indent="0">
              <a:spcAft>
                <a:spcPts val="400"/>
              </a:spcAft>
              <a:buNone/>
            </a:pPr>
            <a:r>
              <a:rPr lang="he-IL" sz="1400" b="0">
                <a:solidFill>
                  <a:srgbClr val="333F4A"/>
                </a:solidFill>
                <a:latin typeface="Arial Unicode MS"/>
                <a:ea typeface="Arial Unicode MS"/>
                <a:cs typeface="Arial Unicode MS"/>
              </a:rPr>
              <a:t>ייבוש בתנור ושקילה יבשה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92240" y="3566160"/>
            <a:ext cx="4983480" cy="685800"/>
          </a:xfrm>
          <a:prstGeom prst="roundRect">
            <a:avLst>
              <a:gd name="adj" fmla="val 8000"/>
            </a:avLst>
          </a:prstGeom>
          <a:solidFill>
            <a:srgbClr val="00397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0" y="3584448"/>
            <a:ext cx="4800600" cy="640080"/>
          </a:xfrm>
          <a:prstGeom prst="rect">
            <a:avLst/>
          </a:prstGeom>
          <a:noFill/>
        </p:spPr>
        <p:txBody>
          <a:bodyPr wrap="square" lIns="0" rIns="0" tIns="0" bIns="0" anchor="ctr" rtlCol="1">
            <a:spAutoFit/>
          </a:bodyPr>
          <a:lstStyle/>
          <a:p>
            <a:pPr algn="ctr" rtl="0" marL="0" indent="0">
              <a:spcAft>
                <a:spcPts val="400"/>
              </a:spcAft>
              <a:buNone/>
            </a:pPr>
            <a:r>
              <a:rPr lang="he-IL" sz="17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WA24 = (M_SSD − M_dry) / M_dry × 100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4389120"/>
            <a:ext cx="4983480" cy="777240"/>
          </a:xfrm>
          <a:prstGeom prst="rect">
            <a:avLst/>
          </a:prstGeom>
          <a:noFill/>
        </p:spPr>
        <p:txBody>
          <a:bodyPr wrap="square" lIns="0" rIns="0" tIns="0" bIns="0" anchor="t" rtlCol="1">
            <a:spAutoFit/>
          </a:bodyPr>
          <a:lstStyle/>
          <a:p>
            <a:pPr algn="r" rtl="1" marL="228600" indent="-228600">
              <a:spcAft>
                <a:spcPts val="400"/>
              </a:spcAft>
              <a:buFont typeface="Arial"/>
              <a:buChar char="•"/>
            </a:pPr>
            <a:r>
              <a:rPr lang="he-IL" sz="1400" b="0">
                <a:solidFill>
                  <a:srgbClr val="333F4A"/>
                </a:solidFill>
                <a:latin typeface="Arial Unicode MS"/>
                <a:ea typeface="Arial Unicode MS"/>
                <a:cs typeface="Arial Unicode MS"/>
              </a:rPr>
              <a:t>גיר/דולומיט איכותי: ספיגות 0.5-2%</a:t>
            </a:r>
          </a:p>
          <a:p>
            <a:pPr algn="r" rtl="1" marL="228600" indent="-228600">
              <a:spcAft>
                <a:spcPts val="400"/>
              </a:spcAft>
              <a:buFont typeface="Arial"/>
              <a:buChar char="•"/>
            </a:pPr>
            <a:r>
              <a:rPr lang="he-IL" sz="1400" b="0">
                <a:solidFill>
                  <a:srgbClr val="333F4A"/>
                </a:solidFill>
                <a:latin typeface="Arial Unicode MS"/>
                <a:ea typeface="Arial Unicode MS"/>
                <a:cs typeface="Arial Unicode MS"/>
              </a:rPr>
              <a:t>מעל ~3%: סימן לסלע נקבובי או חלש — לבירור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1097280"/>
            <a:ext cx="5394960" cy="4069080"/>
          </a:xfrm>
          <a:prstGeom prst="roundRect">
            <a:avLst>
              <a:gd name="adj" fmla="val 8000"/>
            </a:avLst>
          </a:prstGeom>
          <a:solidFill>
            <a:srgbClr val="F3F5F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1188720"/>
            <a:ext cx="5029200" cy="411480"/>
          </a:xfrm>
          <a:prstGeom prst="rect">
            <a:avLst/>
          </a:prstGeom>
          <a:noFill/>
        </p:spPr>
        <p:txBody>
          <a:bodyPr wrap="square" lIns="0" rIns="0" tIns="0" bIns="0" anchor="t" rtlCol="1">
            <a:spAutoFit/>
          </a:bodyPr>
          <a:lstStyle/>
          <a:p>
            <a:pPr algn="r" rtl="1" marL="0" indent="0">
              <a:spcAft>
                <a:spcPts val="400"/>
              </a:spcAft>
              <a:buNone/>
            </a:pPr>
            <a:r>
              <a:rPr lang="he-IL" sz="1800" b="1">
                <a:solidFill>
                  <a:srgbClr val="003973"/>
                </a:solidFill>
                <a:latin typeface="Arial Unicode MS"/>
                <a:ea typeface="Arial Unicode MS"/>
                <a:cs typeface="Arial Unicode MS"/>
              </a:rPr>
              <a:t>דוגמה: תיקון לחות יומי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1005840" y="1691640"/>
          <a:ext cx="5029200" cy="175564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188720"/>
                <a:gridCol w="914400"/>
                <a:gridCol w="914400"/>
                <a:gridCol w="1097280"/>
                <a:gridCol w="914400"/>
              </a:tblGrid>
              <a:tr h="438912">
                <a:tc>
                  <a:txBody>
                    <a:bodyPr wrap="square"/>
                    <a:lstStyle/>
                    <a:p>
                      <a:pPr algn="ctr" rtl="1" marL="0" indent="0">
                        <a:buNone/>
                      </a:pPr>
                      <a:r>
                        <a:rPr lang="he-IL" sz="140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מים חופשיים</a:t>
                      </a:r>
                    </a:p>
                  </a:txBody>
                  <a:tcPr marL="73152" marR="73152" marT="36576" marB="36576" anchor="ctr">
                    <a:solidFill>
                      <a:srgbClr val="0081C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 marL="0" indent="0">
                        <a:buNone/>
                      </a:pPr>
                      <a:r>
                        <a:rPr lang="he-IL" sz="140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ספיגות</a:t>
                      </a:r>
                    </a:p>
                  </a:txBody>
                  <a:tcPr marL="73152" marR="73152" marT="36576" marB="36576" anchor="ctr">
                    <a:solidFill>
                      <a:srgbClr val="0081C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 marL="0" indent="0">
                        <a:buNone/>
                      </a:pPr>
                      <a:r>
                        <a:rPr lang="he-IL" sz="140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לחות</a:t>
                      </a:r>
                    </a:p>
                  </a:txBody>
                  <a:tcPr marL="73152" marR="73152" marT="36576" marB="36576" anchor="ctr">
                    <a:solidFill>
                      <a:srgbClr val="0081C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 marL="0" indent="0">
                        <a:buNone/>
                      </a:pPr>
                      <a:r>
                        <a:rPr lang="he-IL" sz="140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כמות (ק"ג)</a:t>
                      </a:r>
                    </a:p>
                  </a:txBody>
                  <a:tcPr marL="73152" marR="73152" marT="36576" marB="36576" anchor="ctr">
                    <a:solidFill>
                      <a:srgbClr val="0081C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 marL="0" indent="0">
                        <a:buNone/>
                      </a:pPr>
                      <a:r>
                        <a:rPr lang="he-IL" sz="140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חומר</a:t>
                      </a:r>
                    </a:p>
                  </a:txBody>
                  <a:tcPr marL="73152" marR="73152" marT="36576" marB="36576" anchor="ctr">
                    <a:solidFill>
                      <a:srgbClr val="0081C8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ctr" rtl="1" marL="0" indent="0">
                        <a:buNone/>
                      </a:pPr>
                      <a:r>
                        <a:rPr lang="he-IL" sz="1400" b="0">
                          <a:solidFill>
                            <a:srgbClr val="333F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+28 ל'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 marL="0" indent="0">
                        <a:buNone/>
                      </a:pPr>
                      <a:r>
                        <a:rPr lang="he-IL" sz="1400" b="0">
                          <a:solidFill>
                            <a:srgbClr val="333F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1.5%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 marL="0" indent="0">
                        <a:buNone/>
                      </a:pPr>
                      <a:r>
                        <a:rPr lang="he-IL" sz="1400" b="0">
                          <a:solidFill>
                            <a:srgbClr val="333F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5.0%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 marL="0" indent="0">
                        <a:buNone/>
                      </a:pPr>
                      <a:r>
                        <a:rPr lang="he-IL" sz="1400" b="0">
                          <a:solidFill>
                            <a:srgbClr val="333F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800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 marL="0" indent="0">
                        <a:buNone/>
                      </a:pPr>
                      <a:r>
                        <a:rPr lang="he-IL" sz="1400" b="1">
                          <a:solidFill>
                            <a:srgbClr val="333F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חול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ctr" rtl="1" marL="0" indent="0">
                        <a:buNone/>
                      </a:pPr>
                      <a:r>
                        <a:rPr lang="he-IL" sz="1400" b="0">
                          <a:solidFill>
                            <a:srgbClr val="333F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−7 ל'</a:t>
                      </a:r>
                    </a:p>
                  </a:txBody>
                  <a:tcPr marL="73152" marR="73152" marT="36576" marB="36576" anchor="ctr">
                    <a:solidFill>
                      <a:srgbClr val="F3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 marL="0" indent="0">
                        <a:buNone/>
                      </a:pPr>
                      <a:r>
                        <a:rPr lang="he-IL" sz="1400" b="0">
                          <a:solidFill>
                            <a:srgbClr val="333F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1.2%</a:t>
                      </a:r>
                    </a:p>
                  </a:txBody>
                  <a:tcPr marL="73152" marR="73152" marT="36576" marB="36576" anchor="ctr">
                    <a:solidFill>
                      <a:srgbClr val="F3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 marL="0" indent="0">
                        <a:buNone/>
                      </a:pPr>
                      <a:r>
                        <a:rPr lang="he-IL" sz="1400" b="0">
                          <a:solidFill>
                            <a:srgbClr val="333F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0.5%</a:t>
                      </a:r>
                    </a:p>
                  </a:txBody>
                  <a:tcPr marL="73152" marR="73152" marT="36576" marB="36576" anchor="ctr">
                    <a:solidFill>
                      <a:srgbClr val="F3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 marL="0" indent="0">
                        <a:buNone/>
                      </a:pPr>
                      <a:r>
                        <a:rPr lang="he-IL" sz="1400" b="0">
                          <a:solidFill>
                            <a:srgbClr val="333F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1,000</a:t>
                      </a:r>
                    </a:p>
                  </a:txBody>
                  <a:tcPr marL="73152" marR="73152" marT="36576" marB="36576" anchor="ctr">
                    <a:solidFill>
                      <a:srgbClr val="F3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 marL="0" indent="0">
                        <a:buNone/>
                      </a:pPr>
                      <a:r>
                        <a:rPr lang="he-IL" sz="1400" b="1">
                          <a:solidFill>
                            <a:srgbClr val="333F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חצץ</a:t>
                      </a:r>
                    </a:p>
                  </a:txBody>
                  <a:tcPr marL="73152" marR="73152" marT="36576" marB="36576" anchor="ctr">
                    <a:solidFill>
                      <a:srgbClr val="F3F5F7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ctr" rtl="1" marL="0" indent="0">
                        <a:buNone/>
                      </a:pPr>
                      <a:r>
                        <a:rPr lang="he-IL" sz="1400" b="0">
                          <a:solidFill>
                            <a:srgbClr val="333F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+21 ל'</a:t>
                      </a:r>
                    </a:p>
                  </a:txBody>
                  <a:tcPr marL="73152" marR="73152" marT="36576" marB="36576" anchor="ctr">
                    <a:solidFill>
                      <a:srgbClr val="F3F7D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 marL="0" indent="0">
                        <a:buNone/>
                      </a:pPr>
                      <a:r>
                        <a:rPr lang="he-IL" sz="1400" b="0">
                          <a:solidFill>
                            <a:srgbClr val="333F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/>
                      </a:r>
                    </a:p>
                  </a:txBody>
                  <a:tcPr marL="73152" marR="73152" marT="36576" marB="36576" anchor="ctr">
                    <a:solidFill>
                      <a:srgbClr val="F3F7D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 marL="0" indent="0">
                        <a:buNone/>
                      </a:pPr>
                      <a:r>
                        <a:rPr lang="he-IL" sz="1400" b="0">
                          <a:solidFill>
                            <a:srgbClr val="333F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/>
                      </a:r>
                    </a:p>
                  </a:txBody>
                  <a:tcPr marL="73152" marR="73152" marT="36576" marB="36576" anchor="ctr">
                    <a:solidFill>
                      <a:srgbClr val="F3F7D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 marL="0" indent="0">
                        <a:buNone/>
                      </a:pPr>
                      <a:r>
                        <a:rPr lang="he-IL" sz="1400" b="0">
                          <a:solidFill>
                            <a:srgbClr val="333F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/>
                      </a:r>
                    </a:p>
                  </a:txBody>
                  <a:tcPr marL="73152" marR="73152" marT="36576" marB="36576" anchor="ctr">
                    <a:solidFill>
                      <a:srgbClr val="F3F7D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 marL="0" indent="0">
                        <a:buNone/>
                      </a:pPr>
                      <a:r>
                        <a:rPr lang="he-IL" sz="1400" b="1">
                          <a:solidFill>
                            <a:srgbClr val="333F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סה"כ</a:t>
                      </a:r>
                    </a:p>
                  </a:txBody>
                  <a:tcPr marL="73152" marR="73152" marT="36576" marB="36576" anchor="ctr">
                    <a:solidFill>
                      <a:srgbClr val="F3F7D9"/>
                    </a:solidFill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1005840" y="3611880"/>
            <a:ext cx="5029200" cy="1463040"/>
          </a:xfrm>
          <a:prstGeom prst="rect">
            <a:avLst/>
          </a:prstGeom>
          <a:noFill/>
        </p:spPr>
        <p:txBody>
          <a:bodyPr wrap="square" lIns="0" rIns="0" tIns="0" bIns="0" anchor="t" rtlCol="1">
            <a:spAutoFit/>
          </a:bodyPr>
          <a:lstStyle/>
          <a:p>
            <a:pPr algn="r" rtl="1" marL="228600" indent="-228600">
              <a:spcAft>
                <a:spcPts val="400"/>
              </a:spcAft>
              <a:buFont typeface="Arial"/>
              <a:buChar char="•"/>
            </a:pPr>
            <a:r>
              <a:rPr lang="he-IL" sz="1400" b="0">
                <a:solidFill>
                  <a:srgbClr val="333F4A"/>
                </a:solidFill>
                <a:latin typeface="Arial Unicode MS"/>
                <a:ea typeface="Arial Unicode MS"/>
                <a:cs typeface="Arial Unicode MS"/>
              </a:rPr>
              <a:t>האגרגט מכניס 21 ליטר מים "בשקט" — מפחיתים אותם ממי התערובת</a:t>
            </a:r>
          </a:p>
          <a:p>
            <a:pPr algn="r" rtl="1" marL="228600" indent="-228600">
              <a:spcAft>
                <a:spcPts val="400"/>
              </a:spcAft>
              <a:buFont typeface="Arial"/>
              <a:buChar char="•"/>
            </a:pPr>
            <a:r>
              <a:rPr lang="he-IL" sz="1400" b="1">
                <a:solidFill>
                  <a:srgbClr val="C62828"/>
                </a:solidFill>
                <a:latin typeface="Arial Unicode MS"/>
                <a:ea typeface="Arial Unicode MS"/>
                <a:cs typeface="Arial Unicode MS"/>
              </a:rPr>
              <a:t>ב-350 ק"ג צמנט, בלי תיקון: W/C עולה בכ-0.06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257800"/>
            <a:ext cx="10652760" cy="274320"/>
          </a:xfrm>
          <a:prstGeom prst="rect">
            <a:avLst/>
          </a:prstGeom>
          <a:noFill/>
        </p:spPr>
        <p:txBody>
          <a:bodyPr wrap="square" lIns="0" rIns="0" tIns="0" bIns="0" anchor="t" rtlCol="1">
            <a:spAutoFit/>
          </a:bodyPr>
          <a:lstStyle/>
          <a:p>
            <a:pPr algn="r" rtl="1" marL="0" indent="0">
              <a:spcAft>
                <a:spcPts val="400"/>
              </a:spcAft>
              <a:buNone/>
            </a:pPr>
            <a:r>
              <a:rPr lang="he-IL" sz="1100" b="0">
                <a:solidFill>
                  <a:srgbClr val="5F6B76"/>
                </a:solidFill>
                <a:latin typeface="Arial Unicode MS"/>
                <a:ea typeface="Arial Unicode MS"/>
                <a:cs typeface="Arial Unicode MS"/>
              </a:rPr>
              <a:t>מים חופשיים = (לחות − ספיגות) × משקל יבש. לחות נמדדת יומית (EN 1097-5 / ASTM C566) או בחיישן במגורה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>
                <a:latin typeface="Arial Unicode MS"/>
                <a:ea typeface="Arial Unicode MS"/>
                <a:cs typeface="Arial Unicode MS"/>
              </a:rPr>
              <a:t>עמידות לשחיקה וצורת גרגר</a:t>
            </a:r>
          </a:p>
        </p:txBody>
      </p:sp>
      <p:pic>
        <p:nvPicPr>
          <p:cNvPr id="3" name="Picture 2" descr="la_dru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133968"/>
            <a:ext cx="3840480" cy="285270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4069080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t" rtlCol="1">
            <a:spAutoFit/>
          </a:bodyPr>
          <a:lstStyle/>
          <a:p>
            <a:pPr algn="ctr" rtl="1" marL="0" indent="0">
              <a:spcAft>
                <a:spcPts val="400"/>
              </a:spcAft>
              <a:buNone/>
            </a:pPr>
            <a:r>
              <a:rPr lang="he-IL" sz="1100" b="0">
                <a:solidFill>
                  <a:srgbClr val="5F6B76"/>
                </a:solidFill>
                <a:latin typeface="Arial Unicode MS"/>
                <a:ea typeface="Arial Unicode MS"/>
                <a:cs typeface="Arial Unicode MS"/>
              </a:rPr>
              <a:t>תוף לוס אנג'לס: אגרגט + כדורי פלדה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937760" y="1097280"/>
            <a:ext cx="6537960" cy="2377440"/>
          </a:xfrm>
          <a:prstGeom prst="roundRect">
            <a:avLst>
              <a:gd name="adj" fmla="val 8000"/>
            </a:avLst>
          </a:prstGeom>
          <a:solidFill>
            <a:srgbClr val="EAF3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120640" y="1188720"/>
            <a:ext cx="6172200" cy="411480"/>
          </a:xfrm>
          <a:prstGeom prst="rect">
            <a:avLst/>
          </a:prstGeom>
          <a:noFill/>
        </p:spPr>
        <p:txBody>
          <a:bodyPr wrap="square" lIns="0" rIns="0" tIns="0" bIns="0" anchor="t" rtlCol="1">
            <a:spAutoFit/>
          </a:bodyPr>
          <a:lstStyle/>
          <a:p>
            <a:pPr algn="r" rtl="1" marL="0" indent="0">
              <a:spcAft>
                <a:spcPts val="400"/>
              </a:spcAft>
              <a:buNone/>
            </a:pPr>
            <a:r>
              <a:rPr lang="he-IL" sz="1900" b="1">
                <a:solidFill>
                  <a:srgbClr val="003973"/>
                </a:solidFill>
                <a:latin typeface="Arial Unicode MS"/>
                <a:ea typeface="Arial Unicode MS"/>
                <a:cs typeface="Arial Unicode MS"/>
              </a:rPr>
              <a:t>LA Abrasion</a:t>
            </a:r>
            <a:r>
              <a:rPr lang="he-IL" sz="1200" b="0">
                <a:solidFill>
                  <a:srgbClr val="5F6B76"/>
                </a:solidFill>
                <a:latin typeface="Arial Unicode MS"/>
                <a:ea typeface="Arial Unicode MS"/>
                <a:cs typeface="Arial Unicode MS"/>
              </a:rPr>
              <a:t>   EN 1097-2 | ASTM C131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20640" y="1645920"/>
            <a:ext cx="3749039" cy="1783080"/>
          </a:xfrm>
          <a:prstGeom prst="rect">
            <a:avLst/>
          </a:prstGeom>
          <a:noFill/>
        </p:spPr>
        <p:txBody>
          <a:bodyPr wrap="square" lIns="0" rIns="0" tIns="0" bIns="0" anchor="t" rtlCol="1">
            <a:spAutoFit/>
          </a:bodyPr>
          <a:lstStyle/>
          <a:p>
            <a:pPr algn="r" rtl="1" marL="228600" indent="-228600">
              <a:spcAft>
                <a:spcPts val="400"/>
              </a:spcAft>
              <a:buFont typeface="Arial"/>
              <a:buChar char="•"/>
            </a:pPr>
            <a:r>
              <a:rPr lang="he-IL" sz="1300" b="0">
                <a:solidFill>
                  <a:srgbClr val="333F4A"/>
                </a:solidFill>
                <a:latin typeface="Arial Unicode MS"/>
                <a:ea typeface="Arial Unicode MS"/>
                <a:cs typeface="Arial Unicode MS"/>
              </a:rPr>
              <a:t>5 ק"ג אגרגט 10-14 מ"מ + 11 כדורי פלדה</a:t>
            </a:r>
          </a:p>
          <a:p>
            <a:pPr algn="r" rtl="1" marL="228600" indent="-228600">
              <a:spcAft>
                <a:spcPts val="400"/>
              </a:spcAft>
              <a:buFont typeface="Arial"/>
              <a:buChar char="•"/>
            </a:pPr>
            <a:r>
              <a:rPr lang="he-IL" sz="1300" b="0">
                <a:solidFill>
                  <a:srgbClr val="333F4A"/>
                </a:solidFill>
                <a:latin typeface="Arial Unicode MS"/>
                <a:ea typeface="Arial Unicode MS"/>
                <a:cs typeface="Arial Unicode MS"/>
              </a:rPr>
              <a:t>500 סיבובים ב-31-33 סל"ד</a:t>
            </a:r>
          </a:p>
          <a:p>
            <a:pPr algn="r" rtl="1" marL="228600" indent="-228600">
              <a:spcAft>
                <a:spcPts val="400"/>
              </a:spcAft>
              <a:buFont typeface="Arial"/>
              <a:buChar char="•"/>
            </a:pPr>
            <a:r>
              <a:rPr lang="he-IL" sz="1300" b="0">
                <a:solidFill>
                  <a:srgbClr val="333F4A"/>
                </a:solidFill>
                <a:latin typeface="Arial Unicode MS"/>
                <a:ea typeface="Arial Unicode MS"/>
                <a:cs typeface="Arial Unicode MS"/>
              </a:rPr>
              <a:t>ניפוי על 1.6 מ"מ; LA = % החומר שנשחק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006840" y="1691640"/>
            <a:ext cx="2286000" cy="1645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0081C8"/>
            </a:solidFill>
          </a:ln>
        </p:spPr>
        <p:txBody>
          <a:bodyPr rtlCol="0" anchor="ctr" wrap="square" lIns="45720" rIns="45720" tIns="18288" bIns="18288"/>
          <a:lstStyle/>
          <a:p>
            <a:pPr algn="ctr" rtl="1" marL="0" indent="0">
              <a:buNone/>
            </a:pPr>
            <a:r>
              <a:rPr lang="he-IL" sz="1400" b="1">
                <a:solidFill>
                  <a:srgbClr val="003973"/>
                </a:solidFill>
                <a:latin typeface="Arial Unicode MS"/>
                <a:ea typeface="Arial Unicode MS"/>
                <a:cs typeface="Arial Unicode MS"/>
              </a:rPr>
              <a:t>דרישה</a:t>
            </a:r>
          </a:p>
          <a:p>
            <a:pPr algn="ctr" rtl="1" marL="0" indent="0">
              <a:buNone/>
            </a:pPr>
            <a:r>
              <a:rPr lang="he-IL" sz="2600" b="1">
                <a:solidFill>
                  <a:srgbClr val="0081C8"/>
                </a:solidFill>
                <a:latin typeface="Arial Unicode MS"/>
                <a:ea typeface="Arial Unicode MS"/>
                <a:cs typeface="Arial Unicode MS"/>
              </a:rPr>
              <a:t>≤ 40</a:t>
            </a:r>
          </a:p>
          <a:p>
            <a:pPr algn="ctr" rtl="1" marL="0" indent="0">
              <a:buNone/>
            </a:pPr>
            <a:r>
              <a:rPr lang="he-IL" sz="1100" b="0">
                <a:solidFill>
                  <a:srgbClr val="333F4A"/>
                </a:solidFill>
                <a:latin typeface="Arial Unicode MS"/>
                <a:ea typeface="Arial Unicode MS"/>
                <a:cs typeface="Arial Unicode MS"/>
              </a:rPr>
              <a:t>בטון מבני (טיפוסי)</a:t>
            </a:r>
          </a:p>
          <a:p>
            <a:pPr algn="ctr" rtl="1" marL="0" indent="0">
              <a:buNone/>
            </a:pPr>
            <a:r>
              <a:rPr lang="he-IL" sz="1100" b="0">
                <a:solidFill>
                  <a:srgbClr val="5F6B76"/>
                </a:solidFill>
                <a:latin typeface="Arial Unicode MS"/>
                <a:ea typeface="Arial Unicode MS"/>
                <a:cs typeface="Arial Unicode MS"/>
              </a:rPr>
              <a:t>ASTM C33: עד 50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937760" y="3657600"/>
            <a:ext cx="6537960" cy="1508760"/>
          </a:xfrm>
          <a:prstGeom prst="roundRect">
            <a:avLst>
              <a:gd name="adj" fmla="val 8000"/>
            </a:avLst>
          </a:prstGeom>
          <a:solidFill>
            <a:srgbClr val="EAF3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20640" y="3730752"/>
            <a:ext cx="6172200" cy="411480"/>
          </a:xfrm>
          <a:prstGeom prst="rect">
            <a:avLst/>
          </a:prstGeom>
          <a:noFill/>
        </p:spPr>
        <p:txBody>
          <a:bodyPr wrap="square" lIns="0" rIns="0" tIns="0" bIns="0" anchor="t" rtlCol="1">
            <a:spAutoFit/>
          </a:bodyPr>
          <a:lstStyle/>
          <a:p>
            <a:pPr algn="r" rtl="1" marL="0" indent="0">
              <a:spcAft>
                <a:spcPts val="400"/>
              </a:spcAft>
              <a:buNone/>
            </a:pPr>
            <a:r>
              <a:rPr lang="he-IL" sz="1900" b="1">
                <a:solidFill>
                  <a:srgbClr val="003973"/>
                </a:solidFill>
                <a:latin typeface="Arial Unicode MS"/>
                <a:ea typeface="Arial Unicode MS"/>
                <a:cs typeface="Arial Unicode MS"/>
              </a:rPr>
              <a:t>פתיתיות (FI)</a:t>
            </a:r>
            <a:r>
              <a:rPr lang="he-IL" sz="1200" b="0">
                <a:solidFill>
                  <a:srgbClr val="5F6B76"/>
                </a:solidFill>
                <a:latin typeface="Arial Unicode MS"/>
                <a:ea typeface="Arial Unicode MS"/>
                <a:cs typeface="Arial Unicode MS"/>
              </a:rPr>
              <a:t>   EN 933-3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20640" y="4160520"/>
            <a:ext cx="3749039" cy="960120"/>
          </a:xfrm>
          <a:prstGeom prst="rect">
            <a:avLst/>
          </a:prstGeom>
          <a:noFill/>
        </p:spPr>
        <p:txBody>
          <a:bodyPr wrap="square" lIns="0" rIns="0" tIns="0" bIns="0" anchor="t" rtlCol="1">
            <a:spAutoFit/>
          </a:bodyPr>
          <a:lstStyle/>
          <a:p>
            <a:pPr algn="r" rtl="1" marL="228600" indent="-228600">
              <a:spcAft>
                <a:spcPts val="400"/>
              </a:spcAft>
              <a:buFont typeface="Arial"/>
              <a:buChar char="•"/>
            </a:pPr>
            <a:r>
              <a:rPr lang="he-IL" sz="1300" b="0">
                <a:solidFill>
                  <a:srgbClr val="333F4A"/>
                </a:solidFill>
                <a:latin typeface="Arial Unicode MS"/>
                <a:ea typeface="Arial Unicode MS"/>
                <a:cs typeface="Arial Unicode MS"/>
              </a:rPr>
              <a:t>ניפוי בנפות-מוטות; FI = % הגרגרים השטוחים</a:t>
            </a:r>
          </a:p>
          <a:p>
            <a:pPr algn="r" rtl="1" marL="228600" indent="-228600">
              <a:spcAft>
                <a:spcPts val="400"/>
              </a:spcAft>
              <a:buFont typeface="Arial"/>
              <a:buChar char="•"/>
            </a:pPr>
            <a:r>
              <a:rPr lang="he-IL" sz="1300" b="0">
                <a:solidFill>
                  <a:srgbClr val="333F4A"/>
                </a:solidFill>
                <a:latin typeface="Arial Unicode MS"/>
                <a:ea typeface="Arial Unicode MS"/>
                <a:cs typeface="Arial Unicode MS"/>
              </a:rPr>
              <a:t>גרגר שטוח = יותר מים, פחות עבידות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006840" y="3767328"/>
            <a:ext cx="2286000" cy="1280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0081C8"/>
            </a:solidFill>
          </a:ln>
        </p:spPr>
        <p:txBody>
          <a:bodyPr rtlCol="0" anchor="ctr" wrap="square" lIns="45720" rIns="45720" tIns="18288" bIns="18288"/>
          <a:lstStyle/>
          <a:p>
            <a:pPr algn="ctr" rtl="1" marL="0" indent="0">
              <a:buNone/>
            </a:pPr>
            <a:r>
              <a:rPr lang="he-IL" sz="1400" b="1">
                <a:solidFill>
                  <a:srgbClr val="003973"/>
                </a:solidFill>
                <a:latin typeface="Arial Unicode MS"/>
                <a:ea typeface="Arial Unicode MS"/>
                <a:cs typeface="Arial Unicode MS"/>
              </a:rPr>
              <a:t>דרישה</a:t>
            </a:r>
          </a:p>
          <a:p>
            <a:pPr algn="ctr" rtl="1" marL="0" indent="0">
              <a:buNone/>
            </a:pPr>
            <a:r>
              <a:rPr lang="he-IL" sz="2200" b="1">
                <a:solidFill>
                  <a:srgbClr val="0081C8"/>
                </a:solidFill>
                <a:latin typeface="Arial Unicode MS"/>
                <a:ea typeface="Arial Unicode MS"/>
                <a:cs typeface="Arial Unicode MS"/>
              </a:rPr>
              <a:t>FI ≤ 20-35</a:t>
            </a:r>
          </a:p>
          <a:p>
            <a:pPr algn="ctr" rtl="1" marL="0" indent="0">
              <a:buNone/>
            </a:pPr>
            <a:r>
              <a:rPr lang="he-IL" sz="1100" b="0">
                <a:solidFill>
                  <a:srgbClr val="333F4A"/>
                </a:solidFill>
                <a:latin typeface="Arial Unicode MS"/>
                <a:ea typeface="Arial Unicode MS"/>
                <a:cs typeface="Arial Unicode MS"/>
              </a:rPr>
              <a:t>קטגוריה מוצהרת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303520"/>
            <a:ext cx="10652760" cy="274320"/>
          </a:xfrm>
          <a:prstGeom prst="rect">
            <a:avLst/>
          </a:prstGeom>
          <a:noFill/>
        </p:spPr>
        <p:txBody>
          <a:bodyPr wrap="square" lIns="0" rIns="0" tIns="0" bIns="0" anchor="t" rtlCol="1">
            <a:spAutoFit/>
          </a:bodyPr>
          <a:lstStyle/>
          <a:p>
            <a:pPr algn="r" rtl="1" marL="0" indent="0">
              <a:spcAft>
                <a:spcPts val="400"/>
              </a:spcAft>
              <a:buNone/>
            </a:pPr>
            <a:r>
              <a:rPr lang="he-IL" sz="1100" b="0">
                <a:solidFill>
                  <a:srgbClr val="5F6B76"/>
                </a:solidFill>
                <a:latin typeface="Arial Unicode MS"/>
                <a:ea typeface="Arial Unicode MS"/>
                <a:cs typeface="Arial Unicode MS"/>
              </a:rPr>
              <a:t>ערכי הדרישה טיפוסיים לפי EN 12620 / ASTM C33 ומפרטים מקובלים — לעדכן לפי ת"י 3 ומפרט המפעל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>
                <a:latin typeface="Arial Unicode MS"/>
                <a:ea typeface="Arial Unicode MS"/>
                <a:cs typeface="Arial Unicode MS"/>
              </a:rPr>
              <a:t>חומרים מזיקים באגרגט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001000" y="1097280"/>
            <a:ext cx="3474720" cy="1965960"/>
          </a:xfrm>
          <a:prstGeom prst="roundRect">
            <a:avLst>
              <a:gd name="adj" fmla="val 8000"/>
            </a:avLst>
          </a:prstGeom>
          <a:solidFill>
            <a:srgbClr val="EAF3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881360" y="1216152"/>
            <a:ext cx="457200" cy="457200"/>
          </a:xfrm>
          <a:prstGeom prst="ellipse">
            <a:avLst/>
          </a:prstGeom>
          <a:solidFill>
            <a:srgbClr val="00397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5" name="Picture 4" descr="FaLeaf_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91088" y="1325880"/>
            <a:ext cx="237744" cy="23774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138160" y="1207007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 anchor="t" rtlCol="1">
            <a:spAutoFit/>
          </a:bodyPr>
          <a:lstStyle/>
          <a:p>
            <a:pPr algn="r" rtl="1" marL="0" indent="0">
              <a:spcAft>
                <a:spcPts val="400"/>
              </a:spcAft>
              <a:buNone/>
            </a:pPr>
            <a:r>
              <a:rPr lang="he-IL" sz="1600" b="1">
                <a:solidFill>
                  <a:srgbClr val="003973"/>
                </a:solidFill>
                <a:latin typeface="Arial Unicode MS"/>
                <a:ea typeface="Arial Unicode MS"/>
                <a:cs typeface="Arial Unicode MS"/>
              </a:rPr>
              <a:t>חומר אורגני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38160" y="1554480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algn="r" rtl="0" marL="0" indent="0">
              <a:spcAft>
                <a:spcPts val="400"/>
              </a:spcAft>
              <a:buNone/>
            </a:pPr>
            <a:r>
              <a:rPr lang="he-IL" sz="1100" b="0">
                <a:solidFill>
                  <a:srgbClr val="5F6B76"/>
                </a:solidFill>
                <a:latin typeface="Arial Unicode MS"/>
                <a:ea typeface="Arial Unicode MS"/>
                <a:cs typeface="Arial Unicode MS"/>
              </a:rPr>
              <a:t>ASTM C40 | EN 1744-1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38160" y="1874519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 rtlCol="1">
            <a:spAutoFit/>
          </a:bodyPr>
          <a:lstStyle/>
          <a:p>
            <a:pPr algn="r" rtl="1" marL="0" indent="0">
              <a:spcAft>
                <a:spcPts val="400"/>
              </a:spcAft>
              <a:buNone/>
            </a:pPr>
            <a:r>
              <a:rPr lang="he-IL" sz="1200" b="0">
                <a:solidFill>
                  <a:srgbClr val="333F4A"/>
                </a:solidFill>
                <a:latin typeface="Arial Unicode MS"/>
                <a:ea typeface="Arial Unicode MS"/>
                <a:cs typeface="Arial Unicode MS"/>
              </a:rPr>
              <a:t>תמיסת NaOH והשוואת צבע לסטנדרט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0" y="2212848"/>
            <a:ext cx="3200400" cy="502920"/>
          </a:xfrm>
          <a:prstGeom prst="rect">
            <a:avLst/>
          </a:prstGeom>
          <a:noFill/>
        </p:spPr>
        <p:txBody>
          <a:bodyPr wrap="square" lIns="0" rIns="0" tIns="0" bIns="0" anchor="t" rtlCol="1">
            <a:spAutoFit/>
          </a:bodyPr>
          <a:lstStyle/>
          <a:p>
            <a:pPr algn="r" rtl="1" marL="0" indent="0">
              <a:spcAft>
                <a:spcPts val="400"/>
              </a:spcAft>
              <a:buNone/>
            </a:pPr>
            <a:r>
              <a:rPr lang="he-IL" sz="1200" b="1">
                <a:solidFill>
                  <a:srgbClr val="0081C8"/>
                </a:solidFill>
                <a:latin typeface="Arial Unicode MS"/>
                <a:ea typeface="Arial Unicode MS"/>
                <a:cs typeface="Arial Unicode MS"/>
              </a:rPr>
              <a:t>כהה מהסטנדרט ← בדיקת טיט השוואתית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38160" y="2724912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 rtlCol="1">
            <a:spAutoFit/>
          </a:bodyPr>
          <a:lstStyle/>
          <a:p>
            <a:pPr algn="r" rtl="1" marL="0" indent="0">
              <a:spcAft>
                <a:spcPts val="400"/>
              </a:spcAft>
              <a:buNone/>
            </a:pPr>
            <a:r>
              <a:rPr lang="he-IL" sz="1100" b="0">
                <a:solidFill>
                  <a:srgbClr val="C62828"/>
                </a:solidFill>
                <a:latin typeface="Arial Unicode MS"/>
                <a:ea typeface="Arial Unicode MS"/>
                <a:cs typeface="Arial Unicode MS"/>
              </a:rPr>
              <a:t>השפעה: מעכב התקשרות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53128" y="1097280"/>
            <a:ext cx="3474720" cy="1965960"/>
          </a:xfrm>
          <a:prstGeom prst="roundRect">
            <a:avLst>
              <a:gd name="adj" fmla="val 8000"/>
            </a:avLst>
          </a:prstGeom>
          <a:solidFill>
            <a:srgbClr val="EAF3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333488" y="1216152"/>
            <a:ext cx="457200" cy="457200"/>
          </a:xfrm>
          <a:prstGeom prst="ellipse">
            <a:avLst/>
          </a:prstGeom>
          <a:solidFill>
            <a:srgbClr val="00397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3" name="Picture 12" descr="FaCubes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43216" y="1325880"/>
            <a:ext cx="237744" cy="23774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590288" y="1207007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 anchor="t" rtlCol="1">
            <a:spAutoFit/>
          </a:bodyPr>
          <a:lstStyle/>
          <a:p>
            <a:pPr algn="r" rtl="1" marL="0" indent="0">
              <a:spcAft>
                <a:spcPts val="400"/>
              </a:spcAft>
              <a:buNone/>
            </a:pPr>
            <a:r>
              <a:rPr lang="he-IL" sz="1600" b="1">
                <a:solidFill>
                  <a:srgbClr val="003973"/>
                </a:solidFill>
                <a:latin typeface="Arial Unicode MS"/>
                <a:ea typeface="Arial Unicode MS"/>
                <a:cs typeface="Arial Unicode MS"/>
              </a:rPr>
              <a:t>גושי חרסית ופריכים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0288" y="1554480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algn="r" rtl="0" marL="0" indent="0">
              <a:spcAft>
                <a:spcPts val="400"/>
              </a:spcAft>
              <a:buNone/>
            </a:pPr>
            <a:r>
              <a:rPr lang="he-IL" sz="1100" b="0">
                <a:solidFill>
                  <a:srgbClr val="5F6B76"/>
                </a:solidFill>
                <a:latin typeface="Arial Unicode MS"/>
                <a:ea typeface="Arial Unicode MS"/>
                <a:cs typeface="Arial Unicode MS"/>
              </a:rPr>
              <a:t>ASTM C142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90288" y="1874519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 rtlCol="1">
            <a:spAutoFit/>
          </a:bodyPr>
          <a:lstStyle/>
          <a:p>
            <a:pPr algn="r" rtl="1" marL="0" indent="0">
              <a:spcAft>
                <a:spcPts val="400"/>
              </a:spcAft>
              <a:buNone/>
            </a:pPr>
            <a:r>
              <a:rPr lang="he-IL" sz="1200" b="0">
                <a:solidFill>
                  <a:srgbClr val="333F4A"/>
                </a:solidFill>
                <a:latin typeface="Arial Unicode MS"/>
                <a:ea typeface="Arial Unicode MS"/>
                <a:cs typeface="Arial Unicode MS"/>
              </a:rPr>
              <a:t>השריה ופירוק באצבעות, ניפוי חוזר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90288" y="2212848"/>
            <a:ext cx="3200400" cy="502920"/>
          </a:xfrm>
          <a:prstGeom prst="rect">
            <a:avLst/>
          </a:prstGeom>
          <a:noFill/>
        </p:spPr>
        <p:txBody>
          <a:bodyPr wrap="square" lIns="0" rIns="0" tIns="0" bIns="0" anchor="t" rtlCol="1">
            <a:spAutoFit/>
          </a:bodyPr>
          <a:lstStyle/>
          <a:p>
            <a:pPr algn="r" rtl="1" marL="0" indent="0">
              <a:spcAft>
                <a:spcPts val="400"/>
              </a:spcAft>
              <a:buNone/>
            </a:pPr>
            <a:r>
              <a:rPr lang="he-IL" sz="1200" b="1">
                <a:solidFill>
                  <a:srgbClr val="0081C8"/>
                </a:solidFill>
                <a:latin typeface="Arial Unicode MS"/>
                <a:ea typeface="Arial Unicode MS"/>
                <a:cs typeface="Arial Unicode MS"/>
              </a:rPr>
              <a:t>חול: עד 3% (ASTM C33)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90288" y="2724912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 rtlCol="1">
            <a:spAutoFit/>
          </a:bodyPr>
          <a:lstStyle/>
          <a:p>
            <a:pPr algn="r" rtl="1" marL="0" indent="0">
              <a:spcAft>
                <a:spcPts val="400"/>
              </a:spcAft>
              <a:buNone/>
            </a:pPr>
            <a:r>
              <a:rPr lang="he-IL" sz="1100" b="0">
                <a:solidFill>
                  <a:srgbClr val="C62828"/>
                </a:solidFill>
                <a:latin typeface="Arial Unicode MS"/>
                <a:ea typeface="Arial Unicode MS"/>
                <a:cs typeface="Arial Unicode MS"/>
              </a:rPr>
              <a:t>השפעה: חללים ונקודות חולשה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5256" y="1097280"/>
            <a:ext cx="3474720" cy="1965960"/>
          </a:xfrm>
          <a:prstGeom prst="roundRect">
            <a:avLst>
              <a:gd name="adj" fmla="val 8000"/>
            </a:avLst>
          </a:prstGeom>
          <a:solidFill>
            <a:srgbClr val="EAF3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785615" y="1216152"/>
            <a:ext cx="457200" cy="457200"/>
          </a:xfrm>
          <a:prstGeom prst="ellipse">
            <a:avLst/>
          </a:prstGeom>
          <a:solidFill>
            <a:srgbClr val="00397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1" name="Picture 20" descr="FaFlask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95344" y="1325880"/>
            <a:ext cx="237744" cy="237744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042416" y="1207007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 anchor="t" rtlCol="1">
            <a:spAutoFit/>
          </a:bodyPr>
          <a:lstStyle/>
          <a:p>
            <a:pPr algn="r" rtl="1" marL="0" indent="0">
              <a:spcAft>
                <a:spcPts val="400"/>
              </a:spcAft>
              <a:buNone/>
            </a:pPr>
            <a:r>
              <a:rPr lang="he-IL" sz="1600" b="1">
                <a:solidFill>
                  <a:srgbClr val="003973"/>
                </a:solidFill>
                <a:latin typeface="Arial Unicode MS"/>
                <a:ea typeface="Arial Unicode MS"/>
                <a:cs typeface="Arial Unicode MS"/>
              </a:rPr>
              <a:t>כלורידים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42416" y="1554480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algn="r" rtl="0" marL="0" indent="0">
              <a:spcAft>
                <a:spcPts val="400"/>
              </a:spcAft>
              <a:buNone/>
            </a:pPr>
            <a:r>
              <a:rPr lang="he-IL" sz="1100" b="0">
                <a:solidFill>
                  <a:srgbClr val="5F6B76"/>
                </a:solidFill>
                <a:latin typeface="Arial Unicode MS"/>
                <a:ea typeface="Arial Unicode MS"/>
                <a:cs typeface="Arial Unicode MS"/>
              </a:rPr>
              <a:t>EN 1744-1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42416" y="1874519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 rtlCol="1">
            <a:spAutoFit/>
          </a:bodyPr>
          <a:lstStyle/>
          <a:p>
            <a:pPr algn="r" rtl="1" marL="0" indent="0">
              <a:spcAft>
                <a:spcPts val="400"/>
              </a:spcAft>
              <a:buNone/>
            </a:pPr>
            <a:r>
              <a:rPr lang="he-IL" sz="1200" b="0">
                <a:solidFill>
                  <a:srgbClr val="333F4A"/>
                </a:solidFill>
                <a:latin typeface="Arial Unicode MS"/>
                <a:ea typeface="Arial Unicode MS"/>
                <a:cs typeface="Arial Unicode MS"/>
              </a:rPr>
              <a:t>כלורידים מסיסים במים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42416" y="2212848"/>
            <a:ext cx="3200400" cy="502920"/>
          </a:xfrm>
          <a:prstGeom prst="rect">
            <a:avLst/>
          </a:prstGeom>
          <a:noFill/>
        </p:spPr>
        <p:txBody>
          <a:bodyPr wrap="square" lIns="0" rIns="0" tIns="0" bIns="0" anchor="t" rtlCol="1">
            <a:spAutoFit/>
          </a:bodyPr>
          <a:lstStyle/>
          <a:p>
            <a:pPr algn="r" rtl="1" marL="0" indent="0">
              <a:spcAft>
                <a:spcPts val="400"/>
              </a:spcAft>
              <a:buNone/>
            </a:pPr>
            <a:r>
              <a:rPr lang="he-IL" sz="1200" b="1">
                <a:solidFill>
                  <a:srgbClr val="0081C8"/>
                </a:solidFill>
                <a:latin typeface="Arial Unicode MS"/>
                <a:ea typeface="Arial Unicode MS"/>
                <a:cs typeface="Arial Unicode MS"/>
              </a:rPr>
              <a:t>בבטון כולו (EN 206): ≤ 0.40% ממשקל הצמנט במזוין, 0.10-0.20% בדרוך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42416" y="2724912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 rtlCol="1">
            <a:spAutoFit/>
          </a:bodyPr>
          <a:lstStyle/>
          <a:p>
            <a:pPr algn="r" rtl="1" marL="0" indent="0">
              <a:spcAft>
                <a:spcPts val="400"/>
              </a:spcAft>
              <a:buNone/>
            </a:pPr>
            <a:r>
              <a:rPr lang="he-IL" sz="1100" b="0">
                <a:solidFill>
                  <a:srgbClr val="C62828"/>
                </a:solidFill>
                <a:latin typeface="Arial Unicode MS"/>
                <a:ea typeface="Arial Unicode MS"/>
                <a:cs typeface="Arial Unicode MS"/>
              </a:rPr>
              <a:t>השפעה: קורוזיה של הזיון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01000" y="3200400"/>
            <a:ext cx="3474720" cy="1965960"/>
          </a:xfrm>
          <a:prstGeom prst="roundRect">
            <a:avLst>
              <a:gd name="adj" fmla="val 8000"/>
            </a:avLst>
          </a:prstGeom>
          <a:solidFill>
            <a:srgbClr val="EAF3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0881360" y="3319272"/>
            <a:ext cx="457200" cy="457200"/>
          </a:xfrm>
          <a:prstGeom prst="ellipse">
            <a:avLst/>
          </a:prstGeom>
          <a:solidFill>
            <a:srgbClr val="00397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9" name="Picture 28" descr="FaVials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91088" y="3429000"/>
            <a:ext cx="237744" cy="237744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8138160" y="3310128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 anchor="t" rtlCol="1">
            <a:spAutoFit/>
          </a:bodyPr>
          <a:lstStyle/>
          <a:p>
            <a:pPr algn="r" rtl="1" marL="0" indent="0">
              <a:spcAft>
                <a:spcPts val="400"/>
              </a:spcAft>
              <a:buNone/>
            </a:pPr>
            <a:r>
              <a:rPr lang="he-IL" sz="1600" b="1">
                <a:solidFill>
                  <a:srgbClr val="003973"/>
                </a:solidFill>
                <a:latin typeface="Arial Unicode MS"/>
                <a:ea typeface="Arial Unicode MS"/>
                <a:cs typeface="Arial Unicode MS"/>
              </a:rPr>
              <a:t>סולפטים וגופרית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38160" y="3657600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algn="r" rtl="0" marL="0" indent="0">
              <a:spcAft>
                <a:spcPts val="400"/>
              </a:spcAft>
              <a:buNone/>
            </a:pPr>
            <a:r>
              <a:rPr lang="he-IL" sz="1100" b="0">
                <a:solidFill>
                  <a:srgbClr val="5F6B76"/>
                </a:solidFill>
                <a:latin typeface="Arial Unicode MS"/>
                <a:ea typeface="Arial Unicode MS"/>
                <a:cs typeface="Arial Unicode MS"/>
              </a:rPr>
              <a:t>EN 1744-1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38160" y="3977639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 rtlCol="1">
            <a:spAutoFit/>
          </a:bodyPr>
          <a:lstStyle/>
          <a:p>
            <a:pPr algn="r" rtl="1" marL="0" indent="0">
              <a:spcAft>
                <a:spcPts val="400"/>
              </a:spcAft>
              <a:buNone/>
            </a:pPr>
            <a:r>
              <a:rPr lang="he-IL" sz="1200" b="0">
                <a:solidFill>
                  <a:srgbClr val="333F4A"/>
                </a:solidFill>
                <a:latin typeface="Arial Unicode MS"/>
                <a:ea typeface="Arial Unicode MS"/>
                <a:cs typeface="Arial Unicode MS"/>
              </a:rPr>
              <a:t>SO₃ מסיס בחומצה; גופרית כללית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38160" y="4315968"/>
            <a:ext cx="3200400" cy="502920"/>
          </a:xfrm>
          <a:prstGeom prst="rect">
            <a:avLst/>
          </a:prstGeom>
          <a:noFill/>
        </p:spPr>
        <p:txBody>
          <a:bodyPr wrap="square" lIns="0" rIns="0" tIns="0" bIns="0" anchor="t" rtlCol="1">
            <a:spAutoFit/>
          </a:bodyPr>
          <a:lstStyle/>
          <a:p>
            <a:pPr algn="r" rtl="1" marL="0" indent="0">
              <a:spcAft>
                <a:spcPts val="400"/>
              </a:spcAft>
              <a:buNone/>
            </a:pPr>
            <a:r>
              <a:rPr lang="he-IL" sz="1200" b="1">
                <a:solidFill>
                  <a:srgbClr val="0081C8"/>
                </a:solidFill>
                <a:latin typeface="Arial Unicode MS"/>
                <a:ea typeface="Arial Unicode MS"/>
                <a:cs typeface="Arial Unicode MS"/>
              </a:rPr>
              <a:t>SO₃ ≤ 0.8%, S ≤ 1% (EN 12620)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38160" y="4828032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 rtlCol="1">
            <a:spAutoFit/>
          </a:bodyPr>
          <a:lstStyle/>
          <a:p>
            <a:pPr algn="r" rtl="1" marL="0" indent="0">
              <a:spcAft>
                <a:spcPts val="400"/>
              </a:spcAft>
              <a:buNone/>
            </a:pPr>
            <a:r>
              <a:rPr lang="he-IL" sz="1100" b="0">
                <a:solidFill>
                  <a:srgbClr val="C62828"/>
                </a:solidFill>
                <a:latin typeface="Arial Unicode MS"/>
                <a:ea typeface="Arial Unicode MS"/>
                <a:cs typeface="Arial Unicode MS"/>
              </a:rPr>
              <a:t>השפעה: התפחות והתפוררות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453128" y="3200400"/>
            <a:ext cx="3474720" cy="1965960"/>
          </a:xfrm>
          <a:prstGeom prst="roundRect">
            <a:avLst>
              <a:gd name="adj" fmla="val 8000"/>
            </a:avLst>
          </a:prstGeom>
          <a:solidFill>
            <a:srgbClr val="EAF3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7333488" y="3319272"/>
            <a:ext cx="457200" cy="457200"/>
          </a:xfrm>
          <a:prstGeom prst="ellipse">
            <a:avLst/>
          </a:prstGeom>
          <a:solidFill>
            <a:srgbClr val="00397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7" name="Picture 36" descr="FaBolt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43216" y="3429000"/>
            <a:ext cx="237744" cy="237744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4590288" y="3310128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 anchor="t" rtlCol="1">
            <a:spAutoFit/>
          </a:bodyPr>
          <a:lstStyle/>
          <a:p>
            <a:pPr algn="r" rtl="1" marL="0" indent="0">
              <a:spcAft>
                <a:spcPts val="400"/>
              </a:spcAft>
              <a:buNone/>
            </a:pPr>
            <a:r>
              <a:rPr lang="he-IL" sz="1600" b="1">
                <a:solidFill>
                  <a:srgbClr val="003973"/>
                </a:solidFill>
                <a:latin typeface="Arial Unicode MS"/>
                <a:ea typeface="Arial Unicode MS"/>
                <a:cs typeface="Arial Unicode MS"/>
              </a:rPr>
              <a:t>תגובה אלקלית (ASR)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90288" y="3657600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algn="r" rtl="0" marL="0" indent="0">
              <a:spcAft>
                <a:spcPts val="400"/>
              </a:spcAft>
              <a:buNone/>
            </a:pPr>
            <a:r>
              <a:rPr lang="he-IL" sz="1100" b="0">
                <a:solidFill>
                  <a:srgbClr val="5F6B76"/>
                </a:solidFill>
                <a:latin typeface="Arial Unicode MS"/>
                <a:ea typeface="Arial Unicode MS"/>
                <a:cs typeface="Arial Unicode MS"/>
              </a:rPr>
              <a:t>ASTM C1260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90288" y="3977639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 rtlCol="1">
            <a:spAutoFit/>
          </a:bodyPr>
          <a:lstStyle/>
          <a:p>
            <a:pPr algn="r" rtl="1" marL="0" indent="0">
              <a:spcAft>
                <a:spcPts val="400"/>
              </a:spcAft>
              <a:buNone/>
            </a:pPr>
            <a:r>
              <a:rPr lang="he-IL" sz="1200" b="0">
                <a:solidFill>
                  <a:srgbClr val="333F4A"/>
                </a:solidFill>
                <a:latin typeface="Arial Unicode MS"/>
                <a:ea typeface="Arial Unicode MS"/>
                <a:cs typeface="Arial Unicode MS"/>
              </a:rPr>
              <a:t>מוטות טיט ב-NaOH ב-80°C, 14 יום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90288" y="4315968"/>
            <a:ext cx="3200400" cy="502920"/>
          </a:xfrm>
          <a:prstGeom prst="rect">
            <a:avLst/>
          </a:prstGeom>
          <a:noFill/>
        </p:spPr>
        <p:txBody>
          <a:bodyPr wrap="square" lIns="0" rIns="0" tIns="0" bIns="0" anchor="t" rtlCol="1">
            <a:spAutoFit/>
          </a:bodyPr>
          <a:lstStyle/>
          <a:p>
            <a:pPr algn="r" rtl="1" marL="0" indent="0">
              <a:spcAft>
                <a:spcPts val="400"/>
              </a:spcAft>
              <a:buNone/>
            </a:pPr>
            <a:r>
              <a:rPr lang="he-IL" sz="1200" b="1">
                <a:solidFill>
                  <a:srgbClr val="0081C8"/>
                </a:solidFill>
                <a:latin typeface="Arial Unicode MS"/>
                <a:ea typeface="Arial Unicode MS"/>
                <a:cs typeface="Arial Unicode MS"/>
              </a:rPr>
              <a:t>&lt; 0.10% תקין · 0.10-0.20% בירור · &gt; 0.20% תגובתי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90288" y="4828032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 rtlCol="1">
            <a:spAutoFit/>
          </a:bodyPr>
          <a:lstStyle/>
          <a:p>
            <a:pPr algn="r" rtl="1" marL="0" indent="0">
              <a:spcAft>
                <a:spcPts val="400"/>
              </a:spcAft>
              <a:buNone/>
            </a:pPr>
            <a:r>
              <a:rPr lang="he-IL" sz="1100" b="0">
                <a:solidFill>
                  <a:srgbClr val="C62828"/>
                </a:solidFill>
                <a:latin typeface="Arial Unicode MS"/>
                <a:ea typeface="Arial Unicode MS"/>
                <a:cs typeface="Arial Unicode MS"/>
              </a:rPr>
              <a:t>השפעה: סדיקה מתמשכת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05256" y="3200400"/>
            <a:ext cx="3474720" cy="1965960"/>
          </a:xfrm>
          <a:prstGeom prst="roundRect">
            <a:avLst>
              <a:gd name="adj" fmla="val 8000"/>
            </a:avLst>
          </a:prstGeom>
          <a:solidFill>
            <a:srgbClr val="EAF3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3785615" y="3319272"/>
            <a:ext cx="457200" cy="457200"/>
          </a:xfrm>
          <a:prstGeom prst="ellipse">
            <a:avLst/>
          </a:prstGeom>
          <a:solidFill>
            <a:srgbClr val="00397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45" name="Picture 44" descr="FaSearch_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95344" y="3429000"/>
            <a:ext cx="237744" cy="237744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1042416" y="3310128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 anchor="t" rtlCol="1">
            <a:spAutoFit/>
          </a:bodyPr>
          <a:lstStyle/>
          <a:p>
            <a:pPr algn="r" rtl="1" marL="0" indent="0">
              <a:spcAft>
                <a:spcPts val="400"/>
              </a:spcAft>
              <a:buNone/>
            </a:pPr>
            <a:r>
              <a:rPr lang="he-IL" sz="1600" b="1">
                <a:solidFill>
                  <a:srgbClr val="003973"/>
                </a:solidFill>
                <a:latin typeface="Arial Unicode MS"/>
                <a:ea typeface="Arial Unicode MS"/>
                <a:cs typeface="Arial Unicode MS"/>
              </a:rPr>
              <a:t>חלקיקים קלים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42416" y="3657600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algn="r" rtl="0" marL="0" indent="0">
              <a:spcAft>
                <a:spcPts val="400"/>
              </a:spcAft>
              <a:buNone/>
            </a:pPr>
            <a:r>
              <a:rPr lang="he-IL" sz="1100" b="0">
                <a:solidFill>
                  <a:srgbClr val="5F6B76"/>
                </a:solidFill>
                <a:latin typeface="Arial Unicode MS"/>
                <a:ea typeface="Arial Unicode MS"/>
                <a:cs typeface="Arial Unicode MS"/>
              </a:rPr>
              <a:t>ASTM C123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42416" y="3977639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 rtlCol="1">
            <a:spAutoFit/>
          </a:bodyPr>
          <a:lstStyle/>
          <a:p>
            <a:pPr algn="r" rtl="1" marL="0" indent="0">
              <a:spcAft>
                <a:spcPts val="400"/>
              </a:spcAft>
              <a:buNone/>
            </a:pPr>
            <a:r>
              <a:rPr lang="he-IL" sz="1200" b="0">
                <a:solidFill>
                  <a:srgbClr val="333F4A"/>
                </a:solidFill>
                <a:latin typeface="Arial Unicode MS"/>
                <a:ea typeface="Arial Unicode MS"/>
                <a:cs typeface="Arial Unicode MS"/>
              </a:rPr>
              <a:t>הפרדה בנוזל כבד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42416" y="4315968"/>
            <a:ext cx="3200400" cy="502920"/>
          </a:xfrm>
          <a:prstGeom prst="rect">
            <a:avLst/>
          </a:prstGeom>
          <a:noFill/>
        </p:spPr>
        <p:txBody>
          <a:bodyPr wrap="square" lIns="0" rIns="0" tIns="0" bIns="0" anchor="t" rtlCol="1">
            <a:spAutoFit/>
          </a:bodyPr>
          <a:lstStyle/>
          <a:p>
            <a:pPr algn="r" rtl="1" marL="0" indent="0">
              <a:spcAft>
                <a:spcPts val="400"/>
              </a:spcAft>
              <a:buNone/>
            </a:pPr>
            <a:r>
              <a:rPr lang="he-IL" sz="1200" b="1">
                <a:solidFill>
                  <a:srgbClr val="0081C8"/>
                </a:solidFill>
                <a:latin typeface="Arial Unicode MS"/>
                <a:ea typeface="Arial Unicode MS"/>
                <a:cs typeface="Arial Unicode MS"/>
              </a:rPr>
              <a:t>עד 0.5-1% (ASTM C33)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42416" y="4828032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 rtlCol="1">
            <a:spAutoFit/>
          </a:bodyPr>
          <a:lstStyle/>
          <a:p>
            <a:pPr algn="r" rtl="1" marL="0" indent="0">
              <a:spcAft>
                <a:spcPts val="400"/>
              </a:spcAft>
              <a:buNone/>
            </a:pPr>
            <a:r>
              <a:rPr lang="he-IL" sz="1100" b="0">
                <a:solidFill>
                  <a:srgbClr val="C62828"/>
                </a:solidFill>
                <a:latin typeface="Arial Unicode MS"/>
                <a:ea typeface="Arial Unicode MS"/>
                <a:cs typeface="Arial Unicode MS"/>
              </a:rPr>
              <a:t>השפעה: כתמים ובליטות בפני השטח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822960" y="5349240"/>
            <a:ext cx="8183879" cy="548640"/>
          </a:xfrm>
          <a:prstGeom prst="roundRect">
            <a:avLst>
              <a:gd name="adj" fmla="val 8000"/>
            </a:avLst>
          </a:prstGeom>
          <a:solidFill>
            <a:srgbClr val="00397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8394192" y="5394959"/>
            <a:ext cx="457200" cy="457200"/>
          </a:xfrm>
          <a:prstGeom prst="ellipse">
            <a:avLst/>
          </a:prstGeom>
          <a:solidFill>
            <a:srgbClr val="C4D8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53" name="Picture 52" descr="FaLightbulb_n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03919" y="5504688"/>
            <a:ext cx="237744" cy="237744"/>
          </a:xfrm>
          <a:prstGeom prst="rect">
            <a:avLst/>
          </a:prstGeom>
        </p:spPr>
      </p:pic>
      <p:sp>
        <p:nvSpPr>
          <p:cNvPr id="54" name="TextBox 53"/>
          <p:cNvSpPr txBox="1"/>
          <p:nvPr/>
        </p:nvSpPr>
        <p:spPr>
          <a:xfrm>
            <a:off x="1051560" y="5349240"/>
            <a:ext cx="7269479" cy="548640"/>
          </a:xfrm>
          <a:prstGeom prst="rect">
            <a:avLst/>
          </a:prstGeom>
          <a:noFill/>
        </p:spPr>
        <p:txBody>
          <a:bodyPr wrap="square" lIns="0" rIns="0" tIns="0" bIns="0" anchor="ctr" rtlCol="1">
            <a:spAutoFit/>
          </a:bodyPr>
          <a:lstStyle/>
          <a:p>
            <a:pPr algn="r" rtl="1" marL="0" indent="0">
              <a:spcAft>
                <a:spcPts val="400"/>
              </a:spcAft>
              <a:buNone/>
            </a:pPr>
            <a:r>
              <a:rPr lang="he-IL" sz="17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מקור אגרגט חדש עובר את כל הבדיקות האלה לפני השימוש הראשון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>
                <a:latin typeface="Arial Unicode MS"/>
                <a:ea typeface="Arial Unicode MS"/>
                <a:cs typeface="Arial Unicode MS"/>
              </a:rPr>
              <a:t>דוח בדיקה מול דרישות: איך מחליטים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822960" y="1097280"/>
          <a:ext cx="7223760" cy="3438144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914400"/>
                <a:gridCol w="1325880"/>
                <a:gridCol w="1234440"/>
                <a:gridCol w="1051560"/>
                <a:gridCol w="1325880"/>
                <a:gridCol w="1371600"/>
              </a:tblGrid>
              <a:tr h="429768">
                <a:tc>
                  <a:txBody>
                    <a:bodyPr wrap="square"/>
                    <a:lstStyle/>
                    <a:p>
                      <a:pPr algn="ctr" rtl="1" marL="0" indent="0">
                        <a:buNone/>
                      </a:pPr>
                      <a:r>
                        <a:rPr lang="he-IL" sz="130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סטטוס</a:t>
                      </a:r>
                    </a:p>
                  </a:txBody>
                  <a:tcPr marL="73152" marR="73152" marT="36576" marB="36576" anchor="ctr">
                    <a:solidFill>
                      <a:srgbClr val="0081C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 marL="0" indent="0">
                        <a:buNone/>
                      </a:pPr>
                      <a:r>
                        <a:rPr lang="he-IL" sz="130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דרישה (טיפוסית)</a:t>
                      </a:r>
                    </a:p>
                  </a:txBody>
                  <a:tcPr marL="73152" marR="73152" marT="36576" marB="36576" anchor="ctr">
                    <a:solidFill>
                      <a:srgbClr val="0081C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 marL="0" indent="0">
                        <a:buNone/>
                      </a:pPr>
                      <a:r>
                        <a:rPr lang="he-IL" sz="130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תוצאה</a:t>
                      </a:r>
                    </a:p>
                  </a:txBody>
                  <a:tcPr marL="73152" marR="73152" marT="36576" marB="36576" anchor="ctr">
                    <a:solidFill>
                      <a:srgbClr val="0081C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 marL="0" indent="0">
                        <a:buNone/>
                      </a:pPr>
                      <a:r>
                        <a:rPr lang="he-IL" sz="130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שיטה</a:t>
                      </a:r>
                    </a:p>
                  </a:txBody>
                  <a:tcPr marL="73152" marR="73152" marT="36576" marB="36576" anchor="ctr">
                    <a:solidFill>
                      <a:srgbClr val="0081C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 marL="0" indent="0">
                        <a:buNone/>
                      </a:pPr>
                      <a:r>
                        <a:rPr lang="he-IL" sz="130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בדיקה</a:t>
                      </a:r>
                    </a:p>
                  </a:txBody>
                  <a:tcPr marL="73152" marR="73152" marT="36576" marB="36576" anchor="ctr">
                    <a:solidFill>
                      <a:srgbClr val="0081C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 marL="0" indent="0">
                        <a:buNone/>
                      </a:pPr>
                      <a:r>
                        <a:rPr lang="he-IL" sz="130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חומר</a:t>
                      </a:r>
                    </a:p>
                  </a:txBody>
                  <a:tcPr marL="73152" marR="73152" marT="36576" marB="36576" anchor="ctr">
                    <a:solidFill>
                      <a:srgbClr val="0081C8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algn="ctr" rtl="1" marL="0" indent="0">
                        <a:buNone/>
                      </a:pPr>
                      <a:r>
                        <a:rPr lang="he-IL" sz="1300" b="0">
                          <a:solidFill>
                            <a:srgbClr val="333F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עומד</a:t>
                      </a:r>
                    </a:p>
                  </a:txBody>
                  <a:tcPr marL="73152" marR="73152" marT="36576" marB="36576" anchor="ctr">
                    <a:solidFill>
                      <a:srgbClr val="E8F3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 marL="0" indent="0">
                        <a:buNone/>
                      </a:pPr>
                      <a:r>
                        <a:rPr lang="he-IL" sz="1300" b="0">
                          <a:solidFill>
                            <a:srgbClr val="333F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מעטפת המפרט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 marL="0" indent="0">
                        <a:buNone/>
                      </a:pPr>
                      <a:r>
                        <a:rPr lang="he-IL" sz="1300" b="0">
                          <a:solidFill>
                            <a:srgbClr val="333F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בתוך המעטפת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 marL="0" indent="0">
                        <a:buNone/>
                      </a:pPr>
                      <a:r>
                        <a:rPr lang="he-IL" sz="1300" b="0">
                          <a:solidFill>
                            <a:srgbClr val="333F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EN 933-1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 marL="0" indent="0">
                        <a:buNone/>
                      </a:pPr>
                      <a:r>
                        <a:rPr lang="he-IL" sz="1300" b="0">
                          <a:solidFill>
                            <a:srgbClr val="333F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גרדציה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 marL="0" indent="0">
                        <a:buNone/>
                      </a:pPr>
                      <a:r>
                        <a:rPr lang="he-IL" sz="1300" b="1">
                          <a:solidFill>
                            <a:srgbClr val="333F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חול גרוס 0/4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algn="ctr" rtl="1" marL="0" indent="0">
                        <a:buNone/>
                      </a:pPr>
                      <a:r>
                        <a:rPr lang="he-IL" sz="1300" b="0">
                          <a:solidFill>
                            <a:srgbClr val="333F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חורג</a:t>
                      </a:r>
                    </a:p>
                  </a:txBody>
                  <a:tcPr marL="73152" marR="73152" marT="36576" marB="36576" anchor="ctr">
                    <a:solidFill>
                      <a:srgbClr val="FBE9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 marL="0" indent="0">
                        <a:buNone/>
                      </a:pPr>
                      <a:r>
                        <a:rPr lang="he-IL" sz="1300" b="0">
                          <a:solidFill>
                            <a:srgbClr val="333F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≤ 10%</a:t>
                      </a:r>
                    </a:p>
                  </a:txBody>
                  <a:tcPr marL="73152" marR="73152" marT="36576" marB="36576" anchor="ctr">
                    <a:solidFill>
                      <a:srgbClr val="F3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 marL="0" indent="0">
                        <a:buNone/>
                      </a:pPr>
                      <a:r>
                        <a:rPr lang="he-IL" sz="1300" b="0">
                          <a:solidFill>
                            <a:srgbClr val="333F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11.8%</a:t>
                      </a:r>
                    </a:p>
                  </a:txBody>
                  <a:tcPr marL="73152" marR="73152" marT="36576" marB="36576" anchor="ctr">
                    <a:solidFill>
                      <a:srgbClr val="F3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 marL="0" indent="0">
                        <a:buNone/>
                      </a:pPr>
                      <a:r>
                        <a:rPr lang="he-IL" sz="1300" b="0">
                          <a:solidFill>
                            <a:srgbClr val="333F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EN 933-1</a:t>
                      </a:r>
                    </a:p>
                  </a:txBody>
                  <a:tcPr marL="73152" marR="73152" marT="36576" marB="36576" anchor="ctr">
                    <a:solidFill>
                      <a:srgbClr val="F3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 marL="0" indent="0">
                        <a:buNone/>
                      </a:pPr>
                      <a:r>
                        <a:rPr lang="he-IL" sz="1300" b="0">
                          <a:solidFill>
                            <a:srgbClr val="333F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דקים &lt; 0.063</a:t>
                      </a:r>
                    </a:p>
                  </a:txBody>
                  <a:tcPr marL="73152" marR="73152" marT="36576" marB="36576" anchor="ctr">
                    <a:solidFill>
                      <a:srgbClr val="F3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 marL="0" indent="0">
                        <a:buNone/>
                      </a:pPr>
                      <a:r>
                        <a:rPr lang="he-IL" sz="1300" b="1">
                          <a:solidFill>
                            <a:srgbClr val="333F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חול גרוס 0/4</a:t>
                      </a:r>
                    </a:p>
                  </a:txBody>
                  <a:tcPr marL="73152" marR="73152" marT="36576" marB="36576" anchor="ctr">
                    <a:solidFill>
                      <a:srgbClr val="F3F5F7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algn="ctr" rtl="1" marL="0" indent="0">
                        <a:buNone/>
                      </a:pPr>
                      <a:r>
                        <a:rPr lang="he-IL" sz="1300" b="0">
                          <a:solidFill>
                            <a:srgbClr val="333F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חורג</a:t>
                      </a:r>
                    </a:p>
                  </a:txBody>
                  <a:tcPr marL="73152" marR="73152" marT="36576" marB="36576" anchor="ctr">
                    <a:solidFill>
                      <a:srgbClr val="FBE9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 marL="0" indent="0">
                        <a:buNone/>
                      </a:pPr>
                      <a:r>
                        <a:rPr lang="he-IL" sz="1300" b="0">
                          <a:solidFill>
                            <a:srgbClr val="333F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≥ 65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 marL="0" indent="0">
                        <a:buNone/>
                      </a:pPr>
                      <a:r>
                        <a:rPr lang="he-IL" sz="1300" b="0">
                          <a:solidFill>
                            <a:srgbClr val="333F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58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 marL="0" indent="0">
                        <a:buNone/>
                      </a:pPr>
                      <a:r>
                        <a:rPr lang="he-IL" sz="1300" b="0">
                          <a:solidFill>
                            <a:srgbClr val="333F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EN 933-8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 marL="0" indent="0">
                        <a:buNone/>
                      </a:pPr>
                      <a:r>
                        <a:rPr lang="he-IL" sz="1300" b="0">
                          <a:solidFill>
                            <a:srgbClr val="333F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שווה חול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 marL="0" indent="0">
                        <a:buNone/>
                      </a:pPr>
                      <a:r>
                        <a:rPr lang="he-IL" sz="1300" b="1">
                          <a:solidFill>
                            <a:srgbClr val="333F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חול גרוס 0/4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algn="ctr" rtl="1" marL="0" indent="0">
                        <a:buNone/>
                      </a:pPr>
                      <a:r>
                        <a:rPr lang="he-IL" sz="1300" b="0">
                          <a:solidFill>
                            <a:srgbClr val="333F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חורג</a:t>
                      </a:r>
                    </a:p>
                  </a:txBody>
                  <a:tcPr marL="73152" marR="73152" marT="36576" marB="36576" anchor="ctr">
                    <a:solidFill>
                      <a:srgbClr val="FBE9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 marL="0" indent="0">
                        <a:buNone/>
                      </a:pPr>
                      <a:r>
                        <a:rPr lang="he-IL" sz="1300" b="0">
                          <a:solidFill>
                            <a:srgbClr val="333F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≤ 1.5 g/kg</a:t>
                      </a:r>
                    </a:p>
                  </a:txBody>
                  <a:tcPr marL="73152" marR="73152" marT="36576" marB="36576" anchor="ctr">
                    <a:solidFill>
                      <a:srgbClr val="F3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 marL="0" indent="0">
                        <a:buNone/>
                      </a:pPr>
                      <a:r>
                        <a:rPr lang="he-IL" sz="1300" b="0">
                          <a:solidFill>
                            <a:srgbClr val="333F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2.6 g/kg</a:t>
                      </a:r>
                    </a:p>
                  </a:txBody>
                  <a:tcPr marL="73152" marR="73152" marT="36576" marB="36576" anchor="ctr">
                    <a:solidFill>
                      <a:srgbClr val="F3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 marL="0" indent="0">
                        <a:buNone/>
                      </a:pPr>
                      <a:r>
                        <a:rPr lang="he-IL" sz="1300" b="0">
                          <a:solidFill>
                            <a:srgbClr val="333F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EN 933-9</a:t>
                      </a:r>
                    </a:p>
                  </a:txBody>
                  <a:tcPr marL="73152" marR="73152" marT="36576" marB="36576" anchor="ctr">
                    <a:solidFill>
                      <a:srgbClr val="F3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 marL="0" indent="0">
                        <a:buNone/>
                      </a:pPr>
                      <a:r>
                        <a:rPr lang="he-IL" sz="1300" b="0">
                          <a:solidFill>
                            <a:srgbClr val="333F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כחול מתילן</a:t>
                      </a:r>
                    </a:p>
                  </a:txBody>
                  <a:tcPr marL="73152" marR="73152" marT="36576" marB="36576" anchor="ctr">
                    <a:solidFill>
                      <a:srgbClr val="F3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 marL="0" indent="0">
                        <a:buNone/>
                      </a:pPr>
                      <a:r>
                        <a:rPr lang="he-IL" sz="1300" b="1">
                          <a:solidFill>
                            <a:srgbClr val="333F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חול גרוס 0/4</a:t>
                      </a:r>
                    </a:p>
                  </a:txBody>
                  <a:tcPr marL="73152" marR="73152" marT="36576" marB="36576" anchor="ctr">
                    <a:solidFill>
                      <a:srgbClr val="F3F5F7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algn="ctr" rtl="1" marL="0" indent="0">
                        <a:buNone/>
                      </a:pPr>
                      <a:r>
                        <a:rPr lang="he-IL" sz="1300" b="0">
                          <a:solidFill>
                            <a:srgbClr val="333F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עומד</a:t>
                      </a:r>
                    </a:p>
                  </a:txBody>
                  <a:tcPr marL="73152" marR="73152" marT="36576" marB="36576" anchor="ctr">
                    <a:solidFill>
                      <a:srgbClr val="E8F3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 marL="0" indent="0">
                        <a:buNone/>
                      </a:pPr>
                      <a:r>
                        <a:rPr lang="he-IL" sz="1300" b="0">
                          <a:solidFill>
                            <a:srgbClr val="333F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≤ 2.5%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 marL="0" indent="0">
                        <a:buNone/>
                      </a:pPr>
                      <a:r>
                        <a:rPr lang="he-IL" sz="1300" b="0">
                          <a:solidFill>
                            <a:srgbClr val="333F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1.4%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 marL="0" indent="0">
                        <a:buNone/>
                      </a:pPr>
                      <a:r>
                        <a:rPr lang="he-IL" sz="1300" b="0">
                          <a:solidFill>
                            <a:srgbClr val="333F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EN 1097-6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 marL="0" indent="0">
                        <a:buNone/>
                      </a:pPr>
                      <a:r>
                        <a:rPr lang="he-IL" sz="1300" b="0">
                          <a:solidFill>
                            <a:srgbClr val="333F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ספיגות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 marL="0" indent="0">
                        <a:buNone/>
                      </a:pPr>
                      <a:r>
                        <a:rPr lang="he-IL" sz="1300" b="1">
                          <a:solidFill>
                            <a:srgbClr val="333F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חול גרוס 0/4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algn="ctr" rtl="1" marL="0" indent="0">
                        <a:buNone/>
                      </a:pPr>
                      <a:r>
                        <a:rPr lang="he-IL" sz="1300" b="0">
                          <a:solidFill>
                            <a:srgbClr val="333F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עומד</a:t>
                      </a:r>
                    </a:p>
                  </a:txBody>
                  <a:tcPr marL="73152" marR="73152" marT="36576" marB="36576" anchor="ctr">
                    <a:solidFill>
                      <a:srgbClr val="E8F3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 marL="0" indent="0">
                        <a:buNone/>
                      </a:pPr>
                      <a:r>
                        <a:rPr lang="he-IL" sz="1300" b="0">
                          <a:solidFill>
                            <a:srgbClr val="333F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≤ 40</a:t>
                      </a:r>
                    </a:p>
                  </a:txBody>
                  <a:tcPr marL="73152" marR="73152" marT="36576" marB="36576" anchor="ctr">
                    <a:solidFill>
                      <a:srgbClr val="F3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 marL="0" indent="0">
                        <a:buNone/>
                      </a:pPr>
                      <a:r>
                        <a:rPr lang="he-IL" sz="1300" b="0">
                          <a:solidFill>
                            <a:srgbClr val="333F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27</a:t>
                      </a:r>
                    </a:p>
                  </a:txBody>
                  <a:tcPr marL="73152" marR="73152" marT="36576" marB="36576" anchor="ctr">
                    <a:solidFill>
                      <a:srgbClr val="F3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 marL="0" indent="0">
                        <a:buNone/>
                      </a:pPr>
                      <a:r>
                        <a:rPr lang="he-IL" sz="1300" b="0">
                          <a:solidFill>
                            <a:srgbClr val="333F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EN 1097-2</a:t>
                      </a:r>
                    </a:p>
                  </a:txBody>
                  <a:tcPr marL="73152" marR="73152" marT="36576" marB="36576" anchor="ctr">
                    <a:solidFill>
                      <a:srgbClr val="F3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 marL="0" indent="0">
                        <a:buNone/>
                      </a:pPr>
                      <a:r>
                        <a:rPr lang="he-IL" sz="1300" b="0">
                          <a:solidFill>
                            <a:srgbClr val="333F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LA</a:t>
                      </a:r>
                    </a:p>
                  </a:txBody>
                  <a:tcPr marL="73152" marR="73152" marT="36576" marB="36576" anchor="ctr">
                    <a:solidFill>
                      <a:srgbClr val="F3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 marL="0" indent="0">
                        <a:buNone/>
                      </a:pPr>
                      <a:r>
                        <a:rPr lang="he-IL" sz="1300" b="1">
                          <a:solidFill>
                            <a:srgbClr val="333F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חצץ 4/19</a:t>
                      </a:r>
                    </a:p>
                  </a:txBody>
                  <a:tcPr marL="73152" marR="73152" marT="36576" marB="36576" anchor="ctr">
                    <a:solidFill>
                      <a:srgbClr val="F3F5F7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algn="ctr" rtl="1" marL="0" indent="0">
                        <a:buNone/>
                      </a:pPr>
                      <a:r>
                        <a:rPr lang="he-IL" sz="1300" b="0">
                          <a:solidFill>
                            <a:srgbClr val="333F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עומד</a:t>
                      </a:r>
                    </a:p>
                  </a:txBody>
                  <a:tcPr marL="73152" marR="73152" marT="36576" marB="36576" anchor="ctr">
                    <a:solidFill>
                      <a:srgbClr val="E8F3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 marL="0" indent="0">
                        <a:buNone/>
                      </a:pPr>
                      <a:r>
                        <a:rPr lang="he-IL" sz="1300" b="0">
                          <a:solidFill>
                            <a:srgbClr val="333F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≤ 25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 marL="0" indent="0">
                        <a:buNone/>
                      </a:pPr>
                      <a:r>
                        <a:rPr lang="he-IL" sz="1300" b="0">
                          <a:solidFill>
                            <a:srgbClr val="333F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14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 marL="0" indent="0">
                        <a:buNone/>
                      </a:pPr>
                      <a:r>
                        <a:rPr lang="he-IL" sz="1300" b="0">
                          <a:solidFill>
                            <a:srgbClr val="333F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EN 933-3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 marL="0" indent="0">
                        <a:buNone/>
                      </a:pPr>
                      <a:r>
                        <a:rPr lang="he-IL" sz="1300" b="0">
                          <a:solidFill>
                            <a:srgbClr val="333F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פתיתיות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 marL="0" indent="0">
                        <a:buNone/>
                      </a:pPr>
                      <a:r>
                        <a:rPr lang="he-IL" sz="1300" b="1">
                          <a:solidFill>
                            <a:srgbClr val="333F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חצץ 4/19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822960" y="4617720"/>
            <a:ext cx="7223760" cy="274320"/>
          </a:xfrm>
          <a:prstGeom prst="rect">
            <a:avLst/>
          </a:prstGeom>
          <a:noFill/>
        </p:spPr>
        <p:txBody>
          <a:bodyPr wrap="square" lIns="0" rIns="0" tIns="0" bIns="0" anchor="t" rtlCol="1">
            <a:spAutoFit/>
          </a:bodyPr>
          <a:lstStyle/>
          <a:p>
            <a:pPr algn="r" rtl="1" marL="0" indent="0">
              <a:spcAft>
                <a:spcPts val="400"/>
              </a:spcAft>
              <a:buNone/>
            </a:pPr>
            <a:r>
              <a:rPr lang="he-IL" sz="1100" b="0">
                <a:solidFill>
                  <a:srgbClr val="5F6B76"/>
                </a:solidFill>
                <a:latin typeface="Arial Unicode MS"/>
                <a:ea typeface="Arial Unicode MS"/>
                <a:cs typeface="Arial Unicode MS"/>
              </a:rPr>
              <a:t>דוגמה להמחשה. ערכי הדרישה טיפוסיים לפי EN 12620 / ASTM C33 ומפרטים מקובלים — לעדכן לפי ת"י 3 ומפרט המפעל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321040" y="1097280"/>
            <a:ext cx="3154680" cy="3931920"/>
          </a:xfrm>
          <a:prstGeom prst="roundRect">
            <a:avLst>
              <a:gd name="adj" fmla="val 8000"/>
            </a:avLst>
          </a:prstGeom>
          <a:solidFill>
            <a:srgbClr val="00397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03920" y="1188720"/>
            <a:ext cx="2788920" cy="411480"/>
          </a:xfrm>
          <a:prstGeom prst="rect">
            <a:avLst/>
          </a:prstGeom>
          <a:noFill/>
        </p:spPr>
        <p:txBody>
          <a:bodyPr wrap="square" lIns="0" rIns="0" tIns="0" bIns="0" anchor="t" rtlCol="1">
            <a:spAutoFit/>
          </a:bodyPr>
          <a:lstStyle/>
          <a:p>
            <a:pPr algn="r" rtl="1" marL="0" indent="0">
              <a:spcAft>
                <a:spcPts val="400"/>
              </a:spcAft>
              <a:buNone/>
            </a:pPr>
            <a:r>
              <a:rPr lang="he-IL" sz="1900" b="1">
                <a:solidFill>
                  <a:srgbClr val="C4D82E"/>
                </a:solidFill>
                <a:latin typeface="Arial Unicode MS"/>
                <a:ea typeface="Arial Unicode MS"/>
                <a:cs typeface="Arial Unicode MS"/>
              </a:rPr>
              <a:t>המסקנה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1645920"/>
            <a:ext cx="2788920" cy="1097280"/>
          </a:xfrm>
          <a:prstGeom prst="rect">
            <a:avLst/>
          </a:prstGeom>
          <a:noFill/>
        </p:spPr>
        <p:txBody>
          <a:bodyPr wrap="square" lIns="0" rIns="0" tIns="0" bIns="0" anchor="t" rtlCol="1">
            <a:spAutoFit/>
          </a:bodyPr>
          <a:lstStyle/>
          <a:p>
            <a:pPr algn="r" rtl="1" marL="0" indent="0">
              <a:spcAft>
                <a:spcPts val="400"/>
              </a:spcAft>
              <a:buNone/>
            </a:pPr>
            <a:r>
              <a:rPr lang="he-IL" sz="1400" b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שלוש חריגות שמצביעות על אותה בעיה: הדקים בחול הם חרסית, לא אבק אבן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0" y="2788920"/>
            <a:ext cx="2788920" cy="2194560"/>
          </a:xfrm>
          <a:prstGeom prst="rect">
            <a:avLst/>
          </a:prstGeom>
          <a:noFill/>
        </p:spPr>
        <p:txBody>
          <a:bodyPr wrap="square" lIns="0" rIns="0" tIns="0" bIns="0" anchor="t" rtlCol="1">
            <a:spAutoFit/>
          </a:bodyPr>
          <a:lstStyle/>
          <a:p>
            <a:pPr algn="r" rtl="1" marL="228600" indent="-228600">
              <a:spcAft>
                <a:spcPts val="400"/>
              </a:spcAft>
              <a:buFont typeface="Arial"/>
              <a:buChar char="•"/>
            </a:pPr>
            <a:r>
              <a:rPr lang="he-IL" sz="1300" b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הסגר המשלוח וסימון הערמה</a:t>
            </a:r>
          </a:p>
          <a:p>
            <a:pPr algn="r" rtl="1" marL="228600" indent="-228600">
              <a:spcAft>
                <a:spcPts val="400"/>
              </a:spcAft>
              <a:buFont typeface="Arial"/>
              <a:buChar char="•"/>
            </a:pPr>
            <a:r>
              <a:rPr lang="he-IL" sz="1300" b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דוח אי-התאמה והודעה לספק</a:t>
            </a:r>
          </a:p>
          <a:p>
            <a:pPr algn="r" rtl="1" marL="228600" indent="-228600">
              <a:spcAft>
                <a:spcPts val="400"/>
              </a:spcAft>
              <a:buFont typeface="Arial"/>
              <a:buChar char="•"/>
            </a:pPr>
            <a:r>
              <a:rPr lang="he-IL" sz="1300" b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דרישה לשטיפה או להחלפת מקור</a:t>
            </a:r>
          </a:p>
          <a:p>
            <a:pPr algn="r" rtl="1" marL="228600" indent="-228600">
              <a:spcAft>
                <a:spcPts val="400"/>
              </a:spcAft>
              <a:buFont typeface="Arial"/>
              <a:buChar char="•"/>
            </a:pPr>
            <a:r>
              <a:rPr lang="he-IL" sz="1300" b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בדיקה חוזרת לפני שחרור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5212080"/>
            <a:ext cx="8183879" cy="640080"/>
          </a:xfrm>
          <a:prstGeom prst="roundRect">
            <a:avLst>
              <a:gd name="adj" fmla="val 8000"/>
            </a:avLst>
          </a:prstGeom>
          <a:solidFill>
            <a:srgbClr val="00397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394192" y="5303520"/>
            <a:ext cx="457200" cy="457200"/>
          </a:xfrm>
          <a:prstGeom prst="ellipse">
            <a:avLst/>
          </a:prstGeom>
          <a:solidFill>
            <a:srgbClr val="C4D8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Picture 10" descr="FaSearch_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3919" y="5413248"/>
            <a:ext cx="237744" cy="23774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051560" y="5212080"/>
            <a:ext cx="7269479" cy="640080"/>
          </a:xfrm>
          <a:prstGeom prst="rect">
            <a:avLst/>
          </a:prstGeom>
          <a:noFill/>
        </p:spPr>
        <p:txBody>
          <a:bodyPr wrap="square" lIns="0" rIns="0" tIns="0" bIns="0" anchor="ctr" rtlCol="1">
            <a:spAutoFit/>
          </a:bodyPr>
          <a:lstStyle/>
          <a:p>
            <a:pPr algn="r" rtl="1" marL="0" indent="0">
              <a:spcAft>
                <a:spcPts val="400"/>
              </a:spcAft>
              <a:buNone/>
            </a:pPr>
            <a:r>
              <a:rPr lang="he-IL" sz="17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לא מחליטים לפי בדיקה אחת: מחפשים את הסיפור שהתוצאות מספרות יחד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>
                <a:latin typeface="Arial Unicode MS"/>
                <a:ea typeface="Arial Unicode MS"/>
                <a:cs typeface="Arial Unicode MS"/>
              </a:rPr>
              <a:t>בדיקות איכות צמנט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001000" y="1097280"/>
            <a:ext cx="3474720" cy="3566160"/>
          </a:xfrm>
          <a:prstGeom prst="roundRect">
            <a:avLst>
              <a:gd name="adj" fmla="val 8000"/>
            </a:avLst>
          </a:prstGeom>
          <a:solidFill>
            <a:srgbClr val="EAF3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281160" y="1325880"/>
            <a:ext cx="914400" cy="914400"/>
          </a:xfrm>
          <a:prstGeom prst="ellipse">
            <a:avLst/>
          </a:prstGeom>
          <a:solidFill>
            <a:srgbClr val="0081C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5" name="Picture 4" descr="FaCertificate_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0616" y="1545336"/>
            <a:ext cx="475488" cy="47548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138160" y="2377440"/>
            <a:ext cx="3200400" cy="411480"/>
          </a:xfrm>
          <a:prstGeom prst="rect">
            <a:avLst/>
          </a:prstGeom>
          <a:noFill/>
        </p:spPr>
        <p:txBody>
          <a:bodyPr wrap="square" lIns="0" rIns="0" tIns="0" bIns="0" anchor="t" rtlCol="1">
            <a:spAutoFit/>
          </a:bodyPr>
          <a:lstStyle/>
          <a:p>
            <a:pPr algn="ctr" rtl="1" marL="0" indent="0">
              <a:spcAft>
                <a:spcPts val="400"/>
              </a:spcAft>
              <a:buNone/>
            </a:pPr>
            <a:r>
              <a:rPr lang="he-IL" sz="2000" b="1">
                <a:solidFill>
                  <a:srgbClr val="003973"/>
                </a:solidFill>
                <a:latin typeface="Arial Unicode MS"/>
                <a:ea typeface="Arial Unicode MS"/>
                <a:cs typeface="Arial Unicode MS"/>
              </a:rPr>
              <a:t>תעודות יצרן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2880360"/>
            <a:ext cx="3017520" cy="1371600"/>
          </a:xfrm>
          <a:prstGeom prst="rect">
            <a:avLst/>
          </a:prstGeom>
          <a:noFill/>
        </p:spPr>
        <p:txBody>
          <a:bodyPr wrap="square" lIns="0" rIns="0" tIns="0" bIns="0" anchor="t" rtlCol="1">
            <a:spAutoFit/>
          </a:bodyPr>
          <a:lstStyle/>
          <a:p>
            <a:pPr algn="r" rtl="1" marL="228600" indent="-228600">
              <a:spcAft>
                <a:spcPts val="400"/>
              </a:spcAft>
              <a:buFont typeface="Arial"/>
              <a:buChar char="•"/>
            </a:pPr>
            <a:r>
              <a:rPr lang="he-IL" sz="1300" b="0">
                <a:solidFill>
                  <a:srgbClr val="333F4A"/>
                </a:solidFill>
                <a:latin typeface="Arial Unicode MS"/>
                <a:ea typeface="Arial Unicode MS"/>
                <a:cs typeface="Arial Unicode MS"/>
              </a:rPr>
              <a:t>תו תקן לפי ת"י 1 / סימון CE</a:t>
            </a:r>
          </a:p>
          <a:p>
            <a:pPr algn="r" rtl="1" marL="228600" indent="-228600">
              <a:spcAft>
                <a:spcPts val="400"/>
              </a:spcAft>
              <a:buFont typeface="Arial"/>
              <a:buChar char="•"/>
            </a:pPr>
            <a:r>
              <a:rPr lang="he-IL" sz="1300" b="0">
                <a:solidFill>
                  <a:srgbClr val="333F4A"/>
                </a:solidFill>
                <a:latin typeface="Arial Unicode MS"/>
                <a:ea typeface="Arial Unicode MS"/>
                <a:cs typeface="Arial Unicode MS"/>
              </a:rPr>
              <a:t>תעודת משלוח: סוג, דרגה ומשקל</a:t>
            </a:r>
          </a:p>
          <a:p>
            <a:pPr algn="r" rtl="1" marL="228600" indent="-228600">
              <a:spcAft>
                <a:spcPts val="400"/>
              </a:spcAft>
              <a:buFont typeface="Arial"/>
              <a:buChar char="•"/>
            </a:pPr>
            <a:r>
              <a:rPr lang="he-IL" sz="1300" b="0">
                <a:solidFill>
                  <a:srgbClr val="333F4A"/>
                </a:solidFill>
                <a:latin typeface="Arial Unicode MS"/>
                <a:ea typeface="Arial Unicode MS"/>
                <a:cs typeface="Arial Unicode MS"/>
              </a:rPr>
              <a:t>דוח איכות תקופתי מהיצרן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732520" y="4251960"/>
            <a:ext cx="2011680" cy="320040"/>
          </a:xfrm>
          <a:prstGeom prst="roundRect">
            <a:avLst>
              <a:gd name="adj" fmla="val 50000"/>
            </a:avLst>
          </a:prstGeom>
          <a:solidFill>
            <a:srgbClr val="C4D82E"/>
          </a:solidFill>
          <a:ln>
            <a:noFill/>
          </a:ln>
        </p:spPr>
        <p:txBody>
          <a:bodyPr rtlCol="0" anchor="ctr" wrap="square" lIns="45720" rIns="45720" tIns="18288" bIns="18288"/>
          <a:lstStyle/>
          <a:p>
            <a:pPr algn="ctr" rtl="1" marL="0" indent="0">
              <a:buNone/>
            </a:pPr>
            <a:r>
              <a:rPr lang="he-IL" sz="1200" b="1">
                <a:solidFill>
                  <a:srgbClr val="003973"/>
                </a:solidFill>
                <a:latin typeface="Arial Unicode MS"/>
                <a:ea typeface="Arial Unicode MS"/>
                <a:cs typeface="Arial Unicode MS"/>
              </a:rPr>
              <a:t>כל משלוח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53128" y="1097280"/>
            <a:ext cx="3474720" cy="3566160"/>
          </a:xfrm>
          <a:prstGeom prst="roundRect">
            <a:avLst>
              <a:gd name="adj" fmla="val 8000"/>
            </a:avLst>
          </a:prstGeom>
          <a:solidFill>
            <a:srgbClr val="EAF3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733288" y="1325880"/>
            <a:ext cx="914400" cy="914400"/>
          </a:xfrm>
          <a:prstGeom prst="ellipse">
            <a:avLst/>
          </a:prstGeom>
          <a:solidFill>
            <a:srgbClr val="00397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Picture 10" descr="FaHourglassHalf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52744" y="1545336"/>
            <a:ext cx="475488" cy="47548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590288" y="2377440"/>
            <a:ext cx="3200400" cy="411480"/>
          </a:xfrm>
          <a:prstGeom prst="rect">
            <a:avLst/>
          </a:prstGeom>
          <a:noFill/>
        </p:spPr>
        <p:txBody>
          <a:bodyPr wrap="square" lIns="0" rIns="0" tIns="0" bIns="0" anchor="t" rtlCol="1">
            <a:spAutoFit/>
          </a:bodyPr>
          <a:lstStyle/>
          <a:p>
            <a:pPr algn="ctr" rtl="1" marL="0" indent="0">
              <a:spcAft>
                <a:spcPts val="400"/>
              </a:spcAft>
              <a:buNone/>
            </a:pPr>
            <a:r>
              <a:rPr lang="he-IL" sz="2000" b="1">
                <a:solidFill>
                  <a:srgbClr val="003973"/>
                </a:solidFill>
                <a:latin typeface="Arial Unicode MS"/>
                <a:ea typeface="Arial Unicode MS"/>
                <a:cs typeface="Arial Unicode MS"/>
              </a:rPr>
              <a:t>זמן התקשרות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81728" y="2880360"/>
            <a:ext cx="3017520" cy="1371600"/>
          </a:xfrm>
          <a:prstGeom prst="rect">
            <a:avLst/>
          </a:prstGeom>
          <a:noFill/>
        </p:spPr>
        <p:txBody>
          <a:bodyPr wrap="square" lIns="0" rIns="0" tIns="0" bIns="0" anchor="t" rtlCol="1">
            <a:spAutoFit/>
          </a:bodyPr>
          <a:lstStyle/>
          <a:p>
            <a:pPr algn="r" rtl="1" marL="228600" indent="-228600">
              <a:spcAft>
                <a:spcPts val="400"/>
              </a:spcAft>
              <a:buFont typeface="Arial"/>
              <a:buChar char="•"/>
            </a:pPr>
            <a:r>
              <a:rPr lang="he-IL" sz="1300" b="0">
                <a:solidFill>
                  <a:srgbClr val="333F4A"/>
                </a:solidFill>
                <a:latin typeface="Arial Unicode MS"/>
                <a:ea typeface="Arial Unicode MS"/>
                <a:cs typeface="Arial Unicode MS"/>
              </a:rPr>
              <a:t>מחט ויקה — EN 196-3</a:t>
            </a:r>
          </a:p>
          <a:p>
            <a:pPr algn="r" rtl="1" marL="228600" indent="-228600">
              <a:spcAft>
                <a:spcPts val="400"/>
              </a:spcAft>
              <a:buFont typeface="Arial"/>
              <a:buChar char="•"/>
            </a:pPr>
            <a:r>
              <a:rPr lang="he-IL" sz="1300" b="0">
                <a:solidFill>
                  <a:srgbClr val="333F4A"/>
                </a:solidFill>
                <a:latin typeface="Arial Unicode MS"/>
                <a:ea typeface="Arial Unicode MS"/>
                <a:cs typeface="Arial Unicode MS"/>
              </a:rPr>
              <a:t>תחילת התקשרות: לפחות 45-75 דקות, לפי הדרגה</a:t>
            </a:r>
          </a:p>
          <a:p>
            <a:pPr algn="r" rtl="1" marL="228600" indent="-228600">
              <a:spcAft>
                <a:spcPts val="400"/>
              </a:spcAft>
              <a:buFont typeface="Arial"/>
              <a:buChar char="•"/>
            </a:pPr>
            <a:r>
              <a:rPr lang="he-IL" sz="1300" b="0">
                <a:solidFill>
                  <a:srgbClr val="333F4A"/>
                </a:solidFill>
                <a:latin typeface="Arial Unicode MS"/>
                <a:ea typeface="Arial Unicode MS"/>
                <a:cs typeface="Arial Unicode MS"/>
              </a:rPr>
              <a:t>חריגה מעידה על בעיית ייצור או אחסון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184648" y="4251960"/>
            <a:ext cx="2011680" cy="320040"/>
          </a:xfrm>
          <a:prstGeom prst="roundRect">
            <a:avLst>
              <a:gd name="adj" fmla="val 50000"/>
            </a:avLst>
          </a:prstGeom>
          <a:solidFill>
            <a:srgbClr val="C4D82E"/>
          </a:solidFill>
          <a:ln>
            <a:noFill/>
          </a:ln>
        </p:spPr>
        <p:txBody>
          <a:bodyPr rtlCol="0" anchor="ctr" wrap="square" lIns="45720" rIns="45720" tIns="18288" bIns="18288"/>
          <a:lstStyle/>
          <a:p>
            <a:pPr algn="ctr" rtl="1" marL="0" indent="0">
              <a:buNone/>
            </a:pPr>
            <a:r>
              <a:rPr lang="he-IL" sz="1200" b="1">
                <a:solidFill>
                  <a:srgbClr val="003973"/>
                </a:solidFill>
                <a:latin typeface="Arial Unicode MS"/>
                <a:ea typeface="Arial Unicode MS"/>
                <a:cs typeface="Arial Unicode MS"/>
              </a:rPr>
              <a:t>תקופתית / בחשד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5256" y="1097280"/>
            <a:ext cx="3474720" cy="3566160"/>
          </a:xfrm>
          <a:prstGeom prst="roundRect">
            <a:avLst>
              <a:gd name="adj" fmla="val 8000"/>
            </a:avLst>
          </a:prstGeom>
          <a:solidFill>
            <a:srgbClr val="EAF3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185416" y="1325880"/>
            <a:ext cx="914400" cy="914400"/>
          </a:xfrm>
          <a:prstGeom prst="ellipse">
            <a:avLst/>
          </a:prstGeom>
          <a:solidFill>
            <a:srgbClr val="0081C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7" name="Picture 16" descr="FaCompressArrowsAlt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04872" y="1545336"/>
            <a:ext cx="475488" cy="475488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042416" y="2377440"/>
            <a:ext cx="3200400" cy="411480"/>
          </a:xfrm>
          <a:prstGeom prst="rect">
            <a:avLst/>
          </a:prstGeom>
          <a:noFill/>
        </p:spPr>
        <p:txBody>
          <a:bodyPr wrap="square" lIns="0" rIns="0" tIns="0" bIns="0" anchor="t" rtlCol="1">
            <a:spAutoFit/>
          </a:bodyPr>
          <a:lstStyle/>
          <a:p>
            <a:pPr algn="ctr" rtl="1" marL="0" indent="0">
              <a:spcAft>
                <a:spcPts val="400"/>
              </a:spcAft>
              <a:buNone/>
            </a:pPr>
            <a:r>
              <a:rPr lang="he-IL" sz="2000" b="1">
                <a:solidFill>
                  <a:srgbClr val="003973"/>
                </a:solidFill>
                <a:latin typeface="Arial Unicode MS"/>
                <a:ea typeface="Arial Unicode MS"/>
                <a:cs typeface="Arial Unicode MS"/>
              </a:rPr>
              <a:t>חוזק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3856" y="2880360"/>
            <a:ext cx="3017520" cy="1371600"/>
          </a:xfrm>
          <a:prstGeom prst="rect">
            <a:avLst/>
          </a:prstGeom>
          <a:noFill/>
        </p:spPr>
        <p:txBody>
          <a:bodyPr wrap="square" lIns="0" rIns="0" tIns="0" bIns="0" anchor="t" rtlCol="1">
            <a:spAutoFit/>
          </a:bodyPr>
          <a:lstStyle/>
          <a:p>
            <a:pPr algn="r" rtl="1" marL="228600" indent="-228600">
              <a:spcAft>
                <a:spcPts val="400"/>
              </a:spcAft>
              <a:buFont typeface="Arial"/>
              <a:buChar char="•"/>
            </a:pPr>
            <a:r>
              <a:rPr lang="he-IL" sz="1300" b="0">
                <a:solidFill>
                  <a:srgbClr val="333F4A"/>
                </a:solidFill>
                <a:latin typeface="Arial Unicode MS"/>
                <a:ea typeface="Arial Unicode MS"/>
                <a:cs typeface="Arial Unicode MS"/>
              </a:rPr>
              <a:t>מנסרות טיט 40×40×160 — EN 196-1</a:t>
            </a:r>
          </a:p>
          <a:p>
            <a:pPr algn="r" rtl="1" marL="228600" indent="-228600">
              <a:spcAft>
                <a:spcPts val="400"/>
              </a:spcAft>
              <a:buFont typeface="Arial"/>
              <a:buChar char="•"/>
            </a:pPr>
            <a:r>
              <a:rPr lang="he-IL" sz="1300" b="0">
                <a:solidFill>
                  <a:srgbClr val="333F4A"/>
                </a:solidFill>
                <a:latin typeface="Arial Unicode MS"/>
                <a:ea typeface="Arial Unicode MS"/>
                <a:cs typeface="Arial Unicode MS"/>
              </a:rPr>
              <a:t>בגיל 2 / 7 ו-28 יום</a:t>
            </a:r>
          </a:p>
          <a:p>
            <a:pPr algn="r" rtl="1" marL="228600" indent="-228600">
              <a:spcAft>
                <a:spcPts val="400"/>
              </a:spcAft>
              <a:buFont typeface="Arial"/>
              <a:buChar char="•"/>
            </a:pPr>
            <a:r>
              <a:rPr lang="he-IL" sz="1300" b="0">
                <a:solidFill>
                  <a:srgbClr val="333F4A"/>
                </a:solidFill>
                <a:latin typeface="Arial Unicode MS"/>
                <a:ea typeface="Arial Unicode MS"/>
                <a:cs typeface="Arial Unicode MS"/>
              </a:rPr>
              <a:t>השוואה לדרגה: 42.5 / 52.5 MPa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636776" y="4251960"/>
            <a:ext cx="2011680" cy="320040"/>
          </a:xfrm>
          <a:prstGeom prst="roundRect">
            <a:avLst>
              <a:gd name="adj" fmla="val 50000"/>
            </a:avLst>
          </a:prstGeom>
          <a:solidFill>
            <a:srgbClr val="C4D82E"/>
          </a:solidFill>
          <a:ln>
            <a:noFill/>
          </a:ln>
        </p:spPr>
        <p:txBody>
          <a:bodyPr rtlCol="0" anchor="ctr" wrap="square" lIns="45720" rIns="45720" tIns="18288" bIns="18288"/>
          <a:lstStyle/>
          <a:p>
            <a:pPr algn="ctr" rtl="1" marL="0" indent="0">
              <a:buNone/>
            </a:pPr>
            <a:r>
              <a:rPr lang="he-IL" sz="1200" b="1">
                <a:solidFill>
                  <a:srgbClr val="003973"/>
                </a:solidFill>
                <a:latin typeface="Arial Unicode MS"/>
                <a:ea typeface="Arial Unicode MS"/>
                <a:cs typeface="Arial Unicode MS"/>
              </a:rPr>
              <a:t>לפי תכנית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" y="4937760"/>
            <a:ext cx="8183879" cy="685800"/>
          </a:xfrm>
          <a:prstGeom prst="roundRect">
            <a:avLst>
              <a:gd name="adj" fmla="val 8000"/>
            </a:avLst>
          </a:prstGeom>
          <a:solidFill>
            <a:srgbClr val="00397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394192" y="5052060"/>
            <a:ext cx="457200" cy="457200"/>
          </a:xfrm>
          <a:prstGeom prst="ellipse">
            <a:avLst/>
          </a:prstGeom>
          <a:solidFill>
            <a:srgbClr val="C4D8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Picture 22" descr="FaLightbulb_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03919" y="5161788"/>
            <a:ext cx="237744" cy="237744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051560" y="4937760"/>
            <a:ext cx="7269479" cy="685800"/>
          </a:xfrm>
          <a:prstGeom prst="rect">
            <a:avLst/>
          </a:prstGeom>
          <a:noFill/>
        </p:spPr>
        <p:txBody>
          <a:bodyPr wrap="square" lIns="0" rIns="0" tIns="0" bIns="0" anchor="ctr" rtlCol="1">
            <a:spAutoFit/>
          </a:bodyPr>
          <a:lstStyle/>
          <a:p>
            <a:pPr algn="r" rtl="1" marL="0" indent="0">
              <a:spcAft>
                <a:spcPts val="400"/>
              </a:spcAft>
              <a:buNone/>
            </a:pPr>
            <a:r>
              <a:rPr lang="he-IL" sz="17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בודקים גם את האחסון: צמנט חם או לח משנה התקשרות ועבידות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>
                <a:latin typeface="Arial Unicode MS"/>
                <a:ea typeface="Arial Unicode MS"/>
                <a:cs typeface="Arial Unicode MS"/>
              </a:rPr>
              <a:t>בדיקות איכות מוספים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005840"/>
            <a:ext cx="10652760" cy="411480"/>
          </a:xfrm>
          <a:prstGeom prst="rect">
            <a:avLst/>
          </a:prstGeom>
          <a:noFill/>
        </p:spPr>
        <p:txBody>
          <a:bodyPr wrap="square" lIns="0" rIns="0" tIns="0" bIns="0" anchor="t" rtlCol="1">
            <a:spAutoFit/>
          </a:bodyPr>
          <a:lstStyle/>
          <a:p>
            <a:pPr algn="r" rtl="1" marL="0" indent="0">
              <a:spcAft>
                <a:spcPts val="400"/>
              </a:spcAft>
              <a:buNone/>
            </a:pPr>
            <a:r>
              <a:rPr lang="he-IL" sz="1500" b="0">
                <a:solidFill>
                  <a:srgbClr val="5F6B76"/>
                </a:solidFill>
                <a:latin typeface="Arial Unicode MS"/>
                <a:ea typeface="Arial Unicode MS"/>
                <a:cs typeface="Arial Unicode MS"/>
              </a:rPr>
              <a:t>בדיקות זהות מהירות בקבלה — השוואה לערך שהצהיר היצרן (ת"י 896 / EN 934 / ASTM C494)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869680" y="1600200"/>
            <a:ext cx="2542032" cy="3291840"/>
          </a:xfrm>
          <a:prstGeom prst="roundRect">
            <a:avLst>
              <a:gd name="adj" fmla="val 8000"/>
            </a:avLst>
          </a:prstGeom>
          <a:solidFill>
            <a:srgbClr val="EAF3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729216" y="1828800"/>
            <a:ext cx="822960" cy="822960"/>
          </a:xfrm>
          <a:prstGeom prst="ellipse">
            <a:avLst/>
          </a:prstGeom>
          <a:solidFill>
            <a:srgbClr val="0081C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6" name="Picture 5" descr="FaWeightHanging_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6726" y="2026310"/>
            <a:ext cx="427939" cy="42793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961120" y="2788920"/>
            <a:ext cx="2359152" cy="411480"/>
          </a:xfrm>
          <a:prstGeom prst="rect">
            <a:avLst/>
          </a:prstGeom>
          <a:noFill/>
        </p:spPr>
        <p:txBody>
          <a:bodyPr wrap="square" lIns="0" rIns="0" tIns="0" bIns="0" anchor="t" rtlCol="1">
            <a:spAutoFit/>
          </a:bodyPr>
          <a:lstStyle/>
          <a:p>
            <a:pPr algn="ctr" rtl="1" marL="0" indent="0">
              <a:spcAft>
                <a:spcPts val="400"/>
              </a:spcAft>
              <a:buNone/>
            </a:pPr>
            <a:r>
              <a:rPr lang="he-IL" sz="2000" b="1">
                <a:solidFill>
                  <a:srgbClr val="003973"/>
                </a:solidFill>
                <a:latin typeface="Arial Unicode MS"/>
                <a:ea typeface="Arial Unicode MS"/>
                <a:cs typeface="Arial Unicode MS"/>
              </a:rPr>
              <a:t>צפיפות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0" y="3246120"/>
            <a:ext cx="2359152" cy="50292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algn="ctr" rtl="0" marL="0" indent="0">
              <a:spcAft>
                <a:spcPts val="400"/>
              </a:spcAft>
              <a:buNone/>
            </a:pPr>
            <a:r>
              <a:rPr lang="he-IL" sz="2600" b="1">
                <a:solidFill>
                  <a:srgbClr val="0081C8"/>
                </a:solidFill>
                <a:latin typeface="Arial Unicode MS"/>
                <a:ea typeface="Arial Unicode MS"/>
                <a:cs typeface="Arial Unicode MS"/>
              </a:rPr>
              <a:t>±0.02-0.03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0" y="3767328"/>
            <a:ext cx="2359152" cy="365760"/>
          </a:xfrm>
          <a:prstGeom prst="rect">
            <a:avLst/>
          </a:prstGeom>
          <a:noFill/>
        </p:spPr>
        <p:txBody>
          <a:bodyPr wrap="square" lIns="0" rIns="0" tIns="0" bIns="0" anchor="t" rtlCol="1">
            <a:spAutoFit/>
          </a:bodyPr>
          <a:lstStyle/>
          <a:p>
            <a:pPr algn="ctr" rtl="1" marL="0" indent="0">
              <a:spcAft>
                <a:spcPts val="400"/>
              </a:spcAft>
              <a:buNone/>
            </a:pPr>
            <a:r>
              <a:rPr lang="he-IL" sz="1200" b="0">
                <a:solidFill>
                  <a:srgbClr val="333F4A"/>
                </a:solidFill>
                <a:latin typeface="Arial Unicode MS"/>
                <a:ea typeface="Arial Unicode MS"/>
                <a:cs typeface="Arial Unicode MS"/>
              </a:rPr>
              <a:t>גרם/סמ"ק מהערך המוצהר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0" y="4297680"/>
            <a:ext cx="2359152" cy="365760"/>
          </a:xfrm>
          <a:prstGeom prst="rect">
            <a:avLst/>
          </a:prstGeom>
          <a:noFill/>
        </p:spPr>
        <p:txBody>
          <a:bodyPr wrap="square" lIns="0" rIns="0" tIns="0" bIns="0" anchor="t" rtlCol="1">
            <a:spAutoFit/>
          </a:bodyPr>
          <a:lstStyle/>
          <a:p>
            <a:pPr algn="ctr" rtl="1" marL="0" indent="0">
              <a:spcAft>
                <a:spcPts val="400"/>
              </a:spcAft>
              <a:buNone/>
            </a:pPr>
            <a:r>
              <a:rPr lang="he-IL" sz="1200" b="0">
                <a:solidFill>
                  <a:srgbClr val="5F6B76"/>
                </a:solidFill>
                <a:latin typeface="Arial Unicode MS"/>
                <a:ea typeface="Arial Unicode MS"/>
                <a:cs typeface="Arial Unicode MS"/>
              </a:rPr>
              <a:t>הידרומטר / פיקנומטר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9632" y="1600200"/>
            <a:ext cx="2542032" cy="3291840"/>
          </a:xfrm>
          <a:prstGeom prst="roundRect">
            <a:avLst>
              <a:gd name="adj" fmla="val 8000"/>
            </a:avLst>
          </a:prstGeom>
          <a:solidFill>
            <a:srgbClr val="EAF3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059168" y="1828800"/>
            <a:ext cx="822960" cy="822960"/>
          </a:xfrm>
          <a:prstGeom prst="ellipse">
            <a:avLst/>
          </a:prstGeom>
          <a:solidFill>
            <a:srgbClr val="00397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3" name="Picture 12" descr="FaFlask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6678" y="2026310"/>
            <a:ext cx="427939" cy="427939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291072" y="2788920"/>
            <a:ext cx="2359152" cy="411480"/>
          </a:xfrm>
          <a:prstGeom prst="rect">
            <a:avLst/>
          </a:prstGeom>
          <a:noFill/>
        </p:spPr>
        <p:txBody>
          <a:bodyPr wrap="square" lIns="0" rIns="0" tIns="0" bIns="0" anchor="t" rtlCol="1">
            <a:spAutoFit/>
          </a:bodyPr>
          <a:lstStyle/>
          <a:p>
            <a:pPr algn="ctr" rtl="1" marL="0" indent="0">
              <a:spcAft>
                <a:spcPts val="400"/>
              </a:spcAft>
              <a:buNone/>
            </a:pPr>
            <a:r>
              <a:rPr lang="he-IL" sz="2000" b="1">
                <a:solidFill>
                  <a:srgbClr val="003973"/>
                </a:solidFill>
                <a:latin typeface="Arial Unicode MS"/>
                <a:ea typeface="Arial Unicode MS"/>
                <a:cs typeface="Arial Unicode MS"/>
              </a:rPr>
              <a:t>pH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91072" y="3246120"/>
            <a:ext cx="2359152" cy="50292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algn="ctr" rtl="0" marL="0" indent="0">
              <a:spcAft>
                <a:spcPts val="400"/>
              </a:spcAft>
              <a:buNone/>
            </a:pPr>
            <a:r>
              <a:rPr lang="he-IL" sz="2600" b="1">
                <a:solidFill>
                  <a:srgbClr val="0081C8"/>
                </a:solidFill>
                <a:latin typeface="Arial Unicode MS"/>
                <a:ea typeface="Arial Unicode MS"/>
                <a:cs typeface="Arial Unicode MS"/>
              </a:rPr>
              <a:t>±1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91072" y="3767328"/>
            <a:ext cx="2359152" cy="365760"/>
          </a:xfrm>
          <a:prstGeom prst="rect">
            <a:avLst/>
          </a:prstGeom>
          <a:noFill/>
        </p:spPr>
        <p:txBody>
          <a:bodyPr wrap="square" lIns="0" rIns="0" tIns="0" bIns="0" anchor="t" rtlCol="1">
            <a:spAutoFit/>
          </a:bodyPr>
          <a:lstStyle/>
          <a:p>
            <a:pPr algn="ctr" rtl="1" marL="0" indent="0">
              <a:spcAft>
                <a:spcPts val="400"/>
              </a:spcAft>
              <a:buNone/>
            </a:pPr>
            <a:r>
              <a:rPr lang="he-IL" sz="1200" b="0">
                <a:solidFill>
                  <a:srgbClr val="333F4A"/>
                </a:solidFill>
                <a:latin typeface="Arial Unicode MS"/>
                <a:ea typeface="Arial Unicode MS"/>
                <a:cs typeface="Arial Unicode MS"/>
              </a:rPr>
              <a:t>יחידת pH מהמוצהר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91072" y="4297680"/>
            <a:ext cx="2359152" cy="365760"/>
          </a:xfrm>
          <a:prstGeom prst="rect">
            <a:avLst/>
          </a:prstGeom>
          <a:noFill/>
        </p:spPr>
        <p:txBody>
          <a:bodyPr wrap="square" lIns="0" rIns="0" tIns="0" bIns="0" anchor="t" rtlCol="1">
            <a:spAutoFit/>
          </a:bodyPr>
          <a:lstStyle/>
          <a:p>
            <a:pPr algn="ctr" rtl="1" marL="0" indent="0">
              <a:spcAft>
                <a:spcPts val="400"/>
              </a:spcAft>
              <a:buNone/>
            </a:pPr>
            <a:r>
              <a:rPr lang="he-IL" sz="1200" b="0">
                <a:solidFill>
                  <a:srgbClr val="5F6B76"/>
                </a:solidFill>
                <a:latin typeface="Arial Unicode MS"/>
                <a:ea typeface="Arial Unicode MS"/>
                <a:cs typeface="Arial Unicode MS"/>
              </a:rPr>
              <a:t>מד pH מכויל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529584" y="1600200"/>
            <a:ext cx="2542032" cy="3291840"/>
          </a:xfrm>
          <a:prstGeom prst="roundRect">
            <a:avLst>
              <a:gd name="adj" fmla="val 8000"/>
            </a:avLst>
          </a:prstGeom>
          <a:solidFill>
            <a:srgbClr val="EAF3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389120" y="1828800"/>
            <a:ext cx="822960" cy="822960"/>
          </a:xfrm>
          <a:prstGeom prst="ellipse">
            <a:avLst/>
          </a:prstGeom>
          <a:solidFill>
            <a:srgbClr val="0081C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0" name="Picture 19" descr="FaFilter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86630" y="2026310"/>
            <a:ext cx="427939" cy="427939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3621024" y="2788920"/>
            <a:ext cx="2359152" cy="411480"/>
          </a:xfrm>
          <a:prstGeom prst="rect">
            <a:avLst/>
          </a:prstGeom>
          <a:noFill/>
        </p:spPr>
        <p:txBody>
          <a:bodyPr wrap="square" lIns="0" rIns="0" tIns="0" bIns="0" anchor="t" rtlCol="1">
            <a:spAutoFit/>
          </a:bodyPr>
          <a:lstStyle/>
          <a:p>
            <a:pPr algn="ctr" rtl="1" marL="0" indent="0">
              <a:spcAft>
                <a:spcPts val="400"/>
              </a:spcAft>
              <a:buNone/>
            </a:pPr>
            <a:r>
              <a:rPr lang="he-IL" sz="2000" b="1">
                <a:solidFill>
                  <a:srgbClr val="003973"/>
                </a:solidFill>
                <a:latin typeface="Arial Unicode MS"/>
                <a:ea typeface="Arial Unicode MS"/>
                <a:cs typeface="Arial Unicode MS"/>
              </a:rPr>
              <a:t>מוצקים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21024" y="3246120"/>
            <a:ext cx="2359152" cy="50292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algn="ctr" rtl="0" marL="0" indent="0">
              <a:spcAft>
                <a:spcPts val="400"/>
              </a:spcAft>
              <a:buNone/>
            </a:pPr>
            <a:r>
              <a:rPr lang="he-IL" sz="2600" b="1">
                <a:solidFill>
                  <a:srgbClr val="0081C8"/>
                </a:solidFill>
                <a:latin typeface="Arial Unicode MS"/>
                <a:ea typeface="Arial Unicode MS"/>
                <a:cs typeface="Arial Unicode MS"/>
              </a:rPr>
              <a:t>±5%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21024" y="3767328"/>
            <a:ext cx="2359152" cy="365760"/>
          </a:xfrm>
          <a:prstGeom prst="rect">
            <a:avLst/>
          </a:prstGeom>
          <a:noFill/>
        </p:spPr>
        <p:txBody>
          <a:bodyPr wrap="square" lIns="0" rIns="0" tIns="0" bIns="0" anchor="t" rtlCol="1">
            <a:spAutoFit/>
          </a:bodyPr>
          <a:lstStyle/>
          <a:p>
            <a:pPr algn="ctr" rtl="1" marL="0" indent="0">
              <a:spcAft>
                <a:spcPts val="400"/>
              </a:spcAft>
              <a:buNone/>
            </a:pPr>
            <a:r>
              <a:rPr lang="he-IL" sz="1200" b="0">
                <a:solidFill>
                  <a:srgbClr val="333F4A"/>
                </a:solidFill>
                <a:latin typeface="Arial Unicode MS"/>
                <a:ea typeface="Arial Unicode MS"/>
                <a:cs typeface="Arial Unicode MS"/>
              </a:rPr>
              <a:t>יחסי מהערך המוצהר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21024" y="4297680"/>
            <a:ext cx="2359152" cy="365760"/>
          </a:xfrm>
          <a:prstGeom prst="rect">
            <a:avLst/>
          </a:prstGeom>
          <a:noFill/>
        </p:spPr>
        <p:txBody>
          <a:bodyPr wrap="square" lIns="0" rIns="0" tIns="0" bIns="0" anchor="t" rtlCol="1">
            <a:spAutoFit/>
          </a:bodyPr>
          <a:lstStyle/>
          <a:p>
            <a:pPr algn="ctr" rtl="1" marL="0" indent="0">
              <a:spcAft>
                <a:spcPts val="400"/>
              </a:spcAft>
              <a:buNone/>
            </a:pPr>
            <a:r>
              <a:rPr lang="he-IL" sz="1200" b="0">
                <a:solidFill>
                  <a:srgbClr val="5F6B76"/>
                </a:solidFill>
                <a:latin typeface="Arial Unicode MS"/>
                <a:ea typeface="Arial Unicode MS"/>
                <a:cs typeface="Arial Unicode MS"/>
              </a:rPr>
              <a:t>ייבוש ב-105°C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59536" y="1600200"/>
            <a:ext cx="2542032" cy="3291840"/>
          </a:xfrm>
          <a:prstGeom prst="roundRect">
            <a:avLst>
              <a:gd name="adj" fmla="val 8000"/>
            </a:avLst>
          </a:prstGeom>
          <a:solidFill>
            <a:srgbClr val="EAF3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719072" y="1828800"/>
            <a:ext cx="822960" cy="822960"/>
          </a:xfrm>
          <a:prstGeom prst="ellipse">
            <a:avLst/>
          </a:prstGeom>
          <a:solidFill>
            <a:srgbClr val="00397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7" name="Picture 26" descr="FaTint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16582" y="2026310"/>
            <a:ext cx="427939" cy="427939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950976" y="2788920"/>
            <a:ext cx="2359152" cy="411480"/>
          </a:xfrm>
          <a:prstGeom prst="rect">
            <a:avLst/>
          </a:prstGeom>
          <a:noFill/>
        </p:spPr>
        <p:txBody>
          <a:bodyPr wrap="square" lIns="0" rIns="0" tIns="0" bIns="0" anchor="t" rtlCol="1">
            <a:spAutoFit/>
          </a:bodyPr>
          <a:lstStyle/>
          <a:p>
            <a:pPr algn="ctr" rtl="1" marL="0" indent="0">
              <a:spcAft>
                <a:spcPts val="400"/>
              </a:spcAft>
              <a:buNone/>
            </a:pPr>
            <a:r>
              <a:rPr lang="he-IL" sz="2000" b="1">
                <a:solidFill>
                  <a:srgbClr val="003973"/>
                </a:solidFill>
                <a:latin typeface="Arial Unicode MS"/>
                <a:ea typeface="Arial Unicode MS"/>
                <a:cs typeface="Arial Unicode MS"/>
              </a:rPr>
              <a:t>צמיגות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0976" y="3246120"/>
            <a:ext cx="2359152" cy="502920"/>
          </a:xfrm>
          <a:prstGeom prst="rect">
            <a:avLst/>
          </a:prstGeom>
          <a:noFill/>
        </p:spPr>
        <p:txBody>
          <a:bodyPr wrap="square" lIns="0" rIns="0" tIns="0" bIns="0" anchor="t" rtlCol="1">
            <a:spAutoFit/>
          </a:bodyPr>
          <a:lstStyle/>
          <a:p>
            <a:pPr algn="ctr" rtl="1" marL="0" indent="0">
              <a:spcAft>
                <a:spcPts val="400"/>
              </a:spcAft>
              <a:buNone/>
            </a:pPr>
            <a:r>
              <a:rPr lang="he-IL" sz="2600" b="1">
                <a:solidFill>
                  <a:srgbClr val="0081C8"/>
                </a:solidFill>
                <a:latin typeface="Arial Unicode MS"/>
                <a:ea typeface="Arial Unicode MS"/>
                <a:cs typeface="Arial Unicode MS"/>
              </a:rPr>
              <a:t>השוואה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50976" y="3767328"/>
            <a:ext cx="2359152" cy="365760"/>
          </a:xfrm>
          <a:prstGeom prst="rect">
            <a:avLst/>
          </a:prstGeom>
          <a:noFill/>
        </p:spPr>
        <p:txBody>
          <a:bodyPr wrap="square" lIns="0" rIns="0" tIns="0" bIns="0" anchor="t" rtlCol="1">
            <a:spAutoFit/>
          </a:bodyPr>
          <a:lstStyle/>
          <a:p>
            <a:pPr algn="ctr" rtl="1" marL="0" indent="0">
              <a:spcAft>
                <a:spcPts val="400"/>
              </a:spcAft>
              <a:buNone/>
            </a:pPr>
            <a:r>
              <a:rPr lang="he-IL" sz="1200" b="0">
                <a:solidFill>
                  <a:srgbClr val="333F4A"/>
                </a:solidFill>
                <a:latin typeface="Arial Unicode MS"/>
                <a:ea typeface="Arial Unicode MS"/>
                <a:cs typeface="Arial Unicode MS"/>
              </a:rPr>
              <a:t>לדגימת ייחוס מאושרת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50976" y="4297680"/>
            <a:ext cx="2359152" cy="365760"/>
          </a:xfrm>
          <a:prstGeom prst="rect">
            <a:avLst/>
          </a:prstGeom>
          <a:noFill/>
        </p:spPr>
        <p:txBody>
          <a:bodyPr wrap="square" lIns="0" rIns="0" tIns="0" bIns="0" anchor="t" rtlCol="1">
            <a:spAutoFit/>
          </a:bodyPr>
          <a:lstStyle/>
          <a:p>
            <a:pPr algn="ctr" rtl="1" marL="0" indent="0">
              <a:spcAft>
                <a:spcPts val="400"/>
              </a:spcAft>
              <a:buNone/>
            </a:pPr>
            <a:r>
              <a:rPr lang="he-IL" sz="1200" b="0">
                <a:solidFill>
                  <a:srgbClr val="5F6B76"/>
                </a:solidFill>
                <a:latin typeface="Arial Unicode MS"/>
                <a:ea typeface="Arial Unicode MS"/>
                <a:cs typeface="Arial Unicode MS"/>
              </a:rPr>
              <a:t>צמיגומטר / משפך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22960" y="5120640"/>
            <a:ext cx="8183879" cy="685800"/>
          </a:xfrm>
          <a:prstGeom prst="roundRect">
            <a:avLst>
              <a:gd name="adj" fmla="val 8000"/>
            </a:avLst>
          </a:prstGeom>
          <a:solidFill>
            <a:srgbClr val="00397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394192" y="5234940"/>
            <a:ext cx="457200" cy="457200"/>
          </a:xfrm>
          <a:prstGeom prst="ellipse">
            <a:avLst/>
          </a:prstGeom>
          <a:solidFill>
            <a:srgbClr val="C4D8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4" name="Picture 33" descr="FaLightbulb_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03919" y="5344668"/>
            <a:ext cx="237744" cy="237744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1051560" y="5120640"/>
            <a:ext cx="7269479" cy="685800"/>
          </a:xfrm>
          <a:prstGeom prst="rect">
            <a:avLst/>
          </a:prstGeom>
          <a:noFill/>
        </p:spPr>
        <p:txBody>
          <a:bodyPr wrap="square" lIns="0" rIns="0" tIns="0" bIns="0" anchor="ctr" rtlCol="1">
            <a:spAutoFit/>
          </a:bodyPr>
          <a:lstStyle/>
          <a:p>
            <a:pPr algn="r" rtl="1" marL="0" indent="0">
              <a:spcAft>
                <a:spcPts val="400"/>
              </a:spcAft>
              <a:buNone/>
            </a:pPr>
            <a:r>
              <a:rPr lang="he-IL" sz="17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לבדוק גם: תאריך תפוגה, הפרדת פאזות במיכל וזיהוי נכון של המוסף בצנרת המינון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>
                <a:latin typeface="Arial Unicode MS"/>
                <a:ea typeface="Arial Unicode MS"/>
                <a:cs typeface="Arial Unicode MS"/>
              </a:rPr>
              <a:t>זיהוי חומרים פסולים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464040" y="1143000"/>
            <a:ext cx="2011680" cy="4023360"/>
          </a:xfrm>
          <a:prstGeom prst="roundRect">
            <a:avLst>
              <a:gd name="adj" fmla="val 8000"/>
            </a:avLst>
          </a:prstGeom>
          <a:solidFill>
            <a:srgbClr val="E8F3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4" name="Picture 3" descr="tile_o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55480" y="1280365"/>
            <a:ext cx="1828800" cy="1371188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10172700" y="2766060"/>
            <a:ext cx="594360" cy="59436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6" name="Picture 5" descr="FaCheckCircle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15346" y="2908706"/>
            <a:ext cx="309067" cy="30906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555480" y="3474720"/>
            <a:ext cx="1828800" cy="411480"/>
          </a:xfrm>
          <a:prstGeom prst="rect">
            <a:avLst/>
          </a:prstGeom>
          <a:noFill/>
        </p:spPr>
        <p:txBody>
          <a:bodyPr wrap="square" lIns="0" rIns="0" tIns="0" bIns="0" anchor="t" rtlCol="1">
            <a:spAutoFit/>
          </a:bodyPr>
          <a:lstStyle/>
          <a:p>
            <a:pPr algn="ctr" rtl="1" marL="0" indent="0">
              <a:spcAft>
                <a:spcPts val="400"/>
              </a:spcAft>
              <a:buNone/>
            </a:pPr>
            <a:r>
              <a:rPr lang="he-IL" sz="1900" b="1">
                <a:solidFill>
                  <a:srgbClr val="2E7D32"/>
                </a:solidFill>
                <a:latin typeface="Arial Unicode MS"/>
                <a:ea typeface="Arial Unicode MS"/>
                <a:cs typeface="Arial Unicode MS"/>
              </a:rPr>
              <a:t>תקין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3931920"/>
            <a:ext cx="1737360" cy="1097280"/>
          </a:xfrm>
          <a:prstGeom prst="rect">
            <a:avLst/>
          </a:prstGeom>
          <a:noFill/>
        </p:spPr>
        <p:txBody>
          <a:bodyPr wrap="square" lIns="0" rIns="0" tIns="0" bIns="0" anchor="t" rtlCol="1">
            <a:spAutoFit/>
          </a:bodyPr>
          <a:lstStyle/>
          <a:p>
            <a:pPr algn="ctr" rtl="1" marL="0" indent="0">
              <a:spcAft>
                <a:spcPts val="400"/>
              </a:spcAft>
              <a:buNone/>
            </a:pPr>
            <a:r>
              <a:rPr lang="he-IL" sz="1300" b="0">
                <a:solidFill>
                  <a:srgbClr val="333F4A"/>
                </a:solidFill>
                <a:latin typeface="Arial Unicode MS"/>
                <a:ea typeface="Arial Unicode MS"/>
                <a:cs typeface="Arial Unicode MS"/>
              </a:rPr>
              <a:t>אגרגט נקי, צבע אחיד, ללא ציפוי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06056" y="1143000"/>
            <a:ext cx="2011680" cy="4023360"/>
          </a:xfrm>
          <a:prstGeom prst="roundRect">
            <a:avLst>
              <a:gd name="adj" fmla="val 8000"/>
            </a:avLst>
          </a:prstGeom>
          <a:solidFill>
            <a:srgbClr val="FBE9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0" name="Picture 9" descr="tile_cla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97496" y="1280365"/>
            <a:ext cx="1828800" cy="1371188"/>
          </a:xfrm>
          <a:prstGeom prst="rect">
            <a:avLst/>
          </a:prstGeom>
        </p:spPr>
      </p:pic>
      <p:sp>
        <p:nvSpPr>
          <p:cNvPr id="11" name="Oval 10"/>
          <p:cNvSpPr/>
          <p:nvPr/>
        </p:nvSpPr>
        <p:spPr>
          <a:xfrm>
            <a:off x="8014716" y="2766060"/>
            <a:ext cx="594360" cy="594360"/>
          </a:xfrm>
          <a:prstGeom prst="ellipse">
            <a:avLst/>
          </a:prstGeom>
          <a:solidFill>
            <a:srgbClr val="C6282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2" name="Picture 11" descr="FaTimesCircle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57362" y="2908706"/>
            <a:ext cx="309067" cy="309067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397496" y="3474720"/>
            <a:ext cx="1828800" cy="411480"/>
          </a:xfrm>
          <a:prstGeom prst="rect">
            <a:avLst/>
          </a:prstGeom>
          <a:noFill/>
        </p:spPr>
        <p:txBody>
          <a:bodyPr wrap="square" lIns="0" rIns="0" tIns="0" bIns="0" anchor="t" rtlCol="1">
            <a:spAutoFit/>
          </a:bodyPr>
          <a:lstStyle/>
          <a:p>
            <a:pPr algn="ctr" rtl="1" marL="0" indent="0">
              <a:spcAft>
                <a:spcPts val="400"/>
              </a:spcAft>
              <a:buNone/>
            </a:pPr>
            <a:r>
              <a:rPr lang="he-IL" sz="1900" b="1">
                <a:solidFill>
                  <a:srgbClr val="C62828"/>
                </a:solidFill>
                <a:latin typeface="Arial Unicode MS"/>
                <a:ea typeface="Arial Unicode MS"/>
                <a:cs typeface="Arial Unicode MS"/>
              </a:rPr>
              <a:t>חרסית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43216" y="3931920"/>
            <a:ext cx="1737360" cy="1097280"/>
          </a:xfrm>
          <a:prstGeom prst="rect">
            <a:avLst/>
          </a:prstGeom>
          <a:noFill/>
        </p:spPr>
        <p:txBody>
          <a:bodyPr wrap="square" lIns="0" rIns="0" tIns="0" bIns="0" anchor="t" rtlCol="1">
            <a:spAutoFit/>
          </a:bodyPr>
          <a:lstStyle/>
          <a:p>
            <a:pPr algn="ctr" rtl="1" marL="0" indent="0">
              <a:spcAft>
                <a:spcPts val="400"/>
              </a:spcAft>
              <a:buNone/>
            </a:pPr>
            <a:r>
              <a:rPr lang="he-IL" sz="1300" b="0">
                <a:solidFill>
                  <a:srgbClr val="333F4A"/>
                </a:solidFill>
                <a:latin typeface="Arial Unicode MS"/>
                <a:ea typeface="Arial Unicode MS"/>
                <a:cs typeface="Arial Unicode MS"/>
              </a:rPr>
              <a:t>ציפוי וגושים חומים; נמרח ביד רטובה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148072" y="1143000"/>
            <a:ext cx="2011680" cy="4023360"/>
          </a:xfrm>
          <a:prstGeom prst="roundRect">
            <a:avLst>
              <a:gd name="adj" fmla="val 8000"/>
            </a:avLst>
          </a:prstGeom>
          <a:solidFill>
            <a:srgbClr val="FBE9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Picture 15" descr="tile_lump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39512" y="1280365"/>
            <a:ext cx="1828800" cy="1371188"/>
          </a:xfrm>
          <a:prstGeom prst="rect">
            <a:avLst/>
          </a:prstGeom>
        </p:spPr>
      </p:pic>
      <p:sp>
        <p:nvSpPr>
          <p:cNvPr id="17" name="Oval 16"/>
          <p:cNvSpPr/>
          <p:nvPr/>
        </p:nvSpPr>
        <p:spPr>
          <a:xfrm>
            <a:off x="5856732" y="2766060"/>
            <a:ext cx="594360" cy="594360"/>
          </a:xfrm>
          <a:prstGeom prst="ellipse">
            <a:avLst/>
          </a:prstGeom>
          <a:solidFill>
            <a:srgbClr val="C6282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8" name="Picture 17" descr="FaTimesCircle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99378" y="2908706"/>
            <a:ext cx="309067" cy="309067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239512" y="3474720"/>
            <a:ext cx="1828800" cy="411480"/>
          </a:xfrm>
          <a:prstGeom prst="rect">
            <a:avLst/>
          </a:prstGeom>
          <a:noFill/>
        </p:spPr>
        <p:txBody>
          <a:bodyPr wrap="square" lIns="0" rIns="0" tIns="0" bIns="0" anchor="t" rtlCol="1">
            <a:spAutoFit/>
          </a:bodyPr>
          <a:lstStyle/>
          <a:p>
            <a:pPr algn="ctr" rtl="1" marL="0" indent="0">
              <a:spcAft>
                <a:spcPts val="400"/>
              </a:spcAft>
              <a:buNone/>
            </a:pPr>
            <a:r>
              <a:rPr lang="he-IL" sz="1900" b="1">
                <a:solidFill>
                  <a:srgbClr val="C62828"/>
                </a:solidFill>
                <a:latin typeface="Arial Unicode MS"/>
                <a:ea typeface="Arial Unicode MS"/>
                <a:cs typeface="Arial Unicode MS"/>
              </a:rPr>
              <a:t>גושי צמנט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85232" y="3931920"/>
            <a:ext cx="1737360" cy="1097280"/>
          </a:xfrm>
          <a:prstGeom prst="rect">
            <a:avLst/>
          </a:prstGeom>
          <a:noFill/>
        </p:spPr>
        <p:txBody>
          <a:bodyPr wrap="square" lIns="0" rIns="0" tIns="0" bIns="0" anchor="t" rtlCol="1">
            <a:spAutoFit/>
          </a:bodyPr>
          <a:lstStyle/>
          <a:p>
            <a:pPr algn="ctr" rtl="1" marL="0" indent="0">
              <a:spcAft>
                <a:spcPts val="400"/>
              </a:spcAft>
              <a:buNone/>
            </a:pPr>
            <a:r>
              <a:rPr lang="he-IL" sz="1300" b="0">
                <a:solidFill>
                  <a:srgbClr val="333F4A"/>
                </a:solidFill>
                <a:latin typeface="Arial Unicode MS"/>
                <a:ea typeface="Arial Unicode MS"/>
                <a:cs typeface="Arial Unicode MS"/>
              </a:rPr>
              <a:t>גושים קשים שאינם מתפוררים באצבע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990088" y="1143000"/>
            <a:ext cx="2011680" cy="4023360"/>
          </a:xfrm>
          <a:prstGeom prst="roundRect">
            <a:avLst>
              <a:gd name="adj" fmla="val 8000"/>
            </a:avLst>
          </a:prstGeom>
          <a:solidFill>
            <a:srgbClr val="FBE9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2" name="Picture 21" descr="tile_organic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81528" y="1280365"/>
            <a:ext cx="1828800" cy="1371188"/>
          </a:xfrm>
          <a:prstGeom prst="rect">
            <a:avLst/>
          </a:prstGeom>
        </p:spPr>
      </p:pic>
      <p:sp>
        <p:nvSpPr>
          <p:cNvPr id="23" name="Oval 22"/>
          <p:cNvSpPr/>
          <p:nvPr/>
        </p:nvSpPr>
        <p:spPr>
          <a:xfrm>
            <a:off x="3698748" y="2766060"/>
            <a:ext cx="594360" cy="594360"/>
          </a:xfrm>
          <a:prstGeom prst="ellipse">
            <a:avLst/>
          </a:prstGeom>
          <a:solidFill>
            <a:srgbClr val="C6282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4" name="Picture 23" descr="FaTimesCircle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41394" y="2908706"/>
            <a:ext cx="309067" cy="309067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3081528" y="3474720"/>
            <a:ext cx="1828800" cy="411480"/>
          </a:xfrm>
          <a:prstGeom prst="rect">
            <a:avLst/>
          </a:prstGeom>
          <a:noFill/>
        </p:spPr>
        <p:txBody>
          <a:bodyPr wrap="square" lIns="0" rIns="0" tIns="0" bIns="0" anchor="t" rtlCol="1">
            <a:spAutoFit/>
          </a:bodyPr>
          <a:lstStyle/>
          <a:p>
            <a:pPr algn="ctr" rtl="1" marL="0" indent="0">
              <a:spcAft>
                <a:spcPts val="400"/>
              </a:spcAft>
              <a:buNone/>
            </a:pPr>
            <a:r>
              <a:rPr lang="he-IL" sz="1900" b="1">
                <a:solidFill>
                  <a:srgbClr val="C62828"/>
                </a:solidFill>
                <a:latin typeface="Arial Unicode MS"/>
                <a:ea typeface="Arial Unicode MS"/>
                <a:cs typeface="Arial Unicode MS"/>
              </a:rPr>
              <a:t>חומר אורגני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27248" y="3931920"/>
            <a:ext cx="1737360" cy="1097280"/>
          </a:xfrm>
          <a:prstGeom prst="rect">
            <a:avLst/>
          </a:prstGeom>
          <a:noFill/>
        </p:spPr>
        <p:txBody>
          <a:bodyPr wrap="square" lIns="0" rIns="0" tIns="0" bIns="0" anchor="t" rtlCol="1">
            <a:spAutoFit/>
          </a:bodyPr>
          <a:lstStyle/>
          <a:p>
            <a:pPr algn="ctr" rtl="1" marL="0" indent="0">
              <a:spcAft>
                <a:spcPts val="400"/>
              </a:spcAft>
              <a:buNone/>
            </a:pPr>
            <a:r>
              <a:rPr lang="he-IL" sz="1300" b="0">
                <a:solidFill>
                  <a:srgbClr val="333F4A"/>
                </a:solidFill>
                <a:latin typeface="Arial Unicode MS"/>
                <a:ea typeface="Arial Unicode MS"/>
                <a:cs typeface="Arial Unicode MS"/>
              </a:rPr>
              <a:t>שורשים, עלים, צבע כהה וריח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32104" y="1143000"/>
            <a:ext cx="2011680" cy="4023360"/>
          </a:xfrm>
          <a:prstGeom prst="roundRect">
            <a:avLst>
              <a:gd name="adj" fmla="val 8000"/>
            </a:avLst>
          </a:prstGeom>
          <a:solidFill>
            <a:srgbClr val="FBE9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8" name="Picture 27" descr="tile_phas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3544" y="1280365"/>
            <a:ext cx="1828800" cy="1371188"/>
          </a:xfrm>
          <a:prstGeom prst="rect">
            <a:avLst/>
          </a:prstGeom>
        </p:spPr>
      </p:pic>
      <p:sp>
        <p:nvSpPr>
          <p:cNvPr id="29" name="Oval 28"/>
          <p:cNvSpPr/>
          <p:nvPr/>
        </p:nvSpPr>
        <p:spPr>
          <a:xfrm>
            <a:off x="1540764" y="2766060"/>
            <a:ext cx="594360" cy="594360"/>
          </a:xfrm>
          <a:prstGeom prst="ellipse">
            <a:avLst/>
          </a:prstGeom>
          <a:solidFill>
            <a:srgbClr val="C6282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0" name="Picture 29" descr="FaTimesCircle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83410" y="2908706"/>
            <a:ext cx="309067" cy="309067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923544" y="3474720"/>
            <a:ext cx="1828800" cy="411480"/>
          </a:xfrm>
          <a:prstGeom prst="rect">
            <a:avLst/>
          </a:prstGeom>
          <a:noFill/>
        </p:spPr>
        <p:txBody>
          <a:bodyPr wrap="square" lIns="0" rIns="0" tIns="0" bIns="0" anchor="t" rtlCol="1">
            <a:spAutoFit/>
          </a:bodyPr>
          <a:lstStyle/>
          <a:p>
            <a:pPr algn="ctr" rtl="1" marL="0" indent="0">
              <a:spcAft>
                <a:spcPts val="400"/>
              </a:spcAft>
              <a:buNone/>
            </a:pPr>
            <a:r>
              <a:rPr lang="he-IL" sz="1900" b="1">
                <a:solidFill>
                  <a:srgbClr val="C62828"/>
                </a:solidFill>
                <a:latin typeface="Arial Unicode MS"/>
                <a:ea typeface="Arial Unicode MS"/>
                <a:cs typeface="Arial Unicode MS"/>
              </a:rPr>
              <a:t>הפרדת פאזות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9264" y="3931920"/>
            <a:ext cx="1737360" cy="1097280"/>
          </a:xfrm>
          <a:prstGeom prst="rect">
            <a:avLst/>
          </a:prstGeom>
          <a:noFill/>
        </p:spPr>
        <p:txBody>
          <a:bodyPr wrap="square" lIns="0" rIns="0" tIns="0" bIns="0" anchor="t" rtlCol="1">
            <a:spAutoFit/>
          </a:bodyPr>
          <a:lstStyle/>
          <a:p>
            <a:pPr algn="ctr" rtl="1" marL="0" indent="0">
              <a:spcAft>
                <a:spcPts val="400"/>
              </a:spcAft>
              <a:buNone/>
            </a:pPr>
            <a:r>
              <a:rPr lang="he-IL" sz="1300" b="0">
                <a:solidFill>
                  <a:srgbClr val="333F4A"/>
                </a:solidFill>
                <a:latin typeface="Arial Unicode MS"/>
                <a:ea typeface="Arial Unicode MS"/>
                <a:cs typeface="Arial Unicode MS"/>
              </a:rPr>
              <a:t>שכבות נפרדות במיכל המוסף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" y="5257800"/>
            <a:ext cx="10652760" cy="274320"/>
          </a:xfrm>
          <a:prstGeom prst="rect">
            <a:avLst/>
          </a:prstGeom>
          <a:noFill/>
        </p:spPr>
        <p:txBody>
          <a:bodyPr wrap="square" lIns="0" rIns="0" tIns="0" bIns="0" anchor="t" rtlCol="1">
            <a:spAutoFit/>
          </a:bodyPr>
          <a:lstStyle/>
          <a:p>
            <a:pPr algn="ctr" rtl="1" marL="0" indent="0">
              <a:spcAft>
                <a:spcPts val="400"/>
              </a:spcAft>
              <a:buNone/>
            </a:pPr>
            <a:r>
              <a:rPr lang="he-IL" sz="1100" b="0">
                <a:solidFill>
                  <a:srgbClr val="5F6B76"/>
                </a:solidFill>
                <a:latin typeface="Arial Unicode MS"/>
                <a:ea typeface="Arial Unicode MS"/>
                <a:cs typeface="Arial Unicode MS"/>
              </a:rPr>
              <a:t>איורים להמחשה. מומלץ להחליף בתמונות אמיתיות מהמפעלים, לצורך זיהוי מדויק בשטח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>
                <a:latin typeface="Arial Unicode MS"/>
                <a:ea typeface="Arial Unicode MS"/>
                <a:cs typeface="Arial Unicode MS"/>
              </a:rPr>
              <a:t>מטריצת סיכוני איכות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822960" y="1097280"/>
          <a:ext cx="7680956" cy="36576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925416"/>
                <a:gridCol w="694062"/>
                <a:gridCol w="879146"/>
                <a:gridCol w="971687"/>
                <a:gridCol w="2544896"/>
                <a:gridCol w="1249312"/>
                <a:gridCol w="416437"/>
              </a:tblGrid>
              <a:tr h="457200">
                <a:tc>
                  <a:txBody>
                    <a:bodyPr wrap="square"/>
                    <a:lstStyle/>
                    <a:p>
                      <a:pPr algn="ctr" rtl="1" marL="0" indent="0">
                        <a:buNone/>
                      </a:pPr>
                      <a:r>
                        <a:rPr lang="he-IL" sz="130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רמה</a:t>
                      </a:r>
                    </a:p>
                  </a:txBody>
                  <a:tcPr marL="73152" marR="73152" marT="36576" marB="36576" anchor="ctr">
                    <a:solidFill>
                      <a:srgbClr val="0081C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 marL="0" indent="0">
                        <a:buNone/>
                      </a:pPr>
                      <a:r>
                        <a:rPr lang="he-IL" sz="130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ציון</a:t>
                      </a:r>
                    </a:p>
                  </a:txBody>
                  <a:tcPr marL="73152" marR="73152" marT="36576" marB="36576" anchor="ctr">
                    <a:solidFill>
                      <a:srgbClr val="0081C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 marL="0" indent="0">
                        <a:buNone/>
                      </a:pPr>
                      <a:r>
                        <a:rPr lang="he-IL" sz="130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השפעה</a:t>
                      </a:r>
                    </a:p>
                  </a:txBody>
                  <a:tcPr marL="73152" marR="73152" marT="36576" marB="36576" anchor="ctr">
                    <a:solidFill>
                      <a:srgbClr val="0081C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 marL="0" indent="0">
                        <a:buNone/>
                      </a:pPr>
                      <a:r>
                        <a:rPr lang="he-IL" sz="130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הסתברות</a:t>
                      </a:r>
                    </a:p>
                  </a:txBody>
                  <a:tcPr marL="73152" marR="73152" marT="36576" marB="36576" anchor="ctr">
                    <a:solidFill>
                      <a:srgbClr val="0081C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 marL="0" indent="0">
                        <a:buNone/>
                      </a:pPr>
                      <a:r>
                        <a:rPr lang="he-IL" sz="130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סיכון</a:t>
                      </a:r>
                    </a:p>
                  </a:txBody>
                  <a:tcPr marL="73152" marR="73152" marT="36576" marB="36576" anchor="ctr">
                    <a:solidFill>
                      <a:srgbClr val="0081C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 marL="0" indent="0">
                        <a:buNone/>
                      </a:pPr>
                      <a:r>
                        <a:rPr lang="he-IL" sz="130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חומר גלם</a:t>
                      </a:r>
                    </a:p>
                  </a:txBody>
                  <a:tcPr marL="73152" marR="73152" marT="36576" marB="36576" anchor="ctr">
                    <a:solidFill>
                      <a:srgbClr val="0081C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 marL="0" indent="0">
                        <a:buNone/>
                      </a:pPr>
                      <a:r>
                        <a:rPr lang="he-IL" sz="130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#</a:t>
                      </a:r>
                    </a:p>
                  </a:txBody>
                  <a:tcPr marL="73152" marR="73152" marT="36576" marB="36576" anchor="ctr">
                    <a:solidFill>
                      <a:srgbClr val="0081C8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ctr" rtl="1" marL="0" indent="0">
                        <a:buNone/>
                      </a:pPr>
                      <a:r>
                        <a:rPr lang="he-IL" sz="1300" b="0">
                          <a:solidFill>
                            <a:srgbClr val="333F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גבוה</a:t>
                      </a:r>
                    </a:p>
                  </a:txBody>
                  <a:tcPr marL="73152" marR="73152" marT="36576" marB="36576" anchor="ctr">
                    <a:solidFill>
                      <a:srgbClr val="FBE9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 marL="0" indent="0">
                        <a:buNone/>
                      </a:pPr>
                      <a:r>
                        <a:rPr lang="he-IL" sz="1300" b="0">
                          <a:solidFill>
                            <a:srgbClr val="333F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12</a:t>
                      </a:r>
                    </a:p>
                  </a:txBody>
                  <a:tcPr marL="73152" marR="73152" marT="36576" marB="36576" anchor="ctr">
                    <a:solidFill>
                      <a:srgbClr val="FBE9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 marL="0" indent="0">
                        <a:buNone/>
                      </a:pPr>
                      <a:r>
                        <a:rPr lang="he-IL" sz="1300" b="0">
                          <a:solidFill>
                            <a:srgbClr val="333F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4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 marL="0" indent="0">
                        <a:buNone/>
                      </a:pPr>
                      <a:r>
                        <a:rPr lang="he-IL" sz="1300" b="0">
                          <a:solidFill>
                            <a:srgbClr val="333F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3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 marL="0" indent="0">
                        <a:buNone/>
                      </a:pPr>
                      <a:r>
                        <a:rPr lang="he-IL" sz="1300" b="0">
                          <a:solidFill>
                            <a:srgbClr val="333F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חרסית / עודף דקים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 marL="0" indent="0">
                        <a:buNone/>
                      </a:pPr>
                      <a:r>
                        <a:rPr lang="he-IL" sz="1300" b="0">
                          <a:solidFill>
                            <a:srgbClr val="333F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אגרגט דק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 marL="0" indent="0">
                        <a:buNone/>
                      </a:pPr>
                      <a:r>
                        <a:rPr lang="he-IL" sz="1300" b="1">
                          <a:solidFill>
                            <a:srgbClr val="333F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1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ctr" rtl="1" marL="0" indent="0">
                        <a:buNone/>
                      </a:pPr>
                      <a:r>
                        <a:rPr lang="he-IL" sz="1300" b="0">
                          <a:solidFill>
                            <a:srgbClr val="333F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בינוני</a:t>
                      </a:r>
                    </a:p>
                  </a:txBody>
                  <a:tcPr marL="73152" marR="73152" marT="36576" marB="36576" anchor="ctr">
                    <a:solidFill>
                      <a:srgbClr val="FFF2D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 marL="0" indent="0">
                        <a:buNone/>
                      </a:pPr>
                      <a:r>
                        <a:rPr lang="he-IL" sz="1300" b="0">
                          <a:solidFill>
                            <a:srgbClr val="333F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9</a:t>
                      </a:r>
                    </a:p>
                  </a:txBody>
                  <a:tcPr marL="73152" marR="73152" marT="36576" marB="36576" anchor="ctr">
                    <a:solidFill>
                      <a:srgbClr val="FFF2D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 marL="0" indent="0">
                        <a:buNone/>
                      </a:pPr>
                      <a:r>
                        <a:rPr lang="he-IL" sz="1300" b="0">
                          <a:solidFill>
                            <a:srgbClr val="333F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3</a:t>
                      </a:r>
                    </a:p>
                  </a:txBody>
                  <a:tcPr marL="73152" marR="73152" marT="36576" marB="36576" anchor="ctr">
                    <a:solidFill>
                      <a:srgbClr val="F3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 marL="0" indent="0">
                        <a:buNone/>
                      </a:pPr>
                      <a:r>
                        <a:rPr lang="he-IL" sz="1300" b="0">
                          <a:solidFill>
                            <a:srgbClr val="333F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3</a:t>
                      </a:r>
                    </a:p>
                  </a:txBody>
                  <a:tcPr marL="73152" marR="73152" marT="36576" marB="36576" anchor="ctr">
                    <a:solidFill>
                      <a:srgbClr val="F3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 marL="0" indent="0">
                        <a:buNone/>
                      </a:pPr>
                      <a:r>
                        <a:rPr lang="he-IL" sz="1300" b="0">
                          <a:solidFill>
                            <a:srgbClr val="333F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גרדציה חורגת</a:t>
                      </a:r>
                    </a:p>
                  </a:txBody>
                  <a:tcPr marL="73152" marR="73152" marT="36576" marB="36576" anchor="ctr">
                    <a:solidFill>
                      <a:srgbClr val="F3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 marL="0" indent="0">
                        <a:buNone/>
                      </a:pPr>
                      <a:r>
                        <a:rPr lang="he-IL" sz="1300" b="0">
                          <a:solidFill>
                            <a:srgbClr val="333F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אגרגט גס</a:t>
                      </a:r>
                    </a:p>
                  </a:txBody>
                  <a:tcPr marL="73152" marR="73152" marT="36576" marB="36576" anchor="ctr">
                    <a:solidFill>
                      <a:srgbClr val="F3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 marL="0" indent="0">
                        <a:buNone/>
                      </a:pPr>
                      <a:r>
                        <a:rPr lang="he-IL" sz="1300" b="1">
                          <a:solidFill>
                            <a:srgbClr val="333F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2</a:t>
                      </a:r>
                    </a:p>
                  </a:txBody>
                  <a:tcPr marL="73152" marR="73152" marT="36576" marB="36576" anchor="ctr">
                    <a:solidFill>
                      <a:srgbClr val="F3F5F7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ctr" rtl="1" marL="0" indent="0">
                        <a:buNone/>
                      </a:pPr>
                      <a:r>
                        <a:rPr lang="he-IL" sz="1300" b="0">
                          <a:solidFill>
                            <a:srgbClr val="333F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גבוה</a:t>
                      </a:r>
                    </a:p>
                  </a:txBody>
                  <a:tcPr marL="73152" marR="73152" marT="36576" marB="36576" anchor="ctr">
                    <a:solidFill>
                      <a:srgbClr val="FBE9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 marL="0" indent="0">
                        <a:buNone/>
                      </a:pPr>
                      <a:r>
                        <a:rPr lang="he-IL" sz="1300" b="0">
                          <a:solidFill>
                            <a:srgbClr val="333F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10</a:t>
                      </a:r>
                    </a:p>
                  </a:txBody>
                  <a:tcPr marL="73152" marR="73152" marT="36576" marB="36576" anchor="ctr">
                    <a:solidFill>
                      <a:srgbClr val="FBE9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 marL="0" indent="0">
                        <a:buNone/>
                      </a:pPr>
                      <a:r>
                        <a:rPr lang="he-IL" sz="1300" b="0">
                          <a:solidFill>
                            <a:srgbClr val="333F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5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 marL="0" indent="0">
                        <a:buNone/>
                      </a:pPr>
                      <a:r>
                        <a:rPr lang="he-IL" sz="1300" b="0">
                          <a:solidFill>
                            <a:srgbClr val="333F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2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 marL="0" indent="0">
                        <a:buNone/>
                      </a:pPr>
                      <a:r>
                        <a:rPr lang="he-IL" sz="1300" b="0">
                          <a:solidFill>
                            <a:srgbClr val="333F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סוג שגוי בממגורה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 marL="0" indent="0">
                        <a:buNone/>
                      </a:pPr>
                      <a:r>
                        <a:rPr lang="he-IL" sz="1300" b="0">
                          <a:solidFill>
                            <a:srgbClr val="333F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צמנט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 marL="0" indent="0">
                        <a:buNone/>
                      </a:pPr>
                      <a:r>
                        <a:rPr lang="he-IL" sz="1300" b="1">
                          <a:solidFill>
                            <a:srgbClr val="333F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3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ctr" rtl="1" marL="0" indent="0">
                        <a:buNone/>
                      </a:pPr>
                      <a:r>
                        <a:rPr lang="he-IL" sz="1300" b="0">
                          <a:solidFill>
                            <a:srgbClr val="333F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בינוני</a:t>
                      </a:r>
                    </a:p>
                  </a:txBody>
                  <a:tcPr marL="73152" marR="73152" marT="36576" marB="36576" anchor="ctr">
                    <a:solidFill>
                      <a:srgbClr val="FFF2D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 marL="0" indent="0">
                        <a:buNone/>
                      </a:pPr>
                      <a:r>
                        <a:rPr lang="he-IL" sz="1300" b="0">
                          <a:solidFill>
                            <a:srgbClr val="333F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6</a:t>
                      </a:r>
                    </a:p>
                  </a:txBody>
                  <a:tcPr marL="73152" marR="73152" marT="36576" marB="36576" anchor="ctr">
                    <a:solidFill>
                      <a:srgbClr val="FFF2D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 marL="0" indent="0">
                        <a:buNone/>
                      </a:pPr>
                      <a:r>
                        <a:rPr lang="he-IL" sz="1300" b="0">
                          <a:solidFill>
                            <a:srgbClr val="333F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3</a:t>
                      </a:r>
                    </a:p>
                  </a:txBody>
                  <a:tcPr marL="73152" marR="73152" marT="36576" marB="36576" anchor="ctr">
                    <a:solidFill>
                      <a:srgbClr val="F3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 marL="0" indent="0">
                        <a:buNone/>
                      </a:pPr>
                      <a:r>
                        <a:rPr lang="he-IL" sz="1300" b="0">
                          <a:solidFill>
                            <a:srgbClr val="333F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2</a:t>
                      </a:r>
                    </a:p>
                  </a:txBody>
                  <a:tcPr marL="73152" marR="73152" marT="36576" marB="36576" anchor="ctr">
                    <a:solidFill>
                      <a:srgbClr val="F3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 marL="0" indent="0">
                        <a:buNone/>
                      </a:pPr>
                      <a:r>
                        <a:rPr lang="he-IL" sz="1300" b="0">
                          <a:solidFill>
                            <a:srgbClr val="333F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לחות וגושים</a:t>
                      </a:r>
                    </a:p>
                  </a:txBody>
                  <a:tcPr marL="73152" marR="73152" marT="36576" marB="36576" anchor="ctr">
                    <a:solidFill>
                      <a:srgbClr val="F3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 marL="0" indent="0">
                        <a:buNone/>
                      </a:pPr>
                      <a:r>
                        <a:rPr lang="he-IL" sz="1300" b="0">
                          <a:solidFill>
                            <a:srgbClr val="333F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צמנט</a:t>
                      </a:r>
                    </a:p>
                  </a:txBody>
                  <a:tcPr marL="73152" marR="73152" marT="36576" marB="36576" anchor="ctr">
                    <a:solidFill>
                      <a:srgbClr val="F3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 marL="0" indent="0">
                        <a:buNone/>
                      </a:pPr>
                      <a:r>
                        <a:rPr lang="he-IL" sz="1300" b="1">
                          <a:solidFill>
                            <a:srgbClr val="333F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4</a:t>
                      </a:r>
                    </a:p>
                  </a:txBody>
                  <a:tcPr marL="73152" marR="73152" marT="36576" marB="36576" anchor="ctr">
                    <a:solidFill>
                      <a:srgbClr val="F3F5F7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ctr" rtl="1" marL="0" indent="0">
                        <a:buNone/>
                      </a:pPr>
                      <a:r>
                        <a:rPr lang="he-IL" sz="1300" b="0">
                          <a:solidFill>
                            <a:srgbClr val="333F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גבוה</a:t>
                      </a:r>
                    </a:p>
                  </a:txBody>
                  <a:tcPr marL="73152" marR="73152" marT="36576" marB="36576" anchor="ctr">
                    <a:solidFill>
                      <a:srgbClr val="FBE9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 marL="0" indent="0">
                        <a:buNone/>
                      </a:pPr>
                      <a:r>
                        <a:rPr lang="he-IL" sz="1300" b="0">
                          <a:solidFill>
                            <a:srgbClr val="333F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10</a:t>
                      </a:r>
                    </a:p>
                  </a:txBody>
                  <a:tcPr marL="73152" marR="73152" marT="36576" marB="36576" anchor="ctr">
                    <a:solidFill>
                      <a:srgbClr val="FBE9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 marL="0" indent="0">
                        <a:buNone/>
                      </a:pPr>
                      <a:r>
                        <a:rPr lang="he-IL" sz="1300" b="0">
                          <a:solidFill>
                            <a:srgbClr val="333F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5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 marL="0" indent="0">
                        <a:buNone/>
                      </a:pPr>
                      <a:r>
                        <a:rPr lang="he-IL" sz="1300" b="0">
                          <a:solidFill>
                            <a:srgbClr val="333F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2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 marL="0" indent="0">
                        <a:buNone/>
                      </a:pPr>
                      <a:r>
                        <a:rPr lang="he-IL" sz="1300" b="0">
                          <a:solidFill>
                            <a:srgbClr val="333F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מינון שגוי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 marL="0" indent="0">
                        <a:buNone/>
                      </a:pPr>
                      <a:r>
                        <a:rPr lang="he-IL" sz="1300" b="0">
                          <a:solidFill>
                            <a:srgbClr val="333F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מוסף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 marL="0" indent="0">
                        <a:buNone/>
                      </a:pPr>
                      <a:r>
                        <a:rPr lang="he-IL" sz="1300" b="1">
                          <a:solidFill>
                            <a:srgbClr val="333F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5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ctr" rtl="1" marL="0" indent="0">
                        <a:buNone/>
                      </a:pPr>
                      <a:r>
                        <a:rPr lang="he-IL" sz="1300" b="0">
                          <a:solidFill>
                            <a:srgbClr val="333F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בינוני</a:t>
                      </a:r>
                    </a:p>
                  </a:txBody>
                  <a:tcPr marL="73152" marR="73152" marT="36576" marB="36576" anchor="ctr">
                    <a:solidFill>
                      <a:srgbClr val="FFF2D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 marL="0" indent="0">
                        <a:buNone/>
                      </a:pPr>
                      <a:r>
                        <a:rPr lang="he-IL" sz="1300" b="0">
                          <a:solidFill>
                            <a:srgbClr val="333F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8</a:t>
                      </a:r>
                    </a:p>
                  </a:txBody>
                  <a:tcPr marL="73152" marR="73152" marT="36576" marB="36576" anchor="ctr">
                    <a:solidFill>
                      <a:srgbClr val="FFF2D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 marL="0" indent="0">
                        <a:buNone/>
                      </a:pPr>
                      <a:r>
                        <a:rPr lang="he-IL" sz="1300" b="0">
                          <a:solidFill>
                            <a:srgbClr val="333F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4</a:t>
                      </a:r>
                    </a:p>
                  </a:txBody>
                  <a:tcPr marL="73152" marR="73152" marT="36576" marB="36576" anchor="ctr">
                    <a:solidFill>
                      <a:srgbClr val="F3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 marL="0" indent="0">
                        <a:buNone/>
                      </a:pPr>
                      <a:r>
                        <a:rPr lang="he-IL" sz="1300" b="0">
                          <a:solidFill>
                            <a:srgbClr val="333F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2</a:t>
                      </a:r>
                    </a:p>
                  </a:txBody>
                  <a:tcPr marL="73152" marR="73152" marT="36576" marB="36576" anchor="ctr">
                    <a:solidFill>
                      <a:srgbClr val="F3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 marL="0" indent="0">
                        <a:buNone/>
                      </a:pPr>
                      <a:r>
                        <a:rPr lang="he-IL" sz="1300" b="0">
                          <a:solidFill>
                            <a:srgbClr val="333F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הפרדת פאזות</a:t>
                      </a:r>
                    </a:p>
                  </a:txBody>
                  <a:tcPr marL="73152" marR="73152" marT="36576" marB="36576" anchor="ctr">
                    <a:solidFill>
                      <a:srgbClr val="F3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 marL="0" indent="0">
                        <a:buNone/>
                      </a:pPr>
                      <a:r>
                        <a:rPr lang="he-IL" sz="1300" b="0">
                          <a:solidFill>
                            <a:srgbClr val="333F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מוסף</a:t>
                      </a:r>
                    </a:p>
                  </a:txBody>
                  <a:tcPr marL="73152" marR="73152" marT="36576" marB="36576" anchor="ctr">
                    <a:solidFill>
                      <a:srgbClr val="F3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 marL="0" indent="0">
                        <a:buNone/>
                      </a:pPr>
                      <a:r>
                        <a:rPr lang="he-IL" sz="1300" b="1">
                          <a:solidFill>
                            <a:srgbClr val="333F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6</a:t>
                      </a:r>
                    </a:p>
                  </a:txBody>
                  <a:tcPr marL="73152" marR="73152" marT="36576" marB="36576" anchor="ctr">
                    <a:solidFill>
                      <a:srgbClr val="F3F5F7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ctr" rtl="1" marL="0" indent="0">
                        <a:buNone/>
                      </a:pPr>
                      <a:r>
                        <a:rPr lang="he-IL" sz="1300" b="0">
                          <a:solidFill>
                            <a:srgbClr val="333F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בינוני</a:t>
                      </a:r>
                    </a:p>
                  </a:txBody>
                  <a:tcPr marL="73152" marR="73152" marT="36576" marB="36576" anchor="ctr">
                    <a:solidFill>
                      <a:srgbClr val="FFF2D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 marL="0" indent="0">
                        <a:buNone/>
                      </a:pPr>
                      <a:r>
                        <a:rPr lang="he-IL" sz="1300" b="0">
                          <a:solidFill>
                            <a:srgbClr val="333F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6</a:t>
                      </a:r>
                    </a:p>
                  </a:txBody>
                  <a:tcPr marL="73152" marR="73152" marT="36576" marB="36576" anchor="ctr">
                    <a:solidFill>
                      <a:srgbClr val="FFF2D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 marL="0" indent="0">
                        <a:buNone/>
                      </a:pPr>
                      <a:r>
                        <a:rPr lang="he-IL" sz="1300" b="0">
                          <a:solidFill>
                            <a:srgbClr val="333F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3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 marL="0" indent="0">
                        <a:buNone/>
                      </a:pPr>
                      <a:r>
                        <a:rPr lang="he-IL" sz="1300" b="0">
                          <a:solidFill>
                            <a:srgbClr val="333F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2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 marL="0" indent="0">
                        <a:buNone/>
                      </a:pPr>
                      <a:r>
                        <a:rPr lang="he-IL" sz="1300" b="0">
                          <a:solidFill>
                            <a:srgbClr val="333F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מים ממוחזרים לא מבוקרים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 marL="0" indent="0">
                        <a:buNone/>
                      </a:pPr>
                      <a:r>
                        <a:rPr lang="he-IL" sz="1300" b="0">
                          <a:solidFill>
                            <a:srgbClr val="333F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מים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 marL="0" indent="0">
                        <a:buNone/>
                      </a:pPr>
                      <a:r>
                        <a:rPr lang="he-IL" sz="1300" b="1">
                          <a:solidFill>
                            <a:srgbClr val="333F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7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822960" y="4846320"/>
            <a:ext cx="7680960" cy="274320"/>
          </a:xfrm>
          <a:prstGeom prst="rect">
            <a:avLst/>
          </a:prstGeom>
          <a:noFill/>
        </p:spPr>
        <p:txBody>
          <a:bodyPr wrap="square" lIns="0" rIns="0" tIns="0" bIns="0" anchor="t" rtlCol="1">
            <a:spAutoFit/>
          </a:bodyPr>
          <a:lstStyle/>
          <a:p>
            <a:pPr algn="r" rtl="1" marL="0" indent="0">
              <a:spcAft>
                <a:spcPts val="400"/>
              </a:spcAft>
              <a:buNone/>
            </a:pPr>
            <a:r>
              <a:rPr lang="he-IL" sz="1100" b="0">
                <a:solidFill>
                  <a:srgbClr val="5F6B76"/>
                </a:solidFill>
                <a:latin typeface="Arial Unicode MS"/>
                <a:ea typeface="Arial Unicode MS"/>
                <a:cs typeface="Arial Unicode MS"/>
              </a:rPr>
              <a:t>סולם 1-5. דוגמה — יש לכייל את הציונים לפי נתוני המפעל ולעדכן אחת לרבעון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15400" y="1097280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 anchor="t" rtlCol="1">
            <a:spAutoFit/>
          </a:bodyPr>
          <a:lstStyle/>
          <a:p>
            <a:pPr algn="ctr" rtl="1" marL="0" indent="0">
              <a:spcAft>
                <a:spcPts val="400"/>
              </a:spcAft>
              <a:buNone/>
            </a:pPr>
            <a:r>
              <a:rPr lang="he-IL" sz="1200" b="0">
                <a:solidFill>
                  <a:srgbClr val="5F6B76"/>
                </a:solidFill>
                <a:latin typeface="Arial Unicode MS"/>
                <a:ea typeface="Arial Unicode MS"/>
                <a:cs typeface="Arial Unicode MS"/>
              </a:rPr>
              <a:t>הסתברות ↑   השפעה ←</a:t>
            </a:r>
          </a:p>
        </p:txBody>
      </p:sp>
      <p:sp>
        <p:nvSpPr>
          <p:cNvPr id="6" name="Rectangle 5"/>
          <p:cNvSpPr/>
          <p:nvPr/>
        </p:nvSpPr>
        <p:spPr>
          <a:xfrm>
            <a:off x="10817352" y="1508760"/>
            <a:ext cx="448056" cy="448056"/>
          </a:xfrm>
          <a:prstGeom prst="rect">
            <a:avLst/>
          </a:prstGeom>
          <a:solidFill>
            <a:srgbClr val="BFE3C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341864" y="1508760"/>
            <a:ext cx="448056" cy="448056"/>
          </a:xfrm>
          <a:prstGeom prst="rect">
            <a:avLst/>
          </a:prstGeom>
          <a:solidFill>
            <a:srgbClr val="F4B7B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866376" y="1508760"/>
            <a:ext cx="448056" cy="448056"/>
          </a:xfrm>
          <a:prstGeom prst="rect">
            <a:avLst/>
          </a:prstGeom>
          <a:solidFill>
            <a:srgbClr val="F4B7B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390888" y="1508760"/>
            <a:ext cx="448056" cy="448056"/>
          </a:xfrm>
          <a:prstGeom prst="rect">
            <a:avLst/>
          </a:prstGeom>
          <a:solidFill>
            <a:srgbClr val="F4B7B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915400" y="1508760"/>
            <a:ext cx="448056" cy="448056"/>
          </a:xfrm>
          <a:prstGeom prst="rect">
            <a:avLst/>
          </a:prstGeom>
          <a:solidFill>
            <a:srgbClr val="F4B7B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817352" y="1984248"/>
            <a:ext cx="448056" cy="448056"/>
          </a:xfrm>
          <a:prstGeom prst="rect">
            <a:avLst/>
          </a:prstGeom>
          <a:solidFill>
            <a:srgbClr val="BFE3C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341864" y="1984248"/>
            <a:ext cx="448056" cy="448056"/>
          </a:xfrm>
          <a:prstGeom prst="rect">
            <a:avLst/>
          </a:prstGeom>
          <a:solidFill>
            <a:srgbClr val="FFD9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866376" y="1984248"/>
            <a:ext cx="448056" cy="448056"/>
          </a:xfrm>
          <a:prstGeom prst="rect">
            <a:avLst/>
          </a:prstGeom>
          <a:solidFill>
            <a:srgbClr val="F4B7B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390888" y="1984248"/>
            <a:ext cx="448056" cy="448056"/>
          </a:xfrm>
          <a:prstGeom prst="rect">
            <a:avLst/>
          </a:prstGeom>
          <a:solidFill>
            <a:srgbClr val="F4B7B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915400" y="1984248"/>
            <a:ext cx="448056" cy="448056"/>
          </a:xfrm>
          <a:prstGeom prst="rect">
            <a:avLst/>
          </a:prstGeom>
          <a:solidFill>
            <a:srgbClr val="F4B7B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0817352" y="2459736"/>
            <a:ext cx="448056" cy="448056"/>
          </a:xfrm>
          <a:prstGeom prst="rect">
            <a:avLst/>
          </a:prstGeom>
          <a:solidFill>
            <a:srgbClr val="BFE3C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0341864" y="2459736"/>
            <a:ext cx="448056" cy="448056"/>
          </a:xfrm>
          <a:prstGeom prst="rect">
            <a:avLst/>
          </a:prstGeom>
          <a:solidFill>
            <a:srgbClr val="FFD9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866376" y="2459736"/>
            <a:ext cx="448056" cy="448056"/>
          </a:xfrm>
          <a:prstGeom prst="rect">
            <a:avLst/>
          </a:prstGeom>
          <a:solidFill>
            <a:srgbClr val="FFD9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390888" y="2459736"/>
            <a:ext cx="448056" cy="448056"/>
          </a:xfrm>
          <a:prstGeom prst="rect">
            <a:avLst/>
          </a:prstGeom>
          <a:solidFill>
            <a:srgbClr val="F4B7B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915400" y="2459736"/>
            <a:ext cx="448056" cy="448056"/>
          </a:xfrm>
          <a:prstGeom prst="rect">
            <a:avLst/>
          </a:prstGeom>
          <a:solidFill>
            <a:srgbClr val="F4B7B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0817352" y="2935224"/>
            <a:ext cx="448056" cy="448056"/>
          </a:xfrm>
          <a:prstGeom prst="rect">
            <a:avLst/>
          </a:prstGeom>
          <a:solidFill>
            <a:srgbClr val="BFE3C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341864" y="2935224"/>
            <a:ext cx="448056" cy="448056"/>
          </a:xfrm>
          <a:prstGeom prst="rect">
            <a:avLst/>
          </a:prstGeom>
          <a:solidFill>
            <a:srgbClr val="BFE3C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866376" y="2935224"/>
            <a:ext cx="448056" cy="448056"/>
          </a:xfrm>
          <a:prstGeom prst="rect">
            <a:avLst/>
          </a:prstGeom>
          <a:solidFill>
            <a:srgbClr val="FFD9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390888" y="2935224"/>
            <a:ext cx="448056" cy="448056"/>
          </a:xfrm>
          <a:prstGeom prst="rect">
            <a:avLst/>
          </a:prstGeom>
          <a:solidFill>
            <a:srgbClr val="FFD9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915400" y="2935224"/>
            <a:ext cx="448056" cy="448056"/>
          </a:xfrm>
          <a:prstGeom prst="rect">
            <a:avLst/>
          </a:prstGeom>
          <a:solidFill>
            <a:srgbClr val="F4B7B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0817352" y="3410712"/>
            <a:ext cx="448056" cy="448056"/>
          </a:xfrm>
          <a:prstGeom prst="rect">
            <a:avLst/>
          </a:prstGeom>
          <a:solidFill>
            <a:srgbClr val="BFE3C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0341864" y="3410712"/>
            <a:ext cx="448056" cy="448056"/>
          </a:xfrm>
          <a:prstGeom prst="rect">
            <a:avLst/>
          </a:prstGeom>
          <a:solidFill>
            <a:srgbClr val="BFE3C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866376" y="3410712"/>
            <a:ext cx="448056" cy="448056"/>
          </a:xfrm>
          <a:prstGeom prst="rect">
            <a:avLst/>
          </a:prstGeom>
          <a:solidFill>
            <a:srgbClr val="BFE3C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390888" y="3410712"/>
            <a:ext cx="448056" cy="448056"/>
          </a:xfrm>
          <a:prstGeom prst="rect">
            <a:avLst/>
          </a:prstGeom>
          <a:solidFill>
            <a:srgbClr val="BFE3C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915400" y="3410712"/>
            <a:ext cx="448056" cy="448056"/>
          </a:xfrm>
          <a:prstGeom prst="rect">
            <a:avLst/>
          </a:prstGeom>
          <a:solidFill>
            <a:srgbClr val="BFE3C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9505188" y="2574036"/>
            <a:ext cx="219456" cy="219456"/>
          </a:xfrm>
          <a:prstGeom prst="ellipse">
            <a:avLst/>
          </a:prstGeom>
          <a:solidFill>
            <a:srgbClr val="003973"/>
          </a:solidFill>
          <a:ln>
            <a:noFill/>
          </a:ln>
        </p:spPr>
        <p:txBody>
          <a:bodyPr rtlCol="0" anchor="ctr" wrap="square" lIns="0" rIns="0" tIns="18288" bIns="18288"/>
          <a:lstStyle/>
          <a:p>
            <a:pPr algn="ctr" rtl="1" marL="0" indent="0">
              <a:buNone/>
            </a:pPr>
            <a:r>
              <a:rPr lang="he-IL" sz="9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1</a:t>
            </a:r>
          </a:p>
        </p:txBody>
      </p:sp>
      <p:sp>
        <p:nvSpPr>
          <p:cNvPr id="32" name="Oval 31"/>
          <p:cNvSpPr/>
          <p:nvPr/>
        </p:nvSpPr>
        <p:spPr>
          <a:xfrm>
            <a:off x="9980676" y="2574036"/>
            <a:ext cx="219456" cy="219456"/>
          </a:xfrm>
          <a:prstGeom prst="ellipse">
            <a:avLst/>
          </a:prstGeom>
          <a:solidFill>
            <a:srgbClr val="003973"/>
          </a:solidFill>
          <a:ln>
            <a:noFill/>
          </a:ln>
        </p:spPr>
        <p:txBody>
          <a:bodyPr rtlCol="0" anchor="ctr" wrap="square" lIns="0" rIns="0" tIns="18288" bIns="18288"/>
          <a:lstStyle/>
          <a:p>
            <a:pPr algn="ctr" rtl="1" marL="0" indent="0">
              <a:buNone/>
            </a:pPr>
            <a:r>
              <a:rPr lang="he-IL" sz="9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2</a:t>
            </a:r>
          </a:p>
        </p:txBody>
      </p:sp>
      <p:sp>
        <p:nvSpPr>
          <p:cNvPr id="33" name="Oval 32"/>
          <p:cNvSpPr/>
          <p:nvPr/>
        </p:nvSpPr>
        <p:spPr>
          <a:xfrm>
            <a:off x="8938260" y="3049523"/>
            <a:ext cx="219456" cy="219456"/>
          </a:xfrm>
          <a:prstGeom prst="ellipse">
            <a:avLst/>
          </a:prstGeom>
          <a:solidFill>
            <a:srgbClr val="003973"/>
          </a:solidFill>
          <a:ln>
            <a:noFill/>
          </a:ln>
        </p:spPr>
        <p:txBody>
          <a:bodyPr rtlCol="0" anchor="ctr" wrap="square" lIns="0" rIns="0" tIns="18288" bIns="18288"/>
          <a:lstStyle/>
          <a:p>
            <a:pPr algn="ctr" rtl="1" marL="0" indent="0">
              <a:buNone/>
            </a:pPr>
            <a:r>
              <a:rPr lang="he-IL" sz="9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3</a:t>
            </a:r>
          </a:p>
        </p:txBody>
      </p:sp>
      <p:sp>
        <p:nvSpPr>
          <p:cNvPr id="34" name="Oval 33"/>
          <p:cNvSpPr/>
          <p:nvPr/>
        </p:nvSpPr>
        <p:spPr>
          <a:xfrm>
            <a:off x="9121140" y="3049523"/>
            <a:ext cx="219456" cy="219456"/>
          </a:xfrm>
          <a:prstGeom prst="ellipse">
            <a:avLst/>
          </a:prstGeom>
          <a:solidFill>
            <a:srgbClr val="003973"/>
          </a:solidFill>
          <a:ln>
            <a:noFill/>
          </a:ln>
        </p:spPr>
        <p:txBody>
          <a:bodyPr rtlCol="0" anchor="ctr" wrap="square" lIns="0" rIns="0" tIns="18288" bIns="18288"/>
          <a:lstStyle/>
          <a:p>
            <a:pPr algn="ctr" rtl="1" marL="0" indent="0">
              <a:buNone/>
            </a:pPr>
            <a:r>
              <a:rPr lang="he-IL" sz="9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5</a:t>
            </a:r>
          </a:p>
        </p:txBody>
      </p:sp>
      <p:sp>
        <p:nvSpPr>
          <p:cNvPr id="35" name="Oval 34"/>
          <p:cNvSpPr/>
          <p:nvPr/>
        </p:nvSpPr>
        <p:spPr>
          <a:xfrm>
            <a:off x="9889236" y="3049523"/>
            <a:ext cx="219456" cy="219456"/>
          </a:xfrm>
          <a:prstGeom prst="ellipse">
            <a:avLst/>
          </a:prstGeom>
          <a:solidFill>
            <a:srgbClr val="003973"/>
          </a:solidFill>
          <a:ln>
            <a:noFill/>
          </a:ln>
        </p:spPr>
        <p:txBody>
          <a:bodyPr rtlCol="0" anchor="ctr" wrap="square" lIns="0" rIns="0" tIns="18288" bIns="18288"/>
          <a:lstStyle/>
          <a:p>
            <a:pPr algn="ctr" rtl="1" marL="0" indent="0">
              <a:buNone/>
            </a:pPr>
            <a:r>
              <a:rPr lang="he-IL" sz="9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4</a:t>
            </a:r>
          </a:p>
        </p:txBody>
      </p:sp>
      <p:sp>
        <p:nvSpPr>
          <p:cNvPr id="36" name="Oval 35"/>
          <p:cNvSpPr/>
          <p:nvPr/>
        </p:nvSpPr>
        <p:spPr>
          <a:xfrm>
            <a:off x="10072115" y="3049523"/>
            <a:ext cx="219456" cy="219456"/>
          </a:xfrm>
          <a:prstGeom prst="ellipse">
            <a:avLst/>
          </a:prstGeom>
          <a:solidFill>
            <a:srgbClr val="003973"/>
          </a:solidFill>
          <a:ln>
            <a:noFill/>
          </a:ln>
        </p:spPr>
        <p:txBody>
          <a:bodyPr rtlCol="0" anchor="ctr" wrap="square" lIns="0" rIns="0" tIns="18288" bIns="18288"/>
          <a:lstStyle/>
          <a:p>
            <a:pPr algn="ctr" rtl="1" marL="0" indent="0">
              <a:buNone/>
            </a:pPr>
            <a:r>
              <a:rPr lang="he-IL" sz="9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7</a:t>
            </a:r>
          </a:p>
        </p:txBody>
      </p:sp>
      <p:sp>
        <p:nvSpPr>
          <p:cNvPr id="37" name="Oval 36"/>
          <p:cNvSpPr/>
          <p:nvPr/>
        </p:nvSpPr>
        <p:spPr>
          <a:xfrm>
            <a:off x="9505188" y="3049523"/>
            <a:ext cx="219456" cy="219456"/>
          </a:xfrm>
          <a:prstGeom prst="ellipse">
            <a:avLst/>
          </a:prstGeom>
          <a:solidFill>
            <a:srgbClr val="003973"/>
          </a:solidFill>
          <a:ln>
            <a:noFill/>
          </a:ln>
        </p:spPr>
        <p:txBody>
          <a:bodyPr rtlCol="0" anchor="ctr" wrap="square" lIns="0" rIns="0" tIns="18288" bIns="18288"/>
          <a:lstStyle/>
          <a:p>
            <a:pPr algn="ctr" rtl="1" marL="0" indent="0">
              <a:buNone/>
            </a:pPr>
            <a:r>
              <a:rPr lang="he-IL" sz="9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732520" y="4023360"/>
            <a:ext cx="2743200" cy="640080"/>
          </a:xfrm>
          <a:prstGeom prst="rect">
            <a:avLst/>
          </a:prstGeom>
          <a:noFill/>
        </p:spPr>
        <p:txBody>
          <a:bodyPr wrap="square" lIns="0" rIns="0" tIns="0" bIns="0" anchor="t" rtlCol="1">
            <a:spAutoFit/>
          </a:bodyPr>
          <a:lstStyle/>
          <a:p>
            <a:pPr algn="ctr" rtl="1" marL="0" indent="0">
              <a:spcAft>
                <a:spcPts val="400"/>
              </a:spcAft>
              <a:buNone/>
            </a:pPr>
            <a:r>
              <a:rPr lang="he-IL" sz="1300" b="1">
                <a:solidFill>
                  <a:srgbClr val="003973"/>
                </a:solidFill>
                <a:latin typeface="Arial Unicode MS"/>
                <a:ea typeface="Arial Unicode MS"/>
                <a:cs typeface="Arial Unicode MS"/>
              </a:rPr>
              <a:t>מתחילים מהתאים האדומים: שם נמצא רוב הסיכון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6" name="תמונה 5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1"/>
          <a:stretch/>
        </p:blipFill>
        <p:spPr>
          <a:xfrm flipH="1">
            <a:off x="0" y="0"/>
            <a:ext cx="10306050" cy="6858000"/>
          </a:xfrm>
          <a:prstGeom prst="rect">
            <a:avLst/>
          </a:prstGeom>
        </p:spPr>
      </p:pic>
      <p:sp>
        <p:nvSpPr>
          <p:cNvPr id="4" name="מלבן 3"/>
          <p:cNvSpPr/>
          <p:nvPr/>
        </p:nvSpPr>
        <p:spPr>
          <a:xfrm>
            <a:off x="6115050" y="0"/>
            <a:ext cx="6076950" cy="6858000"/>
          </a:xfrm>
          <a:prstGeom prst="rect">
            <a:avLst/>
          </a:prstGeom>
          <a:solidFill>
            <a:srgbClr val="2C9EE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>
              <a:solidFill>
                <a:prstClr val="white"/>
              </a:solidFill>
            </a:endParaRPr>
          </a:p>
        </p:txBody>
      </p:sp>
      <p:sp>
        <p:nvSpPr>
          <p:cNvPr id="7" name="משולש שווה שוקיים 6"/>
          <p:cNvSpPr/>
          <p:nvPr/>
        </p:nvSpPr>
        <p:spPr>
          <a:xfrm rot="16200000" flipH="1">
            <a:off x="5324475" y="3143250"/>
            <a:ext cx="1123950" cy="609600"/>
          </a:xfrm>
          <a:prstGeom prst="triangle">
            <a:avLst/>
          </a:prstGeom>
          <a:solidFill>
            <a:srgbClr val="2C9EE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>
              <a:solidFill>
                <a:prstClr val="white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720840" y="2514600"/>
            <a:ext cx="4937760" cy="914400"/>
          </a:xfrm>
          <a:prstGeom prst="rect">
            <a:avLst/>
          </a:prstGeom>
          <a:noFill/>
        </p:spPr>
        <p:txBody>
          <a:bodyPr wrap="square" rtlCol="1" anchor="ctr"/>
          <a:lstStyle/>
          <a:p>
            <a:pPr algn="ctr" rtl="1"/>
            <a:r>
              <a:rPr lang="he-IL" sz="3600" dirty="0">
                <a:solidFill>
                  <a:prstClr val="white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חומרים ממוחזרים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20840" y="1874519"/>
            <a:ext cx="4937760" cy="457200"/>
          </a:xfrm>
          <a:prstGeom prst="rect">
            <a:avLst/>
          </a:prstGeom>
          <a:noFill/>
        </p:spPr>
        <p:txBody>
          <a:bodyPr wrap="square" lIns="0" rIns="0" tIns="0" bIns="0" anchor="t" rtlCol="1">
            <a:spAutoFit/>
          </a:bodyPr>
          <a:lstStyle/>
          <a:p>
            <a:pPr algn="ctr" rtl="1" marL="0" indent="0">
              <a:spcAft>
                <a:spcPts val="400"/>
              </a:spcAft>
              <a:buNone/>
            </a:pPr>
            <a:r>
              <a:rPr lang="he-IL" sz="2000" b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פרק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86600" y="3611880"/>
            <a:ext cx="4206240" cy="2011680"/>
          </a:xfrm>
          <a:prstGeom prst="rect">
            <a:avLst/>
          </a:prstGeom>
          <a:noFill/>
        </p:spPr>
        <p:txBody>
          <a:bodyPr wrap="square" lIns="0" rIns="0" tIns="0" bIns="0" anchor="t" rtlCol="1">
            <a:spAutoFit/>
          </a:bodyPr>
          <a:lstStyle/>
          <a:p>
            <a:pPr algn="ctr" rtl="1" marL="0" indent="0">
              <a:lnSpc>
                <a:spcPct val="115000"/>
              </a:lnSpc>
              <a:spcAft>
                <a:spcPts val="400"/>
              </a:spcAft>
              <a:buNone/>
            </a:pPr>
            <a:r>
              <a:rPr lang="he-IL" sz="1600" b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מים ממוחזרים · בטון חוזר · אגרגט ממוחזר · מתי מותר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>
                <a:latin typeface="Arial Unicode MS"/>
                <a:ea typeface="Arial Unicode MS"/>
                <a:cs typeface="Arial Unicode MS"/>
              </a:rPr>
              <a:t>חומרים ממוחזרים במפעל הבטון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001000" y="1097280"/>
            <a:ext cx="3474720" cy="2194560"/>
          </a:xfrm>
          <a:prstGeom prst="roundRect">
            <a:avLst>
              <a:gd name="adj" fmla="val 8000"/>
            </a:avLst>
          </a:prstGeom>
          <a:solidFill>
            <a:srgbClr val="EAF3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326880" y="1280160"/>
            <a:ext cx="822960" cy="822960"/>
          </a:xfrm>
          <a:prstGeom prst="ellipse">
            <a:avLst/>
          </a:prstGeom>
          <a:solidFill>
            <a:srgbClr val="0081C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5" name="Picture 4" descr="FaWater_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4390" y="1477670"/>
            <a:ext cx="427939" cy="42793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138160" y="2194560"/>
            <a:ext cx="3200400" cy="411480"/>
          </a:xfrm>
          <a:prstGeom prst="rect">
            <a:avLst/>
          </a:prstGeom>
          <a:noFill/>
        </p:spPr>
        <p:txBody>
          <a:bodyPr wrap="square" lIns="0" rIns="0" tIns="0" bIns="0" anchor="t" rtlCol="1">
            <a:spAutoFit/>
          </a:bodyPr>
          <a:lstStyle/>
          <a:p>
            <a:pPr algn="ctr" rtl="1" marL="0" indent="0">
              <a:spcAft>
                <a:spcPts val="400"/>
              </a:spcAft>
              <a:buNone/>
            </a:pPr>
            <a:r>
              <a:rPr lang="he-IL" sz="2000" b="1">
                <a:solidFill>
                  <a:srgbClr val="003973"/>
                </a:solidFill>
                <a:latin typeface="Arial Unicode MS"/>
                <a:ea typeface="Arial Unicode MS"/>
                <a:cs typeface="Arial Unicode MS"/>
              </a:rPr>
              <a:t>מים ממוחזרים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83880" y="260604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 rtlCol="1">
            <a:spAutoFit/>
          </a:bodyPr>
          <a:lstStyle/>
          <a:p>
            <a:pPr algn="ctr" rtl="1" marL="0" indent="0">
              <a:spcAft>
                <a:spcPts val="400"/>
              </a:spcAft>
              <a:buNone/>
            </a:pPr>
            <a:r>
              <a:rPr lang="he-IL" sz="1300" b="0">
                <a:solidFill>
                  <a:srgbClr val="333F4A"/>
                </a:solidFill>
                <a:latin typeface="Arial Unicode MS"/>
                <a:ea typeface="Arial Unicode MS"/>
                <a:cs typeface="Arial Unicode MS"/>
              </a:rPr>
              <a:t>מי שטיפת משאיות ומפעל אחרי שיקוע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83880" y="2926080"/>
            <a:ext cx="3108960" cy="320040"/>
          </a:xfrm>
          <a:prstGeom prst="rect">
            <a:avLst/>
          </a:prstGeom>
          <a:noFill/>
        </p:spPr>
        <p:txBody>
          <a:bodyPr wrap="square" lIns="0" rIns="0" tIns="0" bIns="0" anchor="t" rtlCol="1">
            <a:spAutoFit/>
          </a:bodyPr>
          <a:lstStyle/>
          <a:p>
            <a:pPr algn="ctr" rtl="1" marL="0" indent="0">
              <a:spcAft>
                <a:spcPts val="400"/>
              </a:spcAft>
              <a:buNone/>
            </a:pPr>
            <a:r>
              <a:rPr lang="he-IL" sz="1200" b="0">
                <a:solidFill>
                  <a:srgbClr val="5F6B76"/>
                </a:solidFill>
                <a:latin typeface="Arial Unicode MS"/>
                <a:ea typeface="Arial Unicode MS"/>
                <a:cs typeface="Arial Unicode MS"/>
              </a:rPr>
              <a:t>כמעט בכל מפעל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53128" y="1097280"/>
            <a:ext cx="3474720" cy="2194560"/>
          </a:xfrm>
          <a:prstGeom prst="roundRect">
            <a:avLst>
              <a:gd name="adj" fmla="val 8000"/>
            </a:avLst>
          </a:prstGeom>
          <a:solidFill>
            <a:srgbClr val="EAF3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779008" y="1280160"/>
            <a:ext cx="822960" cy="822960"/>
          </a:xfrm>
          <a:prstGeom prst="ellipse">
            <a:avLst/>
          </a:prstGeom>
          <a:solidFill>
            <a:srgbClr val="00397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Picture 10" descr="FaSyncAlt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76518" y="1477670"/>
            <a:ext cx="427939" cy="427939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590288" y="2194560"/>
            <a:ext cx="3200400" cy="411480"/>
          </a:xfrm>
          <a:prstGeom prst="rect">
            <a:avLst/>
          </a:prstGeom>
          <a:noFill/>
        </p:spPr>
        <p:txBody>
          <a:bodyPr wrap="square" lIns="0" rIns="0" tIns="0" bIns="0" anchor="t" rtlCol="1">
            <a:spAutoFit/>
          </a:bodyPr>
          <a:lstStyle/>
          <a:p>
            <a:pPr algn="ctr" rtl="1" marL="0" indent="0">
              <a:spcAft>
                <a:spcPts val="400"/>
              </a:spcAft>
              <a:buNone/>
            </a:pPr>
            <a:r>
              <a:rPr lang="he-IL" sz="2000" b="1">
                <a:solidFill>
                  <a:srgbClr val="003973"/>
                </a:solidFill>
                <a:latin typeface="Arial Unicode MS"/>
                <a:ea typeface="Arial Unicode MS"/>
                <a:cs typeface="Arial Unicode MS"/>
              </a:rPr>
              <a:t>בטון חוזר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36008" y="260604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 rtlCol="1">
            <a:spAutoFit/>
          </a:bodyPr>
          <a:lstStyle/>
          <a:p>
            <a:pPr algn="ctr" rtl="1" marL="0" indent="0">
              <a:spcAft>
                <a:spcPts val="400"/>
              </a:spcAft>
              <a:buNone/>
            </a:pPr>
            <a:r>
              <a:rPr lang="he-IL" sz="1300" b="0">
                <a:solidFill>
                  <a:srgbClr val="333F4A"/>
                </a:solidFill>
                <a:latin typeface="Arial Unicode MS"/>
                <a:ea typeface="Arial Unicode MS"/>
                <a:cs typeface="Arial Unicode MS"/>
              </a:rPr>
              <a:t>עודפי בטון טרי שחוזרים מהאתר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36008" y="2926080"/>
            <a:ext cx="3108960" cy="320040"/>
          </a:xfrm>
          <a:prstGeom prst="rect">
            <a:avLst/>
          </a:prstGeom>
          <a:noFill/>
        </p:spPr>
        <p:txBody>
          <a:bodyPr wrap="square" lIns="0" rIns="0" tIns="0" bIns="0" anchor="t" rtlCol="1">
            <a:spAutoFit/>
          </a:bodyPr>
          <a:lstStyle/>
          <a:p>
            <a:pPr algn="ctr" rtl="1" marL="0" indent="0">
              <a:spcAft>
                <a:spcPts val="400"/>
              </a:spcAft>
              <a:buNone/>
            </a:pPr>
            <a:r>
              <a:rPr lang="he-IL" sz="1200" b="0">
                <a:solidFill>
                  <a:srgbClr val="5F6B76"/>
                </a:solidFill>
                <a:latin typeface="Arial Unicode MS"/>
                <a:ea typeface="Arial Unicode MS"/>
                <a:cs typeface="Arial Unicode MS"/>
              </a:rPr>
              <a:t>אחוזים בודדים מהייצור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5256" y="1097280"/>
            <a:ext cx="3474720" cy="2194560"/>
          </a:xfrm>
          <a:prstGeom prst="roundRect">
            <a:avLst>
              <a:gd name="adj" fmla="val 8000"/>
            </a:avLst>
          </a:prstGeom>
          <a:solidFill>
            <a:srgbClr val="EAF3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231136" y="1280160"/>
            <a:ext cx="822960" cy="822960"/>
          </a:xfrm>
          <a:prstGeom prst="ellipse">
            <a:avLst/>
          </a:prstGeom>
          <a:solidFill>
            <a:srgbClr val="7E8F1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7" name="Picture 16" descr="FaRecycle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28646" y="1477670"/>
            <a:ext cx="427939" cy="427939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042416" y="2194560"/>
            <a:ext cx="3200400" cy="411480"/>
          </a:xfrm>
          <a:prstGeom prst="rect">
            <a:avLst/>
          </a:prstGeom>
          <a:noFill/>
        </p:spPr>
        <p:txBody>
          <a:bodyPr wrap="square" lIns="0" rIns="0" tIns="0" bIns="0" anchor="t" rtlCol="1">
            <a:spAutoFit/>
          </a:bodyPr>
          <a:lstStyle/>
          <a:p>
            <a:pPr algn="ctr" rtl="1" marL="0" indent="0">
              <a:spcAft>
                <a:spcPts val="400"/>
              </a:spcAft>
              <a:buNone/>
            </a:pPr>
            <a:r>
              <a:rPr lang="he-IL" sz="2000" b="1">
                <a:solidFill>
                  <a:srgbClr val="003973"/>
                </a:solidFill>
                <a:latin typeface="Arial Unicode MS"/>
                <a:ea typeface="Arial Unicode MS"/>
                <a:cs typeface="Arial Unicode MS"/>
              </a:rPr>
              <a:t>אגרגט ממוחזר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8136" y="260604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 rtlCol="1">
            <a:spAutoFit/>
          </a:bodyPr>
          <a:lstStyle/>
          <a:p>
            <a:pPr algn="ctr" rtl="1" marL="0" indent="0">
              <a:spcAft>
                <a:spcPts val="400"/>
              </a:spcAft>
              <a:buNone/>
            </a:pPr>
            <a:r>
              <a:rPr lang="he-IL" sz="1300" b="0">
                <a:solidFill>
                  <a:srgbClr val="333F4A"/>
                </a:solidFill>
                <a:latin typeface="Arial Unicode MS"/>
                <a:ea typeface="Arial Unicode MS"/>
                <a:cs typeface="Arial Unicode MS"/>
              </a:rPr>
              <a:t>גריסת בטון קשוח ופסולת בניין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88136" y="2926080"/>
            <a:ext cx="3108960" cy="320040"/>
          </a:xfrm>
          <a:prstGeom prst="rect">
            <a:avLst/>
          </a:prstGeom>
          <a:noFill/>
        </p:spPr>
        <p:txBody>
          <a:bodyPr wrap="square" lIns="0" rIns="0" tIns="0" bIns="0" anchor="t" rtlCol="1">
            <a:spAutoFit/>
          </a:bodyPr>
          <a:lstStyle/>
          <a:p>
            <a:pPr algn="ctr" rtl="1" marL="0" indent="0">
              <a:spcAft>
                <a:spcPts val="400"/>
              </a:spcAft>
              <a:buNone/>
            </a:pPr>
            <a:r>
              <a:rPr lang="he-IL" sz="1200" b="0">
                <a:solidFill>
                  <a:srgbClr val="5F6B76"/>
                </a:solidFill>
                <a:latin typeface="Arial Unicode MS"/>
                <a:ea typeface="Arial Unicode MS"/>
                <a:cs typeface="Arial Unicode MS"/>
              </a:rPr>
              <a:t>בהיקף גדל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852160" y="3474720"/>
            <a:ext cx="5623560" cy="1600200"/>
          </a:xfrm>
          <a:prstGeom prst="roundRect">
            <a:avLst>
              <a:gd name="adj" fmla="val 8000"/>
            </a:avLst>
          </a:prstGeom>
          <a:solidFill>
            <a:srgbClr val="E8F3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0835640" y="3657600"/>
            <a:ext cx="457200" cy="45720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Picture 22" descr="FaLeaf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45367" y="3767328"/>
            <a:ext cx="237744" cy="237744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6035040" y="361188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 rtlCol="1">
            <a:spAutoFit/>
          </a:bodyPr>
          <a:lstStyle/>
          <a:p>
            <a:pPr algn="r" rtl="1" marL="0" indent="0">
              <a:spcAft>
                <a:spcPts val="400"/>
              </a:spcAft>
              <a:buNone/>
            </a:pPr>
            <a:r>
              <a:rPr lang="he-IL" sz="1700" b="1">
                <a:solidFill>
                  <a:srgbClr val="2E7D32"/>
                </a:solidFill>
                <a:latin typeface="Arial Unicode MS"/>
                <a:ea typeface="Arial Unicode MS"/>
                <a:cs typeface="Arial Unicode MS"/>
              </a:rPr>
              <a:t>למה ממחזרים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35040" y="4023360"/>
            <a:ext cx="5212080" cy="1005840"/>
          </a:xfrm>
          <a:prstGeom prst="rect">
            <a:avLst/>
          </a:prstGeom>
          <a:noFill/>
        </p:spPr>
        <p:txBody>
          <a:bodyPr wrap="square" lIns="0" rIns="0" tIns="0" bIns="0" anchor="t" rtlCol="1">
            <a:spAutoFit/>
          </a:bodyPr>
          <a:lstStyle/>
          <a:p>
            <a:pPr algn="r" rtl="1" marL="228600" indent="-228600">
              <a:spcAft>
                <a:spcPts val="400"/>
              </a:spcAft>
              <a:buFont typeface="Arial"/>
              <a:buChar char="•"/>
            </a:pPr>
            <a:r>
              <a:rPr lang="he-IL" sz="1400" b="0">
                <a:solidFill>
                  <a:srgbClr val="333F4A"/>
                </a:solidFill>
                <a:latin typeface="Arial Unicode MS"/>
                <a:ea typeface="Arial Unicode MS"/>
                <a:cs typeface="Arial Unicode MS"/>
              </a:rPr>
              <a:t>חיסכון במים ובחומרי גלם; פחות פסולת להטמנה</a:t>
            </a:r>
          </a:p>
          <a:p>
            <a:pPr algn="r" rtl="1" marL="228600" indent="-228600">
              <a:spcAft>
                <a:spcPts val="400"/>
              </a:spcAft>
              <a:buFont typeface="Arial"/>
              <a:buChar char="•"/>
            </a:pPr>
            <a:r>
              <a:rPr lang="he-IL" sz="1400" b="0">
                <a:solidFill>
                  <a:srgbClr val="333F4A"/>
                </a:solidFill>
                <a:latin typeface="Arial Unicode MS"/>
                <a:ea typeface="Arial Unicode MS"/>
                <a:cs typeface="Arial Unicode MS"/>
              </a:rPr>
              <a:t>רגולציה סביבתית ודרישות בנייה ירוקה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2960" y="3474720"/>
            <a:ext cx="4846320" cy="1600200"/>
          </a:xfrm>
          <a:prstGeom prst="roundRect">
            <a:avLst>
              <a:gd name="adj" fmla="val 8000"/>
            </a:avLst>
          </a:prstGeom>
          <a:solidFill>
            <a:srgbClr val="FFF2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5029200" y="3657600"/>
            <a:ext cx="457200" cy="457200"/>
          </a:xfrm>
          <a:prstGeom prst="ellipse">
            <a:avLst/>
          </a:prstGeom>
          <a:solidFill>
            <a:srgbClr val="B26A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8" name="Picture 27" descr="FaExclamationTriangle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38928" y="3767328"/>
            <a:ext cx="237744" cy="237744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1005840" y="3611880"/>
            <a:ext cx="3840480" cy="365760"/>
          </a:xfrm>
          <a:prstGeom prst="rect">
            <a:avLst/>
          </a:prstGeom>
          <a:noFill/>
        </p:spPr>
        <p:txBody>
          <a:bodyPr wrap="square" lIns="0" rIns="0" tIns="0" bIns="0" anchor="t" rtlCol="1">
            <a:spAutoFit/>
          </a:bodyPr>
          <a:lstStyle/>
          <a:p>
            <a:pPr algn="r" rtl="1" marL="0" indent="0">
              <a:spcAft>
                <a:spcPts val="400"/>
              </a:spcAft>
              <a:buNone/>
            </a:pPr>
            <a:r>
              <a:rPr lang="he-IL" sz="1700" b="1">
                <a:solidFill>
                  <a:srgbClr val="B26A00"/>
                </a:solidFill>
                <a:latin typeface="Arial Unicode MS"/>
                <a:ea typeface="Arial Unicode MS"/>
                <a:cs typeface="Arial Unicode MS"/>
              </a:rPr>
              <a:t>מה הסיכון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5840" y="4023360"/>
            <a:ext cx="4480560" cy="1005840"/>
          </a:xfrm>
          <a:prstGeom prst="rect">
            <a:avLst/>
          </a:prstGeom>
          <a:noFill/>
        </p:spPr>
        <p:txBody>
          <a:bodyPr wrap="square" lIns="0" rIns="0" tIns="0" bIns="0" anchor="t" rtlCol="1">
            <a:spAutoFit/>
          </a:bodyPr>
          <a:lstStyle/>
          <a:p>
            <a:pPr algn="r" rtl="1" marL="228600" indent="-228600">
              <a:spcAft>
                <a:spcPts val="400"/>
              </a:spcAft>
              <a:buFont typeface="Arial"/>
              <a:buChar char="•"/>
            </a:pPr>
            <a:r>
              <a:rPr lang="he-IL" sz="1400" b="0">
                <a:solidFill>
                  <a:srgbClr val="333F4A"/>
                </a:solidFill>
                <a:latin typeface="Arial Unicode MS"/>
                <a:ea typeface="Arial Unicode MS"/>
                <a:cs typeface="Arial Unicode MS"/>
              </a:rPr>
              <a:t>שונות גבוהה בין יום ליום</a:t>
            </a:r>
          </a:p>
          <a:p>
            <a:pPr algn="r" rtl="1" marL="228600" indent="-228600">
              <a:spcAft>
                <a:spcPts val="400"/>
              </a:spcAft>
              <a:buFont typeface="Arial"/>
              <a:buChar char="•"/>
            </a:pPr>
            <a:r>
              <a:rPr lang="he-IL" sz="1400" b="0">
                <a:solidFill>
                  <a:srgbClr val="333F4A"/>
                </a:solidFill>
                <a:latin typeface="Arial Unicode MS"/>
                <a:ea typeface="Arial Unicode MS"/>
                <a:cs typeface="Arial Unicode MS"/>
              </a:rPr>
              <a:t>מוצקים, מעכבים, ספיגות וזיהומים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22960" y="5257800"/>
            <a:ext cx="8183879" cy="594360"/>
          </a:xfrm>
          <a:prstGeom prst="roundRect">
            <a:avLst>
              <a:gd name="adj" fmla="val 8000"/>
            </a:avLst>
          </a:prstGeom>
          <a:solidFill>
            <a:srgbClr val="00397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394192" y="5326380"/>
            <a:ext cx="457200" cy="457200"/>
          </a:xfrm>
          <a:prstGeom prst="ellipse">
            <a:avLst/>
          </a:prstGeom>
          <a:solidFill>
            <a:srgbClr val="C4D8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3" name="Picture 32" descr="FaLightbulb_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03919" y="5436108"/>
            <a:ext cx="237744" cy="237744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1051560" y="5257800"/>
            <a:ext cx="7269479" cy="594360"/>
          </a:xfrm>
          <a:prstGeom prst="rect">
            <a:avLst/>
          </a:prstGeom>
          <a:noFill/>
        </p:spPr>
        <p:txBody>
          <a:bodyPr wrap="square" lIns="0" rIns="0" tIns="0" bIns="0" anchor="ctr" rtlCol="1">
            <a:spAutoFit/>
          </a:bodyPr>
          <a:lstStyle/>
          <a:p>
            <a:pPr algn="r" rtl="1" marL="0" indent="0">
              <a:spcAft>
                <a:spcPts val="400"/>
              </a:spcAft>
              <a:buNone/>
            </a:pPr>
            <a:r>
              <a:rPr lang="he-IL" sz="17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ממוחזר זה לא פסול: זה חומר גלם שדורש בקרה צמודה יותר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>
                <a:latin typeface="Arial Unicode MS"/>
                <a:ea typeface="Arial Unicode MS"/>
                <a:cs typeface="Arial Unicode MS"/>
              </a:rPr>
              <a:t>מים ממוחזרים: מקורות ומערכת</a:t>
            </a:r>
          </a:p>
        </p:txBody>
      </p:sp>
      <p:pic>
        <p:nvPicPr>
          <p:cNvPr id="3" name="Picture 2" descr="water_pla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097280"/>
            <a:ext cx="10652760" cy="2892598"/>
          </a:xfrm>
          <a:prstGeom prst="rect">
            <a:avLst/>
          </a:prstGeom>
        </p:spPr>
      </p:pic>
      <p:sp>
        <p:nvSpPr>
          <p:cNvPr id="4" name="Oval 3"/>
          <p:cNvSpPr/>
          <p:nvPr/>
        </p:nvSpPr>
        <p:spPr>
          <a:xfrm>
            <a:off x="10180374" y="3968496"/>
            <a:ext cx="384048" cy="384048"/>
          </a:xfrm>
          <a:prstGeom prst="ellipse">
            <a:avLst/>
          </a:prstGeom>
          <a:solidFill>
            <a:srgbClr val="003973"/>
          </a:solidFill>
          <a:ln>
            <a:noFill/>
          </a:ln>
        </p:spPr>
        <p:txBody>
          <a:bodyPr rtlCol="0" anchor="ctr" wrap="square" lIns="0" rIns="0" tIns="18288" bIns="18288"/>
          <a:lstStyle/>
          <a:p>
            <a:pPr algn="ctr" rtl="1" marL="0" indent="0">
              <a:buNone/>
            </a:pPr>
            <a:r>
              <a:rPr lang="he-IL" sz="13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0838" y="4389120"/>
            <a:ext cx="2103120" cy="548640"/>
          </a:xfrm>
          <a:prstGeom prst="rect">
            <a:avLst/>
          </a:prstGeom>
          <a:noFill/>
        </p:spPr>
        <p:txBody>
          <a:bodyPr wrap="square" lIns="0" rIns="0" tIns="0" bIns="0" anchor="t" rtlCol="1">
            <a:spAutoFit/>
          </a:bodyPr>
          <a:lstStyle/>
          <a:p>
            <a:pPr algn="ctr" rtl="1" marL="0" indent="0">
              <a:spcAft>
                <a:spcPts val="400"/>
              </a:spcAft>
              <a:buNone/>
            </a:pPr>
            <a:r>
              <a:rPr lang="he-IL" sz="1300" b="1">
                <a:solidFill>
                  <a:srgbClr val="003973"/>
                </a:solidFill>
                <a:latin typeface="Arial Unicode MS"/>
                <a:ea typeface="Arial Unicode MS"/>
                <a:cs typeface="Arial Unicode MS"/>
              </a:rPr>
              <a:t>שטיפת המשאית</a:t>
            </a:r>
          </a:p>
        </p:txBody>
      </p:sp>
      <p:sp>
        <p:nvSpPr>
          <p:cNvPr id="6" name="Oval 5"/>
          <p:cNvSpPr/>
          <p:nvPr/>
        </p:nvSpPr>
        <p:spPr>
          <a:xfrm>
            <a:off x="7973731" y="3968496"/>
            <a:ext cx="384048" cy="384048"/>
          </a:xfrm>
          <a:prstGeom prst="ellipse">
            <a:avLst/>
          </a:prstGeom>
          <a:solidFill>
            <a:srgbClr val="003973"/>
          </a:solidFill>
          <a:ln>
            <a:noFill/>
          </a:ln>
        </p:spPr>
        <p:txBody>
          <a:bodyPr rtlCol="0" anchor="ctr" wrap="square" lIns="0" rIns="0" tIns="18288" bIns="18288"/>
          <a:lstStyle/>
          <a:p>
            <a:pPr algn="ctr" rtl="1" marL="0" indent="0">
              <a:buNone/>
            </a:pPr>
            <a:r>
              <a:rPr lang="he-IL" sz="13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14195" y="4389120"/>
            <a:ext cx="2103120" cy="548640"/>
          </a:xfrm>
          <a:prstGeom prst="rect">
            <a:avLst/>
          </a:prstGeom>
          <a:noFill/>
        </p:spPr>
        <p:txBody>
          <a:bodyPr wrap="square" lIns="0" rIns="0" tIns="0" bIns="0" anchor="t" rtlCol="1">
            <a:spAutoFit/>
          </a:bodyPr>
          <a:lstStyle/>
          <a:p>
            <a:pPr algn="ctr" rtl="1" marL="0" indent="0">
              <a:spcAft>
                <a:spcPts val="400"/>
              </a:spcAft>
              <a:buNone/>
            </a:pPr>
            <a:r>
              <a:rPr lang="he-IL" sz="1300" b="1">
                <a:solidFill>
                  <a:srgbClr val="003973"/>
                </a:solidFill>
                <a:latin typeface="Arial Unicode MS"/>
                <a:ea typeface="Arial Unicode MS"/>
                <a:cs typeface="Arial Unicode MS"/>
              </a:rPr>
              <a:t>מפריד (Reclaimer): חצץ וחול חוזרים</a:t>
            </a:r>
          </a:p>
        </p:txBody>
      </p:sp>
      <p:sp>
        <p:nvSpPr>
          <p:cNvPr id="8" name="Oval 7"/>
          <p:cNvSpPr/>
          <p:nvPr/>
        </p:nvSpPr>
        <p:spPr>
          <a:xfrm>
            <a:off x="5729042" y="3968496"/>
            <a:ext cx="384048" cy="384048"/>
          </a:xfrm>
          <a:prstGeom prst="ellipse">
            <a:avLst/>
          </a:prstGeom>
          <a:solidFill>
            <a:srgbClr val="003973"/>
          </a:solidFill>
          <a:ln>
            <a:noFill/>
          </a:ln>
        </p:spPr>
        <p:txBody>
          <a:bodyPr rtlCol="0" anchor="ctr" wrap="square" lIns="0" rIns="0" tIns="18288" bIns="18288"/>
          <a:lstStyle/>
          <a:p>
            <a:pPr algn="ctr" rtl="1" marL="0" indent="0">
              <a:buNone/>
            </a:pPr>
            <a:r>
              <a:rPr lang="he-IL" sz="13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69506" y="4389120"/>
            <a:ext cx="2103120" cy="548640"/>
          </a:xfrm>
          <a:prstGeom prst="rect">
            <a:avLst/>
          </a:prstGeom>
          <a:noFill/>
        </p:spPr>
        <p:txBody>
          <a:bodyPr wrap="square" lIns="0" rIns="0" tIns="0" bIns="0" anchor="t" rtlCol="1">
            <a:spAutoFit/>
          </a:bodyPr>
          <a:lstStyle/>
          <a:p>
            <a:pPr algn="ctr" rtl="1" marL="0" indent="0">
              <a:spcAft>
                <a:spcPts val="400"/>
              </a:spcAft>
              <a:buNone/>
            </a:pPr>
            <a:r>
              <a:rPr lang="he-IL" sz="1300" b="1">
                <a:solidFill>
                  <a:srgbClr val="003973"/>
                </a:solidFill>
                <a:latin typeface="Arial Unicode MS"/>
                <a:ea typeface="Arial Unicode MS"/>
                <a:cs typeface="Arial Unicode MS"/>
              </a:rPr>
              <a:t>בריכות שיקוע</a:t>
            </a:r>
          </a:p>
        </p:txBody>
      </p:sp>
      <p:sp>
        <p:nvSpPr>
          <p:cNvPr id="10" name="Oval 9"/>
          <p:cNvSpPr/>
          <p:nvPr/>
        </p:nvSpPr>
        <p:spPr>
          <a:xfrm>
            <a:off x="3218034" y="3968496"/>
            <a:ext cx="384048" cy="384048"/>
          </a:xfrm>
          <a:prstGeom prst="ellipse">
            <a:avLst/>
          </a:prstGeom>
          <a:solidFill>
            <a:srgbClr val="003973"/>
          </a:solidFill>
          <a:ln>
            <a:noFill/>
          </a:ln>
        </p:spPr>
        <p:txBody>
          <a:bodyPr rtlCol="0" anchor="ctr" wrap="square" lIns="0" rIns="0" tIns="18288" bIns="18288"/>
          <a:lstStyle/>
          <a:p>
            <a:pPr algn="ctr" rtl="1" marL="0" indent="0">
              <a:buNone/>
            </a:pPr>
            <a:r>
              <a:rPr lang="he-IL" sz="13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58498" y="4389120"/>
            <a:ext cx="2103120" cy="548640"/>
          </a:xfrm>
          <a:prstGeom prst="rect">
            <a:avLst/>
          </a:prstGeom>
          <a:noFill/>
        </p:spPr>
        <p:txBody>
          <a:bodyPr wrap="square" lIns="0" rIns="0" tIns="0" bIns="0" anchor="t" rtlCol="1">
            <a:spAutoFit/>
          </a:bodyPr>
          <a:lstStyle/>
          <a:p>
            <a:pPr algn="ctr" rtl="1" marL="0" indent="0">
              <a:spcAft>
                <a:spcPts val="400"/>
              </a:spcAft>
              <a:buNone/>
            </a:pPr>
            <a:r>
              <a:rPr lang="he-IL" sz="1300" b="1">
                <a:solidFill>
                  <a:srgbClr val="003973"/>
                </a:solidFill>
                <a:latin typeface="Arial Unicode MS"/>
                <a:ea typeface="Arial Unicode MS"/>
                <a:cs typeface="Arial Unicode MS"/>
              </a:rPr>
              <a:t>מיכל ערבול + מד צפיפות</a:t>
            </a:r>
          </a:p>
        </p:txBody>
      </p:sp>
      <p:sp>
        <p:nvSpPr>
          <p:cNvPr id="12" name="Oval 11"/>
          <p:cNvSpPr/>
          <p:nvPr/>
        </p:nvSpPr>
        <p:spPr>
          <a:xfrm>
            <a:off x="1505984" y="3968496"/>
            <a:ext cx="384048" cy="384048"/>
          </a:xfrm>
          <a:prstGeom prst="ellipse">
            <a:avLst/>
          </a:prstGeom>
          <a:solidFill>
            <a:srgbClr val="003973"/>
          </a:solidFill>
          <a:ln>
            <a:noFill/>
          </a:ln>
        </p:spPr>
        <p:txBody>
          <a:bodyPr rtlCol="0" anchor="ctr" wrap="square" lIns="0" rIns="0" tIns="18288" bIns="18288"/>
          <a:lstStyle/>
          <a:p>
            <a:pPr algn="ctr" rtl="1" marL="0" indent="0">
              <a:buNone/>
            </a:pPr>
            <a:r>
              <a:rPr lang="he-IL" sz="13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6448" y="4389120"/>
            <a:ext cx="2103120" cy="548640"/>
          </a:xfrm>
          <a:prstGeom prst="rect">
            <a:avLst/>
          </a:prstGeom>
          <a:noFill/>
        </p:spPr>
        <p:txBody>
          <a:bodyPr wrap="square" lIns="0" rIns="0" tIns="0" bIns="0" anchor="t" rtlCol="1">
            <a:spAutoFit/>
          </a:bodyPr>
          <a:lstStyle/>
          <a:p>
            <a:pPr algn="ctr" rtl="1" marL="0" indent="0">
              <a:spcAft>
                <a:spcPts val="400"/>
              </a:spcAft>
              <a:buNone/>
            </a:pPr>
            <a:r>
              <a:rPr lang="he-IL" sz="1300" b="1">
                <a:solidFill>
                  <a:srgbClr val="003973"/>
                </a:solidFill>
                <a:latin typeface="Arial Unicode MS"/>
                <a:ea typeface="Arial Unicode MS"/>
                <a:cs typeface="Arial Unicode MS"/>
              </a:rPr>
              <a:t>מינון במפעל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4983480"/>
            <a:ext cx="2651760" cy="1005840"/>
          </a:xfrm>
          <a:prstGeom prst="roundRect">
            <a:avLst>
              <a:gd name="adj" fmla="val 8000"/>
            </a:avLst>
          </a:prstGeom>
          <a:solidFill>
            <a:srgbClr val="E8F3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476488" y="5065776"/>
            <a:ext cx="384048" cy="384048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Picture 15" descr="FaCheckCircle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68659" y="5157947"/>
            <a:ext cx="199704" cy="199704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419088" y="5056632"/>
            <a:ext cx="2011680" cy="320040"/>
          </a:xfrm>
          <a:prstGeom prst="rect">
            <a:avLst/>
          </a:prstGeom>
          <a:noFill/>
        </p:spPr>
        <p:txBody>
          <a:bodyPr wrap="square" lIns="0" rIns="0" tIns="0" bIns="0" anchor="t" rtlCol="1">
            <a:spAutoFit/>
          </a:bodyPr>
          <a:lstStyle/>
          <a:p>
            <a:pPr algn="r" rtl="1" marL="0" indent="0">
              <a:spcAft>
                <a:spcPts val="400"/>
              </a:spcAft>
              <a:buNone/>
            </a:pPr>
            <a:r>
              <a:rPr lang="he-IL" sz="1400" b="1">
                <a:solidFill>
                  <a:srgbClr val="2E7D32"/>
                </a:solidFill>
                <a:latin typeface="Arial Unicode MS"/>
                <a:ea typeface="Arial Unicode MS"/>
                <a:cs typeface="Arial Unicode MS"/>
              </a:rPr>
              <a:t>מקורות מקובלים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19088" y="5394960"/>
            <a:ext cx="2057400" cy="566928"/>
          </a:xfrm>
          <a:prstGeom prst="rect">
            <a:avLst/>
          </a:prstGeom>
          <a:noFill/>
        </p:spPr>
        <p:txBody>
          <a:bodyPr wrap="square" lIns="0" rIns="0" tIns="0" bIns="0" anchor="t" rtlCol="1">
            <a:spAutoFit/>
          </a:bodyPr>
          <a:lstStyle/>
          <a:p>
            <a:pPr algn="r" rtl="1" marL="0" indent="0">
              <a:spcAft>
                <a:spcPts val="400"/>
              </a:spcAft>
              <a:buNone/>
            </a:pPr>
            <a:r>
              <a:rPr lang="he-IL" sz="1200" b="0">
                <a:solidFill>
                  <a:srgbClr val="333F4A"/>
                </a:solidFill>
                <a:latin typeface="Arial Unicode MS"/>
                <a:ea typeface="Arial Unicode MS"/>
                <a:cs typeface="Arial Unicode MS"/>
              </a:rPr>
              <a:t>מי שטיפה, ניקוז המפעל, מי גשם מהחצר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566160" y="4983480"/>
            <a:ext cx="2651760" cy="1005840"/>
          </a:xfrm>
          <a:prstGeom prst="roundRect">
            <a:avLst>
              <a:gd name="adj" fmla="val 8000"/>
            </a:avLst>
          </a:prstGeom>
          <a:solidFill>
            <a:srgbClr val="FBE9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733288" y="5065776"/>
            <a:ext cx="384048" cy="384048"/>
          </a:xfrm>
          <a:prstGeom prst="ellipse">
            <a:avLst/>
          </a:prstGeom>
          <a:solidFill>
            <a:srgbClr val="C6282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1" name="Picture 20" descr="FaBan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25459" y="5157947"/>
            <a:ext cx="199704" cy="199704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3675888" y="5056632"/>
            <a:ext cx="2011680" cy="320040"/>
          </a:xfrm>
          <a:prstGeom prst="rect">
            <a:avLst/>
          </a:prstGeom>
          <a:noFill/>
        </p:spPr>
        <p:txBody>
          <a:bodyPr wrap="square" lIns="0" rIns="0" tIns="0" bIns="0" anchor="t" rtlCol="1">
            <a:spAutoFit/>
          </a:bodyPr>
          <a:lstStyle/>
          <a:p>
            <a:pPr algn="r" rtl="1" marL="0" indent="0">
              <a:spcAft>
                <a:spcPts val="400"/>
              </a:spcAft>
              <a:buNone/>
            </a:pPr>
            <a:r>
              <a:rPr lang="he-IL" sz="1400" b="1">
                <a:solidFill>
                  <a:srgbClr val="C62828"/>
                </a:solidFill>
                <a:latin typeface="Arial Unicode MS"/>
                <a:ea typeface="Arial Unicode MS"/>
                <a:cs typeface="Arial Unicode MS"/>
              </a:rPr>
              <a:t>לא נכנס למערכת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75888" y="5394960"/>
            <a:ext cx="2057400" cy="566928"/>
          </a:xfrm>
          <a:prstGeom prst="rect">
            <a:avLst/>
          </a:prstGeom>
          <a:noFill/>
        </p:spPr>
        <p:txBody>
          <a:bodyPr wrap="square" lIns="0" rIns="0" tIns="0" bIns="0" anchor="t" rtlCol="1">
            <a:spAutoFit/>
          </a:bodyPr>
          <a:lstStyle/>
          <a:p>
            <a:pPr algn="r" rtl="1" marL="0" indent="0">
              <a:spcAft>
                <a:spcPts val="400"/>
              </a:spcAft>
              <a:buNone/>
            </a:pPr>
            <a:r>
              <a:rPr lang="he-IL" sz="1200" b="0">
                <a:solidFill>
                  <a:srgbClr val="333F4A"/>
                </a:solidFill>
                <a:latin typeface="Arial Unicode MS"/>
                <a:ea typeface="Arial Unicode MS"/>
                <a:cs typeface="Arial Unicode MS"/>
              </a:rPr>
              <a:t>שמנים, דלק, דטרגנטים, שפכים סניטריים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2960" y="4983480"/>
            <a:ext cx="2651760" cy="1005840"/>
          </a:xfrm>
          <a:prstGeom prst="roundRect">
            <a:avLst>
              <a:gd name="adj" fmla="val 8000"/>
            </a:avLst>
          </a:prstGeom>
          <a:solidFill>
            <a:srgbClr val="EAF3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2990088" y="5065776"/>
            <a:ext cx="384048" cy="384048"/>
          </a:xfrm>
          <a:prstGeom prst="ellipse">
            <a:avLst/>
          </a:prstGeom>
          <a:solidFill>
            <a:srgbClr val="0081C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6" name="Picture 25" descr="FaSyncAlt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82259" y="5157947"/>
            <a:ext cx="199704" cy="199704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932688" y="5056632"/>
            <a:ext cx="2011680" cy="320040"/>
          </a:xfrm>
          <a:prstGeom prst="rect">
            <a:avLst/>
          </a:prstGeom>
          <a:noFill/>
        </p:spPr>
        <p:txBody>
          <a:bodyPr wrap="square" lIns="0" rIns="0" tIns="0" bIns="0" anchor="t" rtlCol="1">
            <a:spAutoFit/>
          </a:bodyPr>
          <a:lstStyle/>
          <a:p>
            <a:pPr algn="r" rtl="1" marL="0" indent="0">
              <a:spcAft>
                <a:spcPts val="400"/>
              </a:spcAft>
              <a:buNone/>
            </a:pPr>
            <a:r>
              <a:rPr lang="he-IL" sz="1400" b="1">
                <a:solidFill>
                  <a:srgbClr val="0081C8"/>
                </a:solidFill>
                <a:latin typeface="Arial Unicode MS"/>
                <a:ea typeface="Arial Unicode MS"/>
                <a:cs typeface="Arial Unicode MS"/>
              </a:rPr>
              <a:t>ערבול רציף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2688" y="5394960"/>
            <a:ext cx="2057400" cy="566928"/>
          </a:xfrm>
          <a:prstGeom prst="rect">
            <a:avLst/>
          </a:prstGeom>
          <a:noFill/>
        </p:spPr>
        <p:txBody>
          <a:bodyPr wrap="square" lIns="0" rIns="0" tIns="0" bIns="0" anchor="t" rtlCol="1">
            <a:spAutoFit/>
          </a:bodyPr>
          <a:lstStyle/>
          <a:p>
            <a:pPr algn="r" rtl="1" marL="0" indent="0">
              <a:spcAft>
                <a:spcPts val="400"/>
              </a:spcAft>
              <a:buNone/>
            </a:pPr>
            <a:r>
              <a:rPr lang="he-IL" sz="1200" b="0">
                <a:solidFill>
                  <a:srgbClr val="333F4A"/>
                </a:solidFill>
                <a:latin typeface="Arial Unicode MS"/>
                <a:ea typeface="Arial Unicode MS"/>
                <a:cs typeface="Arial Unicode MS"/>
              </a:rPr>
              <a:t>בלי ערבול המוצקים שוקעים והצפיפות "קופצת"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>
                <a:latin typeface="Arial Unicode MS"/>
                <a:ea typeface="Arial Unicode MS"/>
                <a:cs typeface="Arial Unicode MS"/>
              </a:rPr>
              <a:t>מים ממוחזרים: בדיקות ודרישות (EN 1008)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822960" y="1097280"/>
          <a:ext cx="10652760" cy="402336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468880"/>
                <a:gridCol w="4023360"/>
                <a:gridCol w="2514600"/>
                <a:gridCol w="1645920"/>
              </a:tblGrid>
              <a:tr h="438912">
                <a:tc>
                  <a:txBody>
                    <a:bodyPr wrap="square"/>
                    <a:lstStyle/>
                    <a:p>
                      <a:pPr algn="ctr" rtl="1" marL="0" indent="0">
                        <a:buNone/>
                      </a:pPr>
                      <a:r>
                        <a:rPr lang="he-IL" sz="140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איך ומתי</a:t>
                      </a:r>
                    </a:p>
                  </a:txBody>
                  <a:tcPr marL="73152" marR="73152" marT="36576" marB="36576" anchor="ctr">
                    <a:solidFill>
                      <a:srgbClr val="0081C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 marL="0" indent="0">
                        <a:buNone/>
                      </a:pPr>
                      <a:r>
                        <a:rPr lang="he-IL" sz="140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דרישה</a:t>
                      </a:r>
                    </a:p>
                  </a:txBody>
                  <a:tcPr marL="73152" marR="73152" marT="36576" marB="36576" anchor="ctr">
                    <a:solidFill>
                      <a:srgbClr val="0081C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 marL="0" indent="0">
                        <a:buNone/>
                      </a:pPr>
                      <a:r>
                        <a:rPr lang="he-IL" sz="140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פרמטר</a:t>
                      </a:r>
                    </a:p>
                  </a:txBody>
                  <a:tcPr marL="73152" marR="73152" marT="36576" marB="36576" anchor="ctr">
                    <a:solidFill>
                      <a:srgbClr val="0081C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 marL="0" indent="0">
                        <a:buNone/>
                      </a:pPr>
                      <a:r>
                        <a:rPr lang="he-IL" sz="140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שלב</a:t>
                      </a:r>
                    </a:p>
                  </a:txBody>
                  <a:tcPr marL="73152" marR="73152" marT="36576" marB="36576" anchor="ctr">
                    <a:solidFill>
                      <a:srgbClr val="0081C8"/>
                    </a:solidFill>
                  </a:tcPr>
                </a:tc>
              </a:tr>
              <a:tr h="448056">
                <a:tc>
                  <a:txBody>
                    <a:bodyPr wrap="square"/>
                    <a:lstStyle/>
                    <a:p>
                      <a:pPr algn="r" rtl="1" marL="0" indent="0">
                        <a:buNone/>
                      </a:pPr>
                      <a:r>
                        <a:rPr lang="he-IL" sz="1400" b="0">
                          <a:solidFill>
                            <a:srgbClr val="333F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חזותית, יומי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 marL="0" indent="0">
                        <a:buNone/>
                      </a:pPr>
                      <a:r>
                        <a:rPr lang="he-IL" sz="1400" b="0">
                          <a:solidFill>
                            <a:srgbClr val="333F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לא יותר מעקבות נראות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 marL="0" indent="0">
                        <a:buNone/>
                      </a:pPr>
                      <a:r>
                        <a:rPr lang="he-IL" sz="1400" b="0">
                          <a:solidFill>
                            <a:srgbClr val="333F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שמנים ושומנים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 marL="0" indent="0">
                        <a:buNone/>
                      </a:pPr>
                      <a:r>
                        <a:rPr lang="he-IL" sz="1400" b="1">
                          <a:solidFill>
                            <a:srgbClr val="333F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בדיקה מקדימה</a:t>
                      </a:r>
                    </a:p>
                  </a:txBody>
                  <a:tcPr marL="73152" marR="73152" marT="36576" marB="36576" anchor="ctr">
                    <a:solidFill>
                      <a:srgbClr val="EAF3FA"/>
                    </a:solidFill>
                  </a:tcPr>
                </a:tc>
              </a:tr>
              <a:tr h="448056">
                <a:tc>
                  <a:txBody>
                    <a:bodyPr wrap="square"/>
                    <a:lstStyle/>
                    <a:p>
                      <a:pPr algn="r" rtl="1" marL="0" indent="0">
                        <a:buNone/>
                      </a:pPr>
                      <a:r>
                        <a:rPr lang="he-IL" sz="1400" b="0">
                          <a:solidFill>
                            <a:srgbClr val="333F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ניעור בבקבוק, יומי</a:t>
                      </a:r>
                    </a:p>
                  </a:txBody>
                  <a:tcPr marL="73152" marR="73152" marT="36576" marB="36576" anchor="ctr">
                    <a:solidFill>
                      <a:srgbClr val="F3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 marL="0" indent="0">
                        <a:buNone/>
                      </a:pPr>
                      <a:r>
                        <a:rPr lang="he-IL" sz="1400" b="0">
                          <a:solidFill>
                            <a:srgbClr val="333F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קצף נעלם תוך 2 דקות</a:t>
                      </a:r>
                    </a:p>
                  </a:txBody>
                  <a:tcPr marL="73152" marR="73152" marT="36576" marB="36576" anchor="ctr">
                    <a:solidFill>
                      <a:srgbClr val="F3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 marL="0" indent="0">
                        <a:buNone/>
                      </a:pPr>
                      <a:r>
                        <a:rPr lang="he-IL" sz="1400" b="0">
                          <a:solidFill>
                            <a:srgbClr val="333F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דטרגנטים</a:t>
                      </a:r>
                    </a:p>
                  </a:txBody>
                  <a:tcPr marL="73152" marR="73152" marT="36576" marB="36576" anchor="ctr">
                    <a:solidFill>
                      <a:srgbClr val="F3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 marL="0" indent="0">
                        <a:buNone/>
                      </a:pPr>
                      <a:r>
                        <a:rPr lang="he-IL" sz="1400" b="1">
                          <a:solidFill>
                            <a:srgbClr val="333F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בדיקה מקדימה</a:t>
                      </a:r>
                    </a:p>
                  </a:txBody>
                  <a:tcPr marL="73152" marR="73152" marT="36576" marB="36576" anchor="ctr">
                    <a:solidFill>
                      <a:srgbClr val="EAF3FA"/>
                    </a:solidFill>
                  </a:tcPr>
                </a:tc>
              </a:tr>
              <a:tr h="448056">
                <a:tc>
                  <a:txBody>
                    <a:bodyPr wrap="square"/>
                    <a:lstStyle/>
                    <a:p>
                      <a:pPr algn="r" rtl="1" marL="0" indent="0">
                        <a:buNone/>
                      </a:pPr>
                      <a:r>
                        <a:rPr lang="he-IL" sz="1400" b="0">
                          <a:solidFill>
                            <a:srgbClr val="333F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יומי / שבועי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 marL="0" indent="0">
                        <a:buNone/>
                      </a:pPr>
                      <a:r>
                        <a:rPr lang="he-IL" sz="1400" b="0">
                          <a:solidFill>
                            <a:srgbClr val="333F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ללא ריח חריג; pH ≥ 4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 marL="0" indent="0">
                        <a:buNone/>
                      </a:pPr>
                      <a:r>
                        <a:rPr lang="he-IL" sz="1400" b="0">
                          <a:solidFill>
                            <a:srgbClr val="333F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ריח ו-pH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 marL="0" indent="0">
                        <a:buNone/>
                      </a:pPr>
                      <a:r>
                        <a:rPr lang="he-IL" sz="1400" b="1">
                          <a:solidFill>
                            <a:srgbClr val="333F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בדיקה מקדימה</a:t>
                      </a:r>
                    </a:p>
                  </a:txBody>
                  <a:tcPr marL="73152" marR="73152" marT="36576" marB="36576" anchor="ctr">
                    <a:solidFill>
                      <a:srgbClr val="EAF3FA"/>
                    </a:solidFill>
                  </a:tcPr>
                </a:tc>
              </a:tr>
              <a:tr h="448056">
                <a:tc>
                  <a:txBody>
                    <a:bodyPr wrap="square"/>
                    <a:lstStyle/>
                    <a:p>
                      <a:pPr algn="r" rtl="1" marL="0" indent="0">
                        <a:buNone/>
                      </a:pPr>
                      <a:r>
                        <a:rPr lang="he-IL" sz="1400" b="0">
                          <a:solidFill>
                            <a:srgbClr val="333F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מעבדה, לפי תכנית</a:t>
                      </a:r>
                    </a:p>
                  </a:txBody>
                  <a:tcPr marL="73152" marR="73152" marT="36576" marB="36576" anchor="ctr">
                    <a:solidFill>
                      <a:srgbClr val="F3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 marL="0" indent="0">
                        <a:buNone/>
                      </a:pPr>
                      <a:r>
                        <a:rPr lang="he-IL" sz="1400" b="0">
                          <a:solidFill>
                            <a:srgbClr val="333F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≤ 500 דרוך · ≤ 1,000 מזוין · ≤ 4,500 לא מזוין</a:t>
                      </a:r>
                    </a:p>
                  </a:txBody>
                  <a:tcPr marL="73152" marR="73152" marT="36576" marB="36576" anchor="ctr">
                    <a:solidFill>
                      <a:srgbClr val="F3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 marL="0" indent="0">
                        <a:buNone/>
                      </a:pPr>
                      <a:r>
                        <a:rPr lang="he-IL" sz="1400" b="0">
                          <a:solidFill>
                            <a:srgbClr val="333F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כלורידים (Cl)</a:t>
                      </a:r>
                    </a:p>
                  </a:txBody>
                  <a:tcPr marL="73152" marR="73152" marT="36576" marB="36576" anchor="ctr">
                    <a:solidFill>
                      <a:srgbClr val="F3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 marL="0" indent="0">
                        <a:buNone/>
                      </a:pPr>
                      <a:r>
                        <a:rPr lang="he-IL" sz="1400" b="1">
                          <a:solidFill>
                            <a:srgbClr val="333F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כימיה</a:t>
                      </a:r>
                    </a:p>
                  </a:txBody>
                  <a:tcPr marL="73152" marR="73152" marT="36576" marB="36576" anchor="ctr">
                    <a:solidFill>
                      <a:srgbClr val="F3F7D9"/>
                    </a:solidFill>
                  </a:tcPr>
                </a:tc>
              </a:tr>
              <a:tr h="448056">
                <a:tc>
                  <a:txBody>
                    <a:bodyPr wrap="square"/>
                    <a:lstStyle/>
                    <a:p>
                      <a:pPr algn="r" rtl="1" marL="0" indent="0">
                        <a:buNone/>
                      </a:pPr>
                      <a:r>
                        <a:rPr lang="he-IL" sz="1400" b="0">
                          <a:solidFill>
                            <a:srgbClr val="333F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מעבדה, לפי תכנית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 marL="0" indent="0">
                        <a:buNone/>
                      </a:pPr>
                      <a:r>
                        <a:rPr lang="he-IL" sz="1400" b="0">
                          <a:solidFill>
                            <a:srgbClr val="333F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≤ 2,000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 marL="0" indent="0">
                        <a:buNone/>
                      </a:pPr>
                      <a:r>
                        <a:rPr lang="he-IL" sz="1400" b="0">
                          <a:solidFill>
                            <a:srgbClr val="333F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סולפטים (SO₄)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 marL="0" indent="0">
                        <a:buNone/>
                      </a:pPr>
                      <a:r>
                        <a:rPr lang="he-IL" sz="1400" b="1">
                          <a:solidFill>
                            <a:srgbClr val="333F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כימיה</a:t>
                      </a:r>
                    </a:p>
                  </a:txBody>
                  <a:tcPr marL="73152" marR="73152" marT="36576" marB="36576" anchor="ctr">
                    <a:solidFill>
                      <a:srgbClr val="F3F7D9"/>
                    </a:solidFill>
                  </a:tcPr>
                </a:tc>
              </a:tr>
              <a:tr h="448056">
                <a:tc>
                  <a:txBody>
                    <a:bodyPr wrap="square"/>
                    <a:lstStyle/>
                    <a:p>
                      <a:pPr algn="r" rtl="1" marL="0" indent="0">
                        <a:buNone/>
                      </a:pPr>
                      <a:r>
                        <a:rPr lang="he-IL" sz="1400" b="0">
                          <a:solidFill>
                            <a:srgbClr val="333F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מעבדה, לפי תכנית</a:t>
                      </a:r>
                    </a:p>
                  </a:txBody>
                  <a:tcPr marL="73152" marR="73152" marT="36576" marB="36576" anchor="ctr">
                    <a:solidFill>
                      <a:srgbClr val="F3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 marL="0" indent="0">
                        <a:buNone/>
                      </a:pPr>
                      <a:r>
                        <a:rPr lang="he-IL" sz="1400" b="0">
                          <a:solidFill>
                            <a:srgbClr val="333F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≤ 1,500</a:t>
                      </a:r>
                    </a:p>
                  </a:txBody>
                  <a:tcPr marL="73152" marR="73152" marT="36576" marB="36576" anchor="ctr">
                    <a:solidFill>
                      <a:srgbClr val="F3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 marL="0" indent="0">
                        <a:buNone/>
                      </a:pPr>
                      <a:r>
                        <a:rPr lang="he-IL" sz="1400" b="0">
                          <a:solidFill>
                            <a:srgbClr val="333F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אלקליים (Na₂O שקול)</a:t>
                      </a:r>
                    </a:p>
                  </a:txBody>
                  <a:tcPr marL="73152" marR="73152" marT="36576" marB="36576" anchor="ctr">
                    <a:solidFill>
                      <a:srgbClr val="F3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 marL="0" indent="0">
                        <a:buNone/>
                      </a:pPr>
                      <a:r>
                        <a:rPr lang="he-IL" sz="1400" b="1">
                          <a:solidFill>
                            <a:srgbClr val="333F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כימיה</a:t>
                      </a:r>
                    </a:p>
                  </a:txBody>
                  <a:tcPr marL="73152" marR="73152" marT="36576" marB="36576" anchor="ctr">
                    <a:solidFill>
                      <a:srgbClr val="F3F7D9"/>
                    </a:solidFill>
                  </a:tcPr>
                </a:tc>
              </a:tr>
              <a:tr h="448056">
                <a:tc>
                  <a:txBody>
                    <a:bodyPr wrap="square"/>
                    <a:lstStyle/>
                    <a:p>
                      <a:pPr algn="r" rtl="1" marL="0" indent="0">
                        <a:buNone/>
                      </a:pPr>
                      <a:r>
                        <a:rPr lang="he-IL" sz="1400" b="0">
                          <a:solidFill>
                            <a:srgbClr val="333F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מעבדה, בחשד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 marL="0" indent="0">
                        <a:buNone/>
                      </a:pPr>
                      <a:r>
                        <a:rPr lang="he-IL" sz="1400" b="0">
                          <a:solidFill>
                            <a:srgbClr val="333F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≤ 100 · ≤ 100 · ≤ 500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 marL="0" indent="0">
                        <a:buNone/>
                      </a:pPr>
                      <a:r>
                        <a:rPr lang="he-IL" sz="1400" b="0">
                          <a:solidFill>
                            <a:srgbClr val="333F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סוכרים · פוספטים · חנקות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 marL="0" indent="0">
                        <a:buNone/>
                      </a:pPr>
                      <a:r>
                        <a:rPr lang="he-IL" sz="1400" b="1">
                          <a:solidFill>
                            <a:srgbClr val="333F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כימיה</a:t>
                      </a:r>
                    </a:p>
                  </a:txBody>
                  <a:tcPr marL="73152" marR="73152" marT="36576" marB="36576" anchor="ctr">
                    <a:solidFill>
                      <a:srgbClr val="F3F7D9"/>
                    </a:solidFill>
                  </a:tcPr>
                </a:tc>
              </a:tr>
              <a:tr h="448056">
                <a:tc>
                  <a:txBody>
                    <a:bodyPr wrap="square"/>
                    <a:lstStyle/>
                    <a:p>
                      <a:pPr algn="r" rtl="1" marL="0" indent="0">
                        <a:buNone/>
                      </a:pPr>
                      <a:r>
                        <a:rPr lang="he-IL" sz="1400" b="0">
                          <a:solidFill>
                            <a:srgbClr val="333F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מעבדה, בחשד</a:t>
                      </a:r>
                    </a:p>
                  </a:txBody>
                  <a:tcPr marL="73152" marR="73152" marT="36576" marB="36576" anchor="ctr">
                    <a:solidFill>
                      <a:srgbClr val="F3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 marL="0" indent="0">
                        <a:buNone/>
                      </a:pPr>
                      <a:r>
                        <a:rPr lang="he-IL" sz="1400" b="0">
                          <a:solidFill>
                            <a:srgbClr val="333F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≤ 100 · ≤ 100</a:t>
                      </a:r>
                    </a:p>
                  </a:txBody>
                  <a:tcPr marL="73152" marR="73152" marT="36576" marB="36576" anchor="ctr">
                    <a:solidFill>
                      <a:srgbClr val="F3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 marL="0" indent="0">
                        <a:buNone/>
                      </a:pPr>
                      <a:r>
                        <a:rPr lang="he-IL" sz="1400" b="0">
                          <a:solidFill>
                            <a:srgbClr val="333F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עופרת · אבץ</a:t>
                      </a:r>
                    </a:p>
                  </a:txBody>
                  <a:tcPr marL="73152" marR="73152" marT="36576" marB="36576" anchor="ctr">
                    <a:solidFill>
                      <a:srgbClr val="F3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 marL="0" indent="0">
                        <a:buNone/>
                      </a:pPr>
                      <a:r>
                        <a:rPr lang="he-IL" sz="1400" b="1">
                          <a:solidFill>
                            <a:srgbClr val="333F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כימיה</a:t>
                      </a:r>
                    </a:p>
                  </a:txBody>
                  <a:tcPr marL="73152" marR="73152" marT="36576" marB="36576" anchor="ctr">
                    <a:solidFill>
                      <a:srgbClr val="F3F7D9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822960" y="5166360"/>
            <a:ext cx="10652760" cy="274320"/>
          </a:xfrm>
          <a:prstGeom prst="rect">
            <a:avLst/>
          </a:prstGeom>
          <a:noFill/>
        </p:spPr>
        <p:txBody>
          <a:bodyPr wrap="square" lIns="0" rIns="0" tIns="0" bIns="0" anchor="t" rtlCol="1">
            <a:spAutoFit/>
          </a:bodyPr>
          <a:lstStyle/>
          <a:p>
            <a:pPr algn="r" rtl="1" marL="0" indent="0">
              <a:spcAft>
                <a:spcPts val="400"/>
              </a:spcAft>
              <a:buNone/>
            </a:pPr>
            <a:r>
              <a:rPr lang="he-IL" sz="1100" b="0">
                <a:solidFill>
                  <a:srgbClr val="5F6B76"/>
                </a:solidFill>
                <a:latin typeface="Arial Unicode MS"/>
                <a:ea typeface="Arial Unicode MS"/>
                <a:cs typeface="Arial Unicode MS"/>
              </a:rPr>
              <a:t>ריכוזים ב-mg/l. ASTM C1602 (מגבלות אופציונליות): כלורידים 500 / 1,000 ppm, סולפטים 3,000, אלקליים 600, מוצקים כוללים ≤ 50,000 ppm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44068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 rtlCol="1">
            <a:spAutoFit/>
          </a:bodyPr>
          <a:lstStyle/>
          <a:p>
            <a:pPr algn="r" rtl="1" marL="0" indent="0">
              <a:spcAft>
                <a:spcPts val="400"/>
              </a:spcAft>
              <a:buNone/>
            </a:pPr>
            <a:r>
              <a:rPr lang="he-IL" sz="1100" b="0">
                <a:solidFill>
                  <a:srgbClr val="5F6B76"/>
                </a:solidFill>
                <a:latin typeface="Arial Unicode MS"/>
                <a:ea typeface="Arial Unicode MS"/>
                <a:cs typeface="Arial Unicode MS"/>
              </a:rPr>
              <a:t>יש לוודא מול המהדורה העדכנית של EN 1008 ומול ת"י 118 / מפרט המפעל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>
                <a:latin typeface="Arial Unicode MS"/>
                <a:ea typeface="Arial Unicode MS"/>
                <a:cs typeface="Arial Unicode MS"/>
              </a:rPr>
              <a:t>מים ממוחזרים: התקשרות, חוזק ומוצקים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92240" y="1097280"/>
            <a:ext cx="4983480" cy="2194560"/>
          </a:xfrm>
          <a:prstGeom prst="roundRect">
            <a:avLst>
              <a:gd name="adj" fmla="val 8000"/>
            </a:avLst>
          </a:prstGeom>
          <a:solidFill>
            <a:srgbClr val="EAF3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675120" y="1188720"/>
            <a:ext cx="4617720" cy="365760"/>
          </a:xfrm>
          <a:prstGeom prst="rect">
            <a:avLst/>
          </a:prstGeom>
          <a:noFill/>
        </p:spPr>
        <p:txBody>
          <a:bodyPr wrap="square" lIns="0" rIns="0" tIns="0" bIns="0" anchor="t" rtlCol="1">
            <a:spAutoFit/>
          </a:bodyPr>
          <a:lstStyle/>
          <a:p>
            <a:pPr algn="r" rtl="1" marL="0" indent="0">
              <a:spcAft>
                <a:spcPts val="400"/>
              </a:spcAft>
              <a:buNone/>
            </a:pPr>
            <a:r>
              <a:rPr lang="he-IL" sz="1700" b="1">
                <a:solidFill>
                  <a:srgbClr val="003973"/>
                </a:solidFill>
                <a:latin typeface="Arial Unicode MS"/>
                <a:ea typeface="Arial Unicode MS"/>
                <a:cs typeface="Arial Unicode MS"/>
              </a:rPr>
              <a:t>בדיקת ביצועים מול מים מזוקקים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75120" y="1645920"/>
            <a:ext cx="4617720" cy="1600200"/>
          </a:xfrm>
          <a:prstGeom prst="rect">
            <a:avLst/>
          </a:prstGeom>
          <a:noFill/>
        </p:spPr>
        <p:txBody>
          <a:bodyPr wrap="square" lIns="0" rIns="0" tIns="0" bIns="0" anchor="t" rtlCol="1">
            <a:spAutoFit/>
          </a:bodyPr>
          <a:lstStyle/>
          <a:p>
            <a:pPr algn="r" rtl="1" marL="228600" indent="-228600">
              <a:spcAft>
                <a:spcPts val="400"/>
              </a:spcAft>
              <a:buFont typeface="Arial"/>
              <a:buChar char="•"/>
            </a:pPr>
            <a:r>
              <a:rPr lang="he-IL" sz="1400" b="0">
                <a:solidFill>
                  <a:srgbClr val="333F4A"/>
                </a:solidFill>
                <a:latin typeface="Arial Unicode MS"/>
                <a:ea typeface="Arial Unicode MS"/>
                <a:cs typeface="Arial Unicode MS"/>
              </a:rPr>
              <a:t>התחלת התקשרות ≥ 1 שעה; סוף ≤ 12 שעות</a:t>
            </a:r>
          </a:p>
          <a:p>
            <a:pPr algn="r" rtl="1" marL="228600" indent="-228600">
              <a:spcAft>
                <a:spcPts val="400"/>
              </a:spcAft>
              <a:buFont typeface="Arial"/>
              <a:buChar char="•"/>
            </a:pPr>
            <a:r>
              <a:rPr lang="he-IL" sz="1400" b="0">
                <a:solidFill>
                  <a:srgbClr val="333F4A"/>
                </a:solidFill>
                <a:latin typeface="Arial Unicode MS"/>
                <a:ea typeface="Arial Unicode MS"/>
                <a:cs typeface="Arial Unicode MS"/>
              </a:rPr>
              <a:t>סטייה מזמני הביקורת: עד 25% (EN 1008)</a:t>
            </a:r>
          </a:p>
          <a:p>
            <a:pPr algn="r" rtl="1" marL="228600" indent="-228600">
              <a:spcAft>
                <a:spcPts val="400"/>
              </a:spcAft>
              <a:buFont typeface="Arial"/>
              <a:buChar char="•"/>
            </a:pPr>
            <a:r>
              <a:rPr lang="he-IL" sz="1400" b="1">
                <a:solidFill>
                  <a:srgbClr val="0081C8"/>
                </a:solidFill>
                <a:latin typeface="Arial Unicode MS"/>
                <a:ea typeface="Arial Unicode MS"/>
                <a:cs typeface="Arial Unicode MS"/>
              </a:rPr>
              <a:t>חוזק 7 ימים ≥ 90% מהביקורת</a:t>
            </a:r>
          </a:p>
          <a:p>
            <a:pPr algn="r" rtl="1" marL="228600" indent="-228600">
              <a:spcAft>
                <a:spcPts val="400"/>
              </a:spcAft>
              <a:buFont typeface="Arial"/>
              <a:buChar char="•"/>
            </a:pPr>
            <a:r>
              <a:rPr lang="he-IL" sz="1400" b="0">
                <a:solidFill>
                  <a:srgbClr val="333F4A"/>
                </a:solidFill>
                <a:latin typeface="Arial Unicode MS"/>
                <a:ea typeface="Arial Unicode MS"/>
                <a:cs typeface="Arial Unicode MS"/>
              </a:rPr>
              <a:t>ASTM C1602: התקשרות בין −1:00 ל-+1:30 שעות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92240" y="3474720"/>
            <a:ext cx="4983480" cy="1600200"/>
          </a:xfrm>
          <a:prstGeom prst="roundRect">
            <a:avLst>
              <a:gd name="adj" fmla="val 8000"/>
            </a:avLst>
          </a:prstGeom>
          <a:solidFill>
            <a:srgbClr val="00397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75120" y="3520440"/>
            <a:ext cx="4617720" cy="1508760"/>
          </a:xfrm>
          <a:prstGeom prst="rect">
            <a:avLst/>
          </a:prstGeom>
          <a:noFill/>
        </p:spPr>
        <p:txBody>
          <a:bodyPr wrap="square" lIns="0" rIns="0" tIns="0" bIns="0" anchor="ctr" rtlCol="1">
            <a:spAutoFit/>
          </a:bodyPr>
          <a:lstStyle/>
          <a:p>
            <a:pPr algn="r" rtl="1" marL="0" indent="0">
              <a:spcAft>
                <a:spcPts val="400"/>
              </a:spcAft>
              <a:buNone/>
            </a:pPr>
            <a:r>
              <a:rPr lang="he-IL" sz="1500" b="1">
                <a:solidFill>
                  <a:srgbClr val="C4D82E"/>
                </a:solidFill>
                <a:latin typeface="Arial Unicode MS"/>
                <a:ea typeface="Arial Unicode MS"/>
                <a:cs typeface="Arial Unicode MS"/>
              </a:rPr>
              <a:t>כלל המוצקים (EN 1008)</a:t>
            </a:r>
          </a:p>
          <a:p>
            <a:pPr algn="r" rtl="1" marL="0" indent="0">
              <a:spcAft>
                <a:spcPts val="400"/>
              </a:spcAft>
              <a:buNone/>
            </a:pPr>
            <a:r>
              <a:rPr lang="he-IL" sz="1500" b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מסת המוצקים מהמים הממוחזרים ≤ 1% ממסת האגרגט הכוללת</a:t>
            </a:r>
          </a:p>
          <a:p>
            <a:pPr algn="r" rtl="1" marL="0" indent="0">
              <a:spcAft>
                <a:spcPts val="400"/>
              </a:spcAft>
              <a:buNone/>
            </a:pPr>
            <a:r>
              <a:rPr lang="he-IL" sz="1200" b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דוגמה: 170 ל' מים ו-1,900 ק"ג אגרגט — עד 19 ק"ג מוצקים, כלומר צפיפות מים של 1.06 לכל היותר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822960" y="1051560"/>
          <a:ext cx="5440680" cy="3977639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822960" y="5074920"/>
            <a:ext cx="5440680" cy="274320"/>
          </a:xfrm>
          <a:prstGeom prst="rect">
            <a:avLst/>
          </a:prstGeom>
          <a:noFill/>
        </p:spPr>
        <p:txBody>
          <a:bodyPr wrap="square" lIns="0" rIns="0" tIns="0" bIns="0" anchor="t" rtlCol="1">
            <a:spAutoFit/>
          </a:bodyPr>
          <a:lstStyle/>
          <a:p>
            <a:pPr algn="ctr" rtl="1" marL="0" indent="0">
              <a:spcAft>
                <a:spcPts val="400"/>
              </a:spcAft>
              <a:buNone/>
            </a:pPr>
            <a:r>
              <a:rPr lang="he-IL" sz="1100" b="0">
                <a:solidFill>
                  <a:srgbClr val="5F6B76"/>
                </a:solidFill>
                <a:latin typeface="Arial Unicode MS"/>
                <a:ea typeface="Arial Unicode MS"/>
                <a:cs typeface="Arial Unicode MS"/>
              </a:rPr>
              <a:t>חישוב בהנחת צפיפות מוצקים 2.1. המדידה היומית של הצפיפות היא הבקרה החשובה ביותר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>
                <a:latin typeface="Arial Unicode MS"/>
                <a:ea typeface="Arial Unicode MS"/>
                <a:cs typeface="Arial Unicode MS"/>
              </a:rPr>
              <a:t>כללי שימוש במים ממוחזרים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263640" y="1097280"/>
            <a:ext cx="5212080" cy="3977639"/>
          </a:xfrm>
          <a:prstGeom prst="roundRect">
            <a:avLst>
              <a:gd name="adj" fmla="val 8000"/>
            </a:avLst>
          </a:prstGeom>
          <a:solidFill>
            <a:srgbClr val="E8F3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744200" y="1280160"/>
            <a:ext cx="548640" cy="54864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5" name="Picture 4" descr="FaCheckCircle_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75873" y="1411833"/>
            <a:ext cx="285292" cy="28529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92240" y="1325880"/>
            <a:ext cx="4114800" cy="411480"/>
          </a:xfrm>
          <a:prstGeom prst="rect">
            <a:avLst/>
          </a:prstGeom>
          <a:noFill/>
        </p:spPr>
        <p:txBody>
          <a:bodyPr wrap="square" lIns="0" rIns="0" tIns="0" bIns="0" anchor="t" rtlCol="1">
            <a:spAutoFit/>
          </a:bodyPr>
          <a:lstStyle/>
          <a:p>
            <a:pPr algn="r" rtl="1" marL="0" indent="0">
              <a:spcAft>
                <a:spcPts val="400"/>
              </a:spcAft>
              <a:buNone/>
            </a:pPr>
            <a:r>
              <a:rPr lang="he-IL" sz="2000" b="1">
                <a:solidFill>
                  <a:srgbClr val="2E7D32"/>
                </a:solidFill>
                <a:latin typeface="Arial Unicode MS"/>
                <a:ea typeface="Arial Unicode MS"/>
                <a:cs typeface="Arial Unicode MS"/>
              </a:rPr>
              <a:t>עושים תמיד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92240" y="2011680"/>
            <a:ext cx="4754880" cy="3017520"/>
          </a:xfrm>
          <a:prstGeom prst="rect">
            <a:avLst/>
          </a:prstGeom>
          <a:noFill/>
        </p:spPr>
        <p:txBody>
          <a:bodyPr wrap="square" lIns="0" rIns="0" tIns="0" bIns="0" anchor="t" rtlCol="1">
            <a:spAutoFit/>
          </a:bodyPr>
          <a:lstStyle/>
          <a:p>
            <a:pPr algn="r" rtl="1" marL="228600" indent="-228600">
              <a:spcAft>
                <a:spcPts val="500"/>
              </a:spcAft>
              <a:buFont typeface="Arial"/>
              <a:buChar char="•"/>
            </a:pPr>
            <a:r>
              <a:rPr lang="he-IL" sz="1500" b="0">
                <a:solidFill>
                  <a:srgbClr val="333F4A"/>
                </a:solidFill>
                <a:latin typeface="Arial Unicode MS"/>
                <a:ea typeface="Arial Unicode MS"/>
                <a:cs typeface="Arial Unicode MS"/>
              </a:rPr>
              <a:t>ערבול רציף במיכל לפני המינון</a:t>
            </a:r>
          </a:p>
          <a:p>
            <a:pPr algn="r" rtl="1" marL="228600" indent="-228600">
              <a:spcAft>
                <a:spcPts val="500"/>
              </a:spcAft>
              <a:buFont typeface="Arial"/>
              <a:buChar char="•"/>
            </a:pPr>
            <a:r>
              <a:rPr lang="he-IL" sz="1500" b="0">
                <a:solidFill>
                  <a:srgbClr val="333F4A"/>
                </a:solidFill>
                <a:latin typeface="Arial Unicode MS"/>
                <a:ea typeface="Arial Unicode MS"/>
                <a:cs typeface="Arial Unicode MS"/>
              </a:rPr>
              <a:t>מדידת צפיפות לפחות יומית (עדיף חיישן רציף)</a:t>
            </a:r>
          </a:p>
          <a:p>
            <a:pPr algn="r" rtl="1" marL="228600" indent="-228600">
              <a:spcAft>
                <a:spcPts val="500"/>
              </a:spcAft>
              <a:buFont typeface="Arial"/>
              <a:buChar char="•"/>
            </a:pPr>
            <a:r>
              <a:rPr lang="he-IL" sz="1500" b="0">
                <a:solidFill>
                  <a:srgbClr val="333F4A"/>
                </a:solidFill>
                <a:latin typeface="Arial Unicode MS"/>
                <a:ea typeface="Arial Unicode MS"/>
                <a:cs typeface="Arial Unicode MS"/>
              </a:rPr>
              <a:t>חישוב המוצקים והכללתם בתכן כחומר דק</a:t>
            </a:r>
          </a:p>
          <a:p>
            <a:pPr algn="r" rtl="1" marL="228600" indent="-228600">
              <a:spcAft>
                <a:spcPts val="500"/>
              </a:spcAft>
              <a:buFont typeface="Arial"/>
              <a:buChar char="•"/>
            </a:pPr>
            <a:r>
              <a:rPr lang="he-IL" sz="1500" b="0">
                <a:solidFill>
                  <a:srgbClr val="333F4A"/>
                </a:solidFill>
                <a:latin typeface="Arial Unicode MS"/>
                <a:ea typeface="Arial Unicode MS"/>
                <a:cs typeface="Arial Unicode MS"/>
              </a:rPr>
              <a:t>המים הממוחזרים נספרים במלואם ב-W/C</a:t>
            </a:r>
          </a:p>
          <a:p>
            <a:pPr algn="r" rtl="1" marL="228600" indent="-228600">
              <a:spcAft>
                <a:spcPts val="500"/>
              </a:spcAft>
              <a:buFont typeface="Arial"/>
              <a:buChar char="•"/>
            </a:pPr>
            <a:r>
              <a:rPr lang="he-IL" sz="1500" b="0">
                <a:solidFill>
                  <a:srgbClr val="333F4A"/>
                </a:solidFill>
                <a:latin typeface="Arial Unicode MS"/>
                <a:ea typeface="Arial Unicode MS"/>
                <a:cs typeface="Arial Unicode MS"/>
              </a:rPr>
              <a:t>כימיה, התקשרות וחוזק לפי תכנית הבקרה</a:t>
            </a:r>
          </a:p>
          <a:p>
            <a:pPr algn="r" rtl="1" marL="228600" indent="-228600">
              <a:spcAft>
                <a:spcPts val="500"/>
              </a:spcAft>
              <a:buFont typeface="Arial"/>
              <a:buChar char="•"/>
            </a:pPr>
            <a:r>
              <a:rPr lang="he-IL" sz="1500" b="0">
                <a:solidFill>
                  <a:srgbClr val="333F4A"/>
                </a:solidFill>
                <a:latin typeface="Arial Unicode MS"/>
                <a:ea typeface="Arial Unicode MS"/>
                <a:cs typeface="Arial Unicode MS"/>
              </a:rPr>
              <a:t>תיעוד שיעור המים הממוחזרים בכל מנה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59" y="1097280"/>
            <a:ext cx="5212080" cy="3977639"/>
          </a:xfrm>
          <a:prstGeom prst="roundRect">
            <a:avLst>
              <a:gd name="adj" fmla="val 8000"/>
            </a:avLst>
          </a:prstGeom>
          <a:solidFill>
            <a:srgbClr val="FFF2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5303520" y="1280160"/>
            <a:ext cx="548640" cy="548640"/>
          </a:xfrm>
          <a:prstGeom prst="ellipse">
            <a:avLst/>
          </a:prstGeom>
          <a:solidFill>
            <a:srgbClr val="B26A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0" name="Picture 9" descr="FaExclamationTriangle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35193" y="1411833"/>
            <a:ext cx="285292" cy="285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051559" y="1325880"/>
            <a:ext cx="4114800" cy="411480"/>
          </a:xfrm>
          <a:prstGeom prst="rect">
            <a:avLst/>
          </a:prstGeom>
          <a:noFill/>
        </p:spPr>
        <p:txBody>
          <a:bodyPr wrap="square" lIns="0" rIns="0" tIns="0" bIns="0" anchor="t" rtlCol="1">
            <a:spAutoFit/>
          </a:bodyPr>
          <a:lstStyle/>
          <a:p>
            <a:pPr algn="r" rtl="1" marL="0" indent="0">
              <a:spcAft>
                <a:spcPts val="400"/>
              </a:spcAft>
              <a:buNone/>
            </a:pPr>
            <a:r>
              <a:rPr lang="he-IL" sz="2000" b="1">
                <a:solidFill>
                  <a:srgbClr val="B26A00"/>
                </a:solidFill>
                <a:latin typeface="Arial Unicode MS"/>
                <a:ea typeface="Arial Unicode MS"/>
                <a:cs typeface="Arial Unicode MS"/>
              </a:rPr>
              <a:t>זהירות מיוחדת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59" y="2011680"/>
            <a:ext cx="4754880" cy="3017520"/>
          </a:xfrm>
          <a:prstGeom prst="rect">
            <a:avLst/>
          </a:prstGeom>
          <a:noFill/>
        </p:spPr>
        <p:txBody>
          <a:bodyPr wrap="square" lIns="0" rIns="0" tIns="0" bIns="0" anchor="t" rtlCol="1">
            <a:spAutoFit/>
          </a:bodyPr>
          <a:lstStyle/>
          <a:p>
            <a:pPr algn="r" rtl="1" marL="228600" indent="-228600">
              <a:spcAft>
                <a:spcPts val="500"/>
              </a:spcAft>
              <a:buFont typeface="Arial"/>
              <a:buChar char="•"/>
            </a:pPr>
            <a:r>
              <a:rPr lang="he-IL" sz="1500" b="0">
                <a:solidFill>
                  <a:srgbClr val="333F4A"/>
                </a:solidFill>
                <a:latin typeface="Arial Unicode MS"/>
                <a:ea typeface="Arial Unicode MS"/>
                <a:cs typeface="Arial Unicode MS"/>
              </a:rPr>
              <a:t>בטון אדריכלי חשוף — שינויי גוון</a:t>
            </a:r>
          </a:p>
          <a:p>
            <a:pPr algn="r" rtl="1" marL="228600" indent="-228600">
              <a:spcAft>
                <a:spcPts val="500"/>
              </a:spcAft>
              <a:buFont typeface="Arial"/>
              <a:buChar char="•"/>
            </a:pPr>
            <a:r>
              <a:rPr lang="he-IL" sz="1500" b="0">
                <a:solidFill>
                  <a:srgbClr val="333F4A"/>
                </a:solidFill>
                <a:latin typeface="Arial Unicode MS"/>
                <a:ea typeface="Arial Unicode MS"/>
                <a:cs typeface="Arial Unicode MS"/>
              </a:rPr>
              <a:t>בטון דרוך — מגבלת כלורידים מחמירה</a:t>
            </a:r>
          </a:p>
          <a:p>
            <a:pPr algn="r" rtl="1" marL="228600" indent="-228600">
              <a:spcAft>
                <a:spcPts val="500"/>
              </a:spcAft>
              <a:buFont typeface="Arial"/>
              <a:buChar char="•"/>
            </a:pPr>
            <a:r>
              <a:rPr lang="he-IL" sz="1500" b="0">
                <a:solidFill>
                  <a:srgbClr val="333F4A"/>
                </a:solidFill>
                <a:latin typeface="Arial Unicode MS"/>
                <a:ea typeface="Arial Unicode MS"/>
                <a:cs typeface="Arial Unicode MS"/>
              </a:rPr>
              <a:t>בטון עם אוויר מוחדר — השפעה על כמות האוויר</a:t>
            </a:r>
          </a:p>
          <a:p>
            <a:pPr algn="r" rtl="1" marL="228600" indent="-228600">
              <a:spcAft>
                <a:spcPts val="500"/>
              </a:spcAft>
              <a:buFont typeface="Arial"/>
              <a:buChar char="•"/>
            </a:pPr>
            <a:r>
              <a:rPr lang="he-IL" sz="1500" b="0">
                <a:solidFill>
                  <a:srgbClr val="333F4A"/>
                </a:solidFill>
                <a:latin typeface="Arial Unicode MS"/>
                <a:ea typeface="Arial Unicode MS"/>
                <a:cs typeface="Arial Unicode MS"/>
              </a:rPr>
              <a:t>חוזק גבוה ו-SCC — רגישות לדקים</a:t>
            </a:r>
          </a:p>
          <a:p>
            <a:pPr algn="r" rtl="1" marL="228600" indent="-228600">
              <a:spcAft>
                <a:spcPts val="500"/>
              </a:spcAft>
              <a:buFont typeface="Arial"/>
              <a:buChar char="•"/>
            </a:pPr>
            <a:r>
              <a:rPr lang="he-IL" sz="1500" b="0">
                <a:solidFill>
                  <a:srgbClr val="333F4A"/>
                </a:solidFill>
                <a:latin typeface="Arial Unicode MS"/>
                <a:ea typeface="Arial Unicode MS"/>
                <a:cs typeface="Arial Unicode MS"/>
              </a:rPr>
              <a:t>שאריות מייצב הידרציה — עיכוב התקשרות</a:t>
            </a:r>
          </a:p>
          <a:p>
            <a:pPr algn="r" rtl="1" marL="228600" indent="-228600">
              <a:spcAft>
                <a:spcPts val="500"/>
              </a:spcAft>
              <a:buFont typeface="Arial"/>
              <a:buChar char="•"/>
            </a:pPr>
            <a:r>
              <a:rPr lang="he-IL" sz="1500" b="0">
                <a:solidFill>
                  <a:srgbClr val="333F4A"/>
                </a:solidFill>
                <a:latin typeface="Arial Unicode MS"/>
                <a:ea typeface="Arial Unicode MS"/>
                <a:cs typeface="Arial Unicode MS"/>
              </a:rPr>
              <a:t>צפיפות מעל הגבול — מדללים במים נקיים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5257800"/>
            <a:ext cx="8183879" cy="594360"/>
          </a:xfrm>
          <a:prstGeom prst="roundRect">
            <a:avLst>
              <a:gd name="adj" fmla="val 8000"/>
            </a:avLst>
          </a:prstGeom>
          <a:solidFill>
            <a:srgbClr val="00397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394192" y="5326380"/>
            <a:ext cx="457200" cy="457200"/>
          </a:xfrm>
          <a:prstGeom prst="ellipse">
            <a:avLst/>
          </a:prstGeom>
          <a:solidFill>
            <a:srgbClr val="C4D8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5" name="Picture 14" descr="FaLightbulb_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03919" y="5436108"/>
            <a:ext cx="237744" cy="23774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051560" y="5257800"/>
            <a:ext cx="7269479" cy="594360"/>
          </a:xfrm>
          <a:prstGeom prst="rect">
            <a:avLst/>
          </a:prstGeom>
          <a:noFill/>
        </p:spPr>
        <p:txBody>
          <a:bodyPr wrap="square" lIns="0" rIns="0" tIns="0" bIns="0" anchor="ctr" rtlCol="1">
            <a:spAutoFit/>
          </a:bodyPr>
          <a:lstStyle/>
          <a:p>
            <a:pPr algn="r" rtl="1" marL="0" indent="0">
              <a:spcAft>
                <a:spcPts val="400"/>
              </a:spcAft>
              <a:buNone/>
            </a:pPr>
            <a:r>
              <a:rPr lang="he-IL" sz="17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המים הממוחזרים הם חומר גלם לכל דבר: נבדקים, מתועדים ונכנסים לתכן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>
                <a:latin typeface="Arial Unicode MS"/>
                <a:ea typeface="Arial Unicode MS"/>
                <a:cs typeface="Arial Unicode MS"/>
              </a:rPr>
              <a:t>בטון חוזר: שלושה מסלולים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001000" y="1097280"/>
            <a:ext cx="3474720" cy="3429000"/>
          </a:xfrm>
          <a:prstGeom prst="roundRect">
            <a:avLst>
              <a:gd name="adj" fmla="val 8000"/>
            </a:avLst>
          </a:prstGeom>
          <a:solidFill>
            <a:srgbClr val="E8F3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326880" y="1280160"/>
            <a:ext cx="822960" cy="82296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5" name="Picture 4" descr="FaSyncAlt_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4390" y="1477670"/>
            <a:ext cx="427939" cy="42793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138160" y="2240280"/>
            <a:ext cx="3200400" cy="411480"/>
          </a:xfrm>
          <a:prstGeom prst="rect">
            <a:avLst/>
          </a:prstGeom>
          <a:noFill/>
        </p:spPr>
        <p:txBody>
          <a:bodyPr wrap="square" lIns="0" rIns="0" tIns="0" bIns="0" anchor="t" rtlCol="1">
            <a:spAutoFit/>
          </a:bodyPr>
          <a:lstStyle/>
          <a:p>
            <a:pPr algn="ctr" rtl="1" marL="0" indent="0">
              <a:spcAft>
                <a:spcPts val="400"/>
              </a:spcAft>
              <a:buNone/>
            </a:pPr>
            <a:r>
              <a:rPr lang="he-IL" sz="1900" b="1">
                <a:solidFill>
                  <a:srgbClr val="2E7D32"/>
                </a:solidFill>
                <a:latin typeface="Arial Unicode MS"/>
                <a:ea typeface="Arial Unicode MS"/>
                <a:cs typeface="Arial Unicode MS"/>
              </a:rPr>
              <a:t>שטיפה במפריד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83880" y="2697480"/>
            <a:ext cx="3108960" cy="868680"/>
          </a:xfrm>
          <a:prstGeom prst="rect">
            <a:avLst/>
          </a:prstGeom>
          <a:noFill/>
        </p:spPr>
        <p:txBody>
          <a:bodyPr wrap="square" lIns="0" rIns="0" tIns="0" bIns="0" anchor="t" rtlCol="1">
            <a:spAutoFit/>
          </a:bodyPr>
          <a:lstStyle/>
          <a:p>
            <a:pPr algn="ctr" rtl="1" marL="0" indent="0">
              <a:spcAft>
                <a:spcPts val="400"/>
              </a:spcAft>
              <a:buNone/>
            </a:pPr>
            <a:r>
              <a:rPr lang="he-IL" sz="1300" b="0">
                <a:solidFill>
                  <a:srgbClr val="333F4A"/>
                </a:solidFill>
                <a:latin typeface="Arial Unicode MS"/>
                <a:ea typeface="Arial Unicode MS"/>
                <a:cs typeface="Arial Unicode MS"/>
              </a:rPr>
              <a:t>בטון טרי → Reclaimer → חצץ וחול שטופים + מים ממוחזרים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83880" y="3611880"/>
            <a:ext cx="3108960" cy="822960"/>
          </a:xfrm>
          <a:prstGeom prst="rect">
            <a:avLst/>
          </a:prstGeom>
          <a:noFill/>
        </p:spPr>
        <p:txBody>
          <a:bodyPr wrap="square" lIns="0" rIns="0" tIns="0" bIns="0" anchor="t" rtlCol="1">
            <a:spAutoFit/>
          </a:bodyPr>
          <a:lstStyle/>
          <a:p>
            <a:pPr algn="ctr" rtl="1" marL="0" indent="0">
              <a:spcAft>
                <a:spcPts val="400"/>
              </a:spcAft>
              <a:buNone/>
            </a:pPr>
            <a:r>
              <a:rPr lang="he-IL" sz="1300" b="1">
                <a:solidFill>
                  <a:srgbClr val="003973"/>
                </a:solidFill>
                <a:latin typeface="Arial Unicode MS"/>
                <a:ea typeface="Arial Unicode MS"/>
                <a:cs typeface="Arial Unicode MS"/>
              </a:rPr>
              <a:t>אגרגט כמעט כמו טבעי; בודקים דקים וגרדציה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53128" y="1097280"/>
            <a:ext cx="3474720" cy="3429000"/>
          </a:xfrm>
          <a:prstGeom prst="roundRect">
            <a:avLst>
              <a:gd name="adj" fmla="val 8000"/>
            </a:avLst>
          </a:prstGeom>
          <a:solidFill>
            <a:srgbClr val="FFF2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779008" y="1280160"/>
            <a:ext cx="822960" cy="822960"/>
          </a:xfrm>
          <a:prstGeom prst="ellipse">
            <a:avLst/>
          </a:prstGeom>
          <a:solidFill>
            <a:srgbClr val="B26A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Picture 10" descr="FaHourglassHalf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76518" y="1477670"/>
            <a:ext cx="427939" cy="427939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590288" y="2240280"/>
            <a:ext cx="3200400" cy="411480"/>
          </a:xfrm>
          <a:prstGeom prst="rect">
            <a:avLst/>
          </a:prstGeom>
          <a:noFill/>
        </p:spPr>
        <p:txBody>
          <a:bodyPr wrap="square" lIns="0" rIns="0" tIns="0" bIns="0" anchor="t" rtlCol="1">
            <a:spAutoFit/>
          </a:bodyPr>
          <a:lstStyle/>
          <a:p>
            <a:pPr algn="ctr" rtl="1" marL="0" indent="0">
              <a:spcAft>
                <a:spcPts val="400"/>
              </a:spcAft>
              <a:buNone/>
            </a:pPr>
            <a:r>
              <a:rPr lang="he-IL" sz="1900" b="1">
                <a:solidFill>
                  <a:srgbClr val="B26A00"/>
                </a:solidFill>
                <a:latin typeface="Arial Unicode MS"/>
                <a:ea typeface="Arial Unicode MS"/>
                <a:cs typeface="Arial Unicode MS"/>
              </a:rPr>
              <a:t>ייצוב ושימוש חוזר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36008" y="2697480"/>
            <a:ext cx="3108960" cy="868680"/>
          </a:xfrm>
          <a:prstGeom prst="rect">
            <a:avLst/>
          </a:prstGeom>
          <a:noFill/>
        </p:spPr>
        <p:txBody>
          <a:bodyPr wrap="square" lIns="0" rIns="0" tIns="0" bIns="0" anchor="t" rtlCol="1">
            <a:spAutoFit/>
          </a:bodyPr>
          <a:lstStyle/>
          <a:p>
            <a:pPr algn="ctr" rtl="1" marL="0" indent="0">
              <a:spcAft>
                <a:spcPts val="400"/>
              </a:spcAft>
              <a:buNone/>
            </a:pPr>
            <a:r>
              <a:rPr lang="he-IL" sz="1300" b="0">
                <a:solidFill>
                  <a:srgbClr val="333F4A"/>
                </a:solidFill>
                <a:latin typeface="Arial Unicode MS"/>
                <a:ea typeface="Arial Unicode MS"/>
                <a:cs typeface="Arial Unicode MS"/>
              </a:rPr>
              <a:t>מוסף מייצב הידרציה עוצר את ההתקשרות לשעות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36008" y="3611880"/>
            <a:ext cx="3108960" cy="822960"/>
          </a:xfrm>
          <a:prstGeom prst="rect">
            <a:avLst/>
          </a:prstGeom>
          <a:noFill/>
        </p:spPr>
        <p:txBody>
          <a:bodyPr wrap="square" lIns="0" rIns="0" tIns="0" bIns="0" anchor="t" rtlCol="1">
            <a:spAutoFit/>
          </a:bodyPr>
          <a:lstStyle/>
          <a:p>
            <a:pPr algn="ctr" rtl="1" marL="0" indent="0">
              <a:spcAft>
                <a:spcPts val="400"/>
              </a:spcAft>
              <a:buNone/>
            </a:pPr>
            <a:r>
              <a:rPr lang="he-IL" sz="1300" b="1">
                <a:solidFill>
                  <a:srgbClr val="003973"/>
                </a:solidFill>
                <a:latin typeface="Arial Unicode MS"/>
                <a:ea typeface="Arial Unicode MS"/>
                <a:cs typeface="Arial Unicode MS"/>
              </a:rPr>
              <a:t>רק בהנחיית טכנולוג; לרוב לאלמנטים לא קריטיים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5256" y="1097280"/>
            <a:ext cx="3474720" cy="3429000"/>
          </a:xfrm>
          <a:prstGeom prst="roundRect">
            <a:avLst>
              <a:gd name="adj" fmla="val 8000"/>
            </a:avLst>
          </a:prstGeom>
          <a:solidFill>
            <a:srgbClr val="EAF3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231136" y="1280160"/>
            <a:ext cx="822960" cy="822960"/>
          </a:xfrm>
          <a:prstGeom prst="ellipse">
            <a:avLst/>
          </a:prstGeom>
          <a:solidFill>
            <a:srgbClr val="00397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7" name="Picture 16" descr="FaCubes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28646" y="1477670"/>
            <a:ext cx="427939" cy="427939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042416" y="2240280"/>
            <a:ext cx="3200400" cy="411480"/>
          </a:xfrm>
          <a:prstGeom prst="rect">
            <a:avLst/>
          </a:prstGeom>
          <a:noFill/>
        </p:spPr>
        <p:txBody>
          <a:bodyPr wrap="square" lIns="0" rIns="0" tIns="0" bIns="0" anchor="t" rtlCol="1">
            <a:spAutoFit/>
          </a:bodyPr>
          <a:lstStyle/>
          <a:p>
            <a:pPr algn="ctr" rtl="1" marL="0" indent="0">
              <a:spcAft>
                <a:spcPts val="400"/>
              </a:spcAft>
              <a:buNone/>
            </a:pPr>
            <a:r>
              <a:rPr lang="he-IL" sz="1900" b="1">
                <a:solidFill>
                  <a:srgbClr val="003973"/>
                </a:solidFill>
                <a:latin typeface="Arial Unicode MS"/>
                <a:ea typeface="Arial Unicode MS"/>
                <a:cs typeface="Arial Unicode MS"/>
              </a:rPr>
              <a:t>התקשות וגריסה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8136" y="2697480"/>
            <a:ext cx="3108960" cy="868680"/>
          </a:xfrm>
          <a:prstGeom prst="rect">
            <a:avLst/>
          </a:prstGeom>
          <a:noFill/>
        </p:spPr>
        <p:txBody>
          <a:bodyPr wrap="square" lIns="0" rIns="0" tIns="0" bIns="0" anchor="t" rtlCol="1">
            <a:spAutoFit/>
          </a:bodyPr>
          <a:lstStyle/>
          <a:p>
            <a:pPr algn="ctr" rtl="1" marL="0" indent="0">
              <a:spcAft>
                <a:spcPts val="400"/>
              </a:spcAft>
              <a:buNone/>
            </a:pPr>
            <a:r>
              <a:rPr lang="he-IL" sz="1300" b="0">
                <a:solidFill>
                  <a:srgbClr val="333F4A"/>
                </a:solidFill>
                <a:latin typeface="Arial Unicode MS"/>
                <a:ea typeface="Arial Unicode MS"/>
                <a:cs typeface="Arial Unicode MS"/>
              </a:rPr>
              <a:t>בטון קשוח → גריסה וניפוי → אגרגט ממוחזר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88136" y="3611880"/>
            <a:ext cx="3108960" cy="822960"/>
          </a:xfrm>
          <a:prstGeom prst="rect">
            <a:avLst/>
          </a:prstGeom>
          <a:noFill/>
        </p:spPr>
        <p:txBody>
          <a:bodyPr wrap="square" lIns="0" rIns="0" tIns="0" bIns="0" anchor="t" rtlCol="1">
            <a:spAutoFit/>
          </a:bodyPr>
          <a:lstStyle/>
          <a:p>
            <a:pPr algn="ctr" rtl="1" marL="0" indent="0">
              <a:spcAft>
                <a:spcPts val="400"/>
              </a:spcAft>
              <a:buNone/>
            </a:pPr>
            <a:r>
              <a:rPr lang="he-IL" sz="1300" b="1">
                <a:solidFill>
                  <a:srgbClr val="003973"/>
                </a:solidFill>
                <a:latin typeface="Arial Unicode MS"/>
                <a:ea typeface="Arial Unicode MS"/>
                <a:cs typeface="Arial Unicode MS"/>
              </a:rPr>
              <a:t>אגרגט ממוחזר לכל דבר — כל דרישות EN 206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" y="4846320"/>
            <a:ext cx="8183879" cy="640080"/>
          </a:xfrm>
          <a:prstGeom prst="roundRect">
            <a:avLst>
              <a:gd name="adj" fmla="val 8000"/>
            </a:avLst>
          </a:prstGeom>
          <a:solidFill>
            <a:srgbClr val="00397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394192" y="4937759"/>
            <a:ext cx="457200" cy="457200"/>
          </a:xfrm>
          <a:prstGeom prst="ellipse">
            <a:avLst/>
          </a:prstGeom>
          <a:solidFill>
            <a:srgbClr val="C4D8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Picture 22" descr="FaClipboardCheck_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03919" y="5047488"/>
            <a:ext cx="237744" cy="237744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051560" y="4846320"/>
            <a:ext cx="7269479" cy="640080"/>
          </a:xfrm>
          <a:prstGeom prst="rect">
            <a:avLst/>
          </a:prstGeom>
          <a:noFill/>
        </p:spPr>
        <p:txBody>
          <a:bodyPr wrap="square" lIns="0" rIns="0" tIns="0" bIns="0" anchor="ctr" rtlCol="1">
            <a:spAutoFit/>
          </a:bodyPr>
          <a:lstStyle/>
          <a:p>
            <a:pPr algn="r" rtl="1" marL="0" indent="0">
              <a:spcAft>
                <a:spcPts val="400"/>
              </a:spcAft>
              <a:buNone/>
            </a:pPr>
            <a:r>
              <a:rPr lang="he-IL" sz="17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בטון חוזר מתועד במקורו: מאיזו תערובת, כמה זמן, ואם קיבל מוסף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>
                <a:latin typeface="Arial Unicode MS"/>
                <a:ea typeface="Arial Unicode MS"/>
                <a:cs typeface="Arial Unicode MS"/>
              </a:rPr>
              <a:t>אגרגט ממוחזר: תכונות ובדיקות</a:t>
            </a:r>
          </a:p>
        </p:txBody>
      </p:sp>
      <p:pic>
        <p:nvPicPr>
          <p:cNvPr id="3" name="Picture 2" descr="rc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106793"/>
            <a:ext cx="5029200" cy="208409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474720" y="3200400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 anchor="t" rtlCol="1">
            <a:spAutoFit/>
          </a:bodyPr>
          <a:lstStyle/>
          <a:p>
            <a:pPr algn="ctr" rtl="1" marL="0" indent="0">
              <a:buNone/>
            </a:pPr>
            <a:r>
              <a:rPr lang="he-IL" sz="1400" b="1">
                <a:solidFill>
                  <a:srgbClr val="003973"/>
                </a:solidFill>
                <a:latin typeface="Arial Unicode MS"/>
                <a:ea typeface="Arial Unicode MS"/>
                <a:cs typeface="Arial Unicode MS"/>
              </a:rPr>
              <a:t>אגרגט ממוחזר</a:t>
            </a:r>
          </a:p>
          <a:p>
            <a:pPr algn="ctr" rtl="1" marL="0" indent="0">
              <a:buNone/>
            </a:pPr>
            <a:r>
              <a:rPr lang="he-IL" sz="1200" b="0">
                <a:solidFill>
                  <a:srgbClr val="333F4A"/>
                </a:solidFill>
                <a:latin typeface="Arial Unicode MS"/>
                <a:ea typeface="Arial Unicode MS"/>
                <a:cs typeface="Arial Unicode MS"/>
              </a:rPr>
              <a:t>טיט דבוק נקבובי סביב הסלע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200400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 anchor="t" rtlCol="1">
            <a:spAutoFit/>
          </a:bodyPr>
          <a:lstStyle/>
          <a:p>
            <a:pPr algn="ctr" rtl="1" marL="0" indent="0">
              <a:buNone/>
            </a:pPr>
            <a:r>
              <a:rPr lang="he-IL" sz="1400" b="1">
                <a:solidFill>
                  <a:srgbClr val="003973"/>
                </a:solidFill>
                <a:latin typeface="Arial Unicode MS"/>
                <a:ea typeface="Arial Unicode MS"/>
                <a:cs typeface="Arial Unicode MS"/>
              </a:rPr>
              <a:t>אגרגט טבעי</a:t>
            </a:r>
          </a:p>
          <a:p>
            <a:pPr algn="ctr" rtl="1" marL="0" indent="0">
              <a:buNone/>
            </a:pPr>
            <a:r>
              <a:rPr lang="he-IL" sz="1200" b="0">
                <a:solidFill>
                  <a:srgbClr val="333F4A"/>
                </a:solidFill>
                <a:latin typeface="Arial Unicode MS"/>
                <a:ea typeface="Arial Unicode MS"/>
                <a:cs typeface="Arial Unicode MS"/>
              </a:rPr>
              <a:t>סלע נקי וצפוף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22960" y="3840480"/>
          <a:ext cx="5029200" cy="166420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554480"/>
                <a:gridCol w="1554480"/>
                <a:gridCol w="1920240"/>
              </a:tblGrid>
              <a:tr h="347472">
                <a:tc>
                  <a:txBody>
                    <a:bodyPr wrap="square"/>
                    <a:lstStyle/>
                    <a:p>
                      <a:pPr algn="ctr" rtl="1" marL="0" indent="0">
                        <a:buNone/>
                      </a:pPr>
                      <a:r>
                        <a:rPr lang="he-IL" sz="130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ממוחזר</a:t>
                      </a:r>
                    </a:p>
                  </a:txBody>
                  <a:tcPr marL="73152" marR="73152" marT="36576" marB="36576" anchor="ctr">
                    <a:solidFill>
                      <a:srgbClr val="0081C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 marL="0" indent="0">
                        <a:buNone/>
                      </a:pPr>
                      <a:r>
                        <a:rPr lang="he-IL" sz="130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טבעי</a:t>
                      </a:r>
                    </a:p>
                  </a:txBody>
                  <a:tcPr marL="73152" marR="73152" marT="36576" marB="36576" anchor="ctr">
                    <a:solidFill>
                      <a:srgbClr val="0081C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 marL="0" indent="0">
                        <a:buNone/>
                      </a:pPr>
                      <a:r>
                        <a:rPr lang="he-IL" sz="130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תכונה</a:t>
                      </a:r>
                    </a:p>
                  </a:txBody>
                  <a:tcPr marL="73152" marR="73152" marT="36576" marB="36576" anchor="ctr">
                    <a:solidFill>
                      <a:srgbClr val="0081C8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ctr" rtl="1" marL="0" indent="0">
                        <a:buNone/>
                      </a:pPr>
                      <a:r>
                        <a:rPr lang="he-IL" sz="1300" b="0">
                          <a:solidFill>
                            <a:srgbClr val="333F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2.1-2.5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 marL="0" indent="0">
                        <a:buNone/>
                      </a:pPr>
                      <a:r>
                        <a:rPr lang="he-IL" sz="1300" b="0">
                          <a:solidFill>
                            <a:srgbClr val="333F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2.6-2.7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 marL="0" indent="0">
                        <a:buNone/>
                      </a:pPr>
                      <a:r>
                        <a:rPr lang="he-IL" sz="1300" b="1">
                          <a:solidFill>
                            <a:srgbClr val="333F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צפיפות (ק"ג/ל')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ctr" rtl="1" marL="0" indent="0">
                        <a:buNone/>
                      </a:pPr>
                      <a:r>
                        <a:rPr lang="he-IL" sz="1300" b="0">
                          <a:solidFill>
                            <a:srgbClr val="333F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3-10%</a:t>
                      </a:r>
                    </a:p>
                  </a:txBody>
                  <a:tcPr marL="73152" marR="73152" marT="36576" marB="36576" anchor="ctr">
                    <a:solidFill>
                      <a:srgbClr val="F3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 marL="0" indent="0">
                        <a:buNone/>
                      </a:pPr>
                      <a:r>
                        <a:rPr lang="he-IL" sz="1300" b="0">
                          <a:solidFill>
                            <a:srgbClr val="333F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0.5-2%</a:t>
                      </a:r>
                    </a:p>
                  </a:txBody>
                  <a:tcPr marL="73152" marR="73152" marT="36576" marB="36576" anchor="ctr">
                    <a:solidFill>
                      <a:srgbClr val="F3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 marL="0" indent="0">
                        <a:buNone/>
                      </a:pPr>
                      <a:r>
                        <a:rPr lang="he-IL" sz="1300" b="1">
                          <a:solidFill>
                            <a:srgbClr val="333F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ספיגות</a:t>
                      </a:r>
                    </a:p>
                  </a:txBody>
                  <a:tcPr marL="73152" marR="73152" marT="36576" marB="36576" anchor="ctr">
                    <a:solidFill>
                      <a:srgbClr val="F3F5F7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ctr" rtl="1" marL="0" indent="0">
                        <a:buNone/>
                      </a:pPr>
                      <a:r>
                        <a:rPr lang="he-IL" sz="1300" b="0">
                          <a:solidFill>
                            <a:srgbClr val="333F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30-45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 marL="0" indent="0">
                        <a:buNone/>
                      </a:pPr>
                      <a:r>
                        <a:rPr lang="he-IL" sz="1300" b="0">
                          <a:solidFill>
                            <a:srgbClr val="333F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20-30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 marL="0" indent="0">
                        <a:buNone/>
                      </a:pPr>
                      <a:r>
                        <a:rPr lang="he-IL" sz="1300" b="1">
                          <a:solidFill>
                            <a:srgbClr val="333F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LA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ctr" rtl="1" marL="0" indent="0">
                        <a:buNone/>
                      </a:pPr>
                      <a:r>
                        <a:rPr lang="he-IL" sz="1300" b="0">
                          <a:solidFill>
                            <a:srgbClr val="333F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גבוהה</a:t>
                      </a:r>
                    </a:p>
                  </a:txBody>
                  <a:tcPr marL="73152" marR="73152" marT="36576" marB="36576" anchor="ctr">
                    <a:solidFill>
                      <a:srgbClr val="F3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 marL="0" indent="0">
                        <a:buNone/>
                      </a:pPr>
                      <a:r>
                        <a:rPr lang="he-IL" sz="1300" b="0">
                          <a:solidFill>
                            <a:srgbClr val="333F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נמוכה</a:t>
                      </a:r>
                    </a:p>
                  </a:txBody>
                  <a:tcPr marL="73152" marR="73152" marT="36576" marB="36576" anchor="ctr">
                    <a:solidFill>
                      <a:srgbClr val="F3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 marL="0" indent="0">
                        <a:buNone/>
                      </a:pPr>
                      <a:r>
                        <a:rPr lang="he-IL" sz="1300" b="1">
                          <a:solidFill>
                            <a:srgbClr val="333F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שונות</a:t>
                      </a:r>
                    </a:p>
                  </a:txBody>
                  <a:tcPr marL="73152" marR="73152" marT="36576" marB="36576" anchor="ctr">
                    <a:solidFill>
                      <a:srgbClr val="F3F5F7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217920" y="1097280"/>
            <a:ext cx="5257800" cy="411480"/>
          </a:xfrm>
          <a:prstGeom prst="rect">
            <a:avLst/>
          </a:prstGeom>
          <a:noFill/>
        </p:spPr>
        <p:txBody>
          <a:bodyPr wrap="square" lIns="0" rIns="0" tIns="0" bIns="0" anchor="t" rtlCol="1">
            <a:spAutoFit/>
          </a:bodyPr>
          <a:lstStyle/>
          <a:p>
            <a:pPr algn="r" rtl="1" marL="0" indent="0">
              <a:spcAft>
                <a:spcPts val="400"/>
              </a:spcAft>
              <a:buNone/>
            </a:pPr>
            <a:r>
              <a:rPr lang="he-IL" sz="1900" b="1">
                <a:solidFill>
                  <a:srgbClr val="003973"/>
                </a:solidFill>
                <a:latin typeface="Arial Unicode MS"/>
                <a:ea typeface="Arial Unicode MS"/>
                <a:cs typeface="Arial Unicode MS"/>
              </a:rPr>
              <a:t>בדיקות ייעודיות</a:t>
            </a:r>
          </a:p>
        </p:txBody>
      </p:sp>
      <p:sp>
        <p:nvSpPr>
          <p:cNvPr id="8" name="Oval 7"/>
          <p:cNvSpPr/>
          <p:nvPr/>
        </p:nvSpPr>
        <p:spPr>
          <a:xfrm>
            <a:off x="10972800" y="1664207"/>
            <a:ext cx="457200" cy="457200"/>
          </a:xfrm>
          <a:prstGeom prst="ellipse">
            <a:avLst/>
          </a:prstGeom>
          <a:solidFill>
            <a:srgbClr val="0081C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9" name="Picture 8" descr="FaListOl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82528" y="1773936"/>
            <a:ext cx="237744" cy="23774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217920" y="1600200"/>
            <a:ext cx="4663440" cy="320040"/>
          </a:xfrm>
          <a:prstGeom prst="rect">
            <a:avLst/>
          </a:prstGeom>
          <a:noFill/>
        </p:spPr>
        <p:txBody>
          <a:bodyPr wrap="square" lIns="0" rIns="0" tIns="0" bIns="0" anchor="t" rtlCol="1">
            <a:spAutoFit/>
          </a:bodyPr>
          <a:lstStyle/>
          <a:p>
            <a:pPr algn="r" rtl="1" marL="0" indent="0">
              <a:spcAft>
                <a:spcPts val="400"/>
              </a:spcAft>
              <a:buNone/>
            </a:pPr>
            <a:r>
              <a:rPr lang="he-IL" sz="1500" b="1">
                <a:solidFill>
                  <a:srgbClr val="003973"/>
                </a:solidFill>
                <a:latin typeface="Arial Unicode MS"/>
                <a:ea typeface="Arial Unicode MS"/>
                <a:cs typeface="Arial Unicode MS"/>
              </a:rPr>
              <a:t>מיון מרכיבים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1901952"/>
            <a:ext cx="4663440" cy="411480"/>
          </a:xfrm>
          <a:prstGeom prst="rect">
            <a:avLst/>
          </a:prstGeom>
          <a:noFill/>
        </p:spPr>
        <p:txBody>
          <a:bodyPr wrap="square" lIns="0" rIns="0" tIns="0" bIns="0" anchor="t" rtlCol="1">
            <a:spAutoFit/>
          </a:bodyPr>
          <a:lstStyle/>
          <a:p>
            <a:pPr algn="r" rtl="1" marL="0" indent="0">
              <a:spcAft>
                <a:spcPts val="400"/>
              </a:spcAft>
              <a:buNone/>
            </a:pPr>
            <a:r>
              <a:rPr lang="he-IL" sz="1200" b="0">
                <a:solidFill>
                  <a:srgbClr val="333F4A"/>
                </a:solidFill>
                <a:latin typeface="Arial Unicode MS"/>
                <a:ea typeface="Arial Unicode MS"/>
                <a:cs typeface="Arial Unicode MS"/>
              </a:rPr>
              <a:t>EN 933-11: בטון (Rc), אבן (Ru), לבנים (Rb), אספלט (Ra), זיהומים (X), צפים (FL)</a:t>
            </a:r>
          </a:p>
        </p:txBody>
      </p:sp>
      <p:sp>
        <p:nvSpPr>
          <p:cNvPr id="12" name="Oval 11"/>
          <p:cNvSpPr/>
          <p:nvPr/>
        </p:nvSpPr>
        <p:spPr>
          <a:xfrm>
            <a:off x="10972800" y="2395727"/>
            <a:ext cx="457200" cy="457200"/>
          </a:xfrm>
          <a:prstGeom prst="ellipse">
            <a:avLst/>
          </a:prstGeom>
          <a:solidFill>
            <a:srgbClr val="0081C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3" name="Picture 12" descr="FaTint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82528" y="2505456"/>
            <a:ext cx="237744" cy="23774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217920" y="2331720"/>
            <a:ext cx="4663440" cy="320040"/>
          </a:xfrm>
          <a:prstGeom prst="rect">
            <a:avLst/>
          </a:prstGeom>
          <a:noFill/>
        </p:spPr>
        <p:txBody>
          <a:bodyPr wrap="square" lIns="0" rIns="0" tIns="0" bIns="0" anchor="t" rtlCol="1">
            <a:spAutoFit/>
          </a:bodyPr>
          <a:lstStyle/>
          <a:p>
            <a:pPr algn="r" rtl="1" marL="0" indent="0">
              <a:spcAft>
                <a:spcPts val="400"/>
              </a:spcAft>
              <a:buNone/>
            </a:pPr>
            <a:r>
              <a:rPr lang="he-IL" sz="1500" b="1">
                <a:solidFill>
                  <a:srgbClr val="003973"/>
                </a:solidFill>
                <a:latin typeface="Arial Unicode MS"/>
                <a:ea typeface="Arial Unicode MS"/>
                <a:cs typeface="Arial Unicode MS"/>
              </a:rPr>
              <a:t>ספיגות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2633472"/>
            <a:ext cx="4663440" cy="411480"/>
          </a:xfrm>
          <a:prstGeom prst="rect">
            <a:avLst/>
          </a:prstGeom>
          <a:noFill/>
        </p:spPr>
        <p:txBody>
          <a:bodyPr wrap="square" lIns="0" rIns="0" tIns="0" bIns="0" anchor="t" rtlCol="1">
            <a:spAutoFit/>
          </a:bodyPr>
          <a:lstStyle/>
          <a:p>
            <a:pPr algn="r" rtl="1" marL="0" indent="0">
              <a:spcAft>
                <a:spcPts val="400"/>
              </a:spcAft>
              <a:buNone/>
            </a:pPr>
            <a:r>
              <a:rPr lang="he-IL" sz="1200" b="0">
                <a:solidFill>
                  <a:srgbClr val="333F4A"/>
                </a:solidFill>
                <a:latin typeface="Arial Unicode MS"/>
                <a:ea typeface="Arial Unicode MS"/>
                <a:cs typeface="Arial Unicode MS"/>
              </a:rPr>
              <a:t>בסיס לתיקון מים; מרטיבים מראש את הערמה</a:t>
            </a:r>
          </a:p>
        </p:txBody>
      </p:sp>
      <p:sp>
        <p:nvSpPr>
          <p:cNvPr id="16" name="Oval 15"/>
          <p:cNvSpPr/>
          <p:nvPr/>
        </p:nvSpPr>
        <p:spPr>
          <a:xfrm>
            <a:off x="10972800" y="3127248"/>
            <a:ext cx="457200" cy="457200"/>
          </a:xfrm>
          <a:prstGeom prst="ellipse">
            <a:avLst/>
          </a:prstGeom>
          <a:solidFill>
            <a:srgbClr val="0081C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7" name="Picture 16" descr="FaVials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82528" y="3236976"/>
            <a:ext cx="237744" cy="237744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217920" y="3063240"/>
            <a:ext cx="4663440" cy="320040"/>
          </a:xfrm>
          <a:prstGeom prst="rect">
            <a:avLst/>
          </a:prstGeom>
          <a:noFill/>
        </p:spPr>
        <p:txBody>
          <a:bodyPr wrap="square" lIns="0" rIns="0" tIns="0" bIns="0" anchor="t" rtlCol="1">
            <a:spAutoFit/>
          </a:bodyPr>
          <a:lstStyle/>
          <a:p>
            <a:pPr algn="r" rtl="1" marL="0" indent="0">
              <a:spcAft>
                <a:spcPts val="400"/>
              </a:spcAft>
              <a:buNone/>
            </a:pPr>
            <a:r>
              <a:rPr lang="he-IL" sz="1500" b="1">
                <a:solidFill>
                  <a:srgbClr val="003973"/>
                </a:solidFill>
                <a:latin typeface="Arial Unicode MS"/>
                <a:ea typeface="Arial Unicode MS"/>
                <a:cs typeface="Arial Unicode MS"/>
              </a:rPr>
              <a:t>סולפטים מסיסים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3364992"/>
            <a:ext cx="4663440" cy="411480"/>
          </a:xfrm>
          <a:prstGeom prst="rect">
            <a:avLst/>
          </a:prstGeom>
          <a:noFill/>
        </p:spPr>
        <p:txBody>
          <a:bodyPr wrap="square" lIns="0" rIns="0" tIns="0" bIns="0" anchor="t" rtlCol="1">
            <a:spAutoFit/>
          </a:bodyPr>
          <a:lstStyle/>
          <a:p>
            <a:pPr algn="r" rtl="1" marL="0" indent="0">
              <a:spcAft>
                <a:spcPts val="400"/>
              </a:spcAft>
              <a:buNone/>
            </a:pPr>
            <a:r>
              <a:rPr lang="he-IL" sz="1200" b="0">
                <a:solidFill>
                  <a:srgbClr val="333F4A"/>
                </a:solidFill>
                <a:latin typeface="Arial Unicode MS"/>
                <a:ea typeface="Arial Unicode MS"/>
                <a:cs typeface="Arial Unicode MS"/>
              </a:rPr>
              <a:t>גבס מטיח ולוחות — סכנת התפחות</a:t>
            </a:r>
          </a:p>
        </p:txBody>
      </p:sp>
      <p:sp>
        <p:nvSpPr>
          <p:cNvPr id="20" name="Oval 19"/>
          <p:cNvSpPr/>
          <p:nvPr/>
        </p:nvSpPr>
        <p:spPr>
          <a:xfrm>
            <a:off x="10972800" y="3858768"/>
            <a:ext cx="457200" cy="457200"/>
          </a:xfrm>
          <a:prstGeom prst="ellipse">
            <a:avLst/>
          </a:prstGeom>
          <a:solidFill>
            <a:srgbClr val="0081C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1" name="Picture 20" descr="FaFlask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082528" y="3968496"/>
            <a:ext cx="237744" cy="237744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6217920" y="3794760"/>
            <a:ext cx="4663440" cy="320040"/>
          </a:xfrm>
          <a:prstGeom prst="rect">
            <a:avLst/>
          </a:prstGeom>
          <a:noFill/>
        </p:spPr>
        <p:txBody>
          <a:bodyPr wrap="square" lIns="0" rIns="0" tIns="0" bIns="0" anchor="t" rtlCol="1">
            <a:spAutoFit/>
          </a:bodyPr>
          <a:lstStyle/>
          <a:p>
            <a:pPr algn="r" rtl="1" marL="0" indent="0">
              <a:spcAft>
                <a:spcPts val="400"/>
              </a:spcAft>
              <a:buNone/>
            </a:pPr>
            <a:r>
              <a:rPr lang="he-IL" sz="1500" b="1">
                <a:solidFill>
                  <a:srgbClr val="003973"/>
                </a:solidFill>
                <a:latin typeface="Arial Unicode MS"/>
                <a:ea typeface="Arial Unicode MS"/>
                <a:cs typeface="Arial Unicode MS"/>
              </a:rPr>
              <a:t>כלורידים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0" y="4096512"/>
            <a:ext cx="4663440" cy="411480"/>
          </a:xfrm>
          <a:prstGeom prst="rect">
            <a:avLst/>
          </a:prstGeom>
          <a:noFill/>
        </p:spPr>
        <p:txBody>
          <a:bodyPr wrap="square" lIns="0" rIns="0" tIns="0" bIns="0" anchor="t" rtlCol="1">
            <a:spAutoFit/>
          </a:bodyPr>
          <a:lstStyle/>
          <a:p>
            <a:pPr algn="r" rtl="1" marL="0" indent="0">
              <a:spcAft>
                <a:spcPts val="400"/>
              </a:spcAft>
              <a:buNone/>
            </a:pPr>
            <a:r>
              <a:rPr lang="he-IL" sz="1200" b="0">
                <a:solidFill>
                  <a:srgbClr val="333F4A"/>
                </a:solidFill>
                <a:latin typeface="Arial Unicode MS"/>
                <a:ea typeface="Arial Unicode MS"/>
                <a:cs typeface="Arial Unicode MS"/>
              </a:rPr>
              <a:t>בטון ישן מסביבה ימית או מחניונים</a:t>
            </a:r>
          </a:p>
        </p:txBody>
      </p:sp>
      <p:sp>
        <p:nvSpPr>
          <p:cNvPr id="24" name="Oval 23"/>
          <p:cNvSpPr/>
          <p:nvPr/>
        </p:nvSpPr>
        <p:spPr>
          <a:xfrm>
            <a:off x="10972800" y="4590288"/>
            <a:ext cx="457200" cy="457200"/>
          </a:xfrm>
          <a:prstGeom prst="ellipse">
            <a:avLst/>
          </a:prstGeom>
          <a:solidFill>
            <a:srgbClr val="0081C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5" name="Picture 24" descr="FaTrashAlt_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082528" y="4700016"/>
            <a:ext cx="237744" cy="237744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6217920" y="4526280"/>
            <a:ext cx="4663440" cy="320040"/>
          </a:xfrm>
          <a:prstGeom prst="rect">
            <a:avLst/>
          </a:prstGeom>
          <a:noFill/>
        </p:spPr>
        <p:txBody>
          <a:bodyPr wrap="square" lIns="0" rIns="0" tIns="0" bIns="0" anchor="t" rtlCol="1">
            <a:spAutoFit/>
          </a:bodyPr>
          <a:lstStyle/>
          <a:p>
            <a:pPr algn="r" rtl="1" marL="0" indent="0">
              <a:spcAft>
                <a:spcPts val="400"/>
              </a:spcAft>
              <a:buNone/>
            </a:pPr>
            <a:r>
              <a:rPr lang="he-IL" sz="1500" b="1">
                <a:solidFill>
                  <a:srgbClr val="003973"/>
                </a:solidFill>
                <a:latin typeface="Arial Unicode MS"/>
                <a:ea typeface="Arial Unicode MS"/>
                <a:cs typeface="Arial Unicode MS"/>
              </a:rPr>
              <a:t>זיהומים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0" y="4828032"/>
            <a:ext cx="4663440" cy="411480"/>
          </a:xfrm>
          <a:prstGeom prst="rect">
            <a:avLst/>
          </a:prstGeom>
          <a:noFill/>
        </p:spPr>
        <p:txBody>
          <a:bodyPr wrap="square" lIns="0" rIns="0" tIns="0" bIns="0" anchor="t" rtlCol="1">
            <a:spAutoFit/>
          </a:bodyPr>
          <a:lstStyle/>
          <a:p>
            <a:pPr algn="r" rtl="1" marL="0" indent="0">
              <a:spcAft>
                <a:spcPts val="400"/>
              </a:spcAft>
              <a:buNone/>
            </a:pPr>
            <a:r>
              <a:rPr lang="he-IL" sz="1200" b="0">
                <a:solidFill>
                  <a:srgbClr val="333F4A"/>
                </a:solidFill>
                <a:latin typeface="Arial Unicode MS"/>
                <a:ea typeface="Arial Unicode MS"/>
                <a:cs typeface="Arial Unicode MS"/>
              </a:rPr>
              <a:t>עץ, פלסטיק, זכוכית, מתכת, אספלט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>
                <a:latin typeface="Arial Unicode MS"/>
                <a:ea typeface="Arial Unicode MS"/>
                <a:cs typeface="Arial Unicode MS"/>
              </a:rPr>
              <a:t>אגרגט ממוחזר גס: מגבלות שימוש לפי EN 206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051560"/>
            <a:ext cx="10652760" cy="365760"/>
          </a:xfrm>
          <a:prstGeom prst="rect">
            <a:avLst/>
          </a:prstGeom>
          <a:noFill/>
        </p:spPr>
        <p:txBody>
          <a:bodyPr wrap="square" lIns="0" rIns="0" tIns="0" bIns="0" anchor="t" rtlCol="1">
            <a:spAutoFit/>
          </a:bodyPr>
          <a:lstStyle/>
          <a:p>
            <a:pPr algn="r" rtl="1" marL="0" indent="0">
              <a:spcAft>
                <a:spcPts val="400"/>
              </a:spcAft>
              <a:buNone/>
            </a:pPr>
            <a:r>
              <a:rPr lang="he-IL" sz="1600" b="1">
                <a:solidFill>
                  <a:srgbClr val="003973"/>
                </a:solidFill>
                <a:latin typeface="Arial Unicode MS"/>
                <a:ea typeface="Arial Unicode MS"/>
                <a:cs typeface="Arial Unicode MS"/>
              </a:rPr>
              <a:t>הרכב נדרש (EN 933-11)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22960" y="1463040"/>
          <a:ext cx="10652760" cy="123444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463040"/>
                <a:gridCol w="1600200"/>
                <a:gridCol w="1463040"/>
                <a:gridCol w="1554480"/>
                <a:gridCol w="1554480"/>
                <a:gridCol w="1554480"/>
                <a:gridCol w="1463040"/>
              </a:tblGrid>
              <a:tr h="411480">
                <a:tc>
                  <a:txBody>
                    <a:bodyPr wrap="square"/>
                    <a:lstStyle/>
                    <a:p>
                      <a:pPr algn="ctr" rtl="1" marL="0" indent="0">
                        <a:buNone/>
                      </a:pPr>
                      <a:r>
                        <a:rPr lang="he-IL" sz="140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FL</a:t>
                      </a:r>
                    </a:p>
                  </a:txBody>
                  <a:tcPr marL="73152" marR="73152" marT="36576" marB="36576" anchor="ctr">
                    <a:solidFill>
                      <a:srgbClr val="0081C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 marL="0" indent="0">
                        <a:buNone/>
                      </a:pPr>
                      <a:r>
                        <a:rPr lang="he-IL" sz="140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X + Rg</a:t>
                      </a:r>
                    </a:p>
                  </a:txBody>
                  <a:tcPr marL="73152" marR="73152" marT="36576" marB="36576" anchor="ctr">
                    <a:solidFill>
                      <a:srgbClr val="0081C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 marL="0" indent="0">
                        <a:buNone/>
                      </a:pPr>
                      <a:r>
                        <a:rPr lang="he-IL" sz="140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Ra</a:t>
                      </a:r>
                    </a:p>
                  </a:txBody>
                  <a:tcPr marL="73152" marR="73152" marT="36576" marB="36576" anchor="ctr">
                    <a:solidFill>
                      <a:srgbClr val="0081C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 marL="0" indent="0">
                        <a:buNone/>
                      </a:pPr>
                      <a:r>
                        <a:rPr lang="he-IL" sz="140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Rb</a:t>
                      </a:r>
                    </a:p>
                  </a:txBody>
                  <a:tcPr marL="73152" marR="73152" marT="36576" marB="36576" anchor="ctr">
                    <a:solidFill>
                      <a:srgbClr val="0081C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 marL="0" indent="0">
                        <a:buNone/>
                      </a:pPr>
                      <a:r>
                        <a:rPr lang="he-IL" sz="140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Rcu</a:t>
                      </a:r>
                    </a:p>
                  </a:txBody>
                  <a:tcPr marL="73152" marR="73152" marT="36576" marB="36576" anchor="ctr">
                    <a:solidFill>
                      <a:srgbClr val="0081C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 marL="0" indent="0">
                        <a:buNone/>
                      </a:pPr>
                      <a:r>
                        <a:rPr lang="he-IL" sz="140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Rc</a:t>
                      </a:r>
                    </a:p>
                  </a:txBody>
                  <a:tcPr marL="73152" marR="73152" marT="36576" marB="36576" anchor="ctr">
                    <a:solidFill>
                      <a:srgbClr val="0081C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 marL="0" indent="0">
                        <a:buNone/>
                      </a:pPr>
                      <a:r>
                        <a:rPr lang="he-IL" sz="140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סוג</a:t>
                      </a:r>
                    </a:p>
                  </a:txBody>
                  <a:tcPr marL="73152" marR="73152" marT="36576" marB="36576" anchor="ctr">
                    <a:solidFill>
                      <a:srgbClr val="0081C8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ctr" rtl="1" marL="0" indent="0">
                        <a:buNone/>
                      </a:pPr>
                      <a:r>
                        <a:rPr lang="he-IL" sz="1400" b="0">
                          <a:solidFill>
                            <a:srgbClr val="333F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≤ 2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 marL="0" indent="0">
                        <a:buNone/>
                      </a:pPr>
                      <a:r>
                        <a:rPr lang="he-IL" sz="1400" b="0">
                          <a:solidFill>
                            <a:srgbClr val="333F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≤ 1%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 marL="0" indent="0">
                        <a:buNone/>
                      </a:pPr>
                      <a:r>
                        <a:rPr lang="he-IL" sz="1400" b="0">
                          <a:solidFill>
                            <a:srgbClr val="333F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≤ 1%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 marL="0" indent="0">
                        <a:buNone/>
                      </a:pPr>
                      <a:r>
                        <a:rPr lang="he-IL" sz="1400" b="0">
                          <a:solidFill>
                            <a:srgbClr val="333F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≤ 10%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 marL="0" indent="0">
                        <a:buNone/>
                      </a:pPr>
                      <a:r>
                        <a:rPr lang="he-IL" sz="1400" b="0">
                          <a:solidFill>
                            <a:srgbClr val="333F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≥ 95%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 marL="0" indent="0">
                        <a:buNone/>
                      </a:pPr>
                      <a:r>
                        <a:rPr lang="he-IL" sz="1400" b="0">
                          <a:solidFill>
                            <a:srgbClr val="333F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≥ 90%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 marL="0" indent="0">
                        <a:buNone/>
                      </a:pPr>
                      <a:r>
                        <a:rPr lang="he-IL" sz="1400" b="1">
                          <a:solidFill>
                            <a:srgbClr val="333F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סוג A</a:t>
                      </a:r>
                    </a:p>
                  </a:txBody>
                  <a:tcPr marL="73152" marR="73152" marT="36576" marB="36576" anchor="ctr">
                    <a:solidFill>
                      <a:srgbClr val="EAF3FA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ctr" rtl="1" marL="0" indent="0">
                        <a:buNone/>
                      </a:pPr>
                      <a:r>
                        <a:rPr lang="he-IL" sz="1400" b="0">
                          <a:solidFill>
                            <a:srgbClr val="333F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≤ 2</a:t>
                      </a:r>
                    </a:p>
                  </a:txBody>
                  <a:tcPr marL="73152" marR="73152" marT="36576" marB="36576" anchor="ctr">
                    <a:solidFill>
                      <a:srgbClr val="F3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 marL="0" indent="0">
                        <a:buNone/>
                      </a:pPr>
                      <a:r>
                        <a:rPr lang="he-IL" sz="1400" b="0">
                          <a:solidFill>
                            <a:srgbClr val="333F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≤ 2%</a:t>
                      </a:r>
                    </a:p>
                  </a:txBody>
                  <a:tcPr marL="73152" marR="73152" marT="36576" marB="36576" anchor="ctr">
                    <a:solidFill>
                      <a:srgbClr val="F3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 marL="0" indent="0">
                        <a:buNone/>
                      </a:pPr>
                      <a:r>
                        <a:rPr lang="he-IL" sz="1400" b="0">
                          <a:solidFill>
                            <a:srgbClr val="333F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≤ 5%</a:t>
                      </a:r>
                    </a:p>
                  </a:txBody>
                  <a:tcPr marL="73152" marR="73152" marT="36576" marB="36576" anchor="ctr">
                    <a:solidFill>
                      <a:srgbClr val="F3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 marL="0" indent="0">
                        <a:buNone/>
                      </a:pPr>
                      <a:r>
                        <a:rPr lang="he-IL" sz="1400" b="0">
                          <a:solidFill>
                            <a:srgbClr val="333F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≤ 30%</a:t>
                      </a:r>
                    </a:p>
                  </a:txBody>
                  <a:tcPr marL="73152" marR="73152" marT="36576" marB="36576" anchor="ctr">
                    <a:solidFill>
                      <a:srgbClr val="F3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 marL="0" indent="0">
                        <a:buNone/>
                      </a:pPr>
                      <a:r>
                        <a:rPr lang="he-IL" sz="1400" b="0">
                          <a:solidFill>
                            <a:srgbClr val="333F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≥ 70%</a:t>
                      </a:r>
                    </a:p>
                  </a:txBody>
                  <a:tcPr marL="73152" marR="73152" marT="36576" marB="36576" anchor="ctr">
                    <a:solidFill>
                      <a:srgbClr val="F3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 marL="0" indent="0">
                        <a:buNone/>
                      </a:pPr>
                      <a:r>
                        <a:rPr lang="he-IL" sz="1400" b="0">
                          <a:solidFill>
                            <a:srgbClr val="333F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≥ 50%</a:t>
                      </a:r>
                    </a:p>
                  </a:txBody>
                  <a:tcPr marL="73152" marR="73152" marT="36576" marB="36576" anchor="ctr">
                    <a:solidFill>
                      <a:srgbClr val="F3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 marL="0" indent="0">
                        <a:buNone/>
                      </a:pPr>
                      <a:r>
                        <a:rPr lang="he-IL" sz="1400" b="1">
                          <a:solidFill>
                            <a:srgbClr val="333F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סוג B</a:t>
                      </a:r>
                    </a:p>
                  </a:txBody>
                  <a:tcPr marL="73152" marR="73152" marT="36576" marB="36576" anchor="ctr">
                    <a:solidFill>
                      <a:srgbClr val="EAF3FA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22960" y="2880360"/>
            <a:ext cx="10652760" cy="365760"/>
          </a:xfrm>
          <a:prstGeom prst="rect">
            <a:avLst/>
          </a:prstGeom>
          <a:noFill/>
        </p:spPr>
        <p:txBody>
          <a:bodyPr wrap="square" lIns="0" rIns="0" tIns="0" bIns="0" anchor="t" rtlCol="1">
            <a:spAutoFit/>
          </a:bodyPr>
          <a:lstStyle/>
          <a:p>
            <a:pPr algn="r" rtl="1" marL="0" indent="0">
              <a:spcAft>
                <a:spcPts val="400"/>
              </a:spcAft>
              <a:buNone/>
            </a:pPr>
            <a:r>
              <a:rPr lang="he-IL" sz="1600" b="1">
                <a:solidFill>
                  <a:srgbClr val="003973"/>
                </a:solidFill>
                <a:latin typeface="Arial Unicode MS"/>
                <a:ea typeface="Arial Unicode MS"/>
                <a:cs typeface="Arial Unicode MS"/>
              </a:rPr>
              <a:t>שיעור החלפה מרבי של האגרגט הגס לפי דרגת החשיפה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22960" y="3291840"/>
          <a:ext cx="10652760" cy="1353312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828800"/>
                <a:gridCol w="3337560"/>
                <a:gridCol w="2194560"/>
                <a:gridCol w="1828800"/>
                <a:gridCol w="1463040"/>
              </a:tblGrid>
              <a:tr h="438912">
                <a:tc>
                  <a:txBody>
                    <a:bodyPr wrap="square"/>
                    <a:lstStyle/>
                    <a:p>
                      <a:pPr algn="ctr" rtl="1" marL="0" indent="0">
                        <a:buNone/>
                      </a:pPr>
                      <a:r>
                        <a:rPr lang="he-IL" sz="150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כל השאר</a:t>
                      </a:r>
                    </a:p>
                  </a:txBody>
                  <a:tcPr marL="73152" marR="73152" marT="36576" marB="36576" anchor="ctr">
                    <a:solidFill>
                      <a:srgbClr val="0081C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 marL="0" indent="0">
                        <a:buNone/>
                      </a:pPr>
                      <a:r>
                        <a:rPr lang="he-IL" sz="150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XC3, XC4, XF1, XA1, XD1</a:t>
                      </a:r>
                    </a:p>
                  </a:txBody>
                  <a:tcPr marL="73152" marR="73152" marT="36576" marB="36576" anchor="ctr">
                    <a:solidFill>
                      <a:srgbClr val="0081C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 marL="0" indent="0">
                        <a:buNone/>
                      </a:pPr>
                      <a:r>
                        <a:rPr lang="he-IL" sz="150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XC1, XC2</a:t>
                      </a:r>
                    </a:p>
                  </a:txBody>
                  <a:tcPr marL="73152" marR="73152" marT="36576" marB="36576" anchor="ctr">
                    <a:solidFill>
                      <a:srgbClr val="0081C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 marL="0" indent="0">
                        <a:buNone/>
                      </a:pPr>
                      <a:r>
                        <a:rPr lang="he-IL" sz="150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X0</a:t>
                      </a:r>
                    </a:p>
                  </a:txBody>
                  <a:tcPr marL="73152" marR="73152" marT="36576" marB="36576" anchor="ctr">
                    <a:solidFill>
                      <a:srgbClr val="0081C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 marL="0" indent="0">
                        <a:buNone/>
                      </a:pPr>
                      <a:r>
                        <a:rPr lang="he-IL" sz="150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סוג</a:t>
                      </a:r>
                    </a:p>
                  </a:txBody>
                  <a:tcPr marL="73152" marR="73152" marT="36576" marB="36576" anchor="ctr">
                    <a:solidFill>
                      <a:srgbClr val="0081C8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ctr" rtl="1" marL="0" indent="0">
                        <a:buNone/>
                      </a:pPr>
                      <a:r>
                        <a:rPr lang="he-IL" sz="1500" b="0">
                          <a:solidFill>
                            <a:srgbClr val="333F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0%</a:t>
                      </a:r>
                    </a:p>
                  </a:txBody>
                  <a:tcPr marL="73152" marR="73152" marT="36576" marB="36576" anchor="ctr">
                    <a:solidFill>
                      <a:srgbClr val="FBE9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 marL="0" indent="0">
                        <a:buNone/>
                      </a:pPr>
                      <a:r>
                        <a:rPr lang="he-IL" sz="1500" b="0">
                          <a:solidFill>
                            <a:srgbClr val="333F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30%</a:t>
                      </a:r>
                    </a:p>
                  </a:txBody>
                  <a:tcPr marL="73152" marR="73152" marT="36576" marB="36576" anchor="ctr">
                    <a:solidFill>
                      <a:srgbClr val="FFF2D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 marL="0" indent="0">
                        <a:buNone/>
                      </a:pPr>
                      <a:r>
                        <a:rPr lang="he-IL" sz="1500" b="0">
                          <a:solidFill>
                            <a:srgbClr val="333F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30%</a:t>
                      </a:r>
                    </a:p>
                  </a:txBody>
                  <a:tcPr marL="73152" marR="73152" marT="36576" marB="36576" anchor="ctr">
                    <a:solidFill>
                      <a:srgbClr val="FFF2D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 marL="0" indent="0">
                        <a:buNone/>
                      </a:pPr>
                      <a:r>
                        <a:rPr lang="he-IL" sz="1500" b="0">
                          <a:solidFill>
                            <a:srgbClr val="333F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50%</a:t>
                      </a:r>
                    </a:p>
                  </a:txBody>
                  <a:tcPr marL="73152" marR="73152" marT="36576" marB="36576" anchor="ctr">
                    <a:solidFill>
                      <a:srgbClr val="E8F3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 marL="0" indent="0">
                        <a:buNone/>
                      </a:pPr>
                      <a:r>
                        <a:rPr lang="he-IL" sz="1500" b="1">
                          <a:solidFill>
                            <a:srgbClr val="333F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סוג A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ctr" rtl="1" marL="0" indent="0">
                        <a:buNone/>
                      </a:pPr>
                      <a:r>
                        <a:rPr lang="he-IL" sz="1500" b="0">
                          <a:solidFill>
                            <a:srgbClr val="333F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0%</a:t>
                      </a:r>
                    </a:p>
                  </a:txBody>
                  <a:tcPr marL="73152" marR="73152" marT="36576" marB="36576" anchor="ctr">
                    <a:solidFill>
                      <a:srgbClr val="FBE9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 marL="0" indent="0">
                        <a:buNone/>
                      </a:pPr>
                      <a:r>
                        <a:rPr lang="he-IL" sz="1500" b="0">
                          <a:solidFill>
                            <a:srgbClr val="333F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0%</a:t>
                      </a:r>
                    </a:p>
                  </a:txBody>
                  <a:tcPr marL="73152" marR="73152" marT="36576" marB="36576" anchor="ctr">
                    <a:solidFill>
                      <a:srgbClr val="FBE9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 marL="0" indent="0">
                        <a:buNone/>
                      </a:pPr>
                      <a:r>
                        <a:rPr lang="he-IL" sz="1500" b="0">
                          <a:solidFill>
                            <a:srgbClr val="333F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20%</a:t>
                      </a:r>
                    </a:p>
                  </a:txBody>
                  <a:tcPr marL="73152" marR="73152" marT="36576" marB="36576" anchor="ctr">
                    <a:solidFill>
                      <a:srgbClr val="FFF2D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 marL="0" indent="0">
                        <a:buNone/>
                      </a:pPr>
                      <a:r>
                        <a:rPr lang="he-IL" sz="1500" b="0">
                          <a:solidFill>
                            <a:srgbClr val="333F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50%</a:t>
                      </a:r>
                    </a:p>
                  </a:txBody>
                  <a:tcPr marL="73152" marR="73152" marT="36576" marB="36576" anchor="ctr">
                    <a:solidFill>
                      <a:srgbClr val="E8F3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 marL="0" indent="0">
                        <a:buNone/>
                      </a:pPr>
                      <a:r>
                        <a:rPr lang="he-IL" sz="1500" b="1">
                          <a:solidFill>
                            <a:srgbClr val="333F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סוג B</a:t>
                      </a:r>
                    </a:p>
                  </a:txBody>
                  <a:tcPr marL="73152" marR="73152" marT="36576" marB="36576" anchor="ctr">
                    <a:solidFill>
                      <a:srgbClr val="F3F5F7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22960" y="4709160"/>
            <a:ext cx="10652760" cy="274320"/>
          </a:xfrm>
          <a:prstGeom prst="rect">
            <a:avLst/>
          </a:prstGeom>
          <a:noFill/>
        </p:spPr>
        <p:txBody>
          <a:bodyPr wrap="square" lIns="0" rIns="0" tIns="0" bIns="0" anchor="t" rtlCol="1">
            <a:spAutoFit/>
          </a:bodyPr>
          <a:lstStyle/>
          <a:p>
            <a:pPr algn="r" rtl="1" marL="0" indent="0">
              <a:spcAft>
                <a:spcPts val="400"/>
              </a:spcAft>
              <a:buNone/>
            </a:pPr>
            <a:r>
              <a:rPr lang="he-IL" sz="1100" b="0">
                <a:solidFill>
                  <a:srgbClr val="5F6B76"/>
                </a:solidFill>
                <a:latin typeface="Arial Unicode MS"/>
                <a:ea typeface="Arial Unicode MS"/>
                <a:cs typeface="Arial Unicode MS"/>
              </a:rPr>
              <a:t>Rc בטון · Rcu בטון + אבן טבעית · Rb לבנים · Ra אספלט · X + Rg זיהומים וזכוכית · FL חומר צף (סמ"ק/ק"ג). אגרגט ממוחזר דק (&lt; 4 מ"מ) — לרוב לא מומלץ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5166360"/>
            <a:ext cx="8183879" cy="640080"/>
          </a:xfrm>
          <a:prstGeom prst="roundRect">
            <a:avLst>
              <a:gd name="adj" fmla="val 8000"/>
            </a:avLst>
          </a:prstGeom>
          <a:solidFill>
            <a:srgbClr val="00397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394192" y="5257800"/>
            <a:ext cx="457200" cy="457200"/>
          </a:xfrm>
          <a:prstGeom prst="ellipse">
            <a:avLst/>
          </a:prstGeom>
          <a:solidFill>
            <a:srgbClr val="C4D8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0" name="Picture 9" descr="FaBook_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3919" y="5367528"/>
            <a:ext cx="237744" cy="23774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051560" y="5166360"/>
            <a:ext cx="7269479" cy="640080"/>
          </a:xfrm>
          <a:prstGeom prst="rect">
            <a:avLst/>
          </a:prstGeom>
          <a:noFill/>
        </p:spPr>
        <p:txBody>
          <a:bodyPr wrap="square" lIns="0" rIns="0" tIns="0" bIns="0" anchor="ctr" rtlCol="1">
            <a:spAutoFit/>
          </a:bodyPr>
          <a:lstStyle/>
          <a:p>
            <a:pPr algn="r" rtl="1" marL="0" indent="0">
              <a:spcAft>
                <a:spcPts val="400"/>
              </a:spcAft>
              <a:buNone/>
            </a:pPr>
            <a:r>
              <a:rPr lang="he-IL" sz="17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המגבלות לפי EN 206 נספח E — לוודא מול ת"י 3, ת"י 118 והמפרט לפני שימוש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>
                <a:latin typeface="Arial Unicode MS"/>
                <a:ea typeface="Arial Unicode MS"/>
                <a:cs typeface="Arial Unicode MS"/>
              </a:rPr>
              <a:t>מטריצת החלטה: מתי מותר להשתמש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822960" y="1097280"/>
          <a:ext cx="10652760" cy="308152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325880"/>
                <a:gridCol w="1143000"/>
                <a:gridCol w="1417320"/>
                <a:gridCol w="1600200"/>
                <a:gridCol w="1417320"/>
                <a:gridCol w="1325880"/>
                <a:gridCol w="2423160"/>
              </a:tblGrid>
              <a:tr h="566928">
                <a:tc>
                  <a:txBody>
                    <a:bodyPr wrap="square"/>
                    <a:lstStyle/>
                    <a:p>
                      <a:pPr algn="ctr" rtl="1" marL="0" indent="0">
                        <a:buNone/>
                      </a:pPr>
                      <a:r>
                        <a:rPr lang="he-IL" sz="120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חוזק גבוה / SCC</a:t>
                      </a:r>
                    </a:p>
                  </a:txBody>
                  <a:tcPr marL="73152" marR="73152" marT="36576" marB="36576" anchor="ctr">
                    <a:solidFill>
                      <a:srgbClr val="0081C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 marL="0" indent="0">
                        <a:buNone/>
                      </a:pPr>
                      <a:r>
                        <a:rPr lang="he-IL" sz="120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אדריכלי חשוף</a:t>
                      </a:r>
                    </a:p>
                  </a:txBody>
                  <a:tcPr marL="73152" marR="73152" marT="36576" marB="36576" anchor="ctr">
                    <a:solidFill>
                      <a:srgbClr val="0081C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 marL="0" indent="0">
                        <a:buNone/>
                      </a:pPr>
                      <a:r>
                        <a:rPr lang="he-IL" sz="120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דרוך / טרום דרוך</a:t>
                      </a:r>
                    </a:p>
                  </a:txBody>
                  <a:tcPr marL="73152" marR="73152" marT="36576" marB="36576" anchor="ctr">
                    <a:solidFill>
                      <a:srgbClr val="0081C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 marL="0" indent="0">
                        <a:buNone/>
                      </a:pPr>
                      <a:r>
                        <a:rPr lang="he-IL" sz="120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חשיפה קשה (ימי, כימי)</a:t>
                      </a:r>
                    </a:p>
                  </a:txBody>
                  <a:tcPr marL="73152" marR="73152" marT="36576" marB="36576" anchor="ctr">
                    <a:solidFill>
                      <a:srgbClr val="0081C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 marL="0" indent="0">
                        <a:buNone/>
                      </a:pPr>
                      <a:r>
                        <a:rPr lang="he-IL" sz="120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מזוין, חשיפה מתונה</a:t>
                      </a:r>
                    </a:p>
                  </a:txBody>
                  <a:tcPr marL="73152" marR="73152" marT="36576" marB="36576" anchor="ctr">
                    <a:solidFill>
                      <a:srgbClr val="0081C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 marL="0" indent="0">
                        <a:buNone/>
                      </a:pPr>
                      <a:r>
                        <a:rPr lang="he-IL" sz="120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בטון רגיל / רזה</a:t>
                      </a:r>
                    </a:p>
                  </a:txBody>
                  <a:tcPr marL="73152" marR="73152" marT="36576" marB="36576" anchor="ctr">
                    <a:solidFill>
                      <a:srgbClr val="0081C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 marL="0" indent="0">
                        <a:buNone/>
                      </a:pPr>
                      <a:r>
                        <a:rPr lang="he-IL" sz="120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חומר</a:t>
                      </a:r>
                    </a:p>
                  </a:txBody>
                  <a:tcPr marL="73152" marR="73152" marT="36576" marB="36576" anchor="ctr">
                    <a:solidFill>
                      <a:srgbClr val="0081C8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ctr" rtl="1" marL="0" indent="0">
                        <a:buNone/>
                      </a:pPr>
                      <a:r>
                        <a:rPr lang="he-IL" sz="1200" b="0">
                          <a:solidFill>
                            <a:srgbClr val="333F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בתנאים</a:t>
                      </a:r>
                    </a:p>
                  </a:txBody>
                  <a:tcPr marL="73152" marR="73152" marT="36576" marB="36576" anchor="ctr">
                    <a:solidFill>
                      <a:srgbClr val="FFF2D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 marL="0" indent="0">
                        <a:buNone/>
                      </a:pPr>
                      <a:r>
                        <a:rPr lang="he-IL" sz="1200" b="0">
                          <a:solidFill>
                            <a:srgbClr val="333F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לא מומלץ</a:t>
                      </a:r>
                    </a:p>
                  </a:txBody>
                  <a:tcPr marL="73152" marR="73152" marT="36576" marB="36576" anchor="ctr">
                    <a:solidFill>
                      <a:srgbClr val="FBE9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 marL="0" indent="0">
                        <a:buNone/>
                      </a:pPr>
                      <a:r>
                        <a:rPr lang="he-IL" sz="1200" b="0">
                          <a:solidFill>
                            <a:srgbClr val="333F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בתנאים: Cl ≤ 500</a:t>
                      </a:r>
                    </a:p>
                  </a:txBody>
                  <a:tcPr marL="73152" marR="73152" marT="36576" marB="36576" anchor="ctr">
                    <a:solidFill>
                      <a:srgbClr val="FFF2D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 marL="0" indent="0">
                        <a:buNone/>
                      </a:pPr>
                      <a:r>
                        <a:rPr lang="he-IL" sz="1200" b="0">
                          <a:solidFill>
                            <a:srgbClr val="333F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בתנאים: כלורידים</a:t>
                      </a:r>
                    </a:p>
                  </a:txBody>
                  <a:tcPr marL="73152" marR="73152" marT="36576" marB="36576" anchor="ctr">
                    <a:solidFill>
                      <a:srgbClr val="FFF2D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 marL="0" indent="0">
                        <a:buNone/>
                      </a:pPr>
                      <a:r>
                        <a:rPr lang="he-IL" sz="1200" b="0">
                          <a:solidFill>
                            <a:srgbClr val="333F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מותר</a:t>
                      </a:r>
                    </a:p>
                  </a:txBody>
                  <a:tcPr marL="73152" marR="73152" marT="36576" marB="36576" anchor="ctr">
                    <a:solidFill>
                      <a:srgbClr val="E8F3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 marL="0" indent="0">
                        <a:buNone/>
                      </a:pPr>
                      <a:r>
                        <a:rPr lang="he-IL" sz="1200" b="0">
                          <a:solidFill>
                            <a:srgbClr val="333F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מותר</a:t>
                      </a:r>
                    </a:p>
                  </a:txBody>
                  <a:tcPr marL="73152" marR="73152" marT="36576" marB="36576" anchor="ctr">
                    <a:solidFill>
                      <a:srgbClr val="E8F3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 marL="0" indent="0">
                        <a:buNone/>
                      </a:pPr>
                      <a:r>
                        <a:rPr lang="he-IL" sz="1200" b="1">
                          <a:solidFill>
                            <a:srgbClr val="333F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מים ממוחזרים (מוצקים ≤ 1%)</a:t>
                      </a:r>
                    </a:p>
                  </a:txBody>
                  <a:tcPr marL="73152" marR="73152" marT="36576" marB="36576" anchor="ctr">
                    <a:solidFill>
                      <a:srgbClr val="EAF3FA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ctr" rtl="1" marL="0" indent="0">
                        <a:buNone/>
                      </a:pPr>
                      <a:r>
                        <a:rPr lang="he-IL" sz="1200" b="0">
                          <a:solidFill>
                            <a:srgbClr val="333F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בתנאים</a:t>
                      </a:r>
                    </a:p>
                  </a:txBody>
                  <a:tcPr marL="73152" marR="73152" marT="36576" marB="36576" anchor="ctr">
                    <a:solidFill>
                      <a:srgbClr val="FFF2D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 marL="0" indent="0">
                        <a:buNone/>
                      </a:pPr>
                      <a:r>
                        <a:rPr lang="he-IL" sz="1200" b="0">
                          <a:solidFill>
                            <a:srgbClr val="333F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בתנאים</a:t>
                      </a:r>
                    </a:p>
                  </a:txBody>
                  <a:tcPr marL="73152" marR="73152" marT="36576" marB="36576" anchor="ctr">
                    <a:solidFill>
                      <a:srgbClr val="FFF2D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 marL="0" indent="0">
                        <a:buNone/>
                      </a:pPr>
                      <a:r>
                        <a:rPr lang="he-IL" sz="1200" b="0">
                          <a:solidFill>
                            <a:srgbClr val="333F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בתנאים</a:t>
                      </a:r>
                    </a:p>
                  </a:txBody>
                  <a:tcPr marL="73152" marR="73152" marT="36576" marB="36576" anchor="ctr">
                    <a:solidFill>
                      <a:srgbClr val="FFF2D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 marL="0" indent="0">
                        <a:buNone/>
                      </a:pPr>
                      <a:r>
                        <a:rPr lang="he-IL" sz="1200" b="0">
                          <a:solidFill>
                            <a:srgbClr val="333F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בתנאים</a:t>
                      </a:r>
                    </a:p>
                  </a:txBody>
                  <a:tcPr marL="73152" marR="73152" marT="36576" marB="36576" anchor="ctr">
                    <a:solidFill>
                      <a:srgbClr val="FFF2D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 marL="0" indent="0">
                        <a:buNone/>
                      </a:pPr>
                      <a:r>
                        <a:rPr lang="he-IL" sz="1200" b="0">
                          <a:solidFill>
                            <a:srgbClr val="333F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מותר</a:t>
                      </a:r>
                    </a:p>
                  </a:txBody>
                  <a:tcPr marL="73152" marR="73152" marT="36576" marB="36576" anchor="ctr">
                    <a:solidFill>
                      <a:srgbClr val="E8F3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 marL="0" indent="0">
                        <a:buNone/>
                      </a:pPr>
                      <a:r>
                        <a:rPr lang="he-IL" sz="1200" b="0">
                          <a:solidFill>
                            <a:srgbClr val="333F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מותר</a:t>
                      </a:r>
                    </a:p>
                  </a:txBody>
                  <a:tcPr marL="73152" marR="73152" marT="36576" marB="36576" anchor="ctr">
                    <a:solidFill>
                      <a:srgbClr val="E8F3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 marL="0" indent="0">
                        <a:buNone/>
                      </a:pPr>
                      <a:r>
                        <a:rPr lang="he-IL" sz="1200" b="1">
                          <a:solidFill>
                            <a:srgbClr val="333F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אגרגט שטוף ממפריד</a:t>
                      </a:r>
                    </a:p>
                  </a:txBody>
                  <a:tcPr marL="73152" marR="73152" marT="36576" marB="36576" anchor="ctr">
                    <a:solidFill>
                      <a:srgbClr val="EAF3FA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ctr" rtl="1" marL="0" indent="0">
                        <a:buNone/>
                      </a:pPr>
                      <a:r>
                        <a:rPr lang="he-IL" sz="1200" b="0">
                          <a:solidFill>
                            <a:srgbClr val="333F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לא</a:t>
                      </a:r>
                    </a:p>
                  </a:txBody>
                  <a:tcPr marL="73152" marR="73152" marT="36576" marB="36576" anchor="ctr">
                    <a:solidFill>
                      <a:srgbClr val="FBE9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 marL="0" indent="0">
                        <a:buNone/>
                      </a:pPr>
                      <a:r>
                        <a:rPr lang="he-IL" sz="1200" b="0">
                          <a:solidFill>
                            <a:srgbClr val="333F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לא</a:t>
                      </a:r>
                    </a:p>
                  </a:txBody>
                  <a:tcPr marL="73152" marR="73152" marT="36576" marB="36576" anchor="ctr">
                    <a:solidFill>
                      <a:srgbClr val="FBE9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 marL="0" indent="0">
                        <a:buNone/>
                      </a:pPr>
                      <a:r>
                        <a:rPr lang="he-IL" sz="1200" b="0">
                          <a:solidFill>
                            <a:srgbClr val="333F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לא</a:t>
                      </a:r>
                    </a:p>
                  </a:txBody>
                  <a:tcPr marL="73152" marR="73152" marT="36576" marB="36576" anchor="ctr">
                    <a:solidFill>
                      <a:srgbClr val="FBE9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 marL="0" indent="0">
                        <a:buNone/>
                      </a:pPr>
                      <a:r>
                        <a:rPr lang="he-IL" sz="1200" b="0">
                          <a:solidFill>
                            <a:srgbClr val="333F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לא</a:t>
                      </a:r>
                    </a:p>
                  </a:txBody>
                  <a:tcPr marL="73152" marR="73152" marT="36576" marB="36576" anchor="ctr">
                    <a:solidFill>
                      <a:srgbClr val="FBE9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 marL="0" indent="0">
                        <a:buNone/>
                      </a:pPr>
                      <a:r>
                        <a:rPr lang="he-IL" sz="1200" b="0">
                          <a:solidFill>
                            <a:srgbClr val="333F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בתנאים</a:t>
                      </a:r>
                    </a:p>
                  </a:txBody>
                  <a:tcPr marL="73152" marR="73152" marT="36576" marB="36576" anchor="ctr">
                    <a:solidFill>
                      <a:srgbClr val="FFF2D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 marL="0" indent="0">
                        <a:buNone/>
                      </a:pPr>
                      <a:r>
                        <a:rPr lang="he-IL" sz="1200" b="0">
                          <a:solidFill>
                            <a:srgbClr val="333F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בתנאים</a:t>
                      </a:r>
                    </a:p>
                  </a:txBody>
                  <a:tcPr marL="73152" marR="73152" marT="36576" marB="36576" anchor="ctr">
                    <a:solidFill>
                      <a:srgbClr val="FFF2D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 marL="0" indent="0">
                        <a:buNone/>
                      </a:pPr>
                      <a:r>
                        <a:rPr lang="he-IL" sz="1200" b="1">
                          <a:solidFill>
                            <a:srgbClr val="333F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בטון חוזר מיוצב</a:t>
                      </a:r>
                    </a:p>
                  </a:txBody>
                  <a:tcPr marL="73152" marR="73152" marT="36576" marB="36576" anchor="ctr">
                    <a:solidFill>
                      <a:srgbClr val="EAF3FA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ctr" rtl="1" marL="0" indent="0">
                        <a:buNone/>
                      </a:pPr>
                      <a:r>
                        <a:rPr lang="he-IL" sz="1200" b="0">
                          <a:solidFill>
                            <a:srgbClr val="333F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לא</a:t>
                      </a:r>
                    </a:p>
                  </a:txBody>
                  <a:tcPr marL="73152" marR="73152" marT="36576" marB="36576" anchor="ctr">
                    <a:solidFill>
                      <a:srgbClr val="FBE9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 marL="0" indent="0">
                        <a:buNone/>
                      </a:pPr>
                      <a:r>
                        <a:rPr lang="he-IL" sz="1200" b="0">
                          <a:solidFill>
                            <a:srgbClr val="333F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לא</a:t>
                      </a:r>
                    </a:p>
                  </a:txBody>
                  <a:tcPr marL="73152" marR="73152" marT="36576" marB="36576" anchor="ctr">
                    <a:solidFill>
                      <a:srgbClr val="FBE9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 marL="0" indent="0">
                        <a:buNone/>
                      </a:pPr>
                      <a:r>
                        <a:rPr lang="he-IL" sz="1200" b="0">
                          <a:solidFill>
                            <a:srgbClr val="333F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לא</a:t>
                      </a:r>
                    </a:p>
                  </a:txBody>
                  <a:tcPr marL="73152" marR="73152" marT="36576" marB="36576" anchor="ctr">
                    <a:solidFill>
                      <a:srgbClr val="FBE9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 marL="0" indent="0">
                        <a:buNone/>
                      </a:pPr>
                      <a:r>
                        <a:rPr lang="he-IL" sz="1200" b="0">
                          <a:solidFill>
                            <a:srgbClr val="333F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לא (XD1/XA1: 30%)</a:t>
                      </a:r>
                    </a:p>
                  </a:txBody>
                  <a:tcPr marL="73152" marR="73152" marT="36576" marB="36576" anchor="ctr">
                    <a:solidFill>
                      <a:srgbClr val="FBE9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 marL="0" indent="0">
                        <a:buNone/>
                      </a:pPr>
                      <a:r>
                        <a:rPr lang="he-IL" sz="1200" b="0">
                          <a:solidFill>
                            <a:srgbClr val="333F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עד 30%</a:t>
                      </a:r>
                    </a:p>
                  </a:txBody>
                  <a:tcPr marL="73152" marR="73152" marT="36576" marB="36576" anchor="ctr">
                    <a:solidFill>
                      <a:srgbClr val="FFF2D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 marL="0" indent="0">
                        <a:buNone/>
                      </a:pPr>
                      <a:r>
                        <a:rPr lang="he-IL" sz="1200" b="0">
                          <a:solidFill>
                            <a:srgbClr val="333F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עד 50%</a:t>
                      </a:r>
                    </a:p>
                  </a:txBody>
                  <a:tcPr marL="73152" marR="73152" marT="36576" marB="36576" anchor="ctr">
                    <a:solidFill>
                      <a:srgbClr val="FFF2D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 marL="0" indent="0">
                        <a:buNone/>
                      </a:pPr>
                      <a:r>
                        <a:rPr lang="he-IL" sz="1200" b="1">
                          <a:solidFill>
                            <a:srgbClr val="333F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אגרגט ממוחזר סוג A</a:t>
                      </a:r>
                    </a:p>
                  </a:txBody>
                  <a:tcPr marL="73152" marR="73152" marT="36576" marB="36576" anchor="ctr">
                    <a:solidFill>
                      <a:srgbClr val="EAF3FA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ctr" rtl="1" marL="0" indent="0">
                        <a:buNone/>
                      </a:pPr>
                      <a:r>
                        <a:rPr lang="he-IL" sz="1200" b="0">
                          <a:solidFill>
                            <a:srgbClr val="333F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לא</a:t>
                      </a:r>
                    </a:p>
                  </a:txBody>
                  <a:tcPr marL="73152" marR="73152" marT="36576" marB="36576" anchor="ctr">
                    <a:solidFill>
                      <a:srgbClr val="FBE9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 marL="0" indent="0">
                        <a:buNone/>
                      </a:pPr>
                      <a:r>
                        <a:rPr lang="he-IL" sz="1200" b="0">
                          <a:solidFill>
                            <a:srgbClr val="333F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לא</a:t>
                      </a:r>
                    </a:p>
                  </a:txBody>
                  <a:tcPr marL="73152" marR="73152" marT="36576" marB="36576" anchor="ctr">
                    <a:solidFill>
                      <a:srgbClr val="FBE9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 marL="0" indent="0">
                        <a:buNone/>
                      </a:pPr>
                      <a:r>
                        <a:rPr lang="he-IL" sz="1200" b="0">
                          <a:solidFill>
                            <a:srgbClr val="333F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לא</a:t>
                      </a:r>
                    </a:p>
                  </a:txBody>
                  <a:tcPr marL="73152" marR="73152" marT="36576" marB="36576" anchor="ctr">
                    <a:solidFill>
                      <a:srgbClr val="FBE9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 marL="0" indent="0">
                        <a:buNone/>
                      </a:pPr>
                      <a:r>
                        <a:rPr lang="he-IL" sz="1200" b="0">
                          <a:solidFill>
                            <a:srgbClr val="333F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לא</a:t>
                      </a:r>
                    </a:p>
                  </a:txBody>
                  <a:tcPr marL="73152" marR="73152" marT="36576" marB="36576" anchor="ctr">
                    <a:solidFill>
                      <a:srgbClr val="FBE9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 marL="0" indent="0">
                        <a:buNone/>
                      </a:pPr>
                      <a:r>
                        <a:rPr lang="he-IL" sz="1200" b="0">
                          <a:solidFill>
                            <a:srgbClr val="333F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עד 20%</a:t>
                      </a:r>
                    </a:p>
                  </a:txBody>
                  <a:tcPr marL="73152" marR="73152" marT="36576" marB="36576" anchor="ctr">
                    <a:solidFill>
                      <a:srgbClr val="FFF2D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 marL="0" indent="0">
                        <a:buNone/>
                      </a:pPr>
                      <a:r>
                        <a:rPr lang="he-IL" sz="1200" b="0">
                          <a:solidFill>
                            <a:srgbClr val="333F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עד 50%</a:t>
                      </a:r>
                    </a:p>
                  </a:txBody>
                  <a:tcPr marL="73152" marR="73152" marT="36576" marB="36576" anchor="ctr">
                    <a:solidFill>
                      <a:srgbClr val="FFF2D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 marL="0" indent="0">
                        <a:buNone/>
                      </a:pPr>
                      <a:r>
                        <a:rPr lang="he-IL" sz="1200" b="1">
                          <a:solidFill>
                            <a:srgbClr val="333F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אגרגט ממוחזר סוג B</a:t>
                      </a:r>
                    </a:p>
                  </a:txBody>
                  <a:tcPr marL="73152" marR="73152" marT="36576" marB="36576" anchor="ctr">
                    <a:solidFill>
                      <a:srgbClr val="EAF3FA"/>
                    </a:solidFill>
                  </a:tcPr>
                </a:tc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11064240" y="4434840"/>
            <a:ext cx="320040" cy="274320"/>
          </a:xfrm>
          <a:prstGeom prst="rect">
            <a:avLst/>
          </a:prstGeom>
          <a:solidFill>
            <a:srgbClr val="E8F3E9"/>
          </a:solidFill>
          <a:ln w="9525">
            <a:solidFill>
              <a:srgbClr val="A3B1B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98280" y="4416552"/>
            <a:ext cx="1874519" cy="320040"/>
          </a:xfrm>
          <a:prstGeom prst="rect">
            <a:avLst/>
          </a:prstGeom>
          <a:noFill/>
        </p:spPr>
        <p:txBody>
          <a:bodyPr wrap="square" lIns="0" rIns="0" tIns="0" bIns="0" anchor="t" rtlCol="1">
            <a:spAutoFit/>
          </a:bodyPr>
          <a:lstStyle/>
          <a:p>
            <a:pPr algn="r" rtl="1" marL="0" indent="0">
              <a:spcAft>
                <a:spcPts val="400"/>
              </a:spcAft>
              <a:buNone/>
            </a:pPr>
            <a:r>
              <a:rPr lang="he-IL" sz="1300" b="0">
                <a:solidFill>
                  <a:srgbClr val="333F4A"/>
                </a:solidFill>
                <a:latin typeface="Arial Unicode MS"/>
                <a:ea typeface="Arial Unicode MS"/>
                <a:cs typeface="Arial Unicode MS"/>
              </a:rPr>
              <a:t>מותר בבקרה רגילה</a:t>
            </a:r>
          </a:p>
        </p:txBody>
      </p:sp>
      <p:sp>
        <p:nvSpPr>
          <p:cNvPr id="6" name="Rectangle 5"/>
          <p:cNvSpPr/>
          <p:nvPr/>
        </p:nvSpPr>
        <p:spPr>
          <a:xfrm>
            <a:off x="8686800" y="4434840"/>
            <a:ext cx="320040" cy="274320"/>
          </a:xfrm>
          <a:prstGeom prst="rect">
            <a:avLst/>
          </a:prstGeom>
          <a:solidFill>
            <a:srgbClr val="FFF2DC"/>
          </a:solidFill>
          <a:ln w="9525">
            <a:solidFill>
              <a:srgbClr val="A3B1B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20840" y="4416552"/>
            <a:ext cx="1874519" cy="320040"/>
          </a:xfrm>
          <a:prstGeom prst="rect">
            <a:avLst/>
          </a:prstGeom>
          <a:noFill/>
        </p:spPr>
        <p:txBody>
          <a:bodyPr wrap="square" lIns="0" rIns="0" tIns="0" bIns="0" anchor="t" rtlCol="1">
            <a:spAutoFit/>
          </a:bodyPr>
          <a:lstStyle/>
          <a:p>
            <a:pPr algn="r" rtl="1" marL="0" indent="0">
              <a:spcAft>
                <a:spcPts val="400"/>
              </a:spcAft>
              <a:buNone/>
            </a:pPr>
            <a:r>
              <a:rPr lang="he-IL" sz="1300" b="0">
                <a:solidFill>
                  <a:srgbClr val="333F4A"/>
                </a:solidFill>
                <a:latin typeface="Arial Unicode MS"/>
                <a:ea typeface="Arial Unicode MS"/>
                <a:cs typeface="Arial Unicode MS"/>
              </a:rPr>
              <a:t>בתנאים / עם מגבלה</a:t>
            </a:r>
          </a:p>
        </p:txBody>
      </p:sp>
      <p:sp>
        <p:nvSpPr>
          <p:cNvPr id="8" name="Rectangle 7"/>
          <p:cNvSpPr/>
          <p:nvPr/>
        </p:nvSpPr>
        <p:spPr>
          <a:xfrm>
            <a:off x="6309360" y="4434840"/>
            <a:ext cx="320040" cy="274320"/>
          </a:xfrm>
          <a:prstGeom prst="rect">
            <a:avLst/>
          </a:prstGeom>
          <a:solidFill>
            <a:srgbClr val="FBE9E9"/>
          </a:solidFill>
          <a:ln w="9525">
            <a:solidFill>
              <a:srgbClr val="A3B1B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43400" y="4416552"/>
            <a:ext cx="1874519" cy="320040"/>
          </a:xfrm>
          <a:prstGeom prst="rect">
            <a:avLst/>
          </a:prstGeom>
          <a:noFill/>
        </p:spPr>
        <p:txBody>
          <a:bodyPr wrap="square" lIns="0" rIns="0" tIns="0" bIns="0" anchor="t" rtlCol="1">
            <a:spAutoFit/>
          </a:bodyPr>
          <a:lstStyle/>
          <a:p>
            <a:pPr algn="r" rtl="1" marL="0" indent="0">
              <a:spcAft>
                <a:spcPts val="400"/>
              </a:spcAft>
              <a:buNone/>
            </a:pPr>
            <a:r>
              <a:rPr lang="he-IL" sz="1300" b="0">
                <a:solidFill>
                  <a:srgbClr val="333F4A"/>
                </a:solidFill>
                <a:latin typeface="Arial Unicode MS"/>
                <a:ea typeface="Arial Unicode MS"/>
                <a:cs typeface="Arial Unicode MS"/>
              </a:rPr>
              <a:t>לא מומלץ / אסור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846320"/>
            <a:ext cx="10652760" cy="274320"/>
          </a:xfrm>
          <a:prstGeom prst="rect">
            <a:avLst/>
          </a:prstGeom>
          <a:noFill/>
        </p:spPr>
        <p:txBody>
          <a:bodyPr wrap="square" lIns="0" rIns="0" tIns="0" bIns="0" anchor="t" rtlCol="1">
            <a:spAutoFit/>
          </a:bodyPr>
          <a:lstStyle/>
          <a:p>
            <a:pPr algn="r" rtl="1" marL="0" indent="0">
              <a:spcAft>
                <a:spcPts val="400"/>
              </a:spcAft>
              <a:buNone/>
            </a:pPr>
            <a:r>
              <a:rPr lang="he-IL" sz="1100" b="0">
                <a:solidFill>
                  <a:srgbClr val="5F6B76"/>
                </a:solidFill>
                <a:latin typeface="Arial Unicode MS"/>
                <a:ea typeface="Arial Unicode MS"/>
                <a:cs typeface="Arial Unicode MS"/>
              </a:rPr>
              <a:t>המלצה מקצועית כללית על בסיס EN 206 ו-EN 1008 — המפרט, ת"י 118 ות"י 3 גוברים תמיד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5212080"/>
            <a:ext cx="8183879" cy="640080"/>
          </a:xfrm>
          <a:prstGeom prst="roundRect">
            <a:avLst>
              <a:gd name="adj" fmla="val 8000"/>
            </a:avLst>
          </a:prstGeom>
          <a:solidFill>
            <a:srgbClr val="00397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394192" y="5303520"/>
            <a:ext cx="457200" cy="457200"/>
          </a:xfrm>
          <a:prstGeom prst="ellipse">
            <a:avLst/>
          </a:prstGeom>
          <a:solidFill>
            <a:srgbClr val="C4D8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3" name="Picture 12" descr="FaUserCheck_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3919" y="5413248"/>
            <a:ext cx="237744" cy="23774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051560" y="5212080"/>
            <a:ext cx="7269479" cy="640080"/>
          </a:xfrm>
          <a:prstGeom prst="rect">
            <a:avLst/>
          </a:prstGeom>
          <a:noFill/>
        </p:spPr>
        <p:txBody>
          <a:bodyPr wrap="square" lIns="0" rIns="0" tIns="0" bIns="0" anchor="ctr" rtlCol="1">
            <a:spAutoFit/>
          </a:bodyPr>
          <a:lstStyle/>
          <a:p>
            <a:pPr algn="r" rtl="1" marL="0" indent="0">
              <a:spcAft>
                <a:spcPts val="400"/>
              </a:spcAft>
              <a:buNone/>
            </a:pPr>
            <a:r>
              <a:rPr lang="he-IL" sz="17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בספק — לא משתמשים. ממוחזר נכנס רק עם בדיקה, תיעוד ואישור טכנולוג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6" name="תמונה 5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1"/>
          <a:stretch/>
        </p:blipFill>
        <p:spPr>
          <a:xfrm flipH="1">
            <a:off x="0" y="0"/>
            <a:ext cx="10306050" cy="6858000"/>
          </a:xfrm>
          <a:prstGeom prst="rect">
            <a:avLst/>
          </a:prstGeom>
        </p:spPr>
      </p:pic>
      <p:sp>
        <p:nvSpPr>
          <p:cNvPr id="4" name="מלבן 3"/>
          <p:cNvSpPr/>
          <p:nvPr/>
        </p:nvSpPr>
        <p:spPr>
          <a:xfrm>
            <a:off x="6115050" y="0"/>
            <a:ext cx="6076950" cy="6858000"/>
          </a:xfrm>
          <a:prstGeom prst="rect">
            <a:avLst/>
          </a:prstGeom>
          <a:solidFill>
            <a:srgbClr val="2C9EE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>
              <a:solidFill>
                <a:prstClr val="white"/>
              </a:solidFill>
            </a:endParaRPr>
          </a:p>
        </p:txBody>
      </p:sp>
      <p:sp>
        <p:nvSpPr>
          <p:cNvPr id="7" name="משולש שווה שוקיים 6"/>
          <p:cNvSpPr/>
          <p:nvPr/>
        </p:nvSpPr>
        <p:spPr>
          <a:xfrm rot="16200000" flipH="1">
            <a:off x="5324475" y="3143250"/>
            <a:ext cx="1123950" cy="609600"/>
          </a:xfrm>
          <a:prstGeom prst="triangle">
            <a:avLst/>
          </a:prstGeom>
          <a:solidFill>
            <a:srgbClr val="2C9EE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>
              <a:solidFill>
                <a:prstClr val="white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720840" y="2514600"/>
            <a:ext cx="4937760" cy="914400"/>
          </a:xfrm>
          <a:prstGeom prst="rect">
            <a:avLst/>
          </a:prstGeom>
          <a:noFill/>
        </p:spPr>
        <p:txBody>
          <a:bodyPr wrap="square" rtlCol="1" anchor="ctr"/>
          <a:lstStyle/>
          <a:p>
            <a:pPr algn="ctr" rtl="1"/>
            <a:r>
              <a:rPr lang="he-IL" sz="3600" dirty="0">
                <a:solidFill>
                  <a:prstClr val="white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חידון, תקנים וסיכום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20840" y="1874519"/>
            <a:ext cx="4937760" cy="457200"/>
          </a:xfrm>
          <a:prstGeom prst="rect">
            <a:avLst/>
          </a:prstGeom>
          <a:noFill/>
        </p:spPr>
        <p:txBody>
          <a:bodyPr wrap="square" lIns="0" rIns="0" tIns="0" bIns="0" anchor="t" rtlCol="1">
            <a:spAutoFit/>
          </a:bodyPr>
          <a:lstStyle/>
          <a:p>
            <a:pPr algn="ctr" rtl="1" marL="0" indent="0">
              <a:spcAft>
                <a:spcPts val="400"/>
              </a:spcAft>
              <a:buNone/>
            </a:pPr>
            <a:r>
              <a:rPr lang="he-IL" sz="2000" b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פרק 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86600" y="3611880"/>
            <a:ext cx="4206240" cy="2011680"/>
          </a:xfrm>
          <a:prstGeom prst="rect">
            <a:avLst/>
          </a:prstGeom>
          <a:noFill/>
        </p:spPr>
        <p:txBody>
          <a:bodyPr wrap="square" lIns="0" rIns="0" tIns="0" bIns="0" anchor="t" rtlCol="1">
            <a:spAutoFit/>
          </a:bodyPr>
          <a:lstStyle/>
          <a:p>
            <a:pPr algn="ctr" rtl="1" marL="0" indent="0">
              <a:lnSpc>
                <a:spcPct val="115000"/>
              </a:lnSpc>
              <a:spcAft>
                <a:spcPts val="400"/>
              </a:spcAft>
              <a:buNone/>
            </a:pPr>
            <a:r>
              <a:rPr lang="he-IL" sz="1600" b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5 שאלות לבדיקת הבנה · מפת התקנים · מסרים מרכזיים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>
                <a:latin typeface="Arial Unicode MS"/>
                <a:ea typeface="Arial Unicode MS"/>
                <a:cs typeface="Arial Unicode MS"/>
              </a:rPr>
              <a:t>חידון 1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2960" y="1143000"/>
            <a:ext cx="10652760" cy="1417320"/>
          </a:xfrm>
          <a:prstGeom prst="roundRect">
            <a:avLst>
              <a:gd name="adj" fmla="val 8000"/>
            </a:avLst>
          </a:prstGeom>
          <a:solidFill>
            <a:srgbClr val="00397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287000" y="1389888"/>
            <a:ext cx="914400" cy="914400"/>
          </a:xfrm>
          <a:prstGeom prst="ellipse">
            <a:avLst/>
          </a:prstGeom>
          <a:solidFill>
            <a:srgbClr val="C4D8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5" name="Picture 4" descr="FaQuestion_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6456" y="1609344"/>
            <a:ext cx="475488" cy="47548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97280" y="1188720"/>
            <a:ext cx="9052560" cy="1325880"/>
          </a:xfrm>
          <a:prstGeom prst="rect">
            <a:avLst/>
          </a:prstGeom>
          <a:noFill/>
        </p:spPr>
        <p:txBody>
          <a:bodyPr wrap="square" lIns="0" rIns="0" tIns="0" bIns="0" anchor="ctr" rtlCol="1">
            <a:spAutoFit/>
          </a:bodyPr>
          <a:lstStyle/>
          <a:p>
            <a:pPr algn="r" rtl="1" marL="0" indent="0">
              <a:spcAft>
                <a:spcPts val="400"/>
              </a:spcAft>
              <a:buNone/>
            </a:pPr>
            <a:r>
              <a:rPr lang="he-IL" sz="30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מהו החומר הקושר בבטון?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2834640"/>
            <a:ext cx="5212080" cy="1005840"/>
          </a:xfrm>
          <a:prstGeom prst="roundRect">
            <a:avLst>
              <a:gd name="adj" fmla="val 8000"/>
            </a:avLst>
          </a:prstGeom>
          <a:solidFill>
            <a:srgbClr val="EAF3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721340" y="3040380"/>
            <a:ext cx="594360" cy="594360"/>
          </a:xfrm>
          <a:prstGeom prst="ellipse">
            <a:avLst/>
          </a:prstGeom>
          <a:solidFill>
            <a:srgbClr val="0081C8"/>
          </a:solidFill>
          <a:ln>
            <a:noFill/>
          </a:ln>
        </p:spPr>
        <p:txBody>
          <a:bodyPr rtlCol="0" anchor="ctr" wrap="square" lIns="0" rIns="0" tIns="18288" bIns="18288"/>
          <a:lstStyle/>
          <a:p>
            <a:pPr algn="ctr" rtl="1" marL="0" indent="0">
              <a:buNone/>
            </a:pPr>
            <a:r>
              <a:rPr lang="he-IL" sz="20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2834640"/>
            <a:ext cx="4114800" cy="1005840"/>
          </a:xfrm>
          <a:prstGeom prst="rect">
            <a:avLst/>
          </a:prstGeom>
          <a:noFill/>
        </p:spPr>
        <p:txBody>
          <a:bodyPr wrap="square" lIns="0" rIns="0" tIns="0" bIns="0" anchor="ctr" rtlCol="1">
            <a:spAutoFit/>
          </a:bodyPr>
          <a:lstStyle/>
          <a:p>
            <a:pPr algn="r" rtl="1" marL="0" indent="0">
              <a:spcAft>
                <a:spcPts val="400"/>
              </a:spcAft>
              <a:buNone/>
            </a:pPr>
            <a:r>
              <a:rPr lang="he-IL" sz="2000" b="0">
                <a:solidFill>
                  <a:srgbClr val="003973"/>
                </a:solidFill>
                <a:latin typeface="Arial Unicode MS"/>
                <a:ea typeface="Arial Unicode MS"/>
                <a:cs typeface="Arial Unicode MS"/>
              </a:rPr>
              <a:t>אגרגט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59" y="2834640"/>
            <a:ext cx="5212080" cy="1005840"/>
          </a:xfrm>
          <a:prstGeom prst="roundRect">
            <a:avLst>
              <a:gd name="adj" fmla="val 8000"/>
            </a:avLst>
          </a:prstGeom>
          <a:solidFill>
            <a:srgbClr val="EAF3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280659" y="3040380"/>
            <a:ext cx="594360" cy="594360"/>
          </a:xfrm>
          <a:prstGeom prst="ellipse">
            <a:avLst/>
          </a:prstGeom>
          <a:solidFill>
            <a:srgbClr val="0081C8"/>
          </a:solidFill>
          <a:ln>
            <a:noFill/>
          </a:ln>
        </p:spPr>
        <p:txBody>
          <a:bodyPr rtlCol="0" anchor="ctr" wrap="square" lIns="0" rIns="0" tIns="18288" bIns="18288"/>
          <a:lstStyle/>
          <a:p>
            <a:pPr algn="ctr" rtl="1" marL="0" indent="0">
              <a:buNone/>
            </a:pPr>
            <a:r>
              <a:rPr lang="he-IL" sz="20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59" y="2834640"/>
            <a:ext cx="4114800" cy="1005840"/>
          </a:xfrm>
          <a:prstGeom prst="rect">
            <a:avLst/>
          </a:prstGeom>
          <a:noFill/>
        </p:spPr>
        <p:txBody>
          <a:bodyPr wrap="square" lIns="0" rIns="0" tIns="0" bIns="0" anchor="ctr" rtlCol="1">
            <a:spAutoFit/>
          </a:bodyPr>
          <a:lstStyle/>
          <a:p>
            <a:pPr algn="r" rtl="1" marL="0" indent="0">
              <a:spcAft>
                <a:spcPts val="400"/>
              </a:spcAft>
              <a:buNone/>
            </a:pPr>
            <a:r>
              <a:rPr lang="he-IL" sz="2000" b="0">
                <a:solidFill>
                  <a:srgbClr val="003973"/>
                </a:solidFill>
                <a:latin typeface="Arial Unicode MS"/>
                <a:ea typeface="Arial Unicode MS"/>
                <a:cs typeface="Arial Unicode MS"/>
              </a:rPr>
              <a:t>צמנט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4069080"/>
            <a:ext cx="5212080" cy="1005840"/>
          </a:xfrm>
          <a:prstGeom prst="roundRect">
            <a:avLst>
              <a:gd name="adj" fmla="val 8000"/>
            </a:avLst>
          </a:prstGeom>
          <a:solidFill>
            <a:srgbClr val="EAF3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721340" y="4274820"/>
            <a:ext cx="594360" cy="594360"/>
          </a:xfrm>
          <a:prstGeom prst="ellipse">
            <a:avLst/>
          </a:prstGeom>
          <a:solidFill>
            <a:srgbClr val="0081C8"/>
          </a:solidFill>
          <a:ln>
            <a:noFill/>
          </a:ln>
        </p:spPr>
        <p:txBody>
          <a:bodyPr rtlCol="0" anchor="ctr" wrap="square" lIns="0" rIns="0" tIns="18288" bIns="18288"/>
          <a:lstStyle/>
          <a:p>
            <a:pPr algn="ctr" rtl="1" marL="0" indent="0">
              <a:buNone/>
            </a:pPr>
            <a:r>
              <a:rPr lang="he-IL" sz="20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4069080"/>
            <a:ext cx="4114800" cy="1005840"/>
          </a:xfrm>
          <a:prstGeom prst="rect">
            <a:avLst/>
          </a:prstGeom>
          <a:noFill/>
        </p:spPr>
        <p:txBody>
          <a:bodyPr wrap="square" lIns="0" rIns="0" tIns="0" bIns="0" anchor="ctr" rtlCol="1">
            <a:spAutoFit/>
          </a:bodyPr>
          <a:lstStyle/>
          <a:p>
            <a:pPr algn="r" rtl="1" marL="0" indent="0">
              <a:spcAft>
                <a:spcPts val="400"/>
              </a:spcAft>
              <a:buNone/>
            </a:pPr>
            <a:r>
              <a:rPr lang="he-IL" sz="2000" b="0">
                <a:solidFill>
                  <a:srgbClr val="003973"/>
                </a:solidFill>
                <a:latin typeface="Arial Unicode MS"/>
                <a:ea typeface="Arial Unicode MS"/>
                <a:cs typeface="Arial Unicode MS"/>
              </a:rPr>
              <a:t>מים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59" y="4069080"/>
            <a:ext cx="5212080" cy="1005840"/>
          </a:xfrm>
          <a:prstGeom prst="roundRect">
            <a:avLst>
              <a:gd name="adj" fmla="val 8000"/>
            </a:avLst>
          </a:prstGeom>
          <a:solidFill>
            <a:srgbClr val="EAF3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280659" y="4274820"/>
            <a:ext cx="594360" cy="594360"/>
          </a:xfrm>
          <a:prstGeom prst="ellipse">
            <a:avLst/>
          </a:prstGeom>
          <a:solidFill>
            <a:srgbClr val="0081C8"/>
          </a:solidFill>
          <a:ln>
            <a:noFill/>
          </a:ln>
        </p:spPr>
        <p:txBody>
          <a:bodyPr rtlCol="0" anchor="ctr" wrap="square" lIns="0" rIns="0" tIns="18288" bIns="18288"/>
          <a:lstStyle/>
          <a:p>
            <a:pPr algn="ctr" rtl="1" marL="0" indent="0">
              <a:buNone/>
            </a:pPr>
            <a:r>
              <a:rPr lang="he-IL" sz="20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59" y="4069080"/>
            <a:ext cx="4114800" cy="1005840"/>
          </a:xfrm>
          <a:prstGeom prst="rect">
            <a:avLst/>
          </a:prstGeom>
          <a:noFill/>
        </p:spPr>
        <p:txBody>
          <a:bodyPr wrap="square" lIns="0" rIns="0" tIns="0" bIns="0" anchor="ctr" rtlCol="1">
            <a:spAutoFit/>
          </a:bodyPr>
          <a:lstStyle/>
          <a:p>
            <a:pPr algn="r" rtl="1" marL="0" indent="0">
              <a:spcAft>
                <a:spcPts val="400"/>
              </a:spcAft>
              <a:buNone/>
            </a:pPr>
            <a:r>
              <a:rPr lang="he-IL" sz="2000" b="0">
                <a:solidFill>
                  <a:srgbClr val="003973"/>
                </a:solidFill>
                <a:latin typeface="Arial Unicode MS"/>
                <a:ea typeface="Arial Unicode MS"/>
                <a:cs typeface="Arial Unicode MS"/>
              </a:rPr>
              <a:t>מוסף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>
                <a:latin typeface="Arial Unicode MS"/>
                <a:ea typeface="Arial Unicode MS"/>
                <a:cs typeface="Arial Unicode MS"/>
              </a:rPr>
              <a:t>חידון 2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2960" y="1143000"/>
            <a:ext cx="10652760" cy="1417320"/>
          </a:xfrm>
          <a:prstGeom prst="roundRect">
            <a:avLst>
              <a:gd name="adj" fmla="val 8000"/>
            </a:avLst>
          </a:prstGeom>
          <a:solidFill>
            <a:srgbClr val="00397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287000" y="1389888"/>
            <a:ext cx="914400" cy="914400"/>
          </a:xfrm>
          <a:prstGeom prst="ellipse">
            <a:avLst/>
          </a:prstGeom>
          <a:solidFill>
            <a:srgbClr val="C4D8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5" name="Picture 4" descr="FaQuestion_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6456" y="1609344"/>
            <a:ext cx="475488" cy="47548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97280" y="1188720"/>
            <a:ext cx="9052560" cy="1325880"/>
          </a:xfrm>
          <a:prstGeom prst="rect">
            <a:avLst/>
          </a:prstGeom>
          <a:noFill/>
        </p:spPr>
        <p:txBody>
          <a:bodyPr wrap="square" lIns="0" rIns="0" tIns="0" bIns="0" anchor="ctr" rtlCol="1">
            <a:spAutoFit/>
          </a:bodyPr>
          <a:lstStyle/>
          <a:p>
            <a:pPr algn="r" rtl="1" marL="0" indent="0">
              <a:spcAft>
                <a:spcPts val="400"/>
              </a:spcAft>
              <a:buNone/>
            </a:pPr>
            <a:r>
              <a:rPr lang="he-IL" sz="30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כמה אחוז מנפח הבטון הם אגרגטים?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2834640"/>
            <a:ext cx="5212080" cy="1005840"/>
          </a:xfrm>
          <a:prstGeom prst="roundRect">
            <a:avLst>
              <a:gd name="adj" fmla="val 8000"/>
            </a:avLst>
          </a:prstGeom>
          <a:solidFill>
            <a:srgbClr val="EAF3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721340" y="3040380"/>
            <a:ext cx="594360" cy="594360"/>
          </a:xfrm>
          <a:prstGeom prst="ellipse">
            <a:avLst/>
          </a:prstGeom>
          <a:solidFill>
            <a:srgbClr val="0081C8"/>
          </a:solidFill>
          <a:ln>
            <a:noFill/>
          </a:ln>
        </p:spPr>
        <p:txBody>
          <a:bodyPr rtlCol="0" anchor="ctr" wrap="square" lIns="0" rIns="0" tIns="18288" bIns="18288"/>
          <a:lstStyle/>
          <a:p>
            <a:pPr algn="ctr" rtl="1" marL="0" indent="0">
              <a:buNone/>
            </a:pPr>
            <a:r>
              <a:rPr lang="he-IL" sz="20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2834640"/>
            <a:ext cx="4114800" cy="1005840"/>
          </a:xfrm>
          <a:prstGeom prst="rect">
            <a:avLst/>
          </a:prstGeom>
          <a:noFill/>
        </p:spPr>
        <p:txBody>
          <a:bodyPr wrap="square" lIns="0" rIns="0" tIns="0" bIns="0" anchor="ctr" rtlCol="1">
            <a:spAutoFit/>
          </a:bodyPr>
          <a:lstStyle/>
          <a:p>
            <a:pPr algn="r" rtl="1" marL="0" indent="0">
              <a:spcAft>
                <a:spcPts val="400"/>
              </a:spcAft>
              <a:buNone/>
            </a:pPr>
            <a:r>
              <a:rPr lang="he-IL" sz="2000" b="0">
                <a:solidFill>
                  <a:srgbClr val="003973"/>
                </a:solidFill>
                <a:latin typeface="Arial Unicode MS"/>
                <a:ea typeface="Arial Unicode MS"/>
                <a:cs typeface="Arial Unicode MS"/>
              </a:rPr>
              <a:t>10-20%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59" y="2834640"/>
            <a:ext cx="5212080" cy="1005840"/>
          </a:xfrm>
          <a:prstGeom prst="roundRect">
            <a:avLst>
              <a:gd name="adj" fmla="val 8000"/>
            </a:avLst>
          </a:prstGeom>
          <a:solidFill>
            <a:srgbClr val="EAF3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280659" y="3040380"/>
            <a:ext cx="594360" cy="594360"/>
          </a:xfrm>
          <a:prstGeom prst="ellipse">
            <a:avLst/>
          </a:prstGeom>
          <a:solidFill>
            <a:srgbClr val="0081C8"/>
          </a:solidFill>
          <a:ln>
            <a:noFill/>
          </a:ln>
        </p:spPr>
        <p:txBody>
          <a:bodyPr rtlCol="0" anchor="ctr" wrap="square" lIns="0" rIns="0" tIns="18288" bIns="18288"/>
          <a:lstStyle/>
          <a:p>
            <a:pPr algn="ctr" rtl="1" marL="0" indent="0">
              <a:buNone/>
            </a:pPr>
            <a:r>
              <a:rPr lang="he-IL" sz="20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59" y="2834640"/>
            <a:ext cx="4114800" cy="1005840"/>
          </a:xfrm>
          <a:prstGeom prst="rect">
            <a:avLst/>
          </a:prstGeom>
          <a:noFill/>
        </p:spPr>
        <p:txBody>
          <a:bodyPr wrap="square" lIns="0" rIns="0" tIns="0" bIns="0" anchor="ctr" rtlCol="1">
            <a:spAutoFit/>
          </a:bodyPr>
          <a:lstStyle/>
          <a:p>
            <a:pPr algn="r" rtl="1" marL="0" indent="0">
              <a:spcAft>
                <a:spcPts val="400"/>
              </a:spcAft>
              <a:buNone/>
            </a:pPr>
            <a:r>
              <a:rPr lang="he-IL" sz="2000" b="0">
                <a:solidFill>
                  <a:srgbClr val="003973"/>
                </a:solidFill>
                <a:latin typeface="Arial Unicode MS"/>
                <a:ea typeface="Arial Unicode MS"/>
                <a:cs typeface="Arial Unicode MS"/>
              </a:rPr>
              <a:t>30-40%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4069080"/>
            <a:ext cx="5212080" cy="1005840"/>
          </a:xfrm>
          <a:prstGeom prst="roundRect">
            <a:avLst>
              <a:gd name="adj" fmla="val 8000"/>
            </a:avLst>
          </a:prstGeom>
          <a:solidFill>
            <a:srgbClr val="EAF3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721340" y="4274820"/>
            <a:ext cx="594360" cy="594360"/>
          </a:xfrm>
          <a:prstGeom prst="ellipse">
            <a:avLst/>
          </a:prstGeom>
          <a:solidFill>
            <a:srgbClr val="0081C8"/>
          </a:solidFill>
          <a:ln>
            <a:noFill/>
          </a:ln>
        </p:spPr>
        <p:txBody>
          <a:bodyPr rtlCol="0" anchor="ctr" wrap="square" lIns="0" rIns="0" tIns="18288" bIns="18288"/>
          <a:lstStyle/>
          <a:p>
            <a:pPr algn="ctr" rtl="1" marL="0" indent="0">
              <a:buNone/>
            </a:pPr>
            <a:r>
              <a:rPr lang="he-IL" sz="20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4069080"/>
            <a:ext cx="4114800" cy="1005840"/>
          </a:xfrm>
          <a:prstGeom prst="rect">
            <a:avLst/>
          </a:prstGeom>
          <a:noFill/>
        </p:spPr>
        <p:txBody>
          <a:bodyPr wrap="square" lIns="0" rIns="0" tIns="0" bIns="0" anchor="ctr" rtlCol="1">
            <a:spAutoFit/>
          </a:bodyPr>
          <a:lstStyle/>
          <a:p>
            <a:pPr algn="r" rtl="1" marL="0" indent="0">
              <a:spcAft>
                <a:spcPts val="400"/>
              </a:spcAft>
              <a:buNone/>
            </a:pPr>
            <a:r>
              <a:rPr lang="he-IL" sz="2000" b="0">
                <a:solidFill>
                  <a:srgbClr val="003973"/>
                </a:solidFill>
                <a:latin typeface="Arial Unicode MS"/>
                <a:ea typeface="Arial Unicode MS"/>
                <a:cs typeface="Arial Unicode MS"/>
              </a:rPr>
              <a:t>50-60%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59" y="4069080"/>
            <a:ext cx="5212080" cy="1005840"/>
          </a:xfrm>
          <a:prstGeom prst="roundRect">
            <a:avLst>
              <a:gd name="adj" fmla="val 8000"/>
            </a:avLst>
          </a:prstGeom>
          <a:solidFill>
            <a:srgbClr val="EAF3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280659" y="4274820"/>
            <a:ext cx="594360" cy="594360"/>
          </a:xfrm>
          <a:prstGeom prst="ellipse">
            <a:avLst/>
          </a:prstGeom>
          <a:solidFill>
            <a:srgbClr val="0081C8"/>
          </a:solidFill>
          <a:ln>
            <a:noFill/>
          </a:ln>
        </p:spPr>
        <p:txBody>
          <a:bodyPr rtlCol="0" anchor="ctr" wrap="square" lIns="0" rIns="0" tIns="18288" bIns="18288"/>
          <a:lstStyle/>
          <a:p>
            <a:pPr algn="ctr" rtl="1" marL="0" indent="0">
              <a:buNone/>
            </a:pPr>
            <a:r>
              <a:rPr lang="he-IL" sz="20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59" y="4069080"/>
            <a:ext cx="4114800" cy="1005840"/>
          </a:xfrm>
          <a:prstGeom prst="rect">
            <a:avLst/>
          </a:prstGeom>
          <a:noFill/>
        </p:spPr>
        <p:txBody>
          <a:bodyPr wrap="square" lIns="0" rIns="0" tIns="0" bIns="0" anchor="ctr" rtlCol="1">
            <a:spAutoFit/>
          </a:bodyPr>
          <a:lstStyle/>
          <a:p>
            <a:pPr algn="r" rtl="1" marL="0" indent="0">
              <a:spcAft>
                <a:spcPts val="400"/>
              </a:spcAft>
              <a:buNone/>
            </a:pPr>
            <a:r>
              <a:rPr lang="he-IL" sz="2000" b="0">
                <a:solidFill>
                  <a:srgbClr val="003973"/>
                </a:solidFill>
                <a:latin typeface="Arial Unicode MS"/>
                <a:ea typeface="Arial Unicode MS"/>
                <a:cs typeface="Arial Unicode MS"/>
              </a:rPr>
              <a:t>70-80%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>
                <a:latin typeface="Arial Unicode MS"/>
                <a:ea typeface="Arial Unicode MS"/>
                <a:cs typeface="Arial Unicode MS"/>
              </a:rPr>
              <a:t>חידון 3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2960" y="1143000"/>
            <a:ext cx="10652760" cy="1417320"/>
          </a:xfrm>
          <a:prstGeom prst="roundRect">
            <a:avLst>
              <a:gd name="adj" fmla="val 8000"/>
            </a:avLst>
          </a:prstGeom>
          <a:solidFill>
            <a:srgbClr val="00397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287000" y="1389888"/>
            <a:ext cx="914400" cy="914400"/>
          </a:xfrm>
          <a:prstGeom prst="ellipse">
            <a:avLst/>
          </a:prstGeom>
          <a:solidFill>
            <a:srgbClr val="C4D8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5" name="Picture 4" descr="FaQuestion_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6456" y="1609344"/>
            <a:ext cx="475488" cy="47548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97280" y="1188720"/>
            <a:ext cx="9052560" cy="1325880"/>
          </a:xfrm>
          <a:prstGeom prst="rect">
            <a:avLst/>
          </a:prstGeom>
          <a:noFill/>
        </p:spPr>
        <p:txBody>
          <a:bodyPr wrap="square" lIns="0" rIns="0" tIns="0" bIns="0" anchor="ctr" rtlCol="1">
            <a:spAutoFit/>
          </a:bodyPr>
          <a:lstStyle/>
          <a:p>
            <a:pPr algn="r" rtl="1" marL="0" indent="0">
              <a:spcAft>
                <a:spcPts val="400"/>
              </a:spcAft>
              <a:buNone/>
            </a:pPr>
            <a:r>
              <a:rPr lang="he-IL" sz="30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מהו C-S-H?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2834640"/>
            <a:ext cx="5212080" cy="1005840"/>
          </a:xfrm>
          <a:prstGeom prst="roundRect">
            <a:avLst>
              <a:gd name="adj" fmla="val 8000"/>
            </a:avLst>
          </a:prstGeom>
          <a:solidFill>
            <a:srgbClr val="EAF3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721340" y="3040380"/>
            <a:ext cx="594360" cy="594360"/>
          </a:xfrm>
          <a:prstGeom prst="ellipse">
            <a:avLst/>
          </a:prstGeom>
          <a:solidFill>
            <a:srgbClr val="0081C8"/>
          </a:solidFill>
          <a:ln>
            <a:noFill/>
          </a:ln>
        </p:spPr>
        <p:txBody>
          <a:bodyPr rtlCol="0" anchor="ctr" wrap="square" lIns="0" rIns="0" tIns="18288" bIns="18288"/>
          <a:lstStyle/>
          <a:p>
            <a:pPr algn="ctr" rtl="1" marL="0" indent="0">
              <a:buNone/>
            </a:pPr>
            <a:r>
              <a:rPr lang="he-IL" sz="20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2834640"/>
            <a:ext cx="4114800" cy="1005840"/>
          </a:xfrm>
          <a:prstGeom prst="rect">
            <a:avLst/>
          </a:prstGeom>
          <a:noFill/>
        </p:spPr>
        <p:txBody>
          <a:bodyPr wrap="square" lIns="0" rIns="0" tIns="0" bIns="0" anchor="ctr" rtlCol="1">
            <a:spAutoFit/>
          </a:bodyPr>
          <a:lstStyle/>
          <a:p>
            <a:pPr algn="r" rtl="1" marL="0" indent="0">
              <a:spcAft>
                <a:spcPts val="400"/>
              </a:spcAft>
              <a:buNone/>
            </a:pPr>
            <a:r>
              <a:rPr lang="he-IL" sz="2000" b="0">
                <a:solidFill>
                  <a:srgbClr val="003973"/>
                </a:solidFill>
                <a:latin typeface="Arial Unicode MS"/>
                <a:ea typeface="Arial Unicode MS"/>
                <a:cs typeface="Arial Unicode MS"/>
              </a:rPr>
              <a:t>סוג של מוסף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59" y="2834640"/>
            <a:ext cx="5212080" cy="1005840"/>
          </a:xfrm>
          <a:prstGeom prst="roundRect">
            <a:avLst>
              <a:gd name="adj" fmla="val 8000"/>
            </a:avLst>
          </a:prstGeom>
          <a:solidFill>
            <a:srgbClr val="EAF3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280659" y="3040380"/>
            <a:ext cx="594360" cy="594360"/>
          </a:xfrm>
          <a:prstGeom prst="ellipse">
            <a:avLst/>
          </a:prstGeom>
          <a:solidFill>
            <a:srgbClr val="0081C8"/>
          </a:solidFill>
          <a:ln>
            <a:noFill/>
          </a:ln>
        </p:spPr>
        <p:txBody>
          <a:bodyPr rtlCol="0" anchor="ctr" wrap="square" lIns="0" rIns="0" tIns="18288" bIns="18288"/>
          <a:lstStyle/>
          <a:p>
            <a:pPr algn="ctr" rtl="1" marL="0" indent="0">
              <a:buNone/>
            </a:pPr>
            <a:r>
              <a:rPr lang="he-IL" sz="20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59" y="2834640"/>
            <a:ext cx="4114800" cy="1005840"/>
          </a:xfrm>
          <a:prstGeom prst="rect">
            <a:avLst/>
          </a:prstGeom>
          <a:noFill/>
        </p:spPr>
        <p:txBody>
          <a:bodyPr wrap="square" lIns="0" rIns="0" tIns="0" bIns="0" anchor="ctr" rtlCol="1">
            <a:spAutoFit/>
          </a:bodyPr>
          <a:lstStyle/>
          <a:p>
            <a:pPr algn="r" rtl="1" marL="0" indent="0">
              <a:spcAft>
                <a:spcPts val="400"/>
              </a:spcAft>
              <a:buNone/>
            </a:pPr>
            <a:r>
              <a:rPr lang="he-IL" sz="2000" b="0">
                <a:solidFill>
                  <a:srgbClr val="003973"/>
                </a:solidFill>
                <a:latin typeface="Arial Unicode MS"/>
                <a:ea typeface="Arial Unicode MS"/>
                <a:cs typeface="Arial Unicode MS"/>
              </a:rPr>
              <a:t>תוצר ההידרציה העיקרי, שאחראי לחוזק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4069080"/>
            <a:ext cx="5212080" cy="1005840"/>
          </a:xfrm>
          <a:prstGeom prst="roundRect">
            <a:avLst>
              <a:gd name="adj" fmla="val 8000"/>
            </a:avLst>
          </a:prstGeom>
          <a:solidFill>
            <a:srgbClr val="EAF3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721340" y="4274820"/>
            <a:ext cx="594360" cy="594360"/>
          </a:xfrm>
          <a:prstGeom prst="ellipse">
            <a:avLst/>
          </a:prstGeom>
          <a:solidFill>
            <a:srgbClr val="0081C8"/>
          </a:solidFill>
          <a:ln>
            <a:noFill/>
          </a:ln>
        </p:spPr>
        <p:txBody>
          <a:bodyPr rtlCol="0" anchor="ctr" wrap="square" lIns="0" rIns="0" tIns="18288" bIns="18288"/>
          <a:lstStyle/>
          <a:p>
            <a:pPr algn="ctr" rtl="1" marL="0" indent="0">
              <a:buNone/>
            </a:pPr>
            <a:r>
              <a:rPr lang="he-IL" sz="20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4069080"/>
            <a:ext cx="4114800" cy="1005840"/>
          </a:xfrm>
          <a:prstGeom prst="rect">
            <a:avLst/>
          </a:prstGeom>
          <a:noFill/>
        </p:spPr>
        <p:txBody>
          <a:bodyPr wrap="square" lIns="0" rIns="0" tIns="0" bIns="0" anchor="ctr" rtlCol="1">
            <a:spAutoFit/>
          </a:bodyPr>
          <a:lstStyle/>
          <a:p>
            <a:pPr algn="r" rtl="1" marL="0" indent="0">
              <a:spcAft>
                <a:spcPts val="400"/>
              </a:spcAft>
              <a:buNone/>
            </a:pPr>
            <a:r>
              <a:rPr lang="he-IL" sz="2000" b="0">
                <a:solidFill>
                  <a:srgbClr val="003973"/>
                </a:solidFill>
                <a:latin typeface="Arial Unicode MS"/>
                <a:ea typeface="Arial Unicode MS"/>
                <a:cs typeface="Arial Unicode MS"/>
              </a:rPr>
              <a:t>סוג של צמנט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59" y="4069080"/>
            <a:ext cx="5212080" cy="1005840"/>
          </a:xfrm>
          <a:prstGeom prst="roundRect">
            <a:avLst>
              <a:gd name="adj" fmla="val 8000"/>
            </a:avLst>
          </a:prstGeom>
          <a:solidFill>
            <a:srgbClr val="EAF3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280659" y="4274820"/>
            <a:ext cx="594360" cy="594360"/>
          </a:xfrm>
          <a:prstGeom prst="ellipse">
            <a:avLst/>
          </a:prstGeom>
          <a:solidFill>
            <a:srgbClr val="0081C8"/>
          </a:solidFill>
          <a:ln>
            <a:noFill/>
          </a:ln>
        </p:spPr>
        <p:txBody>
          <a:bodyPr rtlCol="0" anchor="ctr" wrap="square" lIns="0" rIns="0" tIns="18288" bIns="18288"/>
          <a:lstStyle/>
          <a:p>
            <a:pPr algn="ctr" rtl="1" marL="0" indent="0">
              <a:buNone/>
            </a:pPr>
            <a:r>
              <a:rPr lang="he-IL" sz="20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59" y="4069080"/>
            <a:ext cx="4114800" cy="1005840"/>
          </a:xfrm>
          <a:prstGeom prst="rect">
            <a:avLst/>
          </a:prstGeom>
          <a:noFill/>
        </p:spPr>
        <p:txBody>
          <a:bodyPr wrap="square" lIns="0" rIns="0" tIns="0" bIns="0" anchor="ctr" rtlCol="1">
            <a:spAutoFit/>
          </a:bodyPr>
          <a:lstStyle/>
          <a:p>
            <a:pPr algn="r" rtl="1" marL="0" indent="0">
              <a:spcAft>
                <a:spcPts val="400"/>
              </a:spcAft>
              <a:buNone/>
            </a:pPr>
            <a:r>
              <a:rPr lang="he-IL" sz="2000" b="0">
                <a:solidFill>
                  <a:srgbClr val="003973"/>
                </a:solidFill>
                <a:latin typeface="Arial Unicode MS"/>
                <a:ea typeface="Arial Unicode MS"/>
                <a:cs typeface="Arial Unicode MS"/>
              </a:rPr>
              <a:t>בדיקת חוזק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>
                <a:latin typeface="Arial Unicode MS"/>
                <a:ea typeface="Arial Unicode MS"/>
                <a:cs typeface="Arial Unicode MS"/>
              </a:rPr>
              <a:t>חידון 4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2960" y="1143000"/>
            <a:ext cx="10652760" cy="1417320"/>
          </a:xfrm>
          <a:prstGeom prst="roundRect">
            <a:avLst>
              <a:gd name="adj" fmla="val 8000"/>
            </a:avLst>
          </a:prstGeom>
          <a:solidFill>
            <a:srgbClr val="00397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287000" y="1389888"/>
            <a:ext cx="914400" cy="914400"/>
          </a:xfrm>
          <a:prstGeom prst="ellipse">
            <a:avLst/>
          </a:prstGeom>
          <a:solidFill>
            <a:srgbClr val="C4D8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5" name="Picture 4" descr="FaQuestion_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6456" y="1609344"/>
            <a:ext cx="475488" cy="47548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97280" y="1188720"/>
            <a:ext cx="9052560" cy="1325880"/>
          </a:xfrm>
          <a:prstGeom prst="rect">
            <a:avLst/>
          </a:prstGeom>
          <a:noFill/>
        </p:spPr>
        <p:txBody>
          <a:bodyPr wrap="square" lIns="0" rIns="0" tIns="0" bIns="0" anchor="ctr" rtlCol="1">
            <a:spAutoFit/>
          </a:bodyPr>
          <a:lstStyle/>
          <a:p>
            <a:pPr algn="r" rtl="1" marL="0" indent="0">
              <a:spcAft>
                <a:spcPts val="400"/>
              </a:spcAft>
              <a:buNone/>
            </a:pPr>
            <a:r>
              <a:rPr lang="he-IL" sz="30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מה קורה כאשר יחס מים-צמנט עולה?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2834640"/>
            <a:ext cx="5212080" cy="1005840"/>
          </a:xfrm>
          <a:prstGeom prst="roundRect">
            <a:avLst>
              <a:gd name="adj" fmla="val 8000"/>
            </a:avLst>
          </a:prstGeom>
          <a:solidFill>
            <a:srgbClr val="EAF3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721340" y="3040380"/>
            <a:ext cx="594360" cy="594360"/>
          </a:xfrm>
          <a:prstGeom prst="ellipse">
            <a:avLst/>
          </a:prstGeom>
          <a:solidFill>
            <a:srgbClr val="0081C8"/>
          </a:solidFill>
          <a:ln>
            <a:noFill/>
          </a:ln>
        </p:spPr>
        <p:txBody>
          <a:bodyPr rtlCol="0" anchor="ctr" wrap="square" lIns="0" rIns="0" tIns="18288" bIns="18288"/>
          <a:lstStyle/>
          <a:p>
            <a:pPr algn="ctr" rtl="1" marL="0" indent="0">
              <a:buNone/>
            </a:pPr>
            <a:r>
              <a:rPr lang="he-IL" sz="20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2834640"/>
            <a:ext cx="4114800" cy="1005840"/>
          </a:xfrm>
          <a:prstGeom prst="rect">
            <a:avLst/>
          </a:prstGeom>
          <a:noFill/>
        </p:spPr>
        <p:txBody>
          <a:bodyPr wrap="square" lIns="0" rIns="0" tIns="0" bIns="0" anchor="ctr" rtlCol="1">
            <a:spAutoFit/>
          </a:bodyPr>
          <a:lstStyle/>
          <a:p>
            <a:pPr algn="r" rtl="1" marL="0" indent="0">
              <a:spcAft>
                <a:spcPts val="400"/>
              </a:spcAft>
              <a:buNone/>
            </a:pPr>
            <a:r>
              <a:rPr lang="he-IL" sz="2000" b="0">
                <a:solidFill>
                  <a:srgbClr val="003973"/>
                </a:solidFill>
                <a:latin typeface="Arial Unicode MS"/>
                <a:ea typeface="Arial Unicode MS"/>
                <a:cs typeface="Arial Unicode MS"/>
              </a:rPr>
              <a:t>החוזק עולה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59" y="2834640"/>
            <a:ext cx="5212080" cy="1005840"/>
          </a:xfrm>
          <a:prstGeom prst="roundRect">
            <a:avLst>
              <a:gd name="adj" fmla="val 8000"/>
            </a:avLst>
          </a:prstGeom>
          <a:solidFill>
            <a:srgbClr val="EAF3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280659" y="3040380"/>
            <a:ext cx="594360" cy="594360"/>
          </a:xfrm>
          <a:prstGeom prst="ellipse">
            <a:avLst/>
          </a:prstGeom>
          <a:solidFill>
            <a:srgbClr val="0081C8"/>
          </a:solidFill>
          <a:ln>
            <a:noFill/>
          </a:ln>
        </p:spPr>
        <p:txBody>
          <a:bodyPr rtlCol="0" anchor="ctr" wrap="square" lIns="0" rIns="0" tIns="18288" bIns="18288"/>
          <a:lstStyle/>
          <a:p>
            <a:pPr algn="ctr" rtl="1" marL="0" indent="0">
              <a:buNone/>
            </a:pPr>
            <a:r>
              <a:rPr lang="he-IL" sz="20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59" y="2834640"/>
            <a:ext cx="4114800" cy="1005840"/>
          </a:xfrm>
          <a:prstGeom prst="rect">
            <a:avLst/>
          </a:prstGeom>
          <a:noFill/>
        </p:spPr>
        <p:txBody>
          <a:bodyPr wrap="square" lIns="0" rIns="0" tIns="0" bIns="0" anchor="ctr" rtlCol="1">
            <a:spAutoFit/>
          </a:bodyPr>
          <a:lstStyle/>
          <a:p>
            <a:pPr algn="r" rtl="1" marL="0" indent="0">
              <a:spcAft>
                <a:spcPts val="400"/>
              </a:spcAft>
              <a:buNone/>
            </a:pPr>
            <a:r>
              <a:rPr lang="he-IL" sz="2000" b="0">
                <a:solidFill>
                  <a:srgbClr val="003973"/>
                </a:solidFill>
                <a:latin typeface="Arial Unicode MS"/>
                <a:ea typeface="Arial Unicode MS"/>
                <a:cs typeface="Arial Unicode MS"/>
              </a:rPr>
              <a:t>החדירות יורדת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4069080"/>
            <a:ext cx="5212080" cy="1005840"/>
          </a:xfrm>
          <a:prstGeom prst="roundRect">
            <a:avLst>
              <a:gd name="adj" fmla="val 8000"/>
            </a:avLst>
          </a:prstGeom>
          <a:solidFill>
            <a:srgbClr val="EAF3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721340" y="4274820"/>
            <a:ext cx="594360" cy="594360"/>
          </a:xfrm>
          <a:prstGeom prst="ellipse">
            <a:avLst/>
          </a:prstGeom>
          <a:solidFill>
            <a:srgbClr val="0081C8"/>
          </a:solidFill>
          <a:ln>
            <a:noFill/>
          </a:ln>
        </p:spPr>
        <p:txBody>
          <a:bodyPr rtlCol="0" anchor="ctr" wrap="square" lIns="0" rIns="0" tIns="18288" bIns="18288"/>
          <a:lstStyle/>
          <a:p>
            <a:pPr algn="ctr" rtl="1" marL="0" indent="0">
              <a:buNone/>
            </a:pPr>
            <a:r>
              <a:rPr lang="he-IL" sz="20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4069080"/>
            <a:ext cx="4114800" cy="1005840"/>
          </a:xfrm>
          <a:prstGeom prst="rect">
            <a:avLst/>
          </a:prstGeom>
          <a:noFill/>
        </p:spPr>
        <p:txBody>
          <a:bodyPr wrap="square" lIns="0" rIns="0" tIns="0" bIns="0" anchor="ctr" rtlCol="1">
            <a:spAutoFit/>
          </a:bodyPr>
          <a:lstStyle/>
          <a:p>
            <a:pPr algn="r" rtl="1" marL="0" indent="0">
              <a:spcAft>
                <a:spcPts val="400"/>
              </a:spcAft>
              <a:buNone/>
            </a:pPr>
            <a:r>
              <a:rPr lang="he-IL" sz="2000" b="0">
                <a:solidFill>
                  <a:srgbClr val="003973"/>
                </a:solidFill>
                <a:latin typeface="Arial Unicode MS"/>
                <a:ea typeface="Arial Unicode MS"/>
                <a:cs typeface="Arial Unicode MS"/>
              </a:rPr>
              <a:t>החוזק יורד והחדירות עולה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59" y="4069080"/>
            <a:ext cx="5212080" cy="1005840"/>
          </a:xfrm>
          <a:prstGeom prst="roundRect">
            <a:avLst>
              <a:gd name="adj" fmla="val 8000"/>
            </a:avLst>
          </a:prstGeom>
          <a:solidFill>
            <a:srgbClr val="EAF3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280659" y="4274820"/>
            <a:ext cx="594360" cy="594360"/>
          </a:xfrm>
          <a:prstGeom prst="ellipse">
            <a:avLst/>
          </a:prstGeom>
          <a:solidFill>
            <a:srgbClr val="0081C8"/>
          </a:solidFill>
          <a:ln>
            <a:noFill/>
          </a:ln>
        </p:spPr>
        <p:txBody>
          <a:bodyPr rtlCol="0" anchor="ctr" wrap="square" lIns="0" rIns="0" tIns="18288" bIns="18288"/>
          <a:lstStyle/>
          <a:p>
            <a:pPr algn="ctr" rtl="1" marL="0" indent="0">
              <a:buNone/>
            </a:pPr>
            <a:r>
              <a:rPr lang="he-IL" sz="20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59" y="4069080"/>
            <a:ext cx="4114800" cy="1005840"/>
          </a:xfrm>
          <a:prstGeom prst="rect">
            <a:avLst/>
          </a:prstGeom>
          <a:noFill/>
        </p:spPr>
        <p:txBody>
          <a:bodyPr wrap="square" lIns="0" rIns="0" tIns="0" bIns="0" anchor="ctr" rtlCol="1">
            <a:spAutoFit/>
          </a:bodyPr>
          <a:lstStyle/>
          <a:p>
            <a:pPr algn="r" rtl="1" marL="0" indent="0">
              <a:spcAft>
                <a:spcPts val="400"/>
              </a:spcAft>
              <a:buNone/>
            </a:pPr>
            <a:r>
              <a:rPr lang="he-IL" sz="2000" b="0">
                <a:solidFill>
                  <a:srgbClr val="003973"/>
                </a:solidFill>
                <a:latin typeface="Arial Unicode MS"/>
                <a:ea typeface="Arial Unicode MS"/>
                <a:cs typeface="Arial Unicode MS"/>
              </a:rPr>
              <a:t>אין השפעה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>
                <a:latin typeface="Arial Unicode MS"/>
                <a:ea typeface="Arial Unicode MS"/>
                <a:cs typeface="Arial Unicode MS"/>
              </a:rPr>
              <a:t>חידון 5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2960" y="1143000"/>
            <a:ext cx="10652760" cy="1417320"/>
          </a:xfrm>
          <a:prstGeom prst="roundRect">
            <a:avLst>
              <a:gd name="adj" fmla="val 8000"/>
            </a:avLst>
          </a:prstGeom>
          <a:solidFill>
            <a:srgbClr val="00397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287000" y="1389888"/>
            <a:ext cx="914400" cy="914400"/>
          </a:xfrm>
          <a:prstGeom prst="ellipse">
            <a:avLst/>
          </a:prstGeom>
          <a:solidFill>
            <a:srgbClr val="C4D8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5" name="Picture 4" descr="FaQuestion_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6456" y="1609344"/>
            <a:ext cx="475488" cy="47548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97280" y="1188720"/>
            <a:ext cx="9052560" cy="1325880"/>
          </a:xfrm>
          <a:prstGeom prst="rect">
            <a:avLst/>
          </a:prstGeom>
          <a:noFill/>
        </p:spPr>
        <p:txBody>
          <a:bodyPr wrap="square" lIns="0" rIns="0" tIns="0" bIns="0" anchor="ctr" rtlCol="1">
            <a:spAutoFit/>
          </a:bodyPr>
          <a:lstStyle/>
          <a:p>
            <a:pPr algn="r" rtl="1" marL="0" indent="0">
              <a:spcAft>
                <a:spcPts val="400"/>
              </a:spcAft>
              <a:buNone/>
            </a:pPr>
            <a:r>
              <a:rPr lang="he-IL" sz="30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איזו בדיקה מבוצעת בבטון טרי?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2834640"/>
            <a:ext cx="5212080" cy="1005840"/>
          </a:xfrm>
          <a:prstGeom prst="roundRect">
            <a:avLst>
              <a:gd name="adj" fmla="val 8000"/>
            </a:avLst>
          </a:prstGeom>
          <a:solidFill>
            <a:srgbClr val="EAF3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721340" y="3040380"/>
            <a:ext cx="594360" cy="594360"/>
          </a:xfrm>
          <a:prstGeom prst="ellipse">
            <a:avLst/>
          </a:prstGeom>
          <a:solidFill>
            <a:srgbClr val="0081C8"/>
          </a:solidFill>
          <a:ln>
            <a:noFill/>
          </a:ln>
        </p:spPr>
        <p:txBody>
          <a:bodyPr rtlCol="0" anchor="ctr" wrap="square" lIns="0" rIns="0" tIns="18288" bIns="18288"/>
          <a:lstStyle/>
          <a:p>
            <a:pPr algn="ctr" rtl="1" marL="0" indent="0">
              <a:buNone/>
            </a:pPr>
            <a:r>
              <a:rPr lang="he-IL" sz="20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2834640"/>
            <a:ext cx="4114800" cy="1005840"/>
          </a:xfrm>
          <a:prstGeom prst="rect">
            <a:avLst/>
          </a:prstGeom>
          <a:noFill/>
        </p:spPr>
        <p:txBody>
          <a:bodyPr wrap="square" lIns="0" rIns="0" tIns="0" bIns="0" anchor="ctr" rtlCol="1">
            <a:spAutoFit/>
          </a:bodyPr>
          <a:lstStyle/>
          <a:p>
            <a:pPr algn="r" rtl="1" marL="0" indent="0">
              <a:spcAft>
                <a:spcPts val="400"/>
              </a:spcAft>
              <a:buNone/>
            </a:pPr>
            <a:r>
              <a:rPr lang="he-IL" sz="2000" b="0">
                <a:solidFill>
                  <a:srgbClr val="003973"/>
                </a:solidFill>
                <a:latin typeface="Arial Unicode MS"/>
                <a:ea typeface="Arial Unicode MS"/>
                <a:cs typeface="Arial Unicode MS"/>
              </a:rPr>
              <a:t>קרוטים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59" y="2834640"/>
            <a:ext cx="5212080" cy="1005840"/>
          </a:xfrm>
          <a:prstGeom prst="roundRect">
            <a:avLst>
              <a:gd name="adj" fmla="val 8000"/>
            </a:avLst>
          </a:prstGeom>
          <a:solidFill>
            <a:srgbClr val="EAF3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280659" y="3040380"/>
            <a:ext cx="594360" cy="594360"/>
          </a:xfrm>
          <a:prstGeom prst="ellipse">
            <a:avLst/>
          </a:prstGeom>
          <a:solidFill>
            <a:srgbClr val="0081C8"/>
          </a:solidFill>
          <a:ln>
            <a:noFill/>
          </a:ln>
        </p:spPr>
        <p:txBody>
          <a:bodyPr rtlCol="0" anchor="ctr" wrap="square" lIns="0" rIns="0" tIns="18288" bIns="18288"/>
          <a:lstStyle/>
          <a:p>
            <a:pPr algn="ctr" rtl="1" marL="0" indent="0">
              <a:buNone/>
            </a:pPr>
            <a:r>
              <a:rPr lang="he-IL" sz="20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59" y="2834640"/>
            <a:ext cx="4114800" cy="1005840"/>
          </a:xfrm>
          <a:prstGeom prst="rect">
            <a:avLst/>
          </a:prstGeom>
          <a:noFill/>
        </p:spPr>
        <p:txBody>
          <a:bodyPr wrap="square" lIns="0" rIns="0" tIns="0" bIns="0" anchor="ctr" rtlCol="1">
            <a:spAutoFit/>
          </a:bodyPr>
          <a:lstStyle/>
          <a:p>
            <a:pPr algn="r" rtl="1" marL="0" indent="0">
              <a:spcAft>
                <a:spcPts val="400"/>
              </a:spcAft>
              <a:buNone/>
            </a:pPr>
            <a:r>
              <a:rPr lang="he-IL" sz="2000" b="0">
                <a:solidFill>
                  <a:srgbClr val="003973"/>
                </a:solidFill>
                <a:latin typeface="Arial Unicode MS"/>
                <a:ea typeface="Arial Unicode MS"/>
                <a:cs typeface="Arial Unicode MS"/>
              </a:rPr>
              <a:t>שקיעה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4069080"/>
            <a:ext cx="5212080" cy="1005840"/>
          </a:xfrm>
          <a:prstGeom prst="roundRect">
            <a:avLst>
              <a:gd name="adj" fmla="val 8000"/>
            </a:avLst>
          </a:prstGeom>
          <a:solidFill>
            <a:srgbClr val="EAF3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721340" y="4274820"/>
            <a:ext cx="594360" cy="594360"/>
          </a:xfrm>
          <a:prstGeom prst="ellipse">
            <a:avLst/>
          </a:prstGeom>
          <a:solidFill>
            <a:srgbClr val="0081C8"/>
          </a:solidFill>
          <a:ln>
            <a:noFill/>
          </a:ln>
        </p:spPr>
        <p:txBody>
          <a:bodyPr rtlCol="0" anchor="ctr" wrap="square" lIns="0" rIns="0" tIns="18288" bIns="18288"/>
          <a:lstStyle/>
          <a:p>
            <a:pPr algn="ctr" rtl="1" marL="0" indent="0">
              <a:buNone/>
            </a:pPr>
            <a:r>
              <a:rPr lang="he-IL" sz="20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4069080"/>
            <a:ext cx="4114800" cy="1005840"/>
          </a:xfrm>
          <a:prstGeom prst="rect">
            <a:avLst/>
          </a:prstGeom>
          <a:noFill/>
        </p:spPr>
        <p:txBody>
          <a:bodyPr wrap="square" lIns="0" rIns="0" tIns="0" bIns="0" anchor="ctr" rtlCol="1">
            <a:spAutoFit/>
          </a:bodyPr>
          <a:lstStyle/>
          <a:p>
            <a:pPr algn="r" rtl="1" marL="0" indent="0">
              <a:spcAft>
                <a:spcPts val="400"/>
              </a:spcAft>
              <a:buNone/>
            </a:pPr>
            <a:r>
              <a:rPr lang="he-IL" sz="2000" b="0">
                <a:solidFill>
                  <a:srgbClr val="003973"/>
                </a:solidFill>
                <a:latin typeface="Arial Unicode MS"/>
                <a:ea typeface="Arial Unicode MS"/>
                <a:cs typeface="Arial Unicode MS"/>
              </a:rPr>
              <a:t>LA Abrasion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59" y="4069080"/>
            <a:ext cx="5212080" cy="1005840"/>
          </a:xfrm>
          <a:prstGeom prst="roundRect">
            <a:avLst>
              <a:gd name="adj" fmla="val 8000"/>
            </a:avLst>
          </a:prstGeom>
          <a:solidFill>
            <a:srgbClr val="EAF3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280659" y="4274820"/>
            <a:ext cx="594360" cy="594360"/>
          </a:xfrm>
          <a:prstGeom prst="ellipse">
            <a:avLst/>
          </a:prstGeom>
          <a:solidFill>
            <a:srgbClr val="0081C8"/>
          </a:solidFill>
          <a:ln>
            <a:noFill/>
          </a:ln>
        </p:spPr>
        <p:txBody>
          <a:bodyPr rtlCol="0" anchor="ctr" wrap="square" lIns="0" rIns="0" tIns="18288" bIns="18288"/>
          <a:lstStyle/>
          <a:p>
            <a:pPr algn="ctr" rtl="1" marL="0" indent="0">
              <a:buNone/>
            </a:pPr>
            <a:r>
              <a:rPr lang="he-IL" sz="20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59" y="4069080"/>
            <a:ext cx="4114800" cy="1005840"/>
          </a:xfrm>
          <a:prstGeom prst="rect">
            <a:avLst/>
          </a:prstGeom>
          <a:noFill/>
        </p:spPr>
        <p:txBody>
          <a:bodyPr wrap="square" lIns="0" rIns="0" tIns="0" bIns="0" anchor="ctr" rtlCol="1">
            <a:spAutoFit/>
          </a:bodyPr>
          <a:lstStyle/>
          <a:p>
            <a:pPr algn="r" rtl="1" marL="0" indent="0">
              <a:spcAft>
                <a:spcPts val="400"/>
              </a:spcAft>
              <a:buNone/>
            </a:pPr>
            <a:r>
              <a:rPr lang="he-IL" sz="2000" b="0">
                <a:solidFill>
                  <a:srgbClr val="003973"/>
                </a:solidFill>
                <a:latin typeface="Arial Unicode MS"/>
                <a:ea typeface="Arial Unicode MS"/>
                <a:cs typeface="Arial Unicode MS"/>
              </a:rPr>
              <a:t>לחיצת גלילים בגיל 28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>
                <a:latin typeface="Arial Unicode MS"/>
                <a:ea typeface="Arial Unicode MS"/>
                <a:cs typeface="Arial Unicode MS"/>
              </a:rPr>
              <a:t>תקנים: תמונת מצב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001000" y="1097280"/>
            <a:ext cx="3474720" cy="3977639"/>
          </a:xfrm>
          <a:prstGeom prst="roundRect">
            <a:avLst>
              <a:gd name="adj" fmla="val 8000"/>
            </a:avLst>
          </a:prstGeom>
          <a:solidFill>
            <a:srgbClr val="EAF3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01000" y="1097280"/>
            <a:ext cx="3474720" cy="914400"/>
          </a:xfrm>
          <a:prstGeom prst="roundRect">
            <a:avLst>
              <a:gd name="adj" fmla="val 15000"/>
            </a:avLst>
          </a:prstGeom>
          <a:solidFill>
            <a:srgbClr val="00397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698480" y="1280160"/>
            <a:ext cx="548640" cy="54864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6" name="Picture 5" descr="FaStarOfDavid_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30153" y="1411833"/>
            <a:ext cx="285292" cy="28529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183880" y="1161288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t" rtlCol="1">
            <a:spAutoFit/>
          </a:bodyPr>
          <a:lstStyle/>
          <a:p>
            <a:pPr algn="r" rtl="1" marL="0" indent="0">
              <a:spcAft>
                <a:spcPts val="400"/>
              </a:spcAft>
              <a:buNone/>
            </a:pPr>
            <a:r>
              <a:rPr lang="he-IL" sz="22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ישראל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83880" y="1600200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 anchor="t" rtlCol="1">
            <a:spAutoFit/>
          </a:bodyPr>
          <a:lstStyle/>
          <a:p>
            <a:pPr algn="r" rtl="1" marL="0" indent="0">
              <a:spcAft>
                <a:spcPts val="400"/>
              </a:spcAft>
              <a:buNone/>
            </a:pPr>
            <a:r>
              <a:rPr lang="he-IL" sz="1300" b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מכון התקנים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2194560"/>
            <a:ext cx="3063240" cy="2834640"/>
          </a:xfrm>
          <a:prstGeom prst="rect">
            <a:avLst/>
          </a:prstGeom>
          <a:noFill/>
        </p:spPr>
        <p:txBody>
          <a:bodyPr wrap="square" lIns="0" rIns="0" tIns="0" bIns="0" anchor="t" rtlCol="1">
            <a:spAutoFit/>
          </a:bodyPr>
          <a:lstStyle/>
          <a:p>
            <a:pPr algn="r" rtl="1" marL="228600" indent="-228600">
              <a:spcAft>
                <a:spcPts val="300"/>
              </a:spcAft>
              <a:buFont typeface="Arial"/>
              <a:buChar char="•"/>
            </a:pPr>
            <a:r>
              <a:rPr lang="he-IL" sz="1300" b="0">
                <a:solidFill>
                  <a:srgbClr val="333F4A"/>
                </a:solidFill>
                <a:latin typeface="Arial Unicode MS"/>
                <a:ea typeface="Arial Unicode MS"/>
                <a:cs typeface="Arial Unicode MS"/>
              </a:rPr>
              <a:t>ת"י 1 — צמנט</a:t>
            </a:r>
          </a:p>
          <a:p>
            <a:pPr algn="r" rtl="1" marL="228600" indent="-228600">
              <a:spcAft>
                <a:spcPts val="300"/>
              </a:spcAft>
              <a:buFont typeface="Arial"/>
              <a:buChar char="•"/>
            </a:pPr>
            <a:r>
              <a:rPr lang="he-IL" sz="1300" b="0">
                <a:solidFill>
                  <a:srgbClr val="333F4A"/>
                </a:solidFill>
                <a:latin typeface="Arial Unicode MS"/>
                <a:ea typeface="Arial Unicode MS"/>
                <a:cs typeface="Arial Unicode MS"/>
              </a:rPr>
              <a:t>ת"י 3 — אגרגטים</a:t>
            </a:r>
          </a:p>
          <a:p>
            <a:pPr algn="r" rtl="1" marL="228600" indent="-228600">
              <a:spcAft>
                <a:spcPts val="300"/>
              </a:spcAft>
              <a:buFont typeface="Arial"/>
              <a:buChar char="•"/>
            </a:pPr>
            <a:r>
              <a:rPr lang="he-IL" sz="1300" b="0">
                <a:solidFill>
                  <a:srgbClr val="333F4A"/>
                </a:solidFill>
                <a:latin typeface="Arial Unicode MS"/>
                <a:ea typeface="Arial Unicode MS"/>
                <a:cs typeface="Arial Unicode MS"/>
              </a:rPr>
              <a:t>ת"י 26 — שיטות בדיקה</a:t>
            </a:r>
          </a:p>
          <a:p>
            <a:pPr algn="r" rtl="1" marL="228600" indent="-228600">
              <a:spcAft>
                <a:spcPts val="300"/>
              </a:spcAft>
              <a:buFont typeface="Arial"/>
              <a:buChar char="•"/>
            </a:pPr>
            <a:r>
              <a:rPr lang="he-IL" sz="1300" b="0">
                <a:solidFill>
                  <a:srgbClr val="333F4A"/>
                </a:solidFill>
                <a:latin typeface="Arial Unicode MS"/>
                <a:ea typeface="Arial Unicode MS"/>
                <a:cs typeface="Arial Unicode MS"/>
              </a:rPr>
              <a:t>ת"י 118 — בטון: דרישות</a:t>
            </a:r>
          </a:p>
          <a:p>
            <a:pPr algn="r" rtl="1" marL="228600" indent="-228600">
              <a:spcAft>
                <a:spcPts val="300"/>
              </a:spcAft>
              <a:buFont typeface="Arial"/>
              <a:buChar char="•"/>
            </a:pPr>
            <a:r>
              <a:rPr lang="he-IL" sz="1300" b="0">
                <a:solidFill>
                  <a:srgbClr val="333F4A"/>
                </a:solidFill>
                <a:latin typeface="Arial Unicode MS"/>
                <a:ea typeface="Arial Unicode MS"/>
                <a:cs typeface="Arial Unicode MS"/>
              </a:rPr>
              <a:t>ת"י 466 — חוקת הבטון</a:t>
            </a:r>
          </a:p>
          <a:p>
            <a:pPr algn="r" rtl="1" marL="228600" indent="-228600">
              <a:spcAft>
                <a:spcPts val="300"/>
              </a:spcAft>
              <a:buFont typeface="Arial"/>
              <a:buChar char="•"/>
            </a:pPr>
            <a:r>
              <a:rPr lang="he-IL" sz="1300" b="0">
                <a:solidFill>
                  <a:srgbClr val="333F4A"/>
                </a:solidFill>
                <a:latin typeface="Arial Unicode MS"/>
                <a:ea typeface="Arial Unicode MS"/>
                <a:cs typeface="Arial Unicode MS"/>
              </a:rPr>
              <a:t>ת"י 601 — בטון מובא</a:t>
            </a:r>
          </a:p>
          <a:p>
            <a:pPr algn="r" rtl="1" marL="228600" indent="-228600">
              <a:spcAft>
                <a:spcPts val="300"/>
              </a:spcAft>
              <a:buFont typeface="Arial"/>
              <a:buChar char="•"/>
            </a:pPr>
            <a:r>
              <a:rPr lang="he-IL" sz="1300" b="0">
                <a:solidFill>
                  <a:srgbClr val="333F4A"/>
                </a:solidFill>
                <a:latin typeface="Arial Unicode MS"/>
                <a:ea typeface="Arial Unicode MS"/>
                <a:cs typeface="Arial Unicode MS"/>
              </a:rPr>
              <a:t>ת"י 896 — מוספים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53128" y="1097280"/>
            <a:ext cx="3474720" cy="3977639"/>
          </a:xfrm>
          <a:prstGeom prst="roundRect">
            <a:avLst>
              <a:gd name="adj" fmla="val 8000"/>
            </a:avLst>
          </a:prstGeom>
          <a:solidFill>
            <a:srgbClr val="EAF3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453128" y="1097280"/>
            <a:ext cx="3474720" cy="914400"/>
          </a:xfrm>
          <a:prstGeom prst="roundRect">
            <a:avLst>
              <a:gd name="adj" fmla="val 15000"/>
            </a:avLst>
          </a:prstGeom>
          <a:solidFill>
            <a:srgbClr val="0081C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150608" y="1280160"/>
            <a:ext cx="548640" cy="54864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3" name="Picture 12" descr="FaGlobeEurope_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82281" y="1411833"/>
            <a:ext cx="285292" cy="28529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636008" y="1161288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t" rtlCol="1">
            <a:spAutoFit/>
          </a:bodyPr>
          <a:lstStyle/>
          <a:p>
            <a:pPr algn="r" rtl="1" marL="0" indent="0">
              <a:spcAft>
                <a:spcPts val="400"/>
              </a:spcAft>
              <a:buNone/>
            </a:pPr>
            <a:r>
              <a:rPr lang="he-IL" sz="22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אירופה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36008" y="1600200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 anchor="t" rtlCol="1">
            <a:spAutoFit/>
          </a:bodyPr>
          <a:lstStyle/>
          <a:p>
            <a:pPr algn="r" rtl="1" marL="0" indent="0">
              <a:spcAft>
                <a:spcPts val="400"/>
              </a:spcAft>
              <a:buNone/>
            </a:pPr>
            <a:r>
              <a:rPr lang="he-IL" sz="1300" b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CEN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81728" y="2194560"/>
            <a:ext cx="3063240" cy="2834640"/>
          </a:xfrm>
          <a:prstGeom prst="rect">
            <a:avLst/>
          </a:prstGeom>
          <a:noFill/>
        </p:spPr>
        <p:txBody>
          <a:bodyPr wrap="square" lIns="0" rIns="0" tIns="0" bIns="0" anchor="t" rtlCol="1">
            <a:spAutoFit/>
          </a:bodyPr>
          <a:lstStyle/>
          <a:p>
            <a:pPr algn="r" rtl="1" marL="228600" indent="-228600">
              <a:spcAft>
                <a:spcPts val="300"/>
              </a:spcAft>
              <a:buFont typeface="Arial"/>
              <a:buChar char="•"/>
            </a:pPr>
            <a:r>
              <a:rPr lang="he-IL" sz="1300" b="0">
                <a:solidFill>
                  <a:srgbClr val="333F4A"/>
                </a:solidFill>
                <a:latin typeface="Arial Unicode MS"/>
                <a:ea typeface="Arial Unicode MS"/>
                <a:cs typeface="Arial Unicode MS"/>
              </a:rPr>
              <a:t>EN 197-1 — צמנט</a:t>
            </a:r>
          </a:p>
          <a:p>
            <a:pPr algn="r" rtl="1" marL="228600" indent="-228600">
              <a:spcAft>
                <a:spcPts val="300"/>
              </a:spcAft>
              <a:buFont typeface="Arial"/>
              <a:buChar char="•"/>
            </a:pPr>
            <a:r>
              <a:rPr lang="he-IL" sz="1300" b="0">
                <a:solidFill>
                  <a:srgbClr val="333F4A"/>
                </a:solidFill>
                <a:latin typeface="Arial Unicode MS"/>
                <a:ea typeface="Arial Unicode MS"/>
                <a:cs typeface="Arial Unicode MS"/>
              </a:rPr>
              <a:t>EN 206 — בטון</a:t>
            </a:r>
          </a:p>
          <a:p>
            <a:pPr algn="r" rtl="1" marL="228600" indent="-228600">
              <a:spcAft>
                <a:spcPts val="300"/>
              </a:spcAft>
              <a:buFont typeface="Arial"/>
              <a:buChar char="•"/>
            </a:pPr>
            <a:r>
              <a:rPr lang="he-IL" sz="1300" b="0">
                <a:solidFill>
                  <a:srgbClr val="333F4A"/>
                </a:solidFill>
                <a:latin typeface="Arial Unicode MS"/>
                <a:ea typeface="Arial Unicode MS"/>
                <a:cs typeface="Arial Unicode MS"/>
              </a:rPr>
              <a:t>EN 12350 — בדיקות בטון טרי</a:t>
            </a:r>
          </a:p>
          <a:p>
            <a:pPr algn="r" rtl="1" marL="228600" indent="-228600">
              <a:spcAft>
                <a:spcPts val="300"/>
              </a:spcAft>
              <a:buFont typeface="Arial"/>
              <a:buChar char="•"/>
            </a:pPr>
            <a:r>
              <a:rPr lang="he-IL" sz="1300" b="0">
                <a:solidFill>
                  <a:srgbClr val="333F4A"/>
                </a:solidFill>
                <a:latin typeface="Arial Unicode MS"/>
                <a:ea typeface="Arial Unicode MS"/>
                <a:cs typeface="Arial Unicode MS"/>
              </a:rPr>
              <a:t>EN 12390 — בדיקות בטון קשוח</a:t>
            </a:r>
          </a:p>
          <a:p>
            <a:pPr algn="r" rtl="1" marL="228600" indent="-228600">
              <a:spcAft>
                <a:spcPts val="300"/>
              </a:spcAft>
              <a:buFont typeface="Arial"/>
              <a:buChar char="•"/>
            </a:pPr>
            <a:r>
              <a:rPr lang="he-IL" sz="1300" b="0">
                <a:solidFill>
                  <a:srgbClr val="333F4A"/>
                </a:solidFill>
                <a:latin typeface="Arial Unicode MS"/>
                <a:ea typeface="Arial Unicode MS"/>
                <a:cs typeface="Arial Unicode MS"/>
              </a:rPr>
              <a:t>EN 12620 — אגרגטים</a:t>
            </a:r>
          </a:p>
          <a:p>
            <a:pPr algn="r" rtl="1" marL="228600" indent="-228600">
              <a:spcAft>
                <a:spcPts val="300"/>
              </a:spcAft>
              <a:buFont typeface="Arial"/>
              <a:buChar char="•"/>
            </a:pPr>
            <a:r>
              <a:rPr lang="he-IL" sz="1300" b="0">
                <a:solidFill>
                  <a:srgbClr val="333F4A"/>
                </a:solidFill>
                <a:latin typeface="Arial Unicode MS"/>
                <a:ea typeface="Arial Unicode MS"/>
                <a:cs typeface="Arial Unicode MS"/>
              </a:rPr>
              <a:t>EN 933 / 1097 — בדיקות אגרגט</a:t>
            </a:r>
          </a:p>
          <a:p>
            <a:pPr algn="r" rtl="1" marL="228600" indent="-228600">
              <a:spcAft>
                <a:spcPts val="300"/>
              </a:spcAft>
              <a:buFont typeface="Arial"/>
              <a:buChar char="•"/>
            </a:pPr>
            <a:r>
              <a:rPr lang="he-IL" sz="1300" b="0">
                <a:solidFill>
                  <a:srgbClr val="333F4A"/>
                </a:solidFill>
                <a:latin typeface="Arial Unicode MS"/>
                <a:ea typeface="Arial Unicode MS"/>
                <a:cs typeface="Arial Unicode MS"/>
              </a:rPr>
              <a:t>EN 934 — מוספים</a:t>
            </a:r>
          </a:p>
          <a:p>
            <a:pPr algn="r" rtl="1" marL="228600" indent="-228600">
              <a:spcAft>
                <a:spcPts val="300"/>
              </a:spcAft>
              <a:buFont typeface="Arial"/>
              <a:buChar char="•"/>
            </a:pPr>
            <a:r>
              <a:rPr lang="he-IL" sz="1300" b="0">
                <a:solidFill>
                  <a:srgbClr val="333F4A"/>
                </a:solidFill>
                <a:latin typeface="Arial Unicode MS"/>
                <a:ea typeface="Arial Unicode MS"/>
                <a:cs typeface="Arial Unicode MS"/>
              </a:rPr>
              <a:t>EN 1008 — מי ערבוב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5256" y="1097280"/>
            <a:ext cx="3474720" cy="3977639"/>
          </a:xfrm>
          <a:prstGeom prst="roundRect">
            <a:avLst>
              <a:gd name="adj" fmla="val 8000"/>
            </a:avLst>
          </a:prstGeom>
          <a:solidFill>
            <a:srgbClr val="EAF3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05256" y="1097280"/>
            <a:ext cx="3474720" cy="914400"/>
          </a:xfrm>
          <a:prstGeom prst="roundRect">
            <a:avLst>
              <a:gd name="adj" fmla="val 15000"/>
            </a:avLst>
          </a:prstGeom>
          <a:solidFill>
            <a:srgbClr val="5F6B7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602736" y="1280160"/>
            <a:ext cx="548640" cy="54864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0" name="Picture 19" descr="FaFlagUsa_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34409" y="1411833"/>
            <a:ext cx="285292" cy="285292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088136" y="1161288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t" rtlCol="1">
            <a:spAutoFit/>
          </a:bodyPr>
          <a:lstStyle/>
          <a:p>
            <a:pPr algn="r" rtl="1" marL="0" indent="0">
              <a:spcAft>
                <a:spcPts val="400"/>
              </a:spcAft>
              <a:buNone/>
            </a:pPr>
            <a:r>
              <a:rPr lang="he-IL" sz="22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ארה"ב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88136" y="1600200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 anchor="t" rtlCol="1">
            <a:spAutoFit/>
          </a:bodyPr>
          <a:lstStyle/>
          <a:p>
            <a:pPr algn="r" rtl="1" marL="0" indent="0">
              <a:spcAft>
                <a:spcPts val="400"/>
              </a:spcAft>
              <a:buNone/>
            </a:pPr>
            <a:r>
              <a:rPr lang="he-IL" sz="1300" b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ASTM / ACI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33856" y="2194560"/>
            <a:ext cx="3063240" cy="2834640"/>
          </a:xfrm>
          <a:prstGeom prst="rect">
            <a:avLst/>
          </a:prstGeom>
          <a:noFill/>
        </p:spPr>
        <p:txBody>
          <a:bodyPr wrap="square" lIns="0" rIns="0" tIns="0" bIns="0" anchor="t" rtlCol="1">
            <a:spAutoFit/>
          </a:bodyPr>
          <a:lstStyle/>
          <a:p>
            <a:pPr algn="r" rtl="1" marL="228600" indent="-228600">
              <a:spcAft>
                <a:spcPts val="300"/>
              </a:spcAft>
              <a:buFont typeface="Arial"/>
              <a:buChar char="•"/>
            </a:pPr>
            <a:r>
              <a:rPr lang="he-IL" sz="1300" b="0">
                <a:solidFill>
                  <a:srgbClr val="333F4A"/>
                </a:solidFill>
                <a:latin typeface="Arial Unicode MS"/>
                <a:ea typeface="Arial Unicode MS"/>
                <a:cs typeface="Arial Unicode MS"/>
              </a:rPr>
              <a:t>ASTM C33 — אגרגטים</a:t>
            </a:r>
          </a:p>
          <a:p>
            <a:pPr algn="r" rtl="1" marL="228600" indent="-228600">
              <a:spcAft>
                <a:spcPts val="300"/>
              </a:spcAft>
              <a:buFont typeface="Arial"/>
              <a:buChar char="•"/>
            </a:pPr>
            <a:r>
              <a:rPr lang="he-IL" sz="1300" b="0">
                <a:solidFill>
                  <a:srgbClr val="333F4A"/>
                </a:solidFill>
                <a:latin typeface="Arial Unicode MS"/>
                <a:ea typeface="Arial Unicode MS"/>
                <a:cs typeface="Arial Unicode MS"/>
              </a:rPr>
              <a:t>ASTM C39 — לחיצת גלילים</a:t>
            </a:r>
          </a:p>
          <a:p>
            <a:pPr algn="r" rtl="1" marL="228600" indent="-228600">
              <a:spcAft>
                <a:spcPts val="300"/>
              </a:spcAft>
              <a:buFont typeface="Arial"/>
              <a:buChar char="•"/>
            </a:pPr>
            <a:r>
              <a:rPr lang="he-IL" sz="1300" b="0">
                <a:solidFill>
                  <a:srgbClr val="333F4A"/>
                </a:solidFill>
                <a:latin typeface="Arial Unicode MS"/>
                <a:ea typeface="Arial Unicode MS"/>
                <a:cs typeface="Arial Unicode MS"/>
              </a:rPr>
              <a:t>ASTM C143 — שקיעה</a:t>
            </a:r>
          </a:p>
          <a:p>
            <a:pPr algn="r" rtl="1" marL="228600" indent="-228600">
              <a:spcAft>
                <a:spcPts val="300"/>
              </a:spcAft>
              <a:buFont typeface="Arial"/>
              <a:buChar char="•"/>
            </a:pPr>
            <a:r>
              <a:rPr lang="he-IL" sz="1300" b="0">
                <a:solidFill>
                  <a:srgbClr val="333F4A"/>
                </a:solidFill>
                <a:latin typeface="Arial Unicode MS"/>
                <a:ea typeface="Arial Unicode MS"/>
                <a:cs typeface="Arial Unicode MS"/>
              </a:rPr>
              <a:t>ASTM C494 — מוספים</a:t>
            </a:r>
          </a:p>
          <a:p>
            <a:pPr algn="r" rtl="1" marL="228600" indent="-228600">
              <a:spcAft>
                <a:spcPts val="300"/>
              </a:spcAft>
              <a:buFont typeface="Arial"/>
              <a:buChar char="•"/>
            </a:pPr>
            <a:r>
              <a:rPr lang="he-IL" sz="1300" b="0">
                <a:solidFill>
                  <a:srgbClr val="333F4A"/>
                </a:solidFill>
                <a:latin typeface="Arial Unicode MS"/>
                <a:ea typeface="Arial Unicode MS"/>
                <a:cs typeface="Arial Unicode MS"/>
              </a:rPr>
              <a:t>ASTM C1602 — מי ערבוב</a:t>
            </a:r>
          </a:p>
          <a:p>
            <a:pPr algn="r" rtl="1" marL="228600" indent="-228600">
              <a:spcAft>
                <a:spcPts val="300"/>
              </a:spcAft>
              <a:buFont typeface="Arial"/>
              <a:buChar char="•"/>
            </a:pPr>
            <a:r>
              <a:rPr lang="he-IL" sz="1300" b="0">
                <a:solidFill>
                  <a:srgbClr val="333F4A"/>
                </a:solidFill>
                <a:latin typeface="Arial Unicode MS"/>
                <a:ea typeface="Arial Unicode MS"/>
                <a:cs typeface="Arial Unicode MS"/>
              </a:rPr>
              <a:t>ACI 318 / 211 — תכן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2960" y="5257800"/>
            <a:ext cx="8183879" cy="640080"/>
          </a:xfrm>
          <a:prstGeom prst="roundRect">
            <a:avLst>
              <a:gd name="adj" fmla="val 8000"/>
            </a:avLst>
          </a:prstGeom>
          <a:solidFill>
            <a:srgbClr val="00397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394192" y="5349240"/>
            <a:ext cx="457200" cy="457200"/>
          </a:xfrm>
          <a:prstGeom prst="ellipse">
            <a:avLst/>
          </a:prstGeom>
          <a:solidFill>
            <a:srgbClr val="C4D8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6" name="Picture 25" descr="FaBook_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03919" y="5458968"/>
            <a:ext cx="237744" cy="237744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1051560" y="5257800"/>
            <a:ext cx="7269479" cy="640080"/>
          </a:xfrm>
          <a:prstGeom prst="rect">
            <a:avLst/>
          </a:prstGeom>
          <a:noFill/>
        </p:spPr>
        <p:txBody>
          <a:bodyPr wrap="square" lIns="0" rIns="0" tIns="0" bIns="0" anchor="ctr" rtlCol="1">
            <a:spAutoFit/>
          </a:bodyPr>
          <a:lstStyle/>
          <a:p>
            <a:pPr algn="r" rtl="1" marL="0" indent="0">
              <a:spcAft>
                <a:spcPts val="400"/>
              </a:spcAft>
              <a:buNone/>
            </a:pPr>
            <a:r>
              <a:rPr lang="he-IL" sz="17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התקינה הישראלית מתבססת יותר ויותר על התקינה האירופית; ASTM שכיח במפרטים בינלאומיים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>
                <a:latin typeface="Arial Unicode MS"/>
                <a:ea typeface="Arial Unicode MS"/>
                <a:cs typeface="Arial Unicode MS"/>
              </a:rPr>
              <a:t>נספח תקנים א': תקינה ישראלית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822960" y="1051560"/>
          <a:ext cx="10652760" cy="4005072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194560"/>
                <a:gridCol w="2103120"/>
                <a:gridCol w="2834640"/>
                <a:gridCol w="2286000"/>
                <a:gridCol w="1234440"/>
              </a:tblGrid>
              <a:tr h="420624">
                <a:tc>
                  <a:txBody>
                    <a:bodyPr wrap="square"/>
                    <a:lstStyle/>
                    <a:p>
                      <a:pPr algn="ctr" rtl="1" marL="0" indent="0">
                        <a:buNone/>
                      </a:pPr>
                      <a:r>
                        <a:rPr lang="he-IL" sz="130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רלוונטי ל-</a:t>
                      </a:r>
                    </a:p>
                  </a:txBody>
                  <a:tcPr marL="73152" marR="73152" marT="36576" marB="36576" anchor="ctr">
                    <a:solidFill>
                      <a:srgbClr val="0081C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 marL="0" indent="0">
                        <a:buNone/>
                      </a:pPr>
                      <a:r>
                        <a:rPr lang="he-IL" sz="130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תחום</a:t>
                      </a:r>
                    </a:p>
                  </a:txBody>
                  <a:tcPr marL="73152" marR="73152" marT="36576" marB="36576" anchor="ctr">
                    <a:solidFill>
                      <a:srgbClr val="0081C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 marL="0" indent="0">
                        <a:buNone/>
                      </a:pPr>
                      <a:r>
                        <a:rPr lang="he-IL" sz="130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מטרה</a:t>
                      </a:r>
                    </a:p>
                  </a:txBody>
                  <a:tcPr marL="73152" marR="73152" marT="36576" marB="36576" anchor="ctr">
                    <a:solidFill>
                      <a:srgbClr val="0081C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 marL="0" indent="0">
                        <a:buNone/>
                      </a:pPr>
                      <a:r>
                        <a:rPr lang="he-IL" sz="130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נושא</a:t>
                      </a:r>
                    </a:p>
                  </a:txBody>
                  <a:tcPr marL="73152" marR="73152" marT="36576" marB="36576" anchor="ctr">
                    <a:solidFill>
                      <a:srgbClr val="0081C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 marL="0" indent="0">
                        <a:buNone/>
                      </a:pPr>
                      <a:r>
                        <a:rPr lang="he-IL" sz="130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תקן</a:t>
                      </a:r>
                    </a:p>
                  </a:txBody>
                  <a:tcPr marL="73152" marR="73152" marT="36576" marB="36576" anchor="ctr">
                    <a:solidFill>
                      <a:srgbClr val="0081C8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r" rtl="1" marL="0" indent="0">
                        <a:buNone/>
                      </a:pPr>
                      <a:r>
                        <a:rPr lang="he-IL" sz="1300" b="0">
                          <a:solidFill>
                            <a:srgbClr val="333F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איכות, רכש, מעבדה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 marL="0" indent="0">
                        <a:buNone/>
                      </a:pPr>
                      <a:r>
                        <a:rPr lang="he-IL" sz="1300" b="0">
                          <a:solidFill>
                            <a:srgbClr val="333F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ייצור ואספקת צמנט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 marL="0" indent="0">
                        <a:buNone/>
                      </a:pPr>
                      <a:r>
                        <a:rPr lang="he-IL" sz="1300" b="0">
                          <a:solidFill>
                            <a:srgbClr val="333F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הרכב, סוגים ודרגות חוזק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 marL="0" indent="0">
                        <a:buNone/>
                      </a:pPr>
                      <a:r>
                        <a:rPr lang="he-IL" sz="1300" b="0">
                          <a:solidFill>
                            <a:srgbClr val="333F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צמנט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 marL="0" indent="0">
                        <a:buNone/>
                      </a:pPr>
                      <a:r>
                        <a:rPr lang="he-IL" sz="1300" b="1">
                          <a:solidFill>
                            <a:srgbClr val="333F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ת"י 1</a:t>
                      </a:r>
                    </a:p>
                  </a:txBody>
                  <a:tcPr marL="73152" marR="73152" marT="36576" marB="36576" anchor="ctr">
                    <a:solidFill>
                      <a:srgbClr val="EAF3FA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r" rtl="1" marL="0" indent="0">
                        <a:buNone/>
                      </a:pPr>
                      <a:r>
                        <a:rPr lang="he-IL" sz="1300" b="0">
                          <a:solidFill>
                            <a:srgbClr val="333F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מחצבות, איכות, מעבדה</a:t>
                      </a:r>
                    </a:p>
                  </a:txBody>
                  <a:tcPr marL="73152" marR="73152" marT="36576" marB="36576" anchor="ctr">
                    <a:solidFill>
                      <a:srgbClr val="F3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 marL="0" indent="0">
                        <a:buNone/>
                      </a:pPr>
                      <a:r>
                        <a:rPr lang="he-IL" sz="1300" b="0">
                          <a:solidFill>
                            <a:srgbClr val="333F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מחצבות ומפעלי אגרגט</a:t>
                      </a:r>
                    </a:p>
                  </a:txBody>
                  <a:tcPr marL="73152" marR="73152" marT="36576" marB="36576" anchor="ctr">
                    <a:solidFill>
                      <a:srgbClr val="F3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 marL="0" indent="0">
                        <a:buNone/>
                      </a:pPr>
                      <a:r>
                        <a:rPr lang="he-IL" sz="1300" b="0">
                          <a:solidFill>
                            <a:srgbClr val="333F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דרישות לאגרגט מאבן טבעית</a:t>
                      </a:r>
                    </a:p>
                  </a:txBody>
                  <a:tcPr marL="73152" marR="73152" marT="36576" marB="36576" anchor="ctr">
                    <a:solidFill>
                      <a:srgbClr val="F3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 marL="0" indent="0">
                        <a:buNone/>
                      </a:pPr>
                      <a:r>
                        <a:rPr lang="he-IL" sz="1300" b="0">
                          <a:solidFill>
                            <a:srgbClr val="333F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אגרגטים לבטון</a:t>
                      </a:r>
                    </a:p>
                  </a:txBody>
                  <a:tcPr marL="73152" marR="73152" marT="36576" marB="36576" anchor="ctr">
                    <a:solidFill>
                      <a:srgbClr val="F3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 marL="0" indent="0">
                        <a:buNone/>
                      </a:pPr>
                      <a:r>
                        <a:rPr lang="he-IL" sz="1300" b="1">
                          <a:solidFill>
                            <a:srgbClr val="333F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ת"י 3</a:t>
                      </a:r>
                    </a:p>
                  </a:txBody>
                  <a:tcPr marL="73152" marR="73152" marT="36576" marB="36576" anchor="ctr">
                    <a:solidFill>
                      <a:srgbClr val="EAF3FA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r" rtl="1" marL="0" indent="0">
                        <a:buNone/>
                      </a:pPr>
                      <a:r>
                        <a:rPr lang="he-IL" sz="1300" b="0">
                          <a:solidFill>
                            <a:srgbClr val="333F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מעבדה, טכנולוגים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 marL="0" indent="0">
                        <a:buNone/>
                      </a:pPr>
                      <a:r>
                        <a:rPr lang="he-IL" sz="1300" b="0">
                          <a:solidFill>
                            <a:srgbClr val="333F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בטון טרי וקשוח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 marL="0" indent="0">
                        <a:buNone/>
                      </a:pPr>
                      <a:r>
                        <a:rPr lang="he-IL" sz="1300" b="0">
                          <a:solidFill>
                            <a:srgbClr val="333F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נוהלי דגימה ובדיקה אחידים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 marL="0" indent="0">
                        <a:buNone/>
                      </a:pPr>
                      <a:r>
                        <a:rPr lang="he-IL" sz="1300" b="0">
                          <a:solidFill>
                            <a:srgbClr val="333F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שיטות בדיקה לבטון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 marL="0" indent="0">
                        <a:buNone/>
                      </a:pPr>
                      <a:r>
                        <a:rPr lang="he-IL" sz="1300" b="1">
                          <a:solidFill>
                            <a:srgbClr val="333F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ת"י 26</a:t>
                      </a:r>
                    </a:p>
                  </a:txBody>
                  <a:tcPr marL="73152" marR="73152" marT="36576" marB="36576" anchor="ctr">
                    <a:solidFill>
                      <a:srgbClr val="EAF3FA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r" rtl="1" marL="0" indent="0">
                        <a:buNone/>
                      </a:pPr>
                      <a:r>
                        <a:rPr lang="he-IL" sz="1300" b="0">
                          <a:solidFill>
                            <a:srgbClr val="333F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טכנולוגים, מהנדסים</a:t>
                      </a:r>
                    </a:p>
                  </a:txBody>
                  <a:tcPr marL="73152" marR="73152" marT="36576" marB="36576" anchor="ctr">
                    <a:solidFill>
                      <a:srgbClr val="F3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 marL="0" indent="0">
                        <a:buNone/>
                      </a:pPr>
                      <a:r>
                        <a:rPr lang="he-IL" sz="1300" b="0">
                          <a:solidFill>
                            <a:srgbClr val="333F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בטון בכל יישום</a:t>
                      </a:r>
                    </a:p>
                  </a:txBody>
                  <a:tcPr marL="73152" marR="73152" marT="36576" marB="36576" anchor="ctr">
                    <a:solidFill>
                      <a:srgbClr val="F3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 marL="0" indent="0">
                        <a:buNone/>
                      </a:pPr>
                      <a:r>
                        <a:rPr lang="he-IL" sz="1300" b="0">
                          <a:solidFill>
                            <a:srgbClr val="333F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דרגות חוזק, חשיפה והתאמה</a:t>
                      </a:r>
                    </a:p>
                  </a:txBody>
                  <a:tcPr marL="73152" marR="73152" marT="36576" marB="36576" anchor="ctr">
                    <a:solidFill>
                      <a:srgbClr val="F3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 marL="0" indent="0">
                        <a:buNone/>
                      </a:pPr>
                      <a:r>
                        <a:rPr lang="he-IL" sz="1300" b="0">
                          <a:solidFill>
                            <a:srgbClr val="333F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בטון: דרישות כלליות</a:t>
                      </a:r>
                    </a:p>
                  </a:txBody>
                  <a:tcPr marL="73152" marR="73152" marT="36576" marB="36576" anchor="ctr">
                    <a:solidFill>
                      <a:srgbClr val="F3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 marL="0" indent="0">
                        <a:buNone/>
                      </a:pPr>
                      <a:r>
                        <a:rPr lang="he-IL" sz="1300" b="1">
                          <a:solidFill>
                            <a:srgbClr val="333F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ת"י 118</a:t>
                      </a:r>
                    </a:p>
                  </a:txBody>
                  <a:tcPr marL="73152" marR="73152" marT="36576" marB="36576" anchor="ctr">
                    <a:solidFill>
                      <a:srgbClr val="EAF3FA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r" rtl="1" marL="0" indent="0">
                        <a:buNone/>
                      </a:pPr>
                      <a:r>
                        <a:rPr lang="he-IL" sz="1300" b="0">
                          <a:solidFill>
                            <a:srgbClr val="333F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מהנדסים, מנהלי אזורים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 marL="0" indent="0">
                        <a:buNone/>
                      </a:pPr>
                      <a:r>
                        <a:rPr lang="he-IL" sz="1300" b="0">
                          <a:solidFill>
                            <a:srgbClr val="333F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מבני בטון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 marL="0" indent="0">
                        <a:buNone/>
                      </a:pPr>
                      <a:r>
                        <a:rPr lang="he-IL" sz="1300" b="0">
                          <a:solidFill>
                            <a:srgbClr val="333F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תכן מבני וכללי ביצוע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 marL="0" indent="0">
                        <a:buNone/>
                      </a:pPr>
                      <a:r>
                        <a:rPr lang="he-IL" sz="1300" b="0">
                          <a:solidFill>
                            <a:srgbClr val="333F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חוקת הבטון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 marL="0" indent="0">
                        <a:buNone/>
                      </a:pPr>
                      <a:r>
                        <a:rPr lang="he-IL" sz="1300" b="1">
                          <a:solidFill>
                            <a:srgbClr val="333F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ת"י 466</a:t>
                      </a:r>
                    </a:p>
                  </a:txBody>
                  <a:tcPr marL="73152" marR="73152" marT="36576" marB="36576" anchor="ctr">
                    <a:solidFill>
                      <a:srgbClr val="EAF3FA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r" rtl="1" marL="0" indent="0">
                        <a:buNone/>
                      </a:pPr>
                      <a:r>
                        <a:rPr lang="he-IL" sz="1300" b="0">
                          <a:solidFill>
                            <a:srgbClr val="333F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מנהלי מפעלים, איכות</a:t>
                      </a:r>
                    </a:p>
                  </a:txBody>
                  <a:tcPr marL="73152" marR="73152" marT="36576" marB="36576" anchor="ctr">
                    <a:solidFill>
                      <a:srgbClr val="F3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 marL="0" indent="0">
                        <a:buNone/>
                      </a:pPr>
                      <a:r>
                        <a:rPr lang="he-IL" sz="1300" b="0">
                          <a:solidFill>
                            <a:srgbClr val="333F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מפעלי בטון מוכן</a:t>
                      </a:r>
                    </a:p>
                  </a:txBody>
                  <a:tcPr marL="73152" marR="73152" marT="36576" marB="36576" anchor="ctr">
                    <a:solidFill>
                      <a:srgbClr val="F3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 marL="0" indent="0">
                        <a:buNone/>
                      </a:pPr>
                      <a:r>
                        <a:rPr lang="he-IL" sz="1300" b="0">
                          <a:solidFill>
                            <a:srgbClr val="333F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ייצור, אספקה ובקרה</a:t>
                      </a:r>
                    </a:p>
                  </a:txBody>
                  <a:tcPr marL="73152" marR="73152" marT="36576" marB="36576" anchor="ctr">
                    <a:solidFill>
                      <a:srgbClr val="F3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 marL="0" indent="0">
                        <a:buNone/>
                      </a:pPr>
                      <a:r>
                        <a:rPr lang="he-IL" sz="1300" b="0">
                          <a:solidFill>
                            <a:srgbClr val="333F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בטון מובא</a:t>
                      </a:r>
                    </a:p>
                  </a:txBody>
                  <a:tcPr marL="73152" marR="73152" marT="36576" marB="36576" anchor="ctr">
                    <a:solidFill>
                      <a:srgbClr val="F3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 marL="0" indent="0">
                        <a:buNone/>
                      </a:pPr>
                      <a:r>
                        <a:rPr lang="he-IL" sz="1300" b="1">
                          <a:solidFill>
                            <a:srgbClr val="333F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ת"י 601</a:t>
                      </a:r>
                    </a:p>
                  </a:txBody>
                  <a:tcPr marL="73152" marR="73152" marT="36576" marB="36576" anchor="ctr">
                    <a:solidFill>
                      <a:srgbClr val="EAF3FA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r" rtl="1" marL="0" indent="0">
                        <a:buNone/>
                      </a:pPr>
                      <a:r>
                        <a:rPr lang="he-IL" sz="1300" b="0">
                          <a:solidFill>
                            <a:srgbClr val="333F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רכש, מעבדה, טכנולוגים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 marL="0" indent="0">
                        <a:buNone/>
                      </a:pPr>
                      <a:r>
                        <a:rPr lang="he-IL" sz="1300" b="0">
                          <a:solidFill>
                            <a:srgbClr val="333F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מוספים כימיים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 marL="0" indent="0">
                        <a:buNone/>
                      </a:pPr>
                      <a:r>
                        <a:rPr lang="he-IL" sz="1300" b="0">
                          <a:solidFill>
                            <a:srgbClr val="333F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דרישות וסימון מוספים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 marL="0" indent="0">
                        <a:buNone/>
                      </a:pPr>
                      <a:r>
                        <a:rPr lang="he-IL" sz="1300" b="0">
                          <a:solidFill>
                            <a:srgbClr val="333F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מוספים לבטון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 marL="0" indent="0">
                        <a:buNone/>
                      </a:pPr>
                      <a:r>
                        <a:rPr lang="he-IL" sz="1300" b="1">
                          <a:solidFill>
                            <a:srgbClr val="333F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ת"י 896</a:t>
                      </a:r>
                    </a:p>
                  </a:txBody>
                  <a:tcPr marL="73152" marR="73152" marT="36576" marB="36576" anchor="ctr">
                    <a:solidFill>
                      <a:srgbClr val="EAF3FA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822960" y="525780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 rtlCol="1">
            <a:spAutoFit/>
          </a:bodyPr>
          <a:lstStyle/>
          <a:p>
            <a:pPr algn="r" rtl="1" marL="0" indent="0">
              <a:spcAft>
                <a:spcPts val="400"/>
              </a:spcAft>
              <a:buNone/>
            </a:pPr>
            <a:r>
              <a:rPr lang="he-IL" sz="1100" b="0">
                <a:solidFill>
                  <a:srgbClr val="5F6B76"/>
                </a:solidFill>
                <a:latin typeface="Arial Unicode MS"/>
                <a:ea typeface="Arial Unicode MS"/>
                <a:cs typeface="Arial Unicode MS"/>
              </a:rPr>
              <a:t>יש לוודא תמיד את המהדורה העדכנית של כל תקן באתר מכון התקנים / הגוף המפרסם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>
                <a:latin typeface="Arial Unicode MS"/>
                <a:ea typeface="Arial Unicode MS"/>
                <a:cs typeface="Arial Unicode MS"/>
              </a:rPr>
              <a:t>נספח תקנים ב': תקינה בינלאומית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822960" y="1051560"/>
          <a:ext cx="10652760" cy="4261104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194560"/>
                <a:gridCol w="2103120"/>
                <a:gridCol w="2834640"/>
                <a:gridCol w="2286000"/>
                <a:gridCol w="1234440"/>
              </a:tblGrid>
              <a:tr h="420624">
                <a:tc>
                  <a:txBody>
                    <a:bodyPr wrap="square"/>
                    <a:lstStyle/>
                    <a:p>
                      <a:pPr algn="ctr" rtl="1" marL="0" indent="0">
                        <a:buNone/>
                      </a:pPr>
                      <a:r>
                        <a:rPr lang="he-IL" sz="120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רלוונטי ל-</a:t>
                      </a:r>
                    </a:p>
                  </a:txBody>
                  <a:tcPr marL="73152" marR="73152" marT="36576" marB="36576" anchor="ctr">
                    <a:solidFill>
                      <a:srgbClr val="0081C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 marL="0" indent="0">
                        <a:buNone/>
                      </a:pPr>
                      <a:r>
                        <a:rPr lang="he-IL" sz="120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תחום</a:t>
                      </a:r>
                    </a:p>
                  </a:txBody>
                  <a:tcPr marL="73152" marR="73152" marT="36576" marB="36576" anchor="ctr">
                    <a:solidFill>
                      <a:srgbClr val="0081C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 marL="0" indent="0">
                        <a:buNone/>
                      </a:pPr>
                      <a:r>
                        <a:rPr lang="he-IL" sz="120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מטרה</a:t>
                      </a:r>
                    </a:p>
                  </a:txBody>
                  <a:tcPr marL="73152" marR="73152" marT="36576" marB="36576" anchor="ctr">
                    <a:solidFill>
                      <a:srgbClr val="0081C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 marL="0" indent="0">
                        <a:buNone/>
                      </a:pPr>
                      <a:r>
                        <a:rPr lang="he-IL" sz="120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נושא</a:t>
                      </a:r>
                    </a:p>
                  </a:txBody>
                  <a:tcPr marL="73152" marR="73152" marT="36576" marB="36576" anchor="ctr">
                    <a:solidFill>
                      <a:srgbClr val="0081C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 marL="0" indent="0">
                        <a:buNone/>
                      </a:pPr>
                      <a:r>
                        <a:rPr lang="he-IL" sz="120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תקן</a:t>
                      </a:r>
                    </a:p>
                  </a:txBody>
                  <a:tcPr marL="73152" marR="73152" marT="36576" marB="36576" anchor="ctr">
                    <a:solidFill>
                      <a:srgbClr val="0081C8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r" rtl="1" marL="0" indent="0">
                        <a:buNone/>
                      </a:pPr>
                      <a:r>
                        <a:rPr lang="he-IL" sz="1200" b="0">
                          <a:solidFill>
                            <a:srgbClr val="333F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טכנולוגים, איכות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 marL="0" indent="0">
                        <a:buNone/>
                      </a:pPr>
                      <a:r>
                        <a:rPr lang="he-IL" sz="1200" b="0">
                          <a:solidFill>
                            <a:srgbClr val="333F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אירופה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 marL="0" indent="0">
                        <a:buNone/>
                      </a:pPr>
                      <a:r>
                        <a:rPr lang="he-IL" sz="1200" b="0">
                          <a:solidFill>
                            <a:srgbClr val="333F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דרגות, חשיפה, קריטריוני התאמה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 marL="0" indent="0">
                        <a:buNone/>
                      </a:pPr>
                      <a:r>
                        <a:rPr lang="he-IL" sz="1200" b="0">
                          <a:solidFill>
                            <a:srgbClr val="333F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בטון: מפרט, ביצועים, ייצור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 marL="0" indent="0">
                        <a:buNone/>
                      </a:pPr>
                      <a:r>
                        <a:rPr lang="he-IL" sz="1200" b="1">
                          <a:solidFill>
                            <a:srgbClr val="333F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EN 206</a:t>
                      </a:r>
                    </a:p>
                  </a:txBody>
                  <a:tcPr marL="73152" marR="73152" marT="36576" marB="36576" anchor="ctr">
                    <a:solidFill>
                      <a:srgbClr val="EAF3FA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r" rtl="1" marL="0" indent="0">
                        <a:buNone/>
                      </a:pPr>
                      <a:r>
                        <a:rPr lang="he-IL" sz="1200" b="0">
                          <a:solidFill>
                            <a:srgbClr val="333F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מעבדה</a:t>
                      </a:r>
                    </a:p>
                  </a:txBody>
                  <a:tcPr marL="73152" marR="73152" marT="36576" marB="36576" anchor="ctr">
                    <a:solidFill>
                      <a:srgbClr val="F3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 marL="0" indent="0">
                        <a:buNone/>
                      </a:pPr>
                      <a:r>
                        <a:rPr lang="he-IL" sz="1200" b="0">
                          <a:solidFill>
                            <a:srgbClr val="333F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מעבדות</a:t>
                      </a:r>
                    </a:p>
                  </a:txBody>
                  <a:tcPr marL="73152" marR="73152" marT="36576" marB="36576" anchor="ctr">
                    <a:solidFill>
                      <a:srgbClr val="F3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 marL="0" indent="0">
                        <a:buNone/>
                      </a:pPr>
                      <a:r>
                        <a:rPr lang="he-IL" sz="1200" b="0">
                          <a:solidFill>
                            <a:srgbClr val="333F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הכנה, אשפרה ולחיצה של דגימות</a:t>
                      </a:r>
                    </a:p>
                  </a:txBody>
                  <a:tcPr marL="73152" marR="73152" marT="36576" marB="36576" anchor="ctr">
                    <a:solidFill>
                      <a:srgbClr val="F3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 marL="0" indent="0">
                        <a:buNone/>
                      </a:pPr>
                      <a:r>
                        <a:rPr lang="he-IL" sz="1200" b="0">
                          <a:solidFill>
                            <a:srgbClr val="333F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בדיקות בטון קשוח</a:t>
                      </a:r>
                    </a:p>
                  </a:txBody>
                  <a:tcPr marL="73152" marR="73152" marT="36576" marB="36576" anchor="ctr">
                    <a:solidFill>
                      <a:srgbClr val="F3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 marL="0" indent="0">
                        <a:buNone/>
                      </a:pPr>
                      <a:r>
                        <a:rPr lang="he-IL" sz="1200" b="1">
                          <a:solidFill>
                            <a:srgbClr val="333F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EN 12390</a:t>
                      </a:r>
                    </a:p>
                  </a:txBody>
                  <a:tcPr marL="73152" marR="73152" marT="36576" marB="36576" anchor="ctr">
                    <a:solidFill>
                      <a:srgbClr val="EAF3FA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r" rtl="1" marL="0" indent="0">
                        <a:buNone/>
                      </a:pPr>
                      <a:r>
                        <a:rPr lang="he-IL" sz="1200" b="0">
                          <a:solidFill>
                            <a:srgbClr val="333F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מחצבות, איכות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 marL="0" indent="0">
                        <a:buNone/>
                      </a:pPr>
                      <a:r>
                        <a:rPr lang="he-IL" sz="1200" b="0">
                          <a:solidFill>
                            <a:srgbClr val="333F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ספקי אגרגט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 marL="0" indent="0">
                        <a:buNone/>
                      </a:pPr>
                      <a:r>
                        <a:rPr lang="he-IL" sz="1200" b="0">
                          <a:solidFill>
                            <a:srgbClr val="333F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תכונות ודרישות לאגרגט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 marL="0" indent="0">
                        <a:buNone/>
                      </a:pPr>
                      <a:r>
                        <a:rPr lang="he-IL" sz="1200" b="0">
                          <a:solidFill>
                            <a:srgbClr val="333F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אגרגטים לבטון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 marL="0" indent="0">
                        <a:buNone/>
                      </a:pPr>
                      <a:r>
                        <a:rPr lang="he-IL" sz="1200" b="1">
                          <a:solidFill>
                            <a:srgbClr val="333F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EN 12620</a:t>
                      </a:r>
                    </a:p>
                  </a:txBody>
                  <a:tcPr marL="73152" marR="73152" marT="36576" marB="36576" anchor="ctr">
                    <a:solidFill>
                      <a:srgbClr val="EAF3FA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r" rtl="1" marL="0" indent="0">
                        <a:buNone/>
                      </a:pPr>
                      <a:r>
                        <a:rPr lang="he-IL" sz="1200" b="0">
                          <a:solidFill>
                            <a:srgbClr val="333F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מעבדה, רכש</a:t>
                      </a:r>
                    </a:p>
                  </a:txBody>
                  <a:tcPr marL="73152" marR="73152" marT="36576" marB="36576" anchor="ctr">
                    <a:solidFill>
                      <a:srgbClr val="F3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 marL="0" indent="0">
                        <a:buNone/>
                      </a:pPr>
                      <a:r>
                        <a:rPr lang="he-IL" sz="1200" b="0">
                          <a:solidFill>
                            <a:srgbClr val="333F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פרויקטים לפי ASTM</a:t>
                      </a:r>
                    </a:p>
                  </a:txBody>
                  <a:tcPr marL="73152" marR="73152" marT="36576" marB="36576" anchor="ctr">
                    <a:solidFill>
                      <a:srgbClr val="F3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 marL="0" indent="0">
                        <a:buNone/>
                      </a:pPr>
                      <a:r>
                        <a:rPr lang="he-IL" sz="1200" b="0">
                          <a:solidFill>
                            <a:srgbClr val="333F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גרדציה ואיכות אגרגטים</a:t>
                      </a:r>
                    </a:p>
                  </a:txBody>
                  <a:tcPr marL="73152" marR="73152" marT="36576" marB="36576" anchor="ctr">
                    <a:solidFill>
                      <a:srgbClr val="F3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 marL="0" indent="0">
                        <a:buNone/>
                      </a:pPr>
                      <a:r>
                        <a:rPr lang="he-IL" sz="1200" b="0">
                          <a:solidFill>
                            <a:srgbClr val="333F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אגרגטים לבטון</a:t>
                      </a:r>
                    </a:p>
                  </a:txBody>
                  <a:tcPr marL="73152" marR="73152" marT="36576" marB="36576" anchor="ctr">
                    <a:solidFill>
                      <a:srgbClr val="F3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 marL="0" indent="0">
                        <a:buNone/>
                      </a:pPr>
                      <a:r>
                        <a:rPr lang="he-IL" sz="1200" b="1">
                          <a:solidFill>
                            <a:srgbClr val="333F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ASTM C33</a:t>
                      </a:r>
                    </a:p>
                  </a:txBody>
                  <a:tcPr marL="73152" marR="73152" marT="36576" marB="36576" anchor="ctr">
                    <a:solidFill>
                      <a:srgbClr val="EAF3FA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r" rtl="1" marL="0" indent="0">
                        <a:buNone/>
                      </a:pPr>
                      <a:r>
                        <a:rPr lang="he-IL" sz="1200" b="0">
                          <a:solidFill>
                            <a:srgbClr val="333F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מעבדה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 marL="0" indent="0">
                        <a:buNone/>
                      </a:pPr>
                      <a:r>
                        <a:rPr lang="he-IL" sz="1200" b="0">
                          <a:solidFill>
                            <a:srgbClr val="333F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מעבדות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 marL="0" indent="0">
                        <a:buNone/>
                      </a:pPr>
                      <a:r>
                        <a:rPr lang="he-IL" sz="1200" b="0">
                          <a:solidFill>
                            <a:srgbClr val="333F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שיטת בדיקת החוזק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 marL="0" indent="0">
                        <a:buNone/>
                      </a:pPr>
                      <a:r>
                        <a:rPr lang="he-IL" sz="1200" b="0">
                          <a:solidFill>
                            <a:srgbClr val="333F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לחיצת גלילים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 marL="0" indent="0">
                        <a:buNone/>
                      </a:pPr>
                      <a:r>
                        <a:rPr lang="he-IL" sz="1200" b="1">
                          <a:solidFill>
                            <a:srgbClr val="333F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ASTM C39</a:t>
                      </a:r>
                    </a:p>
                  </a:txBody>
                  <a:tcPr marL="73152" marR="73152" marT="36576" marB="36576" anchor="ctr">
                    <a:solidFill>
                      <a:srgbClr val="EAF3FA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r" rtl="1" marL="0" indent="0">
                        <a:buNone/>
                      </a:pPr>
                      <a:r>
                        <a:rPr lang="he-IL" sz="1200" b="0">
                          <a:solidFill>
                            <a:srgbClr val="333F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טכנאים, איכות</a:t>
                      </a:r>
                    </a:p>
                  </a:txBody>
                  <a:tcPr marL="73152" marR="73152" marT="36576" marB="36576" anchor="ctr">
                    <a:solidFill>
                      <a:srgbClr val="F3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 marL="0" indent="0">
                        <a:buNone/>
                      </a:pPr>
                      <a:r>
                        <a:rPr lang="he-IL" sz="1200" b="0">
                          <a:solidFill>
                            <a:srgbClr val="333F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אתר ומפעל</a:t>
                      </a:r>
                    </a:p>
                  </a:txBody>
                  <a:tcPr marL="73152" marR="73152" marT="36576" marB="36576" anchor="ctr">
                    <a:solidFill>
                      <a:srgbClr val="F3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 marL="0" indent="0">
                        <a:buNone/>
                      </a:pPr>
                      <a:r>
                        <a:rPr lang="he-IL" sz="1200" b="0">
                          <a:solidFill>
                            <a:srgbClr val="333F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שיטת בדיקת העבידות</a:t>
                      </a:r>
                    </a:p>
                  </a:txBody>
                  <a:tcPr marL="73152" marR="73152" marT="36576" marB="36576" anchor="ctr">
                    <a:solidFill>
                      <a:srgbClr val="F3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 marL="0" indent="0">
                        <a:buNone/>
                      </a:pPr>
                      <a:r>
                        <a:rPr lang="he-IL" sz="1200" b="0">
                          <a:solidFill>
                            <a:srgbClr val="333F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שקיעה</a:t>
                      </a:r>
                    </a:p>
                  </a:txBody>
                  <a:tcPr marL="73152" marR="73152" marT="36576" marB="36576" anchor="ctr">
                    <a:solidFill>
                      <a:srgbClr val="F3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 marL="0" indent="0">
                        <a:buNone/>
                      </a:pPr>
                      <a:r>
                        <a:rPr lang="he-IL" sz="1200" b="1">
                          <a:solidFill>
                            <a:srgbClr val="333F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ASTM C143</a:t>
                      </a:r>
                    </a:p>
                  </a:txBody>
                  <a:tcPr marL="73152" marR="73152" marT="36576" marB="36576" anchor="ctr">
                    <a:solidFill>
                      <a:srgbClr val="EAF3FA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r" rtl="1" marL="0" indent="0">
                        <a:buNone/>
                      </a:pPr>
                      <a:r>
                        <a:rPr lang="he-IL" sz="1200" b="0">
                          <a:solidFill>
                            <a:srgbClr val="333F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טכנולוגים, רכש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 marL="0" indent="0">
                        <a:buNone/>
                      </a:pPr>
                      <a:r>
                        <a:rPr lang="he-IL" sz="1200" b="0">
                          <a:solidFill>
                            <a:srgbClr val="333F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ספקי מוספים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 marL="0" indent="0">
                        <a:buNone/>
                      </a:pPr>
                      <a:r>
                        <a:rPr lang="he-IL" sz="1200" b="0">
                          <a:solidFill>
                            <a:srgbClr val="333F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סוגי מוספים (A-G) ודרישות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 marL="0" indent="0">
                        <a:buNone/>
                      </a:pPr>
                      <a:r>
                        <a:rPr lang="he-IL" sz="1200" b="0">
                          <a:solidFill>
                            <a:srgbClr val="333F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מוספים כימיים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 marL="0" indent="0">
                        <a:buNone/>
                      </a:pPr>
                      <a:r>
                        <a:rPr lang="he-IL" sz="1200" b="1">
                          <a:solidFill>
                            <a:srgbClr val="333F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ASTM C494</a:t>
                      </a:r>
                    </a:p>
                  </a:txBody>
                  <a:tcPr marL="73152" marR="73152" marT="36576" marB="36576" anchor="ctr">
                    <a:solidFill>
                      <a:srgbClr val="EAF3FA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r" rtl="1" marL="0" indent="0">
                        <a:buNone/>
                      </a:pPr>
                      <a:r>
                        <a:rPr lang="he-IL" sz="1200" b="0">
                          <a:solidFill>
                            <a:srgbClr val="333F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מעבדה, מחצבות</a:t>
                      </a:r>
                    </a:p>
                  </a:txBody>
                  <a:tcPr marL="73152" marR="73152" marT="36576" marB="36576" anchor="ctr">
                    <a:solidFill>
                      <a:srgbClr val="F3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 marL="0" indent="0">
                        <a:buNone/>
                      </a:pPr>
                      <a:r>
                        <a:rPr lang="he-IL" sz="1200" b="0">
                          <a:solidFill>
                            <a:srgbClr val="333F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מעבדות</a:t>
                      </a:r>
                    </a:p>
                  </a:txBody>
                  <a:tcPr marL="73152" marR="73152" marT="36576" marB="36576" anchor="ctr">
                    <a:solidFill>
                      <a:srgbClr val="F3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 marL="0" indent="0">
                        <a:buNone/>
                      </a:pPr>
                      <a:r>
                        <a:rPr lang="he-IL" sz="1200" b="0">
                          <a:solidFill>
                            <a:srgbClr val="333F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גרדציה, דקים, צפיפות, LA</a:t>
                      </a:r>
                    </a:p>
                  </a:txBody>
                  <a:tcPr marL="73152" marR="73152" marT="36576" marB="36576" anchor="ctr">
                    <a:solidFill>
                      <a:srgbClr val="F3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 marL="0" indent="0">
                        <a:buNone/>
                      </a:pPr>
                      <a:r>
                        <a:rPr lang="he-IL" sz="1200" b="0">
                          <a:solidFill>
                            <a:srgbClr val="333F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בדיקות אגרגט</a:t>
                      </a:r>
                    </a:p>
                  </a:txBody>
                  <a:tcPr marL="73152" marR="73152" marT="36576" marB="36576" anchor="ctr">
                    <a:solidFill>
                      <a:srgbClr val="F3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 marL="0" indent="0">
                        <a:buNone/>
                      </a:pPr>
                      <a:r>
                        <a:rPr lang="he-IL" sz="1200" b="1">
                          <a:solidFill>
                            <a:srgbClr val="333F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EN 933 / 1097</a:t>
                      </a:r>
                    </a:p>
                  </a:txBody>
                  <a:tcPr marL="73152" marR="73152" marT="36576" marB="36576" anchor="ctr">
                    <a:solidFill>
                      <a:srgbClr val="EAF3FA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r" rtl="1" marL="0" indent="0">
                        <a:buNone/>
                      </a:pPr>
                      <a:r>
                        <a:rPr lang="he-IL" sz="1200" b="0">
                          <a:solidFill>
                            <a:srgbClr val="333F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מנהלי מפעלים, איכות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 marL="0" indent="0">
                        <a:buNone/>
                      </a:pPr>
                      <a:r>
                        <a:rPr lang="he-IL" sz="1200" b="0">
                          <a:solidFill>
                            <a:srgbClr val="333F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מפעלי בטון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 marL="0" indent="0">
                        <a:buNone/>
                      </a:pPr>
                      <a:r>
                        <a:rPr lang="he-IL" sz="1200" b="0">
                          <a:solidFill>
                            <a:srgbClr val="333F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דרישות למים, כולל ממוחזרים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 marL="0" indent="0">
                        <a:buNone/>
                      </a:pPr>
                      <a:r>
                        <a:rPr lang="he-IL" sz="1200" b="0">
                          <a:solidFill>
                            <a:srgbClr val="333F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מי ערבוב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 marL="0" indent="0">
                        <a:buNone/>
                      </a:pPr>
                      <a:r>
                        <a:rPr lang="he-IL" sz="1200" b="1">
                          <a:solidFill>
                            <a:srgbClr val="333F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EN 1008</a:t>
                      </a:r>
                    </a:p>
                  </a:txBody>
                  <a:tcPr marL="73152" marR="73152" marT="36576" marB="36576" anchor="ctr">
                    <a:solidFill>
                      <a:srgbClr val="EAF3FA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r" rtl="1" marL="0" indent="0">
                        <a:buNone/>
                      </a:pPr>
                      <a:r>
                        <a:rPr lang="he-IL" sz="1200" b="0">
                          <a:solidFill>
                            <a:srgbClr val="333F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איכות, מעבדה</a:t>
                      </a:r>
                    </a:p>
                  </a:txBody>
                  <a:tcPr marL="73152" marR="73152" marT="36576" marB="36576" anchor="ctr">
                    <a:solidFill>
                      <a:srgbClr val="F3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 marL="0" indent="0">
                        <a:buNone/>
                      </a:pPr>
                      <a:r>
                        <a:rPr lang="he-IL" sz="1200" b="0">
                          <a:solidFill>
                            <a:srgbClr val="333F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פרויקטים לפי ASTM</a:t>
                      </a:r>
                    </a:p>
                  </a:txBody>
                  <a:tcPr marL="73152" marR="73152" marT="36576" marB="36576" anchor="ctr">
                    <a:solidFill>
                      <a:srgbClr val="F3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 marL="0" indent="0">
                        <a:buNone/>
                      </a:pPr>
                      <a:r>
                        <a:rPr lang="he-IL" sz="1200" b="0">
                          <a:solidFill>
                            <a:srgbClr val="333F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מים ממוחזרים ומעורבים</a:t>
                      </a:r>
                    </a:p>
                  </a:txBody>
                  <a:tcPr marL="73152" marR="73152" marT="36576" marB="36576" anchor="ctr">
                    <a:solidFill>
                      <a:srgbClr val="F3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 marL="0" indent="0">
                        <a:buNone/>
                      </a:pPr>
                      <a:r>
                        <a:rPr lang="he-IL" sz="1200" b="0">
                          <a:solidFill>
                            <a:srgbClr val="333F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מי ערבוב</a:t>
                      </a:r>
                    </a:p>
                  </a:txBody>
                  <a:tcPr marL="73152" marR="73152" marT="36576" marB="36576" anchor="ctr">
                    <a:solidFill>
                      <a:srgbClr val="F3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 marL="0" indent="0">
                        <a:buNone/>
                      </a:pPr>
                      <a:r>
                        <a:rPr lang="he-IL" sz="1200" b="1">
                          <a:solidFill>
                            <a:srgbClr val="333F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ASTM C1602</a:t>
                      </a:r>
                    </a:p>
                  </a:txBody>
                  <a:tcPr marL="73152" marR="73152" marT="36576" marB="36576" anchor="ctr">
                    <a:solidFill>
                      <a:srgbClr val="EAF3FA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822960" y="548640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 rtlCol="1">
            <a:spAutoFit/>
          </a:bodyPr>
          <a:lstStyle/>
          <a:p>
            <a:pPr algn="r" rtl="1" marL="0" indent="0">
              <a:spcAft>
                <a:spcPts val="400"/>
              </a:spcAft>
              <a:buNone/>
            </a:pPr>
            <a:r>
              <a:rPr lang="he-IL" sz="1100" b="0">
                <a:solidFill>
                  <a:srgbClr val="5F6B76"/>
                </a:solidFill>
                <a:latin typeface="Arial Unicode MS"/>
                <a:ea typeface="Arial Unicode MS"/>
                <a:cs typeface="Arial Unicode MS"/>
              </a:rPr>
              <a:t>יש לוודא תמיד את המהדורה העדכנית של כל תקן באתר מכון התקנים / הגוף המפרסם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>
                <a:latin typeface="Arial Unicode MS"/>
                <a:ea typeface="Arial Unicode MS"/>
                <a:cs typeface="Arial Unicode MS"/>
              </a:rPr>
              <a:t>סיכום: 5 מסרים מרכזיים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286000" y="1097280"/>
            <a:ext cx="9189720" cy="731520"/>
          </a:xfrm>
          <a:prstGeom prst="roundRect">
            <a:avLst>
              <a:gd name="adj" fmla="val 8000"/>
            </a:avLst>
          </a:prstGeom>
          <a:solidFill>
            <a:srgbClr val="EAF3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753344" y="1197864"/>
            <a:ext cx="530352" cy="530352"/>
          </a:xfrm>
          <a:prstGeom prst="ellipse">
            <a:avLst/>
          </a:prstGeom>
          <a:solidFill>
            <a:srgbClr val="C4D82E"/>
          </a:solidFill>
          <a:ln>
            <a:noFill/>
          </a:ln>
        </p:spPr>
        <p:txBody>
          <a:bodyPr rtlCol="0" anchor="ctr" wrap="square" lIns="0" rIns="0" tIns="18288" bIns="18288"/>
          <a:lstStyle/>
          <a:p>
            <a:pPr algn="ctr" rtl="1" marL="0" indent="0">
              <a:buNone/>
            </a:pPr>
            <a:r>
              <a:rPr lang="he-IL" sz="2000" b="1">
                <a:solidFill>
                  <a:srgbClr val="003973"/>
                </a:solidFill>
                <a:latin typeface="Arial Unicode MS"/>
                <a:ea typeface="Arial Unicode MS"/>
                <a:cs typeface="Arial Unicode MS"/>
              </a:rPr>
              <a:t>1</a:t>
            </a:r>
          </a:p>
        </p:txBody>
      </p:sp>
      <p:sp>
        <p:nvSpPr>
          <p:cNvPr id="5" name="Oval 4"/>
          <p:cNvSpPr/>
          <p:nvPr/>
        </p:nvSpPr>
        <p:spPr>
          <a:xfrm>
            <a:off x="2523744" y="1197864"/>
            <a:ext cx="530352" cy="530352"/>
          </a:xfrm>
          <a:prstGeom prst="ellipse">
            <a:avLst/>
          </a:prstGeom>
          <a:solidFill>
            <a:srgbClr val="0081C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6" name="Picture 5" descr="FaCubes_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1028" y="1325148"/>
            <a:ext cx="275783" cy="27578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291840" y="1097280"/>
            <a:ext cx="7223760" cy="731520"/>
          </a:xfrm>
          <a:prstGeom prst="rect">
            <a:avLst/>
          </a:prstGeom>
          <a:noFill/>
        </p:spPr>
        <p:txBody>
          <a:bodyPr wrap="square" lIns="0" rIns="0" tIns="0" bIns="0" anchor="ctr" rtlCol="1">
            <a:spAutoFit/>
          </a:bodyPr>
          <a:lstStyle/>
          <a:p>
            <a:pPr algn="r" rtl="1" marL="0" indent="0">
              <a:spcAft>
                <a:spcPts val="400"/>
              </a:spcAft>
              <a:buNone/>
            </a:pPr>
            <a:r>
              <a:rPr lang="he-IL" sz="2200" b="1">
                <a:solidFill>
                  <a:srgbClr val="003973"/>
                </a:solidFill>
                <a:latin typeface="Arial Unicode MS"/>
                <a:ea typeface="Arial Unicode MS"/>
                <a:cs typeface="Arial Unicode MS"/>
              </a:rPr>
              <a:t>איכות מתחילה בחומרי הגלם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286000" y="1965960"/>
            <a:ext cx="9189720" cy="731520"/>
          </a:xfrm>
          <a:prstGeom prst="roundRect">
            <a:avLst>
              <a:gd name="adj" fmla="val 8000"/>
            </a:avLst>
          </a:prstGeom>
          <a:solidFill>
            <a:srgbClr val="00397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753344" y="2066543"/>
            <a:ext cx="530352" cy="530352"/>
          </a:xfrm>
          <a:prstGeom prst="ellipse">
            <a:avLst/>
          </a:prstGeom>
          <a:solidFill>
            <a:srgbClr val="C4D82E"/>
          </a:solidFill>
          <a:ln>
            <a:noFill/>
          </a:ln>
        </p:spPr>
        <p:txBody>
          <a:bodyPr rtlCol="0" anchor="ctr" wrap="square" lIns="0" rIns="0" tIns="18288" bIns="18288"/>
          <a:lstStyle/>
          <a:p>
            <a:pPr algn="ctr" rtl="1" marL="0" indent="0">
              <a:buNone/>
            </a:pPr>
            <a:r>
              <a:rPr lang="he-IL" sz="2000" b="1">
                <a:solidFill>
                  <a:srgbClr val="003973"/>
                </a:solidFill>
                <a:latin typeface="Arial Unicode MS"/>
                <a:ea typeface="Arial Unicode MS"/>
                <a:cs typeface="Arial Unicode MS"/>
              </a:rPr>
              <a:t>2</a:t>
            </a:r>
          </a:p>
        </p:txBody>
      </p:sp>
      <p:sp>
        <p:nvSpPr>
          <p:cNvPr id="10" name="Oval 9"/>
          <p:cNvSpPr/>
          <p:nvPr/>
        </p:nvSpPr>
        <p:spPr>
          <a:xfrm>
            <a:off x="2523744" y="2066543"/>
            <a:ext cx="530352" cy="530352"/>
          </a:xfrm>
          <a:prstGeom prst="ellipse">
            <a:avLst/>
          </a:prstGeom>
          <a:solidFill>
            <a:srgbClr val="0081C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Picture 10" descr="FaTint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51028" y="2193828"/>
            <a:ext cx="275783" cy="275783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291840" y="1965960"/>
            <a:ext cx="7223760" cy="731520"/>
          </a:xfrm>
          <a:prstGeom prst="rect">
            <a:avLst/>
          </a:prstGeom>
          <a:noFill/>
        </p:spPr>
        <p:txBody>
          <a:bodyPr wrap="square" lIns="0" rIns="0" tIns="0" bIns="0" anchor="ctr" rtlCol="1">
            <a:spAutoFit/>
          </a:bodyPr>
          <a:lstStyle/>
          <a:p>
            <a:pPr algn="r" rtl="1" marL="0" indent="0">
              <a:spcAft>
                <a:spcPts val="400"/>
              </a:spcAft>
              <a:buNone/>
            </a:pPr>
            <a:r>
              <a:rPr lang="he-IL" sz="22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W/C הוא הפרמטר הקריטי ביותר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286000" y="2834639"/>
            <a:ext cx="9189720" cy="731520"/>
          </a:xfrm>
          <a:prstGeom prst="roundRect">
            <a:avLst>
              <a:gd name="adj" fmla="val 8000"/>
            </a:avLst>
          </a:prstGeom>
          <a:solidFill>
            <a:srgbClr val="EAF3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753344" y="2935223"/>
            <a:ext cx="530352" cy="530352"/>
          </a:xfrm>
          <a:prstGeom prst="ellipse">
            <a:avLst/>
          </a:prstGeom>
          <a:solidFill>
            <a:srgbClr val="C4D82E"/>
          </a:solidFill>
          <a:ln>
            <a:noFill/>
          </a:ln>
        </p:spPr>
        <p:txBody>
          <a:bodyPr rtlCol="0" anchor="ctr" wrap="square" lIns="0" rIns="0" tIns="18288" bIns="18288"/>
          <a:lstStyle/>
          <a:p>
            <a:pPr algn="ctr" rtl="1" marL="0" indent="0">
              <a:buNone/>
            </a:pPr>
            <a:r>
              <a:rPr lang="he-IL" sz="2000" b="1">
                <a:solidFill>
                  <a:srgbClr val="003973"/>
                </a:solidFill>
                <a:latin typeface="Arial Unicode MS"/>
                <a:ea typeface="Arial Unicode MS"/>
                <a:cs typeface="Arial Unicode MS"/>
              </a:rPr>
              <a:t>3</a:t>
            </a:r>
          </a:p>
        </p:txBody>
      </p:sp>
      <p:sp>
        <p:nvSpPr>
          <p:cNvPr id="15" name="Oval 14"/>
          <p:cNvSpPr/>
          <p:nvPr/>
        </p:nvSpPr>
        <p:spPr>
          <a:xfrm>
            <a:off x="2523744" y="2935223"/>
            <a:ext cx="530352" cy="530352"/>
          </a:xfrm>
          <a:prstGeom prst="ellipse">
            <a:avLst/>
          </a:prstGeom>
          <a:solidFill>
            <a:srgbClr val="0081C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Picture 15" descr="FaClipboardCheck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51028" y="3062508"/>
            <a:ext cx="275783" cy="275783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3291840" y="2834639"/>
            <a:ext cx="7223760" cy="731520"/>
          </a:xfrm>
          <a:prstGeom prst="rect">
            <a:avLst/>
          </a:prstGeom>
          <a:noFill/>
        </p:spPr>
        <p:txBody>
          <a:bodyPr wrap="square" lIns="0" rIns="0" tIns="0" bIns="0" anchor="ctr" rtlCol="1">
            <a:spAutoFit/>
          </a:bodyPr>
          <a:lstStyle/>
          <a:p>
            <a:pPr algn="r" rtl="1" marL="0" indent="0">
              <a:spcAft>
                <a:spcPts val="400"/>
              </a:spcAft>
              <a:buNone/>
            </a:pPr>
            <a:r>
              <a:rPr lang="he-IL" sz="2200" b="1">
                <a:solidFill>
                  <a:srgbClr val="003973"/>
                </a:solidFill>
                <a:latin typeface="Arial Unicode MS"/>
                <a:ea typeface="Arial Unicode MS"/>
                <a:cs typeface="Arial Unicode MS"/>
              </a:rPr>
              <a:t>בקרת איכות מונעת כשלים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286000" y="3703320"/>
            <a:ext cx="9189720" cy="731520"/>
          </a:xfrm>
          <a:prstGeom prst="roundRect">
            <a:avLst>
              <a:gd name="adj" fmla="val 8000"/>
            </a:avLst>
          </a:prstGeom>
          <a:solidFill>
            <a:srgbClr val="EAF3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753344" y="3803904"/>
            <a:ext cx="530352" cy="530352"/>
          </a:xfrm>
          <a:prstGeom prst="ellipse">
            <a:avLst/>
          </a:prstGeom>
          <a:solidFill>
            <a:srgbClr val="C4D82E"/>
          </a:solidFill>
          <a:ln>
            <a:noFill/>
          </a:ln>
        </p:spPr>
        <p:txBody>
          <a:bodyPr rtlCol="0" anchor="ctr" wrap="square" lIns="0" rIns="0" tIns="18288" bIns="18288"/>
          <a:lstStyle/>
          <a:p>
            <a:pPr algn="ctr" rtl="1" marL="0" indent="0">
              <a:buNone/>
            </a:pPr>
            <a:r>
              <a:rPr lang="he-IL" sz="2000" b="1">
                <a:solidFill>
                  <a:srgbClr val="003973"/>
                </a:solidFill>
                <a:latin typeface="Arial Unicode MS"/>
                <a:ea typeface="Arial Unicode MS"/>
                <a:cs typeface="Arial Unicode MS"/>
              </a:rPr>
              <a:t>4</a:t>
            </a:r>
          </a:p>
        </p:txBody>
      </p:sp>
      <p:sp>
        <p:nvSpPr>
          <p:cNvPr id="20" name="Oval 19"/>
          <p:cNvSpPr/>
          <p:nvPr/>
        </p:nvSpPr>
        <p:spPr>
          <a:xfrm>
            <a:off x="2523744" y="3803904"/>
            <a:ext cx="530352" cy="530352"/>
          </a:xfrm>
          <a:prstGeom prst="ellipse">
            <a:avLst/>
          </a:prstGeom>
          <a:solidFill>
            <a:srgbClr val="0081C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1" name="Picture 20" descr="FaDollarSign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51028" y="3931188"/>
            <a:ext cx="275783" cy="275783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3291840" y="3703320"/>
            <a:ext cx="7223760" cy="731520"/>
          </a:xfrm>
          <a:prstGeom prst="rect">
            <a:avLst/>
          </a:prstGeom>
          <a:noFill/>
        </p:spPr>
        <p:txBody>
          <a:bodyPr wrap="square" lIns="0" rIns="0" tIns="0" bIns="0" anchor="ctr" rtlCol="1">
            <a:spAutoFit/>
          </a:bodyPr>
          <a:lstStyle/>
          <a:p>
            <a:pPr algn="r" rtl="1" marL="0" indent="0">
              <a:spcAft>
                <a:spcPts val="400"/>
              </a:spcAft>
              <a:buNone/>
            </a:pPr>
            <a:r>
              <a:rPr lang="he-IL" sz="2200" b="1">
                <a:solidFill>
                  <a:srgbClr val="003973"/>
                </a:solidFill>
                <a:latin typeface="Arial Unicode MS"/>
                <a:ea typeface="Arial Unicode MS"/>
                <a:cs typeface="Arial Unicode MS"/>
              </a:rPr>
              <a:t>זיהוי מוקדם חוסך כסף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286000" y="4572000"/>
            <a:ext cx="9189720" cy="731520"/>
          </a:xfrm>
          <a:prstGeom prst="roundRect">
            <a:avLst>
              <a:gd name="adj" fmla="val 8000"/>
            </a:avLst>
          </a:prstGeom>
          <a:solidFill>
            <a:srgbClr val="EAF3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753344" y="4672584"/>
            <a:ext cx="530352" cy="530352"/>
          </a:xfrm>
          <a:prstGeom prst="ellipse">
            <a:avLst/>
          </a:prstGeom>
          <a:solidFill>
            <a:srgbClr val="C4D82E"/>
          </a:solidFill>
          <a:ln>
            <a:noFill/>
          </a:ln>
        </p:spPr>
        <p:txBody>
          <a:bodyPr rtlCol="0" anchor="ctr" wrap="square" lIns="0" rIns="0" tIns="18288" bIns="18288"/>
          <a:lstStyle/>
          <a:p>
            <a:pPr algn="ctr" rtl="1" marL="0" indent="0">
              <a:buNone/>
            </a:pPr>
            <a:r>
              <a:rPr lang="he-IL" sz="2000" b="1">
                <a:solidFill>
                  <a:srgbClr val="003973"/>
                </a:solidFill>
                <a:latin typeface="Arial Unicode MS"/>
                <a:ea typeface="Arial Unicode MS"/>
                <a:cs typeface="Arial Unicode MS"/>
              </a:rPr>
              <a:t>5</a:t>
            </a:r>
          </a:p>
        </p:txBody>
      </p:sp>
      <p:sp>
        <p:nvSpPr>
          <p:cNvPr id="25" name="Oval 24"/>
          <p:cNvSpPr/>
          <p:nvPr/>
        </p:nvSpPr>
        <p:spPr>
          <a:xfrm>
            <a:off x="2523744" y="4672584"/>
            <a:ext cx="530352" cy="530352"/>
          </a:xfrm>
          <a:prstGeom prst="ellipse">
            <a:avLst/>
          </a:prstGeom>
          <a:solidFill>
            <a:srgbClr val="0081C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6" name="Picture 25" descr="FaUsers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51028" y="4799868"/>
            <a:ext cx="275783" cy="275783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3291840" y="4572000"/>
            <a:ext cx="7223760" cy="731520"/>
          </a:xfrm>
          <a:prstGeom prst="rect">
            <a:avLst/>
          </a:prstGeom>
          <a:noFill/>
        </p:spPr>
        <p:txBody>
          <a:bodyPr wrap="square" lIns="0" rIns="0" tIns="0" bIns="0" anchor="ctr" rtlCol="1">
            <a:spAutoFit/>
          </a:bodyPr>
          <a:lstStyle/>
          <a:p>
            <a:pPr algn="r" rtl="1" marL="0" indent="0">
              <a:spcAft>
                <a:spcPts val="400"/>
              </a:spcAft>
              <a:buNone/>
            </a:pPr>
            <a:r>
              <a:rPr lang="he-IL" sz="2200" b="1">
                <a:solidFill>
                  <a:srgbClr val="003973"/>
                </a:solidFill>
                <a:latin typeface="Arial Unicode MS"/>
                <a:ea typeface="Arial Unicode MS"/>
                <a:cs typeface="Arial Unicode MS"/>
              </a:rPr>
              <a:t>איכות היא אחריות של כולם</a:t>
            </a:r>
          </a:p>
        </p:txBody>
      </p:sp>
      <p:sp>
        <p:nvSpPr>
          <p:cNvPr id="28" name="Oval 27"/>
          <p:cNvSpPr/>
          <p:nvPr/>
        </p:nvSpPr>
        <p:spPr>
          <a:xfrm>
            <a:off x="822959" y="2331720"/>
            <a:ext cx="1005840" cy="1005840"/>
          </a:xfrm>
          <a:prstGeom prst="ellipse">
            <a:avLst/>
          </a:prstGeom>
          <a:solidFill>
            <a:srgbClr val="00397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9" name="Picture 28" descr="FaGraduationCap_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64361" y="2573121"/>
            <a:ext cx="523036" cy="523036"/>
          </a:xfrm>
          <a:prstGeom prst="rect">
            <a:avLst/>
          </a:prstGeom>
        </p:spPr>
      </p:pic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4" name="מחבר ישר 3"/>
          <p:cNvCxnSpPr/>
          <p:nvPr/>
        </p:nvCxnSpPr>
        <p:spPr>
          <a:xfrm flipV="1">
            <a:off x="3033632" y="3390312"/>
            <a:ext cx="6241601" cy="1877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355848" y="3403012"/>
            <a:ext cx="5486400" cy="477054"/>
          </a:xfrm>
          <a:prstGeom prst="rect">
            <a:avLst/>
          </a:prstGeom>
          <a:noFill/>
        </p:spPr>
        <p:txBody>
          <a:bodyPr wrap="square" rtlCol="1"/>
          <a:lstStyle/>
          <a:p>
            <a:pPr algn="ctr" rtl="1"/>
            <a:r>
              <a:rPr lang="he-IL" sz="3200" dirty="0">
                <a:solidFill>
                  <a:srgbClr val="0081C8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תודה</a:t>
            </a:r>
          </a:p>
        </p:txBody>
      </p:sp>
      <p:sp>
        <p:nvSpPr>
          <p:cNvPr id="8" name="מלבן 7"/>
          <p:cNvSpPr/>
          <p:nvPr/>
        </p:nvSpPr>
        <p:spPr>
          <a:xfrm>
            <a:off x="386499" y="5693789"/>
            <a:ext cx="11528981" cy="100866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pic>
        <p:nvPicPr>
          <p:cNvPr id="7" name="תמונה 6">
            <a:extLst>
              <a:ext uri="{FF2B5EF4-FFF2-40B4-BE49-F238E27FC236}">
                <a16:creationId xmlns:a16="http://schemas.microsoft.com/office/drawing/2014/main" id="{F4258CAE-1473-4617-9119-9A1C283CBE93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88764" y="1865953"/>
            <a:ext cx="3530397" cy="151800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355848" y="3977639"/>
            <a:ext cx="5486400" cy="548640"/>
          </a:xfrm>
          <a:prstGeom prst="rect">
            <a:avLst/>
          </a:prstGeom>
          <a:noFill/>
        </p:spPr>
        <p:txBody>
          <a:bodyPr wrap="square" lIns="0" rIns="0" tIns="0" bIns="0" anchor="t" rtlCol="1">
            <a:spAutoFit/>
          </a:bodyPr>
          <a:lstStyle/>
          <a:p>
            <a:pPr algn="ctr" rtl="1" marL="0" indent="0">
              <a:spcAft>
                <a:spcPts val="400"/>
              </a:spcAft>
              <a:buNone/>
            </a:pPr>
            <a:r>
              <a:rPr lang="he-IL" sz="2600" b="0">
                <a:solidFill>
                  <a:srgbClr val="003973"/>
                </a:solidFill>
                <a:latin typeface="Arial Unicode MS"/>
                <a:ea typeface="Arial Unicode MS"/>
                <a:cs typeface="Arial Unicode MS"/>
              </a:rPr>
              <a:t>שאלות?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ערכת נושא Office">
  <a:themeElements>
    <a:clrScheme name="תבנית בסיס למצגות שיכון ובינוי">
      <a:dk1>
        <a:srgbClr val="C4D82E"/>
      </a:dk1>
      <a:lt1>
        <a:srgbClr val="0081C8"/>
      </a:lt1>
      <a:dk2>
        <a:srgbClr val="A3B1BA"/>
      </a:dk2>
      <a:lt2>
        <a:srgbClr val="003973"/>
      </a:lt2>
      <a:accent1>
        <a:srgbClr val="0081C8"/>
      </a:accent1>
      <a:accent2>
        <a:srgbClr val="C4D82E"/>
      </a:accent2>
      <a:accent3>
        <a:srgbClr val="A3B1BA"/>
      </a:accent3>
      <a:accent4>
        <a:srgbClr val="003973"/>
      </a:accent4>
      <a:accent5>
        <a:srgbClr val="262626"/>
      </a:accent5>
      <a:accent6>
        <a:srgbClr val="595959"/>
      </a:accent6>
      <a:hlink>
        <a:srgbClr val="0081C8"/>
      </a:hlink>
      <a:folHlink>
        <a:srgbClr val="C4D82E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סולל בונה טמפלט עברית PP2.potx" id="{F6564717-E104-4DD3-9895-39AFC14DC32D}" vid="{B3DC2C64-1825-423B-95BF-E24B4AD58689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x05d7__x05d1__x05e8__x05d4_ xmlns="db334208-c8bb-4fb7-900b-a6c4dfa7dd03">סולל בונה</_x05d7__x05d1__x05e8__x05d4_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מסמך" ma:contentTypeID="0x010100C3173429295ACD4B82CF2C65E538B364" ma:contentTypeVersion="4" ma:contentTypeDescription="צור מסמך חדש." ma:contentTypeScope="" ma:versionID="39a720152dbfe75294de4e741d89bf2d">
  <xsd:schema xmlns:xsd="http://www.w3.org/2001/XMLSchema" xmlns:xs="http://www.w3.org/2001/XMLSchema" xmlns:p="http://schemas.microsoft.com/office/2006/metadata/properties" xmlns:ns2="db334208-c8bb-4fb7-900b-a6c4dfa7dd03" targetNamespace="http://schemas.microsoft.com/office/2006/metadata/properties" ma:root="true" ma:fieldsID="113123c2e926be4c819dd13e16a40f0b" ns2:_="">
    <xsd:import namespace="db334208-c8bb-4fb7-900b-a6c4dfa7dd03"/>
    <xsd:element name="properties">
      <xsd:complexType>
        <xsd:sequence>
          <xsd:element name="documentManagement">
            <xsd:complexType>
              <xsd:all>
                <xsd:element ref="ns2:_x05d7__x05d1__x05e8__x05d4_" minOccurs="0"/>
                <xsd:element ref="ns2:MediaServiceMetadata" minOccurs="0"/>
                <xsd:element ref="ns2:MediaServiceFastMetadata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b334208-c8bb-4fb7-900b-a6c4dfa7dd03" elementFormDefault="qualified">
    <xsd:import namespace="http://schemas.microsoft.com/office/2006/documentManagement/types"/>
    <xsd:import namespace="http://schemas.microsoft.com/office/infopath/2007/PartnerControls"/>
    <xsd:element name="_x05d7__x05d1__x05e8__x05d4_" ma:index="8" nillable="true" ma:displayName="חברה" ma:default="אירופה" ma:format="Dropdown" ma:internalName="_x05d7__x05d1__x05e8__x05d4_">
      <xsd:simpleType>
        <xsd:restriction base="dms:Choice">
          <xsd:enumeration value="אירופה"/>
          <xsd:enumeration value="אמריקה"/>
          <xsd:enumeration value="אנרגיה"/>
          <xsd:enumeration value="אס בי איי תשתיות"/>
          <xsd:enumeration value="זכיינות"/>
          <xsd:enumeration value="מנורה"/>
          <xsd:enumeration value="נדל&quot;ן"/>
          <xsd:enumeration value="נתיבי הצפון"/>
          <xsd:enumeration value="צמנטכל - סולל בונה"/>
          <xsd:enumeration value="סולל בונה"/>
          <xsd:enumeration value="שיכון ובינוי"/>
          <xsd:enumeration value="שיכון ובינוי - רקע כללי למצגת"/>
        </xsd:restriction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סוג תוכן"/>
        <xsd:element ref="dc:title" minOccurs="0" maxOccurs="1" ma:index="4" ma:displayName="כותרת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6C29644-336C-48F1-B72F-2F0D5FA17348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C28C00E8-DACC-4946-8582-820C16449845}">
  <ds:schemaRefs>
    <ds:schemaRef ds:uri="http://schemas.microsoft.com/office/2006/metadata/properties"/>
    <ds:schemaRef ds:uri="http://www.w3.org/2000/xmlns/"/>
    <ds:schemaRef ds:uri="db334208-c8bb-4fb7-900b-a6c4dfa7dd03"/>
  </ds:schemaRefs>
</ds:datastoreItem>
</file>

<file path=customXml/itemProps3.xml><?xml version="1.0" encoding="utf-8"?>
<ds:datastoreItem xmlns:ds="http://schemas.openxmlformats.org/officeDocument/2006/customXml" ds:itemID="{64F8816C-467B-4A6D-8258-1B0E0C873AB4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db334208-c8bb-4fb7-900b-a6c4dfa7dd03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סולל בונה טמפלט עברית PP2</Template>
  <TotalTime>0</TotalTime>
  <Words>41</Words>
  <Application>Microsoft Office PowerPoint</Application>
  <PresentationFormat>מסך רחב</PresentationFormat>
  <Paragraphs>14</Paragraphs>
  <Slides>8</Slides>
  <Notes>0</Notes>
  <HiddenSlides>0</HiddenSlides>
  <MMClips>0</MMClips>
  <ScaleCrop>false</ScaleCrop>
  <HeadingPairs>
    <vt:vector size="4" baseType="variant"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8</vt:i4>
      </vt:variant>
    </vt:vector>
  </HeadingPairs>
  <TitlesOfParts>
    <vt:vector size="9" baseType="lpstr">
      <vt:lpstr>ערכת נושא Office</vt:lpstr>
      <vt:lpstr>מצגת של PowerPoint‏</vt:lpstr>
      <vt:lpstr>כותרת ראשית</vt:lpstr>
      <vt:lpstr>להקפיד לעשות שימוש בפונט ARIEL UNICOD MS </vt:lpstr>
      <vt:lpstr>כותרת ראשית</vt:lpstr>
      <vt:lpstr>גרף</vt:lpstr>
      <vt:lpstr>טבלה</vt:lpstr>
      <vt:lpstr>מצגת של PowerPoint‏</vt:lpstr>
      <vt:lpstr>מצגת של PowerPoint‏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מצגת של PowerPoint‏</dc:title>
  <dc:creator>Eitan Berkovitch</dc:creator>
  <cp:lastModifiedBy>Eitan Berkovitch</cp:lastModifiedBy>
  <cp:revision>2</cp:revision>
  <dcterms:created xsi:type="dcterms:W3CDTF">2026-10-19T12:18:30Z</dcterms:created>
  <dcterms:modified xsi:type="dcterms:W3CDTF">2026-10-19T12:20:49Z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0x010100C3173429295ACD4B82CF2C65E538B364</vt:lpwstr>
  </property>
</Properties>
</file>